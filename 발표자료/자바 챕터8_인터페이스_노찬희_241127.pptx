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2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1" r:id="rId27"/>
    <p:sldId id="280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95239-5CF3-0163-4E77-E0461FDBE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A31259-BD30-935B-D387-45B3E31CC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B1B8A-95EC-EFA9-2920-F63B2B79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67E84-F464-7617-2A4F-F6CB0B59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798FA4-C784-B71C-1800-E7643231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20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45901-A360-9685-C9D0-142CCDAA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C0030-103B-F0B2-93BB-09A79E01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28B7FC-CFE9-A1B1-61A3-F690FB83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9E0150-4E12-697A-4C86-B3AB0DC6C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5CCAB7-DF93-BE29-9512-E931DEC4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29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D85-5E19-97F2-3064-601817BE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769AC2-8D3A-E503-0482-84BE500F2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72415A-9B8A-1649-C3DB-B58BBFAD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6FC505-307D-710D-9B2D-8CD38D4C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3321C3-40EB-C385-F7BC-33EDC2F9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92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28D41-6C2A-BB83-569C-9F7D19BDB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94FD90-E620-EBF8-5ABA-7933243C6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9E51A9-2C81-17B9-B136-1C00D6A29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3AE586-D237-B216-A46C-449CFC72F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1630C6-7555-6475-8C0D-1D67E0BA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3BA23D-2DDE-3FBF-2D07-2F703F8C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20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D3E44-57FE-E878-C3F0-147004A6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87131D-3D2B-012E-A66A-8E30E2C96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805DF5-0FA8-8FFD-652A-4F33E38C3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DBA8AD-906A-39ED-3BB7-936A94C38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5706EB-24D1-CC6F-9DC1-9DFF86CE7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27AF02-54A9-DB68-4741-6CDD9D48F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7EAC82-DBD9-3C65-8485-01FAEC07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875241-56BC-92B7-7AC9-8908C8B06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09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0CEC6-0EEB-F7D8-36FB-4CC361E9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E1C994-75C3-F586-18DE-655E1E33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1E02ED-170A-9378-D809-F1E89D2E1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AB6E09-B1CE-D992-28A9-996C95F7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46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E4D4D0-30C2-1A42-7BFD-1FCA28A8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1FF2AF-E9CE-7DFF-5AB8-DE9CAA59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E1EF6-009E-CE70-1756-A209BB24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12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7FCAC-EDB7-E9D5-ACAE-6AF29CD04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512EA7-D4FB-75D4-59FD-A5BC9D611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4957F2-9394-A780-CD79-49FA95621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FB6710-7882-05E9-DCB6-7A9000DF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7288B3-2C9D-FB46-0008-80968608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2C2E2B-662C-8684-8B5B-5A9887E3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02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97221-A3FD-730E-D90A-5379E3100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98F2B0-6718-BABD-16A1-3EB697FB5A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66ACBD-FC1B-641F-5CC6-7756D2C2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54DB35-05A7-D287-0E02-E2FD660D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48E70F-9E5A-C63A-CFFD-86F3F05A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1C41B3-2B05-16A1-4C36-8851832D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246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76D03-4244-CDB4-A0AA-6EC97D300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9DE395-258F-131A-3FCC-3D6C79B51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AB054D-722A-59C1-7F26-0E4C5550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49381-C005-307D-0F92-EB858DFD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1F4D8C-6A57-4311-1EE8-A9FD58E1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92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A65F19-A2F8-5263-A730-DB27A39D3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4B96C3-41E6-B4B6-F577-19B3AFBC3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920CEF-7883-1C42-98F3-FAF3D0EB0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ABB99E-F997-25BB-1DDC-CA167E4A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7C83B0-6BCA-922E-441D-02F2FBE12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4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F1C1FB-C942-1B7F-03B1-F1EBC277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B46AF7-8D50-FA89-32E4-80BDD3046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F720A-8206-2226-991F-692E888E5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0DED9-6D52-4114-887A-5B887536C1D4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208A6F-441C-48ED-B698-20ABF185A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0F683-D894-398B-528C-A86652958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38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F0C12-5D4E-6E9B-D505-E45EE68426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인터페이스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ABD2CA-D85E-35E0-EF91-C329042963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노찬희</a:t>
            </a:r>
          </a:p>
        </p:txBody>
      </p:sp>
    </p:spTree>
    <p:extLst>
      <p:ext uri="{BB962C8B-B14F-4D97-AF65-F5344CB8AC3E}">
        <p14:creationId xmlns:p14="http://schemas.microsoft.com/office/powerpoint/2010/main" val="758356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19EE5B-A781-399B-FE3E-668C18E60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인터페이스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인터페이스는 개발 코드와 객체가 서로 통신하는 접점 역할을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개발 코드가 인터페이스의 메소드를 호출하면 인터페이스는 객체의 메소드는 </a:t>
            </a:r>
            <a:r>
              <a:rPr lang="ko-KR" altLang="en-US" sz="1400" dirty="0" err="1"/>
              <a:t>호출시킨다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개발 코드가 직접 메소드를 선언</a:t>
            </a:r>
            <a:r>
              <a:rPr lang="en-US" altLang="ko-KR" sz="1400" dirty="0"/>
              <a:t>/</a:t>
            </a:r>
            <a:r>
              <a:rPr lang="ko-KR" altLang="en-US" sz="1400" dirty="0"/>
              <a:t>호출하지 않고 굳이 인터페이스를 거치는 이유는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개발 코드를 수정하지 않고 사용하는 객체를 변경하기 위함이다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인터페이스는 하나의 객체가 아니라 여러 객체들과 사용이 가능하므로 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어떤 객체를 </a:t>
            </a:r>
            <a:r>
              <a:rPr lang="ko-KR" altLang="en-US" sz="1400" dirty="0" err="1"/>
              <a:t>사용하느냐에</a:t>
            </a:r>
            <a:r>
              <a:rPr lang="ko-KR" altLang="en-US" sz="1400" dirty="0"/>
              <a:t> 따라 실행 내용과 </a:t>
            </a:r>
            <a:r>
              <a:rPr lang="ko-KR" altLang="en-US" sz="1400" dirty="0" err="1"/>
              <a:t>리턴값이</a:t>
            </a:r>
            <a:r>
              <a:rPr lang="ko-KR" altLang="en-US" sz="1400" dirty="0"/>
              <a:t> 다를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따라서 개발 측면에서는 코드 </a:t>
            </a:r>
            <a:r>
              <a:rPr lang="ko-KR" altLang="en-US" sz="1400" dirty="0" err="1"/>
              <a:t>변경없이</a:t>
            </a:r>
            <a:r>
              <a:rPr lang="ko-KR" altLang="en-US" sz="1400" dirty="0"/>
              <a:t> 실행 내용과 </a:t>
            </a:r>
            <a:r>
              <a:rPr lang="ko-KR" altLang="en-US" sz="1400" dirty="0" err="1"/>
              <a:t>리턴값을</a:t>
            </a:r>
            <a:r>
              <a:rPr lang="ko-KR" altLang="en-US" sz="1400" dirty="0"/>
              <a:t> 다양화 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67575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338C1-CE34-AFB3-7C89-A845CC2C7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72A8AA-DC7F-2FEE-7293-3972E8E8A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인터페이스 선언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인터페이스는 </a:t>
            </a:r>
            <a:r>
              <a:rPr lang="en-US" altLang="ko-KR" sz="1400" dirty="0"/>
              <a:t>~~.java</a:t>
            </a:r>
            <a:r>
              <a:rPr lang="ko-KR" altLang="en-US" sz="1400" dirty="0"/>
              <a:t>형식의 소스 파일로 작성되며 형태는 클래스와 동일하다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인터페이스 선언은 </a:t>
            </a:r>
            <a:r>
              <a:rPr lang="en-US" altLang="ko-KR" sz="1400" dirty="0"/>
              <a:t>class </a:t>
            </a:r>
            <a:r>
              <a:rPr lang="ko-KR" altLang="en-US" sz="1400" dirty="0"/>
              <a:t>키워드 대신에 </a:t>
            </a:r>
            <a:r>
              <a:rPr lang="en-US" altLang="ko-KR" sz="1400" dirty="0" err="1"/>
              <a:t>interfac</a:t>
            </a:r>
            <a:r>
              <a:rPr lang="ko-KR" altLang="en-US" sz="1400" dirty="0"/>
              <a:t>키워드를 사용한다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interface </a:t>
            </a:r>
            <a:r>
              <a:rPr lang="ko-KR" altLang="en-US" sz="1400" dirty="0"/>
              <a:t>인터페이스이름</a:t>
            </a:r>
            <a:r>
              <a:rPr lang="en-US" altLang="ko-KR" sz="1400" dirty="0"/>
              <a:t>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필드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메소드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인터페이스는 객체 사용 방법을 정의한 것으로 </a:t>
            </a:r>
            <a:r>
              <a:rPr lang="ko-KR" altLang="en-US" sz="1400" dirty="0" err="1"/>
              <a:t>실행시</a:t>
            </a:r>
            <a:r>
              <a:rPr lang="ko-KR" altLang="en-US" sz="1400" dirty="0"/>
              <a:t> 데이터를 저장할 수 있는 필드를 선언할 수 없다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따라서 인터페이스는 인스턴스에 고정된 값인 상수 필드만 선언이 가능하다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interface </a:t>
            </a:r>
            <a:r>
              <a:rPr lang="en-US" altLang="ko-KR" sz="1400" dirty="0" err="1"/>
              <a:t>InterfaceExample</a:t>
            </a:r>
            <a:r>
              <a:rPr lang="en-US" altLang="ko-KR" sz="1400" dirty="0"/>
              <a:t>{</a:t>
            </a:r>
          </a:p>
          <a:p>
            <a:pPr marL="0" indent="0">
              <a:buNone/>
            </a:pPr>
            <a:r>
              <a:rPr lang="en-US" altLang="ko-KR" sz="1400" dirty="0"/>
              <a:t>	// </a:t>
            </a:r>
            <a:r>
              <a:rPr lang="ko-KR" altLang="en-US" sz="1400" dirty="0"/>
              <a:t>상수 필드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public static final int SIZE = 10; 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메소드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인터페이스에서는 모든 필드가 </a:t>
            </a:r>
            <a:r>
              <a:rPr lang="ko-KR" altLang="en-US" sz="1400" dirty="0" err="1"/>
              <a:t>상수처리되므로</a:t>
            </a:r>
            <a:r>
              <a:rPr lang="ko-KR" altLang="en-US" sz="1400" dirty="0"/>
              <a:t> </a:t>
            </a:r>
            <a:r>
              <a:rPr lang="en-US" altLang="ko-KR" sz="1400" dirty="0"/>
              <a:t>[public static final]</a:t>
            </a:r>
            <a:r>
              <a:rPr lang="ko-KR" altLang="en-US" sz="1400" dirty="0"/>
              <a:t>은 생략이 가능하다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563515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2671F-0F4C-5B53-94AE-7C7BCE794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F23B8F-6C54-07EB-D614-C0BFC23F2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인터페이스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인터페이스를 통해 호출된 메소드는 최종적으로 객체에서 실행된다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인터페이스의 메소드는 실행 블록이 필요 없는 추상 메소드로 선언한다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abstract </a:t>
            </a:r>
            <a:r>
              <a:rPr lang="ko-KR" altLang="en-US" sz="1400" dirty="0" err="1"/>
              <a:t>리턴타입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메소드이름</a:t>
            </a:r>
            <a:r>
              <a:rPr lang="en-US" altLang="ko-KR" sz="1400" dirty="0"/>
              <a:t>(</a:t>
            </a:r>
            <a:r>
              <a:rPr lang="ko-KR" altLang="en-US" sz="1400" dirty="0"/>
              <a:t>매개변수</a:t>
            </a:r>
            <a:r>
              <a:rPr lang="en-US" altLang="ko-KR" sz="1400" dirty="0"/>
              <a:t>...);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인터페이스에 선언된 메소드는 모두 추상 메소드 이므로 </a:t>
            </a:r>
            <a:r>
              <a:rPr lang="en-US" altLang="ko-KR" sz="1400" dirty="0"/>
              <a:t>public </a:t>
            </a:r>
            <a:r>
              <a:rPr lang="en-US" altLang="ko-KR" sz="1400" dirty="0" err="1"/>
              <a:t>abstrac</a:t>
            </a:r>
            <a:r>
              <a:rPr lang="ko-KR" altLang="en-US" sz="1400" dirty="0"/>
              <a:t>를 생략하더라도 컴파일 과정에서 자동으로 </a:t>
            </a:r>
            <a:r>
              <a:rPr lang="ko-KR" altLang="en-US" sz="1400" dirty="0" err="1"/>
              <a:t>붙게된다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interface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상수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int MAX_VOLUME = 10;</a:t>
            </a:r>
          </a:p>
          <a:p>
            <a:pPr marL="0" indent="0">
              <a:buNone/>
            </a:pPr>
            <a:r>
              <a:rPr lang="en-US" altLang="ko-KR" sz="1400" dirty="0"/>
              <a:t>	int MIN_VOLUME = 0;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추상 메소드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	void </a:t>
            </a:r>
            <a:r>
              <a:rPr lang="en-US" altLang="ko-KR" sz="1400" dirty="0" err="1"/>
              <a:t>turnOff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	void </a:t>
            </a:r>
            <a:r>
              <a:rPr lang="en-US" altLang="ko-KR" sz="1400" dirty="0" err="1"/>
              <a:t>setVolume</a:t>
            </a:r>
            <a:r>
              <a:rPr lang="en-US" altLang="ko-KR" sz="1400" dirty="0"/>
              <a:t>(int volume);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41177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C06B4-F113-B1CA-DEC2-71DA8FE40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D94FAB-4FBA-3A06-8A92-4B8C4514B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인터페이스 구현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개발 코드가 인터페이스 메소드를 호출하면 인터페이스는 객체의 메소드를 호출한다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객체는 인터페이스에서 정의된 추상 메소드와 동일한 메소드를 가진 실체 메소드를 갖고 있어야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이러한 객체를 인터페이스의 구현 </a:t>
            </a:r>
            <a:r>
              <a:rPr lang="ko-KR" altLang="en-US" sz="1400" dirty="0" err="1"/>
              <a:t>객체라고하고</a:t>
            </a:r>
            <a:r>
              <a:rPr lang="en-US" altLang="ko-KR" sz="1400" dirty="0"/>
              <a:t>, </a:t>
            </a:r>
            <a:r>
              <a:rPr lang="ko-KR" altLang="en-US" sz="1400" dirty="0"/>
              <a:t>구현 객체를 생성하는 클래스를 구현 클래스라고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구현 클래스는 보통의 클래스와 동일한데</a:t>
            </a:r>
            <a:r>
              <a:rPr lang="en-US" altLang="ko-KR" sz="1400" dirty="0"/>
              <a:t>, </a:t>
            </a:r>
            <a:r>
              <a:rPr lang="ko-KR" altLang="en-US" sz="1400" dirty="0"/>
              <a:t>인터페이스를 구현하고 있음을 알려주기 위해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클래스 선언부터 </a:t>
            </a:r>
            <a:r>
              <a:rPr lang="en-US" altLang="ko-KR" sz="1400" dirty="0"/>
              <a:t>implements </a:t>
            </a:r>
            <a:r>
              <a:rPr lang="ko-KR" altLang="en-US" sz="1400" dirty="0"/>
              <a:t>키워드를 추가하고 인터페이스 이름을 명시한다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그리고 인터페이스 선언된 추상 메소드를 실체 메소드로 구현하여야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ko-KR" altLang="en-US" sz="1400" dirty="0"/>
              <a:t>구현클래스 </a:t>
            </a:r>
            <a:r>
              <a:rPr lang="en-US" altLang="ko-KR" sz="1400" dirty="0"/>
              <a:t>implements </a:t>
            </a:r>
            <a:r>
              <a:rPr lang="ko-KR" altLang="en-US" sz="1400" dirty="0"/>
              <a:t>인터페이스</a:t>
            </a:r>
            <a:r>
              <a:rPr lang="en-US" altLang="ko-KR" sz="1400" dirty="0"/>
              <a:t>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추상 메소드 </a:t>
            </a:r>
            <a:r>
              <a:rPr lang="en-US" altLang="ko-KR" sz="1400" dirty="0"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sym typeface="Wingdings" panose="05000000000000000000" pitchFamily="2" charset="2"/>
              </a:rPr>
              <a:t>실체 메소드 구현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065936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FE7D4-310A-3672-4DEF-BB009B9CE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C9531D-1D19-51BF-61F8-2C065FD9B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Television implements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private int volume;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</a:t>
            </a:r>
            <a:r>
              <a:rPr lang="ko-KR" altLang="en-US" sz="1400" dirty="0"/>
              <a:t>추상 메소드의 실체 메소드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public void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("TV</a:t>
            </a:r>
            <a:r>
              <a:rPr lang="ko-KR" altLang="en-US" sz="1400" dirty="0"/>
              <a:t>를 켭니다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	}	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en-US" altLang="ko-KR" sz="1400" dirty="0" err="1"/>
              <a:t>turnOff</a:t>
            </a:r>
            <a:r>
              <a:rPr lang="en-US" altLang="ko-KR" sz="1400" dirty="0"/>
              <a:t>() </a:t>
            </a:r>
            <a:r>
              <a:rPr lang="ko-KR" altLang="en-US" sz="1400" dirty="0"/>
              <a:t>추상 메소드의 실체 메소드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public void </a:t>
            </a:r>
            <a:r>
              <a:rPr lang="en-US" altLang="ko-KR" sz="1400" dirty="0" err="1"/>
              <a:t>turnOff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("TV</a:t>
            </a:r>
            <a:r>
              <a:rPr lang="ko-KR" altLang="en-US" sz="1400" dirty="0"/>
              <a:t>를 끕니다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en-US" altLang="ko-KR" sz="1400" dirty="0" err="1"/>
              <a:t>setVolume</a:t>
            </a:r>
            <a:r>
              <a:rPr lang="en-US" altLang="ko-KR" sz="1400" dirty="0"/>
              <a:t>() </a:t>
            </a:r>
            <a:r>
              <a:rPr lang="ko-KR" altLang="en-US" sz="1400" dirty="0"/>
              <a:t>추상 메소드의 실체 메소드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public void </a:t>
            </a:r>
            <a:r>
              <a:rPr lang="en-US" altLang="ko-KR" sz="1400" dirty="0" err="1"/>
              <a:t>setVolume</a:t>
            </a:r>
            <a:r>
              <a:rPr lang="en-US" altLang="ko-KR" sz="1400" dirty="0"/>
              <a:t>(int volume) {</a:t>
            </a:r>
          </a:p>
          <a:p>
            <a:pPr marL="0" indent="0">
              <a:buNone/>
            </a:pPr>
            <a:r>
              <a:rPr lang="en-US" altLang="ko-KR" sz="1400" dirty="0"/>
              <a:t>		if(volume&gt;</a:t>
            </a:r>
            <a:r>
              <a:rPr lang="en-US" altLang="ko-KR" sz="1400" dirty="0" err="1"/>
              <a:t>RemoteControl.MAX_VOLUME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			</a:t>
            </a:r>
            <a:r>
              <a:rPr lang="en-US" altLang="ko-KR" sz="1400" dirty="0" err="1"/>
              <a:t>this.volume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RemoteControl.MAX_VOLUME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		} else if(volume&lt;</a:t>
            </a:r>
            <a:r>
              <a:rPr lang="en-US" altLang="ko-KR" sz="1400" dirty="0" err="1"/>
              <a:t>RemoteControl.MIN_VOLUME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			</a:t>
            </a:r>
            <a:r>
              <a:rPr lang="en-US" altLang="ko-KR" sz="1400" dirty="0" err="1"/>
              <a:t>this.volume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RemoteControl.MIN_VOLUME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		} else {</a:t>
            </a:r>
          </a:p>
          <a:p>
            <a:pPr marL="0" indent="0">
              <a:buNone/>
            </a:pPr>
            <a:r>
              <a:rPr lang="en-US" altLang="ko-KR" sz="1400" dirty="0"/>
              <a:t>			</a:t>
            </a:r>
            <a:r>
              <a:rPr lang="en-US" altLang="ko-KR" sz="1400" dirty="0" err="1"/>
              <a:t>this.volume</a:t>
            </a:r>
            <a:r>
              <a:rPr lang="en-US" altLang="ko-KR" sz="1400" dirty="0"/>
              <a:t> = volume;</a:t>
            </a:r>
          </a:p>
          <a:p>
            <a:pPr marL="0" indent="0">
              <a:buNone/>
            </a:pPr>
            <a:r>
              <a:rPr lang="en-US" altLang="ko-KR" sz="1400" dirty="0"/>
              <a:t>		}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현재 </a:t>
            </a:r>
            <a:r>
              <a:rPr lang="en-US" altLang="ko-KR" sz="1400" dirty="0"/>
              <a:t>TV </a:t>
            </a:r>
            <a:r>
              <a:rPr lang="ko-KR" altLang="en-US" sz="1400" dirty="0"/>
              <a:t>볼륨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this.volume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05419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8508F-6322-E6EA-5786-104B9CDFF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2234CB-A864-844C-4D71-FE3150AD6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Audio implements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private int volume;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</a:t>
            </a:r>
            <a:r>
              <a:rPr lang="ko-KR" altLang="en-US" sz="1400" dirty="0"/>
              <a:t>추상 메소드의 실체 메소드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public void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("Audio</a:t>
            </a:r>
            <a:r>
              <a:rPr lang="ko-KR" altLang="en-US" sz="1400" dirty="0"/>
              <a:t>를 켭니다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	}	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en-US" altLang="ko-KR" sz="1400" dirty="0" err="1"/>
              <a:t>turnOff</a:t>
            </a:r>
            <a:r>
              <a:rPr lang="en-US" altLang="ko-KR" sz="1400" dirty="0"/>
              <a:t>() </a:t>
            </a:r>
            <a:r>
              <a:rPr lang="ko-KR" altLang="en-US" sz="1400" dirty="0"/>
              <a:t>추상 메소드의 실체 메소드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public void </a:t>
            </a:r>
            <a:r>
              <a:rPr lang="en-US" altLang="ko-KR" sz="1400" dirty="0" err="1"/>
              <a:t>turnOff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("Audio</a:t>
            </a:r>
            <a:r>
              <a:rPr lang="ko-KR" altLang="en-US" sz="1400" dirty="0"/>
              <a:t>를 끕니다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en-US" altLang="ko-KR" sz="1400" dirty="0" err="1"/>
              <a:t>setVolume</a:t>
            </a:r>
            <a:r>
              <a:rPr lang="en-US" altLang="ko-KR" sz="1400" dirty="0"/>
              <a:t>() </a:t>
            </a:r>
            <a:r>
              <a:rPr lang="ko-KR" altLang="en-US" sz="1400" dirty="0"/>
              <a:t>추상 메소드의 실체 메소드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public void </a:t>
            </a:r>
            <a:r>
              <a:rPr lang="en-US" altLang="ko-KR" sz="1400" dirty="0" err="1"/>
              <a:t>setVolume</a:t>
            </a:r>
            <a:r>
              <a:rPr lang="en-US" altLang="ko-KR" sz="1400" dirty="0"/>
              <a:t>(int volume) {</a:t>
            </a:r>
          </a:p>
          <a:p>
            <a:pPr marL="0" indent="0">
              <a:buNone/>
            </a:pPr>
            <a:r>
              <a:rPr lang="en-US" altLang="ko-KR" sz="1400" dirty="0"/>
              <a:t>		if(volume&gt;</a:t>
            </a:r>
            <a:r>
              <a:rPr lang="en-US" altLang="ko-KR" sz="1400" dirty="0" err="1"/>
              <a:t>RemoteControl.MAX_VOLUME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			</a:t>
            </a:r>
            <a:r>
              <a:rPr lang="en-US" altLang="ko-KR" sz="1400" dirty="0" err="1"/>
              <a:t>this.volume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RemoteControl.MAX_VOLUME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		} else if(volume&lt;</a:t>
            </a:r>
            <a:r>
              <a:rPr lang="en-US" altLang="ko-KR" sz="1400" dirty="0" err="1"/>
              <a:t>RemoteControl.MIN_VOLUME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			</a:t>
            </a:r>
            <a:r>
              <a:rPr lang="en-US" altLang="ko-KR" sz="1400" dirty="0" err="1"/>
              <a:t>this.volume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RemoteControl.MIN_VOLUME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		} else {</a:t>
            </a:r>
          </a:p>
          <a:p>
            <a:pPr marL="0" indent="0">
              <a:buNone/>
            </a:pPr>
            <a:r>
              <a:rPr lang="en-US" altLang="ko-KR" sz="1400" dirty="0"/>
              <a:t>			</a:t>
            </a:r>
            <a:r>
              <a:rPr lang="en-US" altLang="ko-KR" sz="1400" dirty="0" err="1"/>
              <a:t>this.volume</a:t>
            </a:r>
            <a:r>
              <a:rPr lang="en-US" altLang="ko-KR" sz="1400" dirty="0"/>
              <a:t> = volume;</a:t>
            </a:r>
          </a:p>
          <a:p>
            <a:pPr marL="0" indent="0">
              <a:buNone/>
            </a:pPr>
            <a:r>
              <a:rPr lang="en-US" altLang="ko-KR" sz="1400" dirty="0"/>
              <a:t>		}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현재 </a:t>
            </a:r>
            <a:r>
              <a:rPr lang="en-US" altLang="ko-KR" sz="1400" dirty="0"/>
              <a:t>Audio </a:t>
            </a:r>
            <a:r>
              <a:rPr lang="ko-KR" altLang="en-US" sz="1400" dirty="0"/>
              <a:t>볼륨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this.volume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73477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33EBD-175B-6D3A-ECD3-1F44AA6B7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7D5453-32DE-61D6-9471-D9577648E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인터페이스 구현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RemoteControl</a:t>
            </a:r>
            <a:r>
              <a:rPr lang="ko-KR" altLang="en-US" sz="1400" dirty="0"/>
              <a:t>를 구현한 </a:t>
            </a:r>
            <a:r>
              <a:rPr lang="en-US" altLang="ko-KR" sz="1400" dirty="0"/>
              <a:t>Television</a:t>
            </a:r>
            <a:r>
              <a:rPr lang="ko-KR" altLang="en-US" sz="1400" dirty="0"/>
              <a:t>과</a:t>
            </a:r>
            <a:r>
              <a:rPr lang="en-US" altLang="ko-KR" sz="1400" dirty="0"/>
              <a:t>, Audio</a:t>
            </a:r>
            <a:r>
              <a:rPr lang="ko-KR" altLang="en-US" sz="1400" dirty="0"/>
              <a:t>클래스를 살펴 보았다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구현 클래스가 작성되면 개발 코드에서 </a:t>
            </a:r>
            <a:r>
              <a:rPr lang="en-US" altLang="ko-KR" sz="1400" dirty="0"/>
              <a:t>new</a:t>
            </a:r>
            <a:r>
              <a:rPr lang="ko-KR" altLang="en-US" sz="1400" dirty="0"/>
              <a:t>연산자로 객체를 생성할 수 있다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ko-KR" altLang="en-US" sz="1400" dirty="0"/>
              <a:t>하지만 </a:t>
            </a:r>
            <a:r>
              <a:rPr lang="en-US" altLang="ko-KR" sz="1400" dirty="0"/>
              <a:t>Television tv = new Television(); </a:t>
            </a:r>
            <a:r>
              <a:rPr lang="ko-KR" altLang="en-US" sz="1400" dirty="0"/>
              <a:t>코드는 인터페이스를 사용한 것이 아니다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인터페이스 구현 객체를 사용하려면 인터페이스 변수를 선언하고 구현 객체를 대입해야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인터페이스 변수 </a:t>
            </a:r>
            <a:r>
              <a:rPr lang="en-US" altLang="ko-KR" sz="1400" dirty="0"/>
              <a:t>= </a:t>
            </a:r>
            <a:r>
              <a:rPr lang="ko-KR" altLang="en-US" sz="1400" dirty="0"/>
              <a:t>구현 객체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 = new Television();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RemoteControlExample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 = new Television();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 = new Audio();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46206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79873-B295-3A89-14AA-A232252D5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A6226A-909D-4668-3689-33E1A807C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다중 인터페이스 구현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구현 클래스는 다수의 인터페이스를 구현할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인터페이스</a:t>
            </a:r>
            <a:r>
              <a:rPr lang="en-US" altLang="ko-KR" sz="1400" dirty="0"/>
              <a:t>A</a:t>
            </a:r>
            <a:r>
              <a:rPr lang="ko-KR" altLang="en-US" sz="1400" dirty="0"/>
              <a:t>와 인터페이스</a:t>
            </a:r>
            <a:r>
              <a:rPr lang="en-US" altLang="ko-KR" sz="1400" dirty="0"/>
              <a:t>B</a:t>
            </a:r>
            <a:r>
              <a:rPr lang="ko-KR" altLang="en-US" sz="1400" dirty="0"/>
              <a:t>를 구현하는 객체는 이 두 인터페이스를 모두 구현해야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따라서 구현 클래스는 다음과 같이 작성되어야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ko-KR" altLang="en-US" sz="1400" dirty="0"/>
              <a:t>구현클래스 </a:t>
            </a:r>
            <a:r>
              <a:rPr lang="en-US" altLang="ko-KR" sz="1400" dirty="0"/>
              <a:t>implements </a:t>
            </a:r>
            <a:r>
              <a:rPr lang="ko-KR" altLang="en-US" sz="1400" dirty="0"/>
              <a:t>인터페이스</a:t>
            </a:r>
            <a:r>
              <a:rPr lang="en-US" altLang="ko-KR" sz="1400" dirty="0"/>
              <a:t>A, </a:t>
            </a:r>
            <a:r>
              <a:rPr lang="ko-KR" altLang="en-US" sz="1400" dirty="0"/>
              <a:t>인터페이스</a:t>
            </a:r>
            <a:r>
              <a:rPr lang="en-US" altLang="ko-KR" sz="1400" dirty="0"/>
              <a:t>B{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인터페이스</a:t>
            </a:r>
            <a:r>
              <a:rPr lang="en-US" altLang="ko-KR" sz="1400" dirty="0"/>
              <a:t>A</a:t>
            </a:r>
            <a:r>
              <a:rPr lang="ko-KR" altLang="en-US" sz="1400" dirty="0"/>
              <a:t>의 </a:t>
            </a:r>
            <a:r>
              <a:rPr lang="ko-KR" altLang="en-US" sz="1400" dirty="0" err="1"/>
              <a:t>추상메소드</a:t>
            </a:r>
            <a:r>
              <a:rPr lang="ko-KR" altLang="en-US" sz="1400" dirty="0"/>
              <a:t> 구현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인터페이스</a:t>
            </a:r>
            <a:r>
              <a:rPr lang="en-US" altLang="ko-KR" sz="1400" dirty="0"/>
              <a:t>B</a:t>
            </a:r>
            <a:r>
              <a:rPr lang="ko-KR" altLang="en-US" sz="1400" dirty="0"/>
              <a:t>의 </a:t>
            </a:r>
            <a:r>
              <a:rPr lang="ko-KR" altLang="en-US" sz="1400" dirty="0" err="1"/>
              <a:t>추상메소드</a:t>
            </a:r>
            <a:r>
              <a:rPr lang="ko-KR" altLang="en-US" sz="1400" dirty="0"/>
              <a:t> 구현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57BD052-9CF6-ED6C-CE93-92F39B933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590" y="1095375"/>
            <a:ext cx="5019675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150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02DC8-5B66-1C19-37E2-9F2687ED3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D24CB4-E6FA-F773-23F8-C5CC20427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interface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상수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int MAX_VOLUME = 10;</a:t>
            </a:r>
          </a:p>
          <a:p>
            <a:pPr marL="0" indent="0">
              <a:buNone/>
            </a:pPr>
            <a:r>
              <a:rPr lang="en-US" altLang="ko-KR" sz="1400" dirty="0"/>
              <a:t>	int MIN_VOLUME = 0;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추상 메소드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	void </a:t>
            </a:r>
            <a:r>
              <a:rPr lang="en-US" altLang="ko-KR" sz="1400" dirty="0" err="1"/>
              <a:t>turnOff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	void </a:t>
            </a:r>
            <a:r>
              <a:rPr lang="en-US" altLang="ko-KR" sz="1400" dirty="0" err="1"/>
              <a:t>setVolume</a:t>
            </a:r>
            <a:r>
              <a:rPr lang="en-US" altLang="ko-KR" sz="1400" dirty="0"/>
              <a:t>(int volume);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interface Searchable {</a:t>
            </a:r>
          </a:p>
          <a:p>
            <a:pPr marL="0" indent="0">
              <a:buNone/>
            </a:pPr>
            <a:r>
              <a:rPr lang="en-US" altLang="ko-KR" sz="1400" dirty="0"/>
              <a:t>	void search(String </a:t>
            </a:r>
            <a:r>
              <a:rPr lang="en-US" altLang="ko-KR" sz="1400" dirty="0" err="1"/>
              <a:t>url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001874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3B1A-3B83-44B5-51CC-E4512F007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E6BCBF-343B-73B7-B13C-287742B3E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SmartTelevision</a:t>
            </a:r>
            <a:r>
              <a:rPr lang="en-US" altLang="ko-KR" sz="1400" dirty="0"/>
              <a:t> implements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, Searchable {</a:t>
            </a:r>
          </a:p>
          <a:p>
            <a:pPr marL="0" indent="0">
              <a:buNone/>
            </a:pPr>
            <a:r>
              <a:rPr lang="en-US" altLang="ko-KR" sz="1400" dirty="0"/>
              <a:t>	private int volume;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</a:p>
          <a:p>
            <a:pPr marL="0" indent="0">
              <a:buNone/>
            </a:pPr>
            <a:r>
              <a:rPr lang="en-US" altLang="ko-KR" sz="1400" dirty="0"/>
              <a:t>	public void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("TV</a:t>
            </a:r>
            <a:r>
              <a:rPr lang="ko-KR" altLang="en-US" sz="1400" dirty="0"/>
              <a:t>를 켭니다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	}	</a:t>
            </a:r>
          </a:p>
          <a:p>
            <a:pPr marL="0" indent="0">
              <a:buNone/>
            </a:pPr>
            <a:r>
              <a:rPr lang="en-US" altLang="ko-KR" sz="1400" dirty="0"/>
              <a:t>	public void </a:t>
            </a:r>
            <a:r>
              <a:rPr lang="en-US" altLang="ko-KR" sz="1400" dirty="0" err="1"/>
              <a:t>turnOff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("TV</a:t>
            </a:r>
            <a:r>
              <a:rPr lang="ko-KR" altLang="en-US" sz="1400" dirty="0"/>
              <a:t>를 끕니다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	public void </a:t>
            </a:r>
            <a:r>
              <a:rPr lang="en-US" altLang="ko-KR" sz="1400" dirty="0" err="1"/>
              <a:t>setVolume</a:t>
            </a:r>
            <a:r>
              <a:rPr lang="en-US" altLang="ko-KR" sz="1400" dirty="0"/>
              <a:t>(int volume) {</a:t>
            </a:r>
          </a:p>
          <a:p>
            <a:pPr marL="0" indent="0">
              <a:buNone/>
            </a:pPr>
            <a:r>
              <a:rPr lang="en-US" altLang="ko-KR" sz="1400" dirty="0"/>
              <a:t>		if(volume&gt;</a:t>
            </a:r>
            <a:r>
              <a:rPr lang="en-US" altLang="ko-KR" sz="1400" dirty="0" err="1"/>
              <a:t>RemoteControl.MAX_VOLUME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			</a:t>
            </a:r>
            <a:r>
              <a:rPr lang="en-US" altLang="ko-KR" sz="1400" dirty="0" err="1"/>
              <a:t>this.volume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RemoteControl.MAX_VOLUME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		} else if(volume&lt;</a:t>
            </a:r>
            <a:r>
              <a:rPr lang="en-US" altLang="ko-KR" sz="1400" dirty="0" err="1"/>
              <a:t>RemoteControl.MIN_VOLUME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			</a:t>
            </a:r>
            <a:r>
              <a:rPr lang="en-US" altLang="ko-KR" sz="1400" dirty="0" err="1"/>
              <a:t>this.volume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RemoteControl.MIN_VOLUME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		} else {</a:t>
            </a:r>
          </a:p>
          <a:p>
            <a:pPr marL="0" indent="0">
              <a:buNone/>
            </a:pPr>
            <a:r>
              <a:rPr lang="en-US" altLang="ko-KR" sz="1400" dirty="0"/>
              <a:t>			</a:t>
            </a:r>
            <a:r>
              <a:rPr lang="en-US" altLang="ko-KR" sz="1400" dirty="0" err="1"/>
              <a:t>this.volume</a:t>
            </a:r>
            <a:r>
              <a:rPr lang="en-US" altLang="ko-KR" sz="1400" dirty="0"/>
              <a:t> = volume;</a:t>
            </a:r>
          </a:p>
          <a:p>
            <a:pPr marL="0" indent="0">
              <a:buNone/>
            </a:pPr>
            <a:r>
              <a:rPr lang="en-US" altLang="ko-KR" sz="1400" dirty="0"/>
              <a:t>		}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현재 </a:t>
            </a:r>
            <a:r>
              <a:rPr lang="en-US" altLang="ko-KR" sz="1400" dirty="0"/>
              <a:t>TV </a:t>
            </a:r>
            <a:r>
              <a:rPr lang="ko-KR" altLang="en-US" sz="1400" dirty="0"/>
              <a:t>볼륨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this.volume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</a:p>
          <a:p>
            <a:pPr marL="0" indent="0">
              <a:buNone/>
            </a:pPr>
            <a:r>
              <a:rPr lang="en-US" altLang="ko-KR" sz="1400" dirty="0"/>
              <a:t>	public void search(String </a:t>
            </a:r>
            <a:r>
              <a:rPr lang="en-US" altLang="ko-KR" sz="1400" dirty="0" err="1"/>
              <a:t>url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url</a:t>
            </a:r>
            <a:r>
              <a:rPr lang="en-US" altLang="ko-KR" sz="1400" dirty="0"/>
              <a:t> + "</a:t>
            </a:r>
            <a:r>
              <a:rPr lang="ko-KR" altLang="en-US" sz="1400" dirty="0"/>
              <a:t>을 검색합니다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E6A714-5B6A-307C-B33C-51698F88CD76}"/>
              </a:ext>
            </a:extLst>
          </p:cNvPr>
          <p:cNvSpPr txBox="1"/>
          <p:nvPr/>
        </p:nvSpPr>
        <p:spPr>
          <a:xfrm>
            <a:off x="7420825" y="5042118"/>
            <a:ext cx="47711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마찬가지로 인터페이스 구현 객체를 사용하려면 </a:t>
            </a:r>
            <a:endParaRPr lang="en-US" altLang="ko-KR" sz="1400" dirty="0"/>
          </a:p>
          <a:p>
            <a:r>
              <a:rPr lang="ko-KR" altLang="en-US" sz="1400" dirty="0"/>
              <a:t>인터페이스 변수를 선언하고 구현 객체를 대입해야 한다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 err="1"/>
              <a:t>SmartTelevision</a:t>
            </a:r>
            <a:r>
              <a:rPr lang="en-US" altLang="ko-KR" sz="1400" dirty="0"/>
              <a:t> tv = new </a:t>
            </a:r>
            <a:r>
              <a:rPr lang="en-US" altLang="ko-KR" sz="1400" dirty="0" err="1"/>
              <a:t>SmartTelevision</a:t>
            </a:r>
            <a:r>
              <a:rPr lang="en-US" altLang="ko-KR" sz="1400" dirty="0"/>
              <a:t>();</a:t>
            </a:r>
          </a:p>
          <a:p>
            <a:r>
              <a:rPr lang="en-US" altLang="ko-KR" sz="1400" dirty="0"/>
              <a:t>		</a:t>
            </a:r>
          </a:p>
          <a:p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 = tv;</a:t>
            </a:r>
          </a:p>
          <a:p>
            <a:r>
              <a:rPr lang="en-US" altLang="ko-KR" sz="1400" dirty="0"/>
              <a:t>Searchable </a:t>
            </a:r>
            <a:r>
              <a:rPr lang="en-US" altLang="ko-KR" sz="1400" dirty="0" err="1"/>
              <a:t>searchable</a:t>
            </a:r>
            <a:r>
              <a:rPr lang="en-US" altLang="ko-KR" sz="1400" dirty="0"/>
              <a:t> = tv;</a:t>
            </a:r>
          </a:p>
          <a:p>
            <a:r>
              <a:rPr lang="ko-KR" alt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9590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F443E-BDE7-11AA-B42A-339D8FC01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6DACE6-9A3D-D0F5-F91F-EBEDEFFB2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ko-KR" altLang="en-US" sz="1400" b="1" dirty="0"/>
              <a:t>인터페이스 사용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구현 객체가 인스턴스 변수에 대입된다고 하였다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이제 인터페이스로 구현 객체를 사용하는 방법을 알아본다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Myclass</a:t>
            </a:r>
            <a:r>
              <a:rPr lang="ko-KR" altLang="en-US" sz="1400" dirty="0"/>
              <a:t>에서 인터페이스 구현 객체인 </a:t>
            </a:r>
            <a:r>
              <a:rPr lang="en-US" altLang="ko-KR" sz="1400" dirty="0"/>
              <a:t>Television </a:t>
            </a:r>
            <a:r>
              <a:rPr lang="ko-KR" altLang="en-US" sz="1400" dirty="0"/>
              <a:t>객체를 사용해본다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//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 = new Television(); //</a:t>
            </a:r>
            <a:r>
              <a:rPr lang="ko-KR" altLang="en-US" sz="1400" dirty="0"/>
              <a:t>인터페이스 변수로 구현 객체를 대입할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	// </a:t>
            </a:r>
            <a:r>
              <a:rPr lang="ko-KR" altLang="en-US" sz="1400" dirty="0"/>
              <a:t>생성자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(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) { //</a:t>
            </a:r>
            <a:r>
              <a:rPr lang="ko-KR" altLang="en-US" sz="1400" dirty="0"/>
              <a:t>인터페이스가 생성자의 매개 변수로 사용될 경우 </a:t>
            </a:r>
            <a:r>
              <a:rPr lang="en-US" altLang="ko-KR" sz="1400" dirty="0"/>
              <a:t>new</a:t>
            </a:r>
            <a:r>
              <a:rPr lang="ko-KR" altLang="en-US" sz="1400" dirty="0"/>
              <a:t>연산자로 객체를 생성할 때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	      //</a:t>
            </a:r>
            <a:r>
              <a:rPr lang="ko-KR" altLang="en-US" sz="1400" dirty="0"/>
              <a:t>구현 객체를 생성자의 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대입할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			     //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 mc = new 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(new Television());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this.rc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	// </a:t>
            </a:r>
            <a:r>
              <a:rPr lang="ko-KR" altLang="en-US" sz="1400" dirty="0"/>
              <a:t>메소드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methodA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 = new Audio(); //</a:t>
            </a:r>
            <a:r>
              <a:rPr lang="ko-KR" altLang="en-US" sz="1400" dirty="0"/>
              <a:t>지역 변수로 사용될 경우</a:t>
            </a:r>
            <a:r>
              <a:rPr lang="en-US" altLang="ko-KR" sz="1400" dirty="0"/>
              <a:t>, </a:t>
            </a:r>
            <a:r>
              <a:rPr lang="ko-KR" altLang="en-US" sz="1400" dirty="0"/>
              <a:t>변수에 구현 객체를 대입할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		...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void </a:t>
            </a:r>
            <a:r>
              <a:rPr lang="en-US" altLang="ko-KR" sz="1400" dirty="0" err="1"/>
              <a:t>methodB</a:t>
            </a:r>
            <a:r>
              <a:rPr lang="en-US" altLang="ko-KR" sz="1400" dirty="0"/>
              <a:t>(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) { //</a:t>
            </a:r>
            <a:r>
              <a:rPr lang="ko-KR" altLang="en-US" sz="1400" dirty="0"/>
              <a:t>메소드의 매개 변수로 사용될 경우</a:t>
            </a:r>
            <a:r>
              <a:rPr lang="en-US" altLang="ko-KR" sz="1400" dirty="0"/>
              <a:t>, </a:t>
            </a:r>
            <a:r>
              <a:rPr lang="ko-KR" altLang="en-US" sz="1400" dirty="0"/>
              <a:t>메소드 </a:t>
            </a:r>
            <a:r>
              <a:rPr lang="ko-KR" altLang="en-US" sz="1400" dirty="0" err="1"/>
              <a:t>호출시</a:t>
            </a:r>
            <a:r>
              <a:rPr lang="ko-KR" altLang="en-US" sz="1400" dirty="0"/>
              <a:t> 구현 객체를 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대입할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		...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0771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1699E-05BA-F617-81AB-BD6137302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998371-CAFA-1DB6-FED7-BBF8DE980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//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 = new Television(); //</a:t>
            </a:r>
            <a:r>
              <a:rPr lang="ko-KR" altLang="en-US" sz="1400" dirty="0"/>
              <a:t>인터페이스 변수로 구현 객체를 대입할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	// </a:t>
            </a:r>
            <a:r>
              <a:rPr lang="ko-KR" altLang="en-US" sz="1400" dirty="0"/>
              <a:t>생성자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(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) { //</a:t>
            </a:r>
            <a:r>
              <a:rPr lang="ko-KR" altLang="en-US" sz="1400" dirty="0"/>
              <a:t>인터페이스가 생성자의 매개 변수로 사용될 경우 </a:t>
            </a:r>
            <a:r>
              <a:rPr lang="en-US" altLang="ko-KR" sz="1400" dirty="0"/>
              <a:t>new</a:t>
            </a:r>
            <a:r>
              <a:rPr lang="ko-KR" altLang="en-US" sz="1400" dirty="0"/>
              <a:t>연산자로 객체를 생성할 때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	      //</a:t>
            </a:r>
            <a:r>
              <a:rPr lang="ko-KR" altLang="en-US" sz="1400" dirty="0"/>
              <a:t>구현 객체를 생성자의 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대입할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			     //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 mc = new 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(new Television());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this.rc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	// </a:t>
            </a:r>
            <a:r>
              <a:rPr lang="ko-KR" altLang="en-US" sz="1400" dirty="0"/>
              <a:t>메소드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methodA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 = new Audio(); //</a:t>
            </a:r>
            <a:r>
              <a:rPr lang="ko-KR" altLang="en-US" sz="1400" dirty="0"/>
              <a:t>지역 변수로 사용될 경우</a:t>
            </a:r>
            <a:r>
              <a:rPr lang="en-US" altLang="ko-KR" sz="1400" dirty="0"/>
              <a:t>, </a:t>
            </a:r>
            <a:r>
              <a:rPr lang="ko-KR" altLang="en-US" sz="1400" dirty="0"/>
              <a:t>변수에 구현 객체를 대입할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		...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void </a:t>
            </a:r>
            <a:r>
              <a:rPr lang="en-US" altLang="ko-KR" sz="1400" dirty="0" err="1"/>
              <a:t>methodB</a:t>
            </a:r>
            <a:r>
              <a:rPr lang="en-US" altLang="ko-KR" sz="1400" dirty="0"/>
              <a:t>(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) { //</a:t>
            </a:r>
            <a:r>
              <a:rPr lang="ko-KR" altLang="en-US" sz="1400" dirty="0"/>
              <a:t>메소드의 매개 변수로 사용될 경우</a:t>
            </a:r>
            <a:r>
              <a:rPr lang="en-US" altLang="ko-KR" sz="1400" dirty="0"/>
              <a:t>, </a:t>
            </a:r>
            <a:r>
              <a:rPr lang="ko-KR" altLang="en-US" sz="1400" dirty="0"/>
              <a:t>메소드 </a:t>
            </a:r>
            <a:r>
              <a:rPr lang="ko-KR" altLang="en-US" sz="1400" dirty="0" err="1"/>
              <a:t>호출시</a:t>
            </a:r>
            <a:r>
              <a:rPr lang="ko-KR" altLang="en-US" sz="1400" dirty="0"/>
              <a:t> 구현 객체를 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대입할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		...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 = new Television();</a:t>
            </a:r>
          </a:p>
          <a:p>
            <a:pPr marL="0" indent="0">
              <a:buNone/>
            </a:pPr>
            <a:r>
              <a:rPr lang="ko-KR" altLang="en-US" sz="1400" dirty="0"/>
              <a:t>필드로 선언된 </a:t>
            </a:r>
            <a:r>
              <a:rPr lang="en-US" altLang="ko-KR" sz="1400" dirty="0" err="1"/>
              <a:t>rc</a:t>
            </a:r>
            <a:r>
              <a:rPr lang="ko-KR" altLang="en-US" sz="1400" dirty="0"/>
              <a:t>는 다음과 같이 사용될 수 있다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en-US" altLang="ko-KR" sz="1400" dirty="0" err="1"/>
              <a:t>Myclass</a:t>
            </a:r>
            <a:r>
              <a:rPr lang="en-US" altLang="ko-KR" sz="1400" dirty="0"/>
              <a:t> mc = new 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 err="1"/>
              <a:t>mc.rc.turnOn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 err="1"/>
              <a:t>mc.rc.setVolume</a:t>
            </a:r>
            <a:r>
              <a:rPr lang="en-US" altLang="ko-KR" sz="1400" dirty="0"/>
              <a:t>(5);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171642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AAB44-BAC3-F735-79F5-107EA773E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1A1880-3B56-48AD-F032-BF7C3EABF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//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 = new Television(); //</a:t>
            </a:r>
            <a:r>
              <a:rPr lang="ko-KR" altLang="en-US" sz="1400" dirty="0"/>
              <a:t>인터페이스 변수로 구현 객체를 대입할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	// </a:t>
            </a:r>
            <a:r>
              <a:rPr lang="ko-KR" altLang="en-US" sz="1400" dirty="0"/>
              <a:t>생성자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(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) { //</a:t>
            </a:r>
            <a:r>
              <a:rPr lang="ko-KR" altLang="en-US" sz="1400" dirty="0"/>
              <a:t>인터페이스가 생성자의 매개 변수로 사용될 경우 </a:t>
            </a:r>
            <a:r>
              <a:rPr lang="en-US" altLang="ko-KR" sz="1400" dirty="0"/>
              <a:t>new</a:t>
            </a:r>
            <a:r>
              <a:rPr lang="ko-KR" altLang="en-US" sz="1400" dirty="0"/>
              <a:t>연산자로 객체를 생성할 때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	      //</a:t>
            </a:r>
            <a:r>
              <a:rPr lang="ko-KR" altLang="en-US" sz="1400" dirty="0"/>
              <a:t>구현 객체를 생성자의 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대입할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			     //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 mc = new 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(new Television());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this.rc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	// </a:t>
            </a:r>
            <a:r>
              <a:rPr lang="ko-KR" altLang="en-US" sz="1400" dirty="0"/>
              <a:t>메소드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methodA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 = new Audio(); //</a:t>
            </a:r>
            <a:r>
              <a:rPr lang="ko-KR" altLang="en-US" sz="1400" dirty="0"/>
              <a:t>지역 변수로 사용될 경우</a:t>
            </a:r>
            <a:r>
              <a:rPr lang="en-US" altLang="ko-KR" sz="1400" dirty="0"/>
              <a:t>, </a:t>
            </a:r>
            <a:r>
              <a:rPr lang="ko-KR" altLang="en-US" sz="1400" dirty="0"/>
              <a:t>변수에 구현 객체를 대입할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		...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void </a:t>
            </a:r>
            <a:r>
              <a:rPr lang="en-US" altLang="ko-KR" sz="1400" dirty="0" err="1"/>
              <a:t>methodB</a:t>
            </a:r>
            <a:r>
              <a:rPr lang="en-US" altLang="ko-KR" sz="1400" dirty="0"/>
              <a:t>(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) { //</a:t>
            </a:r>
            <a:r>
              <a:rPr lang="ko-KR" altLang="en-US" sz="1400" dirty="0"/>
              <a:t>메소드의 매개 변수로 사용될 경우</a:t>
            </a:r>
            <a:r>
              <a:rPr lang="en-US" altLang="ko-KR" sz="1400" dirty="0"/>
              <a:t>, </a:t>
            </a:r>
            <a:r>
              <a:rPr lang="ko-KR" altLang="en-US" sz="1400" dirty="0"/>
              <a:t>메소드 </a:t>
            </a:r>
            <a:r>
              <a:rPr lang="ko-KR" altLang="en-US" sz="1400" dirty="0" err="1"/>
              <a:t>호출시</a:t>
            </a:r>
            <a:r>
              <a:rPr lang="ko-KR" altLang="en-US" sz="1400" dirty="0"/>
              <a:t> 구현 객체를 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대입할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		...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MyClass</a:t>
            </a:r>
            <a:r>
              <a:rPr lang="en-US" altLang="ko-KR" sz="1400" dirty="0"/>
              <a:t>(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) {</a:t>
            </a:r>
            <a:r>
              <a:rPr lang="en-US" altLang="ko-KR" sz="1400" dirty="0" err="1"/>
              <a:t>this.rc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;}</a:t>
            </a:r>
          </a:p>
          <a:p>
            <a:pPr marL="0" indent="0">
              <a:buNone/>
            </a:pPr>
            <a:r>
              <a:rPr lang="ko-KR" altLang="en-US" sz="1400" dirty="0"/>
              <a:t>생성자의 매개 변수로 선언된 </a:t>
            </a:r>
            <a:r>
              <a:rPr lang="en-US" altLang="ko-KR" sz="1400" dirty="0" err="1"/>
              <a:t>rc</a:t>
            </a:r>
            <a:r>
              <a:rPr lang="ko-KR" altLang="en-US" sz="1400" dirty="0"/>
              <a:t>는 다음과 같이 사용될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 err="1"/>
              <a:t>Myclass</a:t>
            </a:r>
            <a:r>
              <a:rPr lang="en-US" altLang="ko-KR" sz="1400" dirty="0"/>
              <a:t> mc = new 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(new Television());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</a:t>
            </a:r>
            <a:r>
              <a:rPr lang="ko-KR" altLang="en-US" sz="1400" dirty="0">
                <a:sym typeface="Wingdings" panose="05000000000000000000" pitchFamily="2" charset="2"/>
              </a:rPr>
              <a:t>이 경우의 </a:t>
            </a:r>
            <a:r>
              <a:rPr lang="en-US" altLang="ko-KR" sz="1400" dirty="0">
                <a:sym typeface="Wingdings" panose="05000000000000000000" pitchFamily="2" charset="2"/>
              </a:rPr>
              <a:t>Television</a:t>
            </a:r>
            <a:r>
              <a:rPr lang="ko-KR" altLang="en-US" sz="1400" dirty="0">
                <a:sym typeface="Wingdings" panose="05000000000000000000" pitchFamily="2" charset="2"/>
              </a:rPr>
              <a:t>의 메소드를 호출할 수 있다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598631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81521-2F82-E2F0-DB2D-02796B762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4AAA55-8887-BAFD-98F0-F46ED96EE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 = new Television(); // </a:t>
            </a:r>
            <a:r>
              <a:rPr lang="ko-KR" altLang="en-US" sz="1400" dirty="0"/>
              <a:t>기본적으로 </a:t>
            </a:r>
            <a:r>
              <a:rPr lang="en-US" altLang="ko-KR" sz="1400" dirty="0"/>
              <a:t>Television </a:t>
            </a:r>
            <a:r>
              <a:rPr lang="ko-KR" altLang="en-US" sz="1400" dirty="0"/>
              <a:t>객체를 할당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기본 생성자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ko-KR" altLang="en-US" sz="1400" dirty="0"/>
              <a:t>객체를 매개변수로 받는 생성자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(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this.rc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; // </a:t>
            </a:r>
            <a:r>
              <a:rPr lang="ko-KR" altLang="en-US" sz="1400" dirty="0"/>
              <a:t>매개변수로 받은 객체를 필드에 할당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rc.turnOn</a:t>
            </a:r>
            <a:r>
              <a:rPr lang="en-US" altLang="ko-KR" sz="1400" dirty="0"/>
              <a:t>(); // </a:t>
            </a:r>
            <a:r>
              <a:rPr lang="ko-KR" altLang="en-US" sz="1400" dirty="0"/>
              <a:t>전달받은 객체의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</a:t>
            </a:r>
            <a:r>
              <a:rPr lang="ko-KR" altLang="en-US" sz="1400" dirty="0"/>
              <a:t>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rc.setVolume</a:t>
            </a:r>
            <a:r>
              <a:rPr lang="en-US" altLang="ko-KR" sz="1400" dirty="0"/>
              <a:t>(5); // </a:t>
            </a:r>
            <a:r>
              <a:rPr lang="ko-KR" altLang="en-US" sz="1400" dirty="0"/>
              <a:t>전달받은 객체의 볼륨을 </a:t>
            </a:r>
            <a:r>
              <a:rPr lang="en-US" altLang="ko-KR" sz="1400" dirty="0"/>
              <a:t>5</a:t>
            </a:r>
            <a:r>
              <a:rPr lang="ko-KR" altLang="en-US" sz="1400" dirty="0"/>
              <a:t>로 설정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메소드 </a:t>
            </a:r>
            <a:r>
              <a:rPr lang="en-US" altLang="ko-KR" sz="1400" dirty="0"/>
              <a:t>A: </a:t>
            </a:r>
            <a:r>
              <a:rPr lang="ko-KR" altLang="en-US" sz="1400" dirty="0"/>
              <a:t>지역 변수로 </a:t>
            </a:r>
            <a:r>
              <a:rPr lang="en-US" altLang="ko-KR" sz="1400" dirty="0"/>
              <a:t>Audio </a:t>
            </a:r>
            <a:r>
              <a:rPr lang="ko-KR" altLang="en-US" sz="1400" dirty="0"/>
              <a:t>객체 사용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methodA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 = new Audio(); // Audio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rc.turnOn</a:t>
            </a:r>
            <a:r>
              <a:rPr lang="en-US" altLang="ko-KR" sz="1400" dirty="0"/>
              <a:t>(); // Audio </a:t>
            </a:r>
            <a:r>
              <a:rPr lang="ko-KR" altLang="en-US" sz="1400" dirty="0"/>
              <a:t>객체의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</a:t>
            </a:r>
            <a:r>
              <a:rPr lang="ko-KR" altLang="en-US" sz="1400" dirty="0"/>
              <a:t>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rc.setVolume</a:t>
            </a:r>
            <a:r>
              <a:rPr lang="en-US" altLang="ko-KR" sz="1400" dirty="0"/>
              <a:t>(5); // Audio </a:t>
            </a:r>
            <a:r>
              <a:rPr lang="ko-KR" altLang="en-US" sz="1400" dirty="0"/>
              <a:t>객체의 볼륨을 </a:t>
            </a:r>
            <a:r>
              <a:rPr lang="en-US" altLang="ko-KR" sz="1400" dirty="0"/>
              <a:t>5</a:t>
            </a:r>
            <a:r>
              <a:rPr lang="ko-KR" altLang="en-US" sz="1400" dirty="0"/>
              <a:t>로 설정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메소드 </a:t>
            </a:r>
            <a:r>
              <a:rPr lang="en-US" altLang="ko-KR" sz="1400" dirty="0"/>
              <a:t>B: </a:t>
            </a:r>
            <a:r>
              <a:rPr lang="ko-KR" altLang="en-US" sz="1400" dirty="0"/>
              <a:t>매개변수로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ko-KR" altLang="en-US" sz="1400" dirty="0"/>
              <a:t>객체 사용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methodB</a:t>
            </a:r>
            <a:r>
              <a:rPr lang="en-US" altLang="ko-KR" sz="1400" dirty="0"/>
              <a:t>(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rc.turnOn</a:t>
            </a:r>
            <a:r>
              <a:rPr lang="en-US" altLang="ko-KR" sz="1400" dirty="0"/>
              <a:t>(); // </a:t>
            </a:r>
            <a:r>
              <a:rPr lang="ko-KR" altLang="en-US" sz="1400" dirty="0"/>
              <a:t>매개변수로 받은 객체의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</a:t>
            </a:r>
            <a:r>
              <a:rPr lang="ko-KR" altLang="en-US" sz="1400" dirty="0"/>
              <a:t>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rc.setVolume</a:t>
            </a:r>
            <a:r>
              <a:rPr lang="en-US" altLang="ko-KR" sz="1400" dirty="0"/>
              <a:t>(5); // </a:t>
            </a:r>
            <a:r>
              <a:rPr lang="ko-KR" altLang="en-US" sz="1400" dirty="0"/>
              <a:t>매개변수로 받은 객체의 볼륨을 </a:t>
            </a:r>
            <a:r>
              <a:rPr lang="en-US" altLang="ko-KR" sz="1400" dirty="0"/>
              <a:t>5</a:t>
            </a:r>
            <a:r>
              <a:rPr lang="ko-KR" altLang="en-US" sz="1400" dirty="0"/>
              <a:t>로 설정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30046B-20BF-803D-702A-1DF72DE5AFFB}"/>
              </a:ext>
            </a:extLst>
          </p:cNvPr>
          <p:cNvSpPr txBox="1"/>
          <p:nvPr/>
        </p:nvSpPr>
        <p:spPr>
          <a:xfrm>
            <a:off x="7613964" y="561315"/>
            <a:ext cx="538681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1400" dirty="0"/>
              <a:t>public interface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상수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int MAX_VOLUME = 10;</a:t>
            </a:r>
          </a:p>
          <a:p>
            <a:pPr marL="0" indent="0">
              <a:buNone/>
            </a:pPr>
            <a:r>
              <a:rPr lang="en-US" altLang="ko-KR" sz="1400" dirty="0"/>
              <a:t>	int MIN_VOLUME = 0;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추상 메소드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	void </a:t>
            </a:r>
            <a:r>
              <a:rPr lang="en-US" altLang="ko-KR" sz="1400" dirty="0" err="1"/>
              <a:t>turnOff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	void </a:t>
            </a:r>
            <a:r>
              <a:rPr lang="en-US" altLang="ko-KR" sz="1400" dirty="0" err="1"/>
              <a:t>setVolume</a:t>
            </a:r>
            <a:r>
              <a:rPr lang="en-US" altLang="ko-KR" sz="1400" dirty="0"/>
              <a:t>(int volume);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interface Searchable {</a:t>
            </a:r>
          </a:p>
          <a:p>
            <a:pPr marL="0" indent="0">
              <a:buNone/>
            </a:pPr>
            <a:r>
              <a:rPr lang="en-US" altLang="ko-KR" sz="1400" dirty="0"/>
              <a:t>	void search(String </a:t>
            </a:r>
            <a:r>
              <a:rPr lang="en-US" altLang="ko-KR" sz="1400" dirty="0" err="1"/>
              <a:t>url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65593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21D64-3ED1-7A93-8D37-642E1E2C4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603ABD-2319-49D7-1A34-C13FB85A8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MyClassExample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("1)----------------");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 myClass1 = new 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(); // </a:t>
            </a:r>
            <a:r>
              <a:rPr lang="ko-KR" altLang="en-US" sz="1400" dirty="0"/>
              <a:t>기본 생성자 호출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rc</a:t>
            </a:r>
            <a:r>
              <a:rPr lang="ko-KR" altLang="en-US" sz="1400" dirty="0"/>
              <a:t>는 </a:t>
            </a:r>
            <a:r>
              <a:rPr lang="en-US" altLang="ko-KR" sz="1400" dirty="0"/>
              <a:t>Television </a:t>
            </a:r>
            <a:r>
              <a:rPr lang="ko-KR" altLang="en-US" sz="1400" dirty="0"/>
              <a:t>객체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myClass1.rc.turnOn(); // Television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</a:t>
            </a:r>
            <a:r>
              <a:rPr lang="ko-KR" altLang="en-US" sz="1400" dirty="0"/>
              <a:t>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myClass1.rc.setVolume(5); // Television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setVolume</a:t>
            </a:r>
            <a:r>
              <a:rPr lang="en-US" altLang="ko-KR" sz="1400" dirty="0"/>
              <a:t>(5) </a:t>
            </a:r>
            <a:r>
              <a:rPr lang="ko-KR" altLang="en-US" sz="1400" dirty="0"/>
              <a:t>호출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("2)----------------");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 myClass2 = new 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(new Audio()); // Audio </a:t>
            </a:r>
            <a:r>
              <a:rPr lang="ko-KR" altLang="en-US" sz="1400" dirty="0"/>
              <a:t>객체를 매개변수로 전달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Audio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</a:t>
            </a:r>
            <a:r>
              <a:rPr lang="ko-KR" altLang="en-US" sz="1400" dirty="0"/>
              <a:t>과 </a:t>
            </a:r>
            <a:r>
              <a:rPr lang="en-US" altLang="ko-KR" sz="1400" dirty="0" err="1"/>
              <a:t>setVolume</a:t>
            </a:r>
            <a:r>
              <a:rPr lang="en-US" altLang="ko-KR" sz="1400" dirty="0"/>
              <a:t>(5)</a:t>
            </a:r>
            <a:r>
              <a:rPr lang="ko-KR" altLang="en-US" sz="1400" dirty="0"/>
              <a:t>가 생성자 내부에서 호출됨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("3)----------------");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 myClass3 = new 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(); // </a:t>
            </a:r>
            <a:r>
              <a:rPr lang="ko-KR" altLang="en-US" sz="1400" dirty="0"/>
              <a:t>기본 생성자 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myClass3.methodA(); // </a:t>
            </a:r>
            <a:r>
              <a:rPr lang="en-US" altLang="ko-KR" sz="1400" dirty="0" err="1"/>
              <a:t>methodA</a:t>
            </a:r>
            <a:r>
              <a:rPr lang="en-US" altLang="ko-KR" sz="1400" dirty="0"/>
              <a:t>() </a:t>
            </a:r>
            <a:r>
              <a:rPr lang="ko-KR" altLang="en-US" sz="1400" dirty="0"/>
              <a:t>내부에서 </a:t>
            </a:r>
            <a:r>
              <a:rPr lang="en-US" altLang="ko-KR" sz="1400" dirty="0"/>
              <a:t>Audio </a:t>
            </a:r>
            <a:r>
              <a:rPr lang="ko-KR" altLang="en-US" sz="1400" dirty="0"/>
              <a:t>객체를 생성하고 동작 수행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("4)----------------");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 myClass4 = new </a:t>
            </a:r>
            <a:r>
              <a:rPr lang="en-US" altLang="ko-KR" sz="1400" dirty="0" err="1"/>
              <a:t>MyClass</a:t>
            </a:r>
            <a:r>
              <a:rPr lang="en-US" altLang="ko-KR" sz="1400" dirty="0"/>
              <a:t>(); // </a:t>
            </a:r>
            <a:r>
              <a:rPr lang="ko-KR" altLang="en-US" sz="1400" dirty="0"/>
              <a:t>기본 생성자 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myClass4.methodB(new Television()); // Television </a:t>
            </a:r>
            <a:r>
              <a:rPr lang="ko-KR" altLang="en-US" sz="1400" dirty="0"/>
              <a:t>객체를 매개변수로 전달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Television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</a:t>
            </a:r>
            <a:r>
              <a:rPr lang="ko-KR" altLang="en-US" sz="1400" dirty="0"/>
              <a:t>과 </a:t>
            </a:r>
            <a:r>
              <a:rPr lang="en-US" altLang="ko-KR" sz="1400" dirty="0" err="1"/>
              <a:t>setVolume</a:t>
            </a:r>
            <a:r>
              <a:rPr lang="en-US" altLang="ko-KR" sz="1400" dirty="0"/>
              <a:t>(5)</a:t>
            </a:r>
            <a:r>
              <a:rPr lang="ko-KR" altLang="en-US" sz="1400" dirty="0"/>
              <a:t>가 </a:t>
            </a:r>
            <a:r>
              <a:rPr lang="en-US" altLang="ko-KR" sz="1400" dirty="0" err="1"/>
              <a:t>methodB</a:t>
            </a:r>
            <a:r>
              <a:rPr lang="en-US" altLang="ko-KR" sz="1400" dirty="0"/>
              <a:t>()</a:t>
            </a:r>
            <a:r>
              <a:rPr lang="ko-KR" altLang="en-US" sz="1400" dirty="0"/>
              <a:t>에서 호출됨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81103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A04E2-EB7F-7354-01C4-6A8CCDA5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07874E-5B56-57C2-83DE-3A4D237E7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타입 변환과 </a:t>
            </a:r>
            <a:r>
              <a:rPr lang="ko-KR" altLang="en-US" sz="1400" b="1" dirty="0" err="1"/>
              <a:t>다형성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프로그램을 개발할 때 인터페이스를 사용해서 메소드를 호출하도록 했다면</a:t>
            </a:r>
            <a:r>
              <a:rPr lang="en-US" altLang="ko-KR" sz="1400" dirty="0"/>
              <a:t>, </a:t>
            </a:r>
            <a:r>
              <a:rPr lang="ko-KR" altLang="en-US" sz="1400" dirty="0"/>
              <a:t>구현 객체를 교체함으로써 실행결과를 다르게 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이것이 인터페이스의 다형성이다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예를 들어서 인터페이스 </a:t>
            </a:r>
            <a:r>
              <a:rPr lang="en-US" altLang="ko-KR" sz="1400" dirty="0"/>
              <a:t>I</a:t>
            </a:r>
            <a:r>
              <a:rPr lang="ko-KR" altLang="en-US" sz="1400" dirty="0"/>
              <a:t>를 이용해서 프로그램을 개발했다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I</a:t>
            </a:r>
            <a:r>
              <a:rPr lang="ko-KR" altLang="en-US" sz="1400" dirty="0"/>
              <a:t>인터페이스를 구현한 </a:t>
            </a:r>
            <a:r>
              <a:rPr lang="en-US" altLang="ko-KR" sz="1400" dirty="0"/>
              <a:t>A</a:t>
            </a:r>
            <a:r>
              <a:rPr lang="ko-KR" altLang="en-US" sz="1400" dirty="0"/>
              <a:t>클래스로 개발을 했더니 어떠한 이유로 문제가 발생했다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이때 전체 코드를 바꿀 필요 없이 인터페이스를 구현한 클래스를 교체한 후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단 </a:t>
            </a:r>
            <a:r>
              <a:rPr lang="ko-KR" altLang="en-US" sz="1400" dirty="0" err="1"/>
              <a:t>한줄의</a:t>
            </a:r>
            <a:r>
              <a:rPr lang="ko-KR" altLang="en-US" sz="1400" dirty="0"/>
              <a:t> 소스코드를 수정해서 프로그램을 재실행 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B879C5-135B-FA93-B8EB-89931AA53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0" y="3837538"/>
            <a:ext cx="55245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177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D1A27-F451-47D8-12C9-88B80CED3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C0DC97-8871-3583-C443-2BCA80112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자동 타입 변환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구현 객체가 인터페이스 타입으로 변환되는 것은 자동 타입 변환에 해당한다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인터페이스 구현 클래스를 상속해서 자식 클래스를 만들었다면</a:t>
            </a:r>
            <a:r>
              <a:rPr lang="en-US" altLang="ko-KR" sz="1400" dirty="0"/>
              <a:t>, </a:t>
            </a:r>
            <a:r>
              <a:rPr lang="ko-KR" altLang="en-US" sz="1400" dirty="0"/>
              <a:t>자식 객체 또한 인터페이스 타입으로 자동 타입 변환할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B </a:t>
            </a:r>
            <a:r>
              <a:rPr lang="en-US" altLang="ko-KR" sz="1400" dirty="0" err="1"/>
              <a:t>b</a:t>
            </a:r>
            <a:r>
              <a:rPr lang="en-US" altLang="ko-KR" sz="1400" dirty="0"/>
              <a:t> = new B();</a:t>
            </a:r>
          </a:p>
          <a:p>
            <a:pPr marL="0" indent="0">
              <a:buNone/>
            </a:pPr>
            <a:r>
              <a:rPr lang="en-US" altLang="ko-KR" sz="1400" dirty="0"/>
              <a:t>C </a:t>
            </a:r>
            <a:r>
              <a:rPr lang="en-US" altLang="ko-KR" sz="1400" dirty="0" err="1"/>
              <a:t>c</a:t>
            </a:r>
            <a:r>
              <a:rPr lang="en-US" altLang="ko-KR" sz="1400" dirty="0"/>
              <a:t> = new C();</a:t>
            </a:r>
          </a:p>
          <a:p>
            <a:pPr marL="0" indent="0">
              <a:buNone/>
            </a:pPr>
            <a:r>
              <a:rPr lang="en-US" altLang="ko-KR" sz="1400" dirty="0"/>
              <a:t>D </a:t>
            </a:r>
            <a:r>
              <a:rPr lang="en-US" altLang="ko-KR" sz="1400" dirty="0" err="1"/>
              <a:t>d</a:t>
            </a:r>
            <a:r>
              <a:rPr lang="en-US" altLang="ko-KR" sz="1400" dirty="0"/>
              <a:t> = new D();</a:t>
            </a:r>
          </a:p>
          <a:p>
            <a:pPr marL="0" indent="0">
              <a:buNone/>
            </a:pPr>
            <a:r>
              <a:rPr lang="en-US" altLang="ko-KR" sz="1400" dirty="0"/>
              <a:t>E </a:t>
            </a:r>
            <a:r>
              <a:rPr lang="en-US" altLang="ko-KR" sz="1400" dirty="0" err="1"/>
              <a:t>e</a:t>
            </a:r>
            <a:r>
              <a:rPr lang="en-US" altLang="ko-KR" sz="1400" dirty="0"/>
              <a:t> = new E();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A a1 = b;</a:t>
            </a:r>
          </a:p>
          <a:p>
            <a:pPr marL="0" indent="0">
              <a:buNone/>
            </a:pPr>
            <a:r>
              <a:rPr lang="en-US" altLang="ko-KR" sz="1400" dirty="0"/>
              <a:t>A a1 = c;</a:t>
            </a:r>
          </a:p>
          <a:p>
            <a:pPr marL="0" indent="0">
              <a:buNone/>
            </a:pPr>
            <a:r>
              <a:rPr lang="en-US" altLang="ko-KR" sz="1400" dirty="0"/>
              <a:t>A a1 = d;</a:t>
            </a:r>
          </a:p>
          <a:p>
            <a:pPr marL="0" indent="0">
              <a:buNone/>
            </a:pPr>
            <a:r>
              <a:rPr lang="en-US" altLang="ko-KR" sz="1400" dirty="0"/>
              <a:t>A a1 = e;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805BDE1-334F-4EFC-47E8-5FB0A5F92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107" y="86055"/>
            <a:ext cx="2114134" cy="82834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93B0DB7-A3C1-4C7D-112B-E428F7AE0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876" y="2090737"/>
            <a:ext cx="2809875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377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BE28A-BD18-1729-DEB2-821A0CB5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32C78A-DFEC-BA09-A9DC-50BE6A828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interface Tire {</a:t>
            </a:r>
          </a:p>
          <a:p>
            <a:pPr marL="0" indent="0">
              <a:buNone/>
            </a:pPr>
            <a:r>
              <a:rPr lang="en-US" altLang="ko-KR" sz="1400" dirty="0"/>
              <a:t>	public void roll();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HankookTire</a:t>
            </a:r>
            <a:r>
              <a:rPr lang="en-US" altLang="ko-KR" sz="1400" dirty="0"/>
              <a:t> implements Tire {</a:t>
            </a:r>
          </a:p>
          <a:p>
            <a:pPr marL="0" indent="0">
              <a:buNone/>
            </a:pPr>
            <a:r>
              <a:rPr lang="en-US" altLang="ko-KR" sz="1400" dirty="0"/>
              <a:t>	@Override</a:t>
            </a:r>
          </a:p>
          <a:p>
            <a:pPr marL="0" indent="0">
              <a:buNone/>
            </a:pPr>
            <a:r>
              <a:rPr lang="en-US" altLang="ko-KR" sz="1400" dirty="0"/>
              <a:t>	public void roll()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한국 타이어가 굴러갑니다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KumhoTire</a:t>
            </a:r>
            <a:r>
              <a:rPr lang="en-US" altLang="ko-KR" sz="1400" dirty="0"/>
              <a:t> implements Tire {</a:t>
            </a:r>
          </a:p>
          <a:p>
            <a:pPr marL="0" indent="0">
              <a:buNone/>
            </a:pPr>
            <a:r>
              <a:rPr lang="en-US" altLang="ko-KR" sz="1400" dirty="0"/>
              <a:t>	@Override</a:t>
            </a:r>
          </a:p>
          <a:p>
            <a:pPr marL="0" indent="0">
              <a:buNone/>
            </a:pPr>
            <a:r>
              <a:rPr lang="en-US" altLang="ko-KR" sz="1400" dirty="0"/>
              <a:t>	public void roll()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금호 타이어가 굴러갑니다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 err="1"/>
          </a:p>
        </p:txBody>
      </p:sp>
    </p:spTree>
    <p:extLst>
      <p:ext uri="{BB962C8B-B14F-4D97-AF65-F5344CB8AC3E}">
        <p14:creationId xmlns:p14="http://schemas.microsoft.com/office/powerpoint/2010/main" val="2980443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56216-1F44-6761-D995-4FB6C5CED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49FF56-953A-E06D-C539-EB1F271AF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Car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필드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HankookTire</a:t>
            </a:r>
            <a:r>
              <a:rPr lang="en-US" altLang="ko-KR" sz="1400" dirty="0"/>
              <a:t> </a:t>
            </a:r>
            <a:r>
              <a:rPr lang="ko-KR" altLang="en-US" sz="1400" dirty="0"/>
              <a:t>객체로 초기화된 타이어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Tire </a:t>
            </a:r>
            <a:r>
              <a:rPr lang="en-US" altLang="ko-KR" sz="1400" dirty="0" err="1"/>
              <a:t>frontLeftTire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HankookTire</a:t>
            </a:r>
            <a:r>
              <a:rPr lang="en-US" altLang="ko-KR" sz="1400" dirty="0"/>
              <a:t>(); // </a:t>
            </a:r>
            <a:r>
              <a:rPr lang="ko-KR" altLang="en-US" sz="1400" dirty="0" err="1"/>
              <a:t>앞왼쪽</a:t>
            </a:r>
            <a:r>
              <a:rPr lang="ko-KR" altLang="en-US" sz="1400" dirty="0"/>
              <a:t> 타이어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Tire </a:t>
            </a:r>
            <a:r>
              <a:rPr lang="en-US" altLang="ko-KR" sz="1400" dirty="0" err="1"/>
              <a:t>frontRightTire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HankookTire</a:t>
            </a:r>
            <a:r>
              <a:rPr lang="en-US" altLang="ko-KR" sz="1400" dirty="0"/>
              <a:t>(); // </a:t>
            </a:r>
            <a:r>
              <a:rPr lang="ko-KR" altLang="en-US" sz="1400" dirty="0" err="1"/>
              <a:t>앞오른쪽</a:t>
            </a:r>
            <a:r>
              <a:rPr lang="ko-KR" altLang="en-US" sz="1400" dirty="0"/>
              <a:t> 타이어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Tire </a:t>
            </a:r>
            <a:r>
              <a:rPr lang="en-US" altLang="ko-KR" sz="1400" dirty="0" err="1"/>
              <a:t>backLeftTire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HankookTire</a:t>
            </a:r>
            <a:r>
              <a:rPr lang="en-US" altLang="ko-KR" sz="1400" dirty="0"/>
              <a:t>(); // </a:t>
            </a:r>
            <a:r>
              <a:rPr lang="ko-KR" altLang="en-US" sz="1400" dirty="0" err="1"/>
              <a:t>뒤왼쪽</a:t>
            </a:r>
            <a:r>
              <a:rPr lang="ko-KR" altLang="en-US" sz="1400" dirty="0"/>
              <a:t> 타이어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Tire </a:t>
            </a:r>
            <a:r>
              <a:rPr lang="en-US" altLang="ko-KR" sz="1400" dirty="0" err="1"/>
              <a:t>backRightTire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HankookTire</a:t>
            </a:r>
            <a:r>
              <a:rPr lang="en-US" altLang="ko-KR" sz="1400" dirty="0"/>
              <a:t>(); // </a:t>
            </a:r>
            <a:r>
              <a:rPr lang="ko-KR" altLang="en-US" sz="1400" dirty="0" err="1"/>
              <a:t>뒤오른쪽</a:t>
            </a:r>
            <a:r>
              <a:rPr lang="ko-KR" altLang="en-US" sz="1400" dirty="0"/>
              <a:t> 타이어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메소드</a:t>
            </a:r>
            <a:r>
              <a:rPr lang="en-US" altLang="ko-KR" sz="1400" dirty="0"/>
              <a:t>: </a:t>
            </a:r>
            <a:r>
              <a:rPr lang="ko-KR" altLang="en-US" sz="1400" dirty="0"/>
              <a:t>각 타이어의 </a:t>
            </a:r>
            <a:r>
              <a:rPr lang="en-US" altLang="ko-KR" sz="1400" dirty="0"/>
              <a:t>roll() </a:t>
            </a:r>
            <a:r>
              <a:rPr lang="ko-KR" altLang="en-US" sz="1400" dirty="0"/>
              <a:t>메소드 호출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void run()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frontLeftTire.roll</a:t>
            </a:r>
            <a:r>
              <a:rPr lang="en-US" altLang="ko-KR" sz="1400" dirty="0"/>
              <a:t>(); // </a:t>
            </a:r>
            <a:r>
              <a:rPr lang="ko-KR" altLang="en-US" sz="1400" dirty="0" err="1"/>
              <a:t>앞왼쪽</a:t>
            </a:r>
            <a:r>
              <a:rPr lang="ko-KR" altLang="en-US" sz="1400" dirty="0"/>
              <a:t> 타이어의 </a:t>
            </a:r>
            <a:r>
              <a:rPr lang="en-US" altLang="ko-KR" sz="1400" dirty="0"/>
              <a:t>roll() </a:t>
            </a:r>
            <a:r>
              <a:rPr lang="ko-KR" altLang="en-US" sz="1400" dirty="0"/>
              <a:t>실행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frontRightTire.roll</a:t>
            </a:r>
            <a:r>
              <a:rPr lang="en-US" altLang="ko-KR" sz="1400" dirty="0"/>
              <a:t>(); // </a:t>
            </a:r>
            <a:r>
              <a:rPr lang="ko-KR" altLang="en-US" sz="1400" dirty="0" err="1"/>
              <a:t>앞오른쪽</a:t>
            </a:r>
            <a:r>
              <a:rPr lang="ko-KR" altLang="en-US" sz="1400" dirty="0"/>
              <a:t> 타이어의 </a:t>
            </a:r>
            <a:r>
              <a:rPr lang="en-US" altLang="ko-KR" sz="1400" dirty="0"/>
              <a:t>roll() </a:t>
            </a:r>
            <a:r>
              <a:rPr lang="ko-KR" altLang="en-US" sz="1400" dirty="0"/>
              <a:t>실행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backLeftTire.roll</a:t>
            </a:r>
            <a:r>
              <a:rPr lang="en-US" altLang="ko-KR" sz="1400" dirty="0"/>
              <a:t>(); // </a:t>
            </a:r>
            <a:r>
              <a:rPr lang="ko-KR" altLang="en-US" sz="1400" dirty="0" err="1"/>
              <a:t>뒤왼쪽</a:t>
            </a:r>
            <a:r>
              <a:rPr lang="ko-KR" altLang="en-US" sz="1400" dirty="0"/>
              <a:t> 타이어의 </a:t>
            </a:r>
            <a:r>
              <a:rPr lang="en-US" altLang="ko-KR" sz="1400" dirty="0"/>
              <a:t>roll() </a:t>
            </a:r>
            <a:r>
              <a:rPr lang="ko-KR" altLang="en-US" sz="1400" dirty="0"/>
              <a:t>실행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backRightTire.roll</a:t>
            </a:r>
            <a:r>
              <a:rPr lang="en-US" altLang="ko-KR" sz="1400" dirty="0"/>
              <a:t>(); // </a:t>
            </a:r>
            <a:r>
              <a:rPr lang="ko-KR" altLang="en-US" sz="1400" dirty="0" err="1"/>
              <a:t>뒤오른쪽</a:t>
            </a:r>
            <a:r>
              <a:rPr lang="ko-KR" altLang="en-US" sz="1400" dirty="0"/>
              <a:t> 타이어의 </a:t>
            </a:r>
            <a:r>
              <a:rPr lang="en-US" altLang="ko-KR" sz="1400" dirty="0"/>
              <a:t>roll() </a:t>
            </a:r>
            <a:r>
              <a:rPr lang="ko-KR" altLang="en-US" sz="1400" dirty="0"/>
              <a:t>실행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frontLeftTire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frontRightTire</a:t>
            </a:r>
            <a:r>
              <a:rPr lang="ko-KR" altLang="en-US" sz="1400" dirty="0"/>
              <a:t>를 교체하기 전에는 </a:t>
            </a:r>
            <a:r>
              <a:rPr lang="en-US" altLang="ko-KR" sz="1400" dirty="0" err="1"/>
              <a:t>HankookTire</a:t>
            </a:r>
            <a:r>
              <a:rPr lang="ko-KR" altLang="en-US" sz="1400" dirty="0"/>
              <a:t>의 </a:t>
            </a:r>
            <a:r>
              <a:rPr lang="en-US" altLang="ko-KR" sz="1400" dirty="0"/>
              <a:t>roll()</a:t>
            </a:r>
            <a:r>
              <a:rPr lang="ko-KR" altLang="en-US" sz="1400" dirty="0"/>
              <a:t>이 호출되었지만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KumhoTire</a:t>
            </a:r>
            <a:r>
              <a:rPr lang="ko-KR" altLang="en-US" sz="1400" dirty="0"/>
              <a:t>로 교체된 후에는 </a:t>
            </a:r>
            <a:r>
              <a:rPr lang="en-US" altLang="ko-KR" sz="1400" dirty="0" err="1"/>
              <a:t>KumhoTire</a:t>
            </a:r>
            <a:r>
              <a:rPr lang="ko-KR" altLang="en-US" sz="1400" dirty="0"/>
              <a:t>의 </a:t>
            </a:r>
            <a:r>
              <a:rPr lang="en-US" altLang="ko-KR" sz="1400" dirty="0"/>
              <a:t>roll()</a:t>
            </a:r>
            <a:r>
              <a:rPr lang="ko-KR" altLang="en-US" sz="1400" dirty="0"/>
              <a:t>메소드가 호출된다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Car</a:t>
            </a:r>
            <a:r>
              <a:rPr lang="ko-KR" altLang="en-US" sz="1400" dirty="0"/>
              <a:t>의 </a:t>
            </a:r>
            <a:r>
              <a:rPr lang="en-US" altLang="ko-KR" sz="1400" dirty="0"/>
              <a:t>run()</a:t>
            </a:r>
            <a:r>
              <a:rPr lang="ko-KR" altLang="en-US" sz="1400" dirty="0"/>
              <a:t>메소드를 </a:t>
            </a:r>
            <a:r>
              <a:rPr lang="ko-KR" altLang="en-US" sz="1400" dirty="0" err="1"/>
              <a:t>수정하지않아도</a:t>
            </a:r>
            <a:r>
              <a:rPr lang="ko-KR" altLang="en-US" sz="1400" dirty="0"/>
              <a:t> 구현 객체를 달리하므로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다양한 실행결과를 얻을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</a:t>
            </a:r>
            <a:r>
              <a:rPr lang="ko-KR" altLang="en-US" sz="1400" dirty="0">
                <a:sym typeface="Wingdings" panose="05000000000000000000" pitchFamily="2" charset="2"/>
              </a:rPr>
              <a:t>필드의 </a:t>
            </a:r>
            <a:r>
              <a:rPr lang="ko-KR" altLang="en-US" sz="1400" dirty="0" err="1">
                <a:sym typeface="Wingdings" panose="05000000000000000000" pitchFamily="2" charset="2"/>
              </a:rPr>
              <a:t>다형성</a:t>
            </a: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FB6AFB-38CB-47AA-A413-3365E45F3666}"/>
              </a:ext>
            </a:extLst>
          </p:cNvPr>
          <p:cNvSpPr txBox="1"/>
          <p:nvPr/>
        </p:nvSpPr>
        <p:spPr>
          <a:xfrm>
            <a:off x="6808206" y="0"/>
            <a:ext cx="538379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public class </a:t>
            </a:r>
            <a:r>
              <a:rPr lang="en-US" altLang="ko-KR" sz="1400" dirty="0" err="1"/>
              <a:t>CarExample</a:t>
            </a:r>
            <a:r>
              <a:rPr lang="en-US" altLang="ko-KR" sz="1400" dirty="0"/>
              <a:t> {</a:t>
            </a:r>
          </a:p>
          <a:p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r>
              <a:rPr lang="en-US" altLang="ko-KR" sz="1400" dirty="0"/>
              <a:t>        Car </a:t>
            </a:r>
            <a:r>
              <a:rPr lang="en-US" altLang="ko-KR" sz="1400" dirty="0" err="1"/>
              <a:t>myCar</a:t>
            </a:r>
            <a:r>
              <a:rPr lang="en-US" altLang="ko-KR" sz="1400" dirty="0"/>
              <a:t> = new Car(); // Car </a:t>
            </a:r>
            <a:r>
              <a:rPr lang="ko-KR" altLang="en-US" sz="1400" dirty="0"/>
              <a:t>객체 생성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기본 타이어로 실행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myCar.run</a:t>
            </a:r>
            <a:r>
              <a:rPr lang="en-US" altLang="ko-KR" sz="1400" dirty="0"/>
              <a:t>(); 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    // </a:t>
            </a:r>
            <a:r>
              <a:rPr lang="ko-KR" altLang="en-US" sz="1400" dirty="0" err="1"/>
              <a:t>앞왼쪽</a:t>
            </a:r>
            <a:r>
              <a:rPr lang="ko-KR" altLang="en-US" sz="1400" dirty="0"/>
              <a:t> 및 </a:t>
            </a:r>
            <a:r>
              <a:rPr lang="ko-KR" altLang="en-US" sz="1400" dirty="0" err="1"/>
              <a:t>앞오른쪽</a:t>
            </a:r>
            <a:r>
              <a:rPr lang="ko-KR" altLang="en-US" sz="1400" dirty="0"/>
              <a:t> 타이어를 </a:t>
            </a:r>
            <a:r>
              <a:rPr lang="en-US" altLang="ko-KR" sz="1400" dirty="0" err="1"/>
              <a:t>KumhoTire</a:t>
            </a:r>
            <a:r>
              <a:rPr lang="ko-KR" altLang="en-US" sz="1400" dirty="0"/>
              <a:t>로 교체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myCar.frontLeftTire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KumhoTire</a:t>
            </a:r>
            <a:r>
              <a:rPr lang="en-US" altLang="ko-KR" sz="1400" dirty="0"/>
              <a:t>();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myCar.frontRightTire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KumhoTire</a:t>
            </a:r>
            <a:r>
              <a:rPr lang="en-US" altLang="ko-KR" sz="1400" dirty="0"/>
              <a:t>();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    // </a:t>
            </a:r>
            <a:r>
              <a:rPr lang="ko-KR" altLang="en-US" sz="1400" dirty="0"/>
              <a:t>교체된 타이어로 실행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myCar.run</a:t>
            </a:r>
            <a:r>
              <a:rPr lang="en-US" altLang="ko-KR" sz="1400" dirty="0"/>
              <a:t>();</a:t>
            </a:r>
          </a:p>
          <a:p>
            <a:r>
              <a:rPr lang="en-US" altLang="ko-KR" sz="1400" dirty="0"/>
              <a:t>    }</a:t>
            </a:r>
          </a:p>
          <a:p>
            <a:r>
              <a:rPr lang="en-US" altLang="ko-KR" sz="1400" dirty="0"/>
              <a:t>}</a:t>
            </a:r>
          </a:p>
          <a:p>
            <a:endParaRPr lang="ko-KR" alt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DEBCA7-F604-EDFF-F8D0-A500CE48B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874" y="3837301"/>
            <a:ext cx="2191740" cy="200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13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AE5E1-5548-487F-C061-EC77BCA9B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58D536-705B-5B1A-F43A-B345132E4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Driver {</a:t>
            </a:r>
          </a:p>
          <a:p>
            <a:pPr marL="0" indent="0">
              <a:buNone/>
            </a:pPr>
            <a:r>
              <a:rPr lang="en-US" altLang="ko-KR" sz="1400" dirty="0"/>
              <a:t>	public void drive(Vehicle vehicle) { //</a:t>
            </a:r>
            <a:r>
              <a:rPr lang="ko-KR" altLang="en-US" sz="1400" dirty="0"/>
              <a:t>매개 변수를 인터페이스 타입으로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vehicle.run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interface Vehicle {</a:t>
            </a:r>
          </a:p>
          <a:p>
            <a:pPr marL="0" indent="0">
              <a:buNone/>
            </a:pPr>
            <a:r>
              <a:rPr lang="en-US" altLang="ko-KR" sz="1400" dirty="0"/>
              <a:t>	public void run();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Bus implements Vehicle { // Vehicle</a:t>
            </a:r>
            <a:r>
              <a:rPr lang="ko-KR" altLang="en-US" sz="1400" dirty="0"/>
              <a:t>구현 객체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@Override</a:t>
            </a:r>
          </a:p>
          <a:p>
            <a:pPr marL="0" indent="0">
              <a:buNone/>
            </a:pPr>
            <a:r>
              <a:rPr lang="en-US" altLang="ko-KR" sz="1400" dirty="0"/>
              <a:t>	public void run()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버스가 달립니다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Taxi implements Vehicle {// Vehicle</a:t>
            </a:r>
            <a:r>
              <a:rPr lang="ko-KR" altLang="en-US" sz="1400" dirty="0"/>
              <a:t>구현 객체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@Override</a:t>
            </a:r>
          </a:p>
          <a:p>
            <a:pPr marL="0" indent="0">
              <a:buNone/>
            </a:pPr>
            <a:r>
              <a:rPr lang="en-US" altLang="ko-KR" sz="1400" dirty="0"/>
              <a:t>	public void run()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택시가 달립니다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176386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CBA1C-3D42-C7C0-CA37-320E98236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AA60-607A-8F72-EEC2-052FE7583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DriverExample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Driver </a:t>
            </a:r>
            <a:r>
              <a:rPr lang="en-US" altLang="ko-KR" sz="1400" dirty="0" err="1"/>
              <a:t>driver</a:t>
            </a:r>
            <a:r>
              <a:rPr lang="en-US" altLang="ko-KR" sz="1400" dirty="0"/>
              <a:t> = new Driver(); // Driver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Bus </a:t>
            </a:r>
            <a:r>
              <a:rPr lang="en-US" altLang="ko-KR" sz="1400" dirty="0" err="1"/>
              <a:t>bus</a:t>
            </a:r>
            <a:r>
              <a:rPr lang="en-US" altLang="ko-KR" sz="1400" dirty="0"/>
              <a:t> = new Bus(); // Bus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Taxi </a:t>
            </a:r>
            <a:r>
              <a:rPr lang="en-US" altLang="ko-KR" sz="1400" dirty="0" err="1"/>
              <a:t>taxi</a:t>
            </a:r>
            <a:r>
              <a:rPr lang="en-US" altLang="ko-KR" sz="1400" dirty="0"/>
              <a:t> = new Taxi(); // Taxi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driver.drive</a:t>
            </a:r>
            <a:r>
              <a:rPr lang="en-US" altLang="ko-KR" sz="1400" dirty="0"/>
              <a:t>(bus); // Driver</a:t>
            </a:r>
            <a:r>
              <a:rPr lang="ko-KR" altLang="en-US" sz="1400" dirty="0"/>
              <a:t>가 </a:t>
            </a:r>
            <a:r>
              <a:rPr lang="en-US" altLang="ko-KR" sz="1400" dirty="0"/>
              <a:t>Bus </a:t>
            </a:r>
            <a:r>
              <a:rPr lang="ko-KR" altLang="en-US" sz="1400" dirty="0"/>
              <a:t>객체를 운전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driver.drive</a:t>
            </a:r>
            <a:r>
              <a:rPr lang="en-US" altLang="ko-KR" sz="1400" dirty="0"/>
              <a:t>(taxi); // Driver</a:t>
            </a:r>
            <a:r>
              <a:rPr lang="ko-KR" altLang="en-US" sz="1400" dirty="0"/>
              <a:t>가 </a:t>
            </a:r>
            <a:r>
              <a:rPr lang="en-US" altLang="ko-KR" sz="1400" dirty="0"/>
              <a:t>Taxi </a:t>
            </a:r>
            <a:r>
              <a:rPr lang="ko-KR" altLang="en-US" sz="1400" dirty="0"/>
              <a:t>객체를 운전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매개 변수를 인터페이스 타입으로 선언하고 호출할 때는 구현 객체를 대입한다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drive </a:t>
            </a:r>
            <a:r>
              <a:rPr lang="ko-KR" altLang="en-US" sz="1400" dirty="0"/>
              <a:t>메소드 </a:t>
            </a:r>
            <a:r>
              <a:rPr lang="ko-KR" altLang="en-US" sz="1400" dirty="0" err="1"/>
              <a:t>호출시</a:t>
            </a:r>
            <a:r>
              <a:rPr lang="ko-KR" altLang="en-US" sz="1400" dirty="0"/>
              <a:t> 어떠한 구현 객체도 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사용할 수 있고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어떤 객체가 </a:t>
            </a:r>
            <a:r>
              <a:rPr lang="ko-KR" altLang="en-US" sz="1400" dirty="0" err="1"/>
              <a:t>제공되느냐에</a:t>
            </a:r>
            <a:r>
              <a:rPr lang="ko-KR" altLang="en-US" sz="1400" dirty="0"/>
              <a:t> 따라 메소드의 실행 결과는 다양해질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sym typeface="Wingdings" panose="05000000000000000000" pitchFamily="2" charset="2"/>
              </a:rPr>
              <a:t>매개 변수의 </a:t>
            </a:r>
            <a:r>
              <a:rPr lang="ko-KR" altLang="en-US" sz="1400" dirty="0" err="1">
                <a:sym typeface="Wingdings" panose="05000000000000000000" pitchFamily="2" charset="2"/>
              </a:rPr>
              <a:t>다향성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7CB0F64-C11C-4B9A-B3DA-ED20F26C0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037" y="1447846"/>
            <a:ext cx="1894156" cy="74309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4B799D1-809E-A857-C9DE-D52F833EF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715" y="3476719"/>
            <a:ext cx="41148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05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0A255-8862-9A1B-7574-561FAF7F4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EF743E-3643-6CD3-FE18-1A6F2558F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강제 타입 변환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구현 객체가 인터페이스 타입을 자동 타입 변환하면</a:t>
            </a:r>
            <a:r>
              <a:rPr lang="en-US" altLang="ko-KR" sz="1400" dirty="0"/>
              <a:t>, </a:t>
            </a:r>
            <a:r>
              <a:rPr lang="ko-KR" altLang="en-US" sz="1400" dirty="0"/>
              <a:t>인터페이스에 선언된 메소드만 사용 가능하다는 제약 사항이 따랐다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예를 들어 인터페이스에는 </a:t>
            </a:r>
            <a:r>
              <a:rPr lang="en-US" altLang="ko-KR" sz="1400" dirty="0"/>
              <a:t>3</a:t>
            </a:r>
            <a:r>
              <a:rPr lang="ko-KR" altLang="en-US" sz="1400" dirty="0"/>
              <a:t>개의 메소드가 선언되어 있고</a:t>
            </a:r>
            <a:r>
              <a:rPr lang="en-US" altLang="ko-KR" sz="1400" dirty="0"/>
              <a:t> </a:t>
            </a:r>
            <a:r>
              <a:rPr lang="ko-KR" altLang="en-US" sz="1400" dirty="0"/>
              <a:t>클래스에는 </a:t>
            </a:r>
            <a:r>
              <a:rPr lang="en-US" altLang="ko-KR" sz="1400" dirty="0"/>
              <a:t>5</a:t>
            </a:r>
            <a:r>
              <a:rPr lang="ko-KR" altLang="en-US" sz="1400" dirty="0"/>
              <a:t>개의 메소드가 선언되어 있다면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인터페이스 변수로 호출 가능한 메소드는 </a:t>
            </a:r>
            <a:r>
              <a:rPr lang="en-US" altLang="ko-KR" sz="1400" dirty="0"/>
              <a:t>3</a:t>
            </a:r>
            <a:r>
              <a:rPr lang="ko-KR" altLang="en-US" sz="1400" dirty="0"/>
              <a:t>개 뿐이다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하지만 경우에 따라서 구현 클래스에서 선언된 필드와 메소드를 호출해야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이때 강제 타입 변환을 구현해서 클래스 타입으로 변환한 다음</a:t>
            </a:r>
            <a:r>
              <a:rPr lang="en-US" altLang="ko-KR" sz="1400" dirty="0"/>
              <a:t>, </a:t>
            </a:r>
            <a:r>
              <a:rPr lang="ko-KR" altLang="en-US" sz="1400" dirty="0"/>
              <a:t>구현 클래스의 필드와 메소드를 사용할 수 있다</a:t>
            </a:r>
            <a:r>
              <a:rPr lang="en-US" altLang="ko-KR" sz="14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0B18A10-D5D9-259A-0B1E-6C2456649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862" y="1896607"/>
            <a:ext cx="5248275" cy="19240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2ACDA39-7F65-AC66-6EFB-26C4E93F9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696" y="4977378"/>
            <a:ext cx="28194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329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FF794-F7D4-5775-2BAF-207ABA7C8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0FFBE3-090F-989D-EBB8-886B7E574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interface Vehicle {</a:t>
            </a:r>
          </a:p>
          <a:p>
            <a:pPr marL="0" indent="0">
              <a:buNone/>
            </a:pPr>
            <a:r>
              <a:rPr lang="en-US" altLang="ko-KR" sz="1400" dirty="0"/>
              <a:t>	public void run();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Bus implements Vehicle { //vehicle </a:t>
            </a:r>
            <a:r>
              <a:rPr lang="ko-KR" altLang="en-US" sz="1400" dirty="0"/>
              <a:t>구현 클래스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@Override</a:t>
            </a:r>
          </a:p>
          <a:p>
            <a:pPr marL="0" indent="0">
              <a:buNone/>
            </a:pPr>
            <a:r>
              <a:rPr lang="en-US" altLang="ko-KR" sz="1400" dirty="0"/>
              <a:t>	public void run() { //</a:t>
            </a:r>
            <a:r>
              <a:rPr lang="ko-KR" altLang="en-US" sz="1400" dirty="0"/>
              <a:t>추상 메소드 구현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버스가 달립니다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</a:p>
          <a:p>
            <a:pPr marL="0" indent="0">
              <a:buNone/>
            </a:pPr>
            <a:r>
              <a:rPr lang="en-US" altLang="ko-KR" sz="1400" dirty="0"/>
              <a:t>	public void </a:t>
            </a:r>
            <a:r>
              <a:rPr lang="en-US" altLang="ko-KR" sz="1400" dirty="0" err="1"/>
              <a:t>checkFare</a:t>
            </a:r>
            <a:r>
              <a:rPr lang="en-US" altLang="ko-KR" sz="1400" dirty="0"/>
              <a:t>() { // Bus</a:t>
            </a:r>
            <a:r>
              <a:rPr lang="ko-KR" altLang="en-US" sz="1400" dirty="0"/>
              <a:t>의 메소드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승차요금을 체크합니다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VehicleExample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Vehicle </a:t>
            </a:r>
            <a:r>
              <a:rPr lang="en-US" altLang="ko-KR" sz="1400" dirty="0" err="1"/>
              <a:t>vehicle</a:t>
            </a:r>
            <a:r>
              <a:rPr lang="en-US" altLang="ko-KR" sz="1400" dirty="0"/>
              <a:t> = new Bus(); // Vehicle </a:t>
            </a:r>
            <a:r>
              <a:rPr lang="ko-KR" altLang="en-US" sz="1400" dirty="0"/>
              <a:t>타입으로 </a:t>
            </a:r>
            <a:r>
              <a:rPr lang="en-US" altLang="ko-KR" sz="1400" dirty="0"/>
              <a:t>Bus </a:t>
            </a:r>
            <a:r>
              <a:rPr lang="ko-KR" altLang="en-US" sz="1400" dirty="0"/>
              <a:t>객체를 참조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vehicle.run</a:t>
            </a:r>
            <a:r>
              <a:rPr lang="en-US" altLang="ko-KR" sz="1400" dirty="0"/>
              <a:t>(); // Vehicle </a:t>
            </a:r>
            <a:r>
              <a:rPr lang="ko-KR" altLang="en-US" sz="1400" dirty="0"/>
              <a:t>인터페이스의 </a:t>
            </a:r>
            <a:r>
              <a:rPr lang="en-US" altLang="ko-KR" sz="1400" dirty="0"/>
              <a:t>run() </a:t>
            </a:r>
            <a:r>
              <a:rPr lang="ko-KR" altLang="en-US" sz="1400" dirty="0"/>
              <a:t>메소드 호출 </a:t>
            </a:r>
            <a:r>
              <a:rPr lang="en-US" altLang="ko-KR" sz="1400" dirty="0"/>
              <a:t>(Bus</a:t>
            </a:r>
            <a:r>
              <a:rPr lang="ko-KR" altLang="en-US" sz="1400" dirty="0"/>
              <a:t>의 구현체 실행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vehicle.checkFare</a:t>
            </a:r>
            <a:r>
              <a:rPr lang="en-US" altLang="ko-KR" sz="1400" dirty="0"/>
              <a:t>(); // (X) Vehicle </a:t>
            </a:r>
            <a:r>
              <a:rPr lang="ko-KR" altLang="en-US" sz="1400" dirty="0"/>
              <a:t>타입으로는 </a:t>
            </a:r>
            <a:r>
              <a:rPr lang="en-US" altLang="ko-KR" sz="1400" dirty="0"/>
              <a:t>Bus </a:t>
            </a:r>
            <a:r>
              <a:rPr lang="ko-KR" altLang="en-US" sz="1400" dirty="0"/>
              <a:t>클래스의 추가 메소드에 접근할 수 없음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Bus </a:t>
            </a:r>
            <a:r>
              <a:rPr lang="en-US" altLang="ko-KR" sz="1400" dirty="0" err="1"/>
              <a:t>bus</a:t>
            </a:r>
            <a:r>
              <a:rPr lang="en-US" altLang="ko-KR" sz="1400" dirty="0"/>
              <a:t> = (Bus) vehicle; // </a:t>
            </a:r>
            <a:r>
              <a:rPr lang="ko-KR" altLang="en-US" sz="1400" dirty="0"/>
              <a:t>강제 타입 변환 </a:t>
            </a:r>
            <a:r>
              <a:rPr lang="en-US" altLang="ko-KR" sz="1400" dirty="0"/>
              <a:t> 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bus.run</a:t>
            </a:r>
            <a:r>
              <a:rPr lang="en-US" altLang="ko-KR" sz="1400" dirty="0"/>
              <a:t>(); // Bus </a:t>
            </a:r>
            <a:r>
              <a:rPr lang="ko-KR" altLang="en-US" sz="1400" dirty="0"/>
              <a:t>객체의 </a:t>
            </a:r>
            <a:r>
              <a:rPr lang="en-US" altLang="ko-KR" sz="1400" dirty="0"/>
              <a:t>run() </a:t>
            </a:r>
            <a:r>
              <a:rPr lang="ko-KR" altLang="en-US" sz="1400" dirty="0"/>
              <a:t>메소드 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bus.checkFare</a:t>
            </a:r>
            <a:r>
              <a:rPr lang="en-US" altLang="ko-KR" sz="1400" dirty="0"/>
              <a:t>(); // Bus </a:t>
            </a:r>
            <a:r>
              <a:rPr lang="ko-KR" altLang="en-US" sz="1400" dirty="0"/>
              <a:t>클래스의 </a:t>
            </a:r>
            <a:r>
              <a:rPr lang="en-US" altLang="ko-KR" sz="1400" dirty="0" err="1"/>
              <a:t>checkFare</a:t>
            </a:r>
            <a:r>
              <a:rPr lang="en-US" altLang="ko-KR" sz="1400" dirty="0"/>
              <a:t>() </a:t>
            </a:r>
            <a:r>
              <a:rPr lang="ko-KR" altLang="en-US" sz="1400" dirty="0"/>
              <a:t>메소드 호출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EE7311B-B27E-F653-57ED-7916C7C9E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6259" y="2910005"/>
            <a:ext cx="2388799" cy="103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201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AEE39-5FF2-2F31-C99E-29F20B9FD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1D006F-BDE0-0506-CEC3-64CBF06E4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객체 타입 확인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강제 타입 변환은 구현 객체가 인터페이스 타입으로 변환되어 있는 상태에서 가능하다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그러나 어떤 구현</a:t>
            </a:r>
            <a:r>
              <a:rPr lang="en-US" altLang="ko-KR" sz="1400" dirty="0"/>
              <a:t> </a:t>
            </a:r>
            <a:r>
              <a:rPr lang="ko-KR" altLang="en-US" sz="1400" dirty="0"/>
              <a:t>객체가 변환되어 있는지 알 수 없는 상태에서 무작정 강제 타입 변환할 경우 예외가 발생할 수도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따라서 어떤 구현 객체가 인터페이스 타입으로 변환되어 있는지 확인하기 위해 </a:t>
            </a:r>
            <a:r>
              <a:rPr lang="en-US" altLang="ko-KR" sz="1400" dirty="0" err="1"/>
              <a:t>instanceof</a:t>
            </a:r>
            <a:r>
              <a:rPr lang="ko-KR" altLang="en-US" sz="1400" dirty="0"/>
              <a:t>연산자를 사용할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 err="1"/>
              <a:t>예를들어</a:t>
            </a:r>
            <a:r>
              <a:rPr lang="ko-KR" altLang="en-US" sz="1400" dirty="0"/>
              <a:t> </a:t>
            </a:r>
            <a:r>
              <a:rPr lang="en-US" altLang="ko-KR" sz="1400" dirty="0"/>
              <a:t>Vehicle </a:t>
            </a:r>
            <a:r>
              <a:rPr lang="ko-KR" altLang="en-US" sz="1400" dirty="0"/>
              <a:t>인터페이스 타입으로 변환된 객체가 </a:t>
            </a:r>
            <a:r>
              <a:rPr lang="en-US" altLang="ko-KR" sz="1400" dirty="0"/>
              <a:t>Bus</a:t>
            </a:r>
            <a:r>
              <a:rPr lang="ko-KR" altLang="en-US" sz="1400" dirty="0"/>
              <a:t>인지 확인하려면 다음과 같이 작성할 수 잇다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if(Vehicle </a:t>
            </a:r>
            <a:r>
              <a:rPr lang="en-US" altLang="ko-KR" sz="1400" dirty="0" err="1"/>
              <a:t>instanceof</a:t>
            </a:r>
            <a:r>
              <a:rPr lang="en-US" altLang="ko-KR" sz="1400" dirty="0"/>
              <a:t> Bus){</a:t>
            </a:r>
          </a:p>
          <a:p>
            <a:pPr marL="0" indent="0">
              <a:buNone/>
            </a:pPr>
            <a:r>
              <a:rPr lang="en-US" altLang="ko-KR" sz="1400" dirty="0"/>
              <a:t>	Bus </a:t>
            </a:r>
            <a:r>
              <a:rPr lang="en-US" altLang="ko-KR" sz="1400" dirty="0" err="1"/>
              <a:t>bus</a:t>
            </a:r>
            <a:r>
              <a:rPr lang="en-US" altLang="ko-KR" sz="1400" dirty="0"/>
              <a:t> = (Bus) vehicle; //</a:t>
            </a:r>
            <a:r>
              <a:rPr lang="ko-KR" altLang="en-US" sz="1400" dirty="0"/>
              <a:t>강제 타입 변환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강제 타입 </a:t>
            </a:r>
            <a:r>
              <a:rPr lang="ko-KR" altLang="en-US" sz="1400" dirty="0" err="1"/>
              <a:t>변환시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예외없이</a:t>
            </a:r>
            <a:r>
              <a:rPr lang="ko-KR" altLang="en-US" sz="1400" dirty="0"/>
              <a:t> 안전하게 변환하려면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어떤 객체인지 </a:t>
            </a:r>
            <a:r>
              <a:rPr lang="en-US" altLang="ko-KR" sz="1400" dirty="0" err="1"/>
              <a:t>instanceof</a:t>
            </a:r>
            <a:r>
              <a:rPr lang="en-US" altLang="ko-KR" sz="1400" dirty="0"/>
              <a:t> </a:t>
            </a:r>
            <a:r>
              <a:rPr lang="ko-KR" altLang="en-US" sz="1400" dirty="0"/>
              <a:t>연산자로 확인하고 안전하게 강제 타입 변환을 해야 한다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13448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41EE9-ED39-2D40-9237-1DDE078B8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FBD5CA-827B-834F-7823-2670A067E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interface Vehicle {</a:t>
            </a:r>
          </a:p>
          <a:p>
            <a:pPr marL="0" indent="0">
              <a:buNone/>
            </a:pPr>
            <a:r>
              <a:rPr lang="en-US" altLang="ko-KR" sz="1400" dirty="0"/>
              <a:t>	public void run();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Bus implements Vehicle {</a:t>
            </a:r>
          </a:p>
          <a:p>
            <a:pPr marL="0" indent="0">
              <a:buNone/>
            </a:pPr>
            <a:r>
              <a:rPr lang="en-US" altLang="ko-KR" sz="1400" dirty="0"/>
              <a:t>	@Override</a:t>
            </a:r>
          </a:p>
          <a:p>
            <a:pPr marL="0" indent="0">
              <a:buNone/>
            </a:pPr>
            <a:r>
              <a:rPr lang="en-US" altLang="ko-KR" sz="1400" dirty="0"/>
              <a:t>	public void run()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버스가 달립니다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</a:p>
          <a:p>
            <a:pPr marL="0" indent="0">
              <a:buNone/>
            </a:pPr>
            <a:r>
              <a:rPr lang="en-US" altLang="ko-KR" sz="1400" dirty="0"/>
              <a:t>	public void </a:t>
            </a:r>
            <a:r>
              <a:rPr lang="en-US" altLang="ko-KR" sz="1400" dirty="0" err="1"/>
              <a:t>checkFare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승차요금을 체크합니다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Taxi implements Vehicle {</a:t>
            </a:r>
          </a:p>
          <a:p>
            <a:pPr marL="0" indent="0">
              <a:buNone/>
            </a:pPr>
            <a:r>
              <a:rPr lang="en-US" altLang="ko-KR" sz="1400" dirty="0"/>
              <a:t>	@Override</a:t>
            </a:r>
          </a:p>
          <a:p>
            <a:pPr marL="0" indent="0">
              <a:buNone/>
            </a:pPr>
            <a:r>
              <a:rPr lang="en-US" altLang="ko-KR" sz="1400" dirty="0"/>
              <a:t>	public void run()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택시가 달립니다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 err="1"/>
          </a:p>
        </p:txBody>
      </p:sp>
    </p:spTree>
    <p:extLst>
      <p:ext uri="{BB962C8B-B14F-4D97-AF65-F5344CB8AC3E}">
        <p14:creationId xmlns:p14="http://schemas.microsoft.com/office/powerpoint/2010/main" val="20349021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8FA71-1AD8-8434-0A83-D73DF8D6D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0D9CD8-84B9-2AA8-3547-976D6F608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Driver {</a:t>
            </a:r>
          </a:p>
          <a:p>
            <a:pPr marL="0" indent="0">
              <a:buNone/>
            </a:pPr>
            <a:r>
              <a:rPr lang="en-US" altLang="ko-KR" sz="1400" dirty="0"/>
              <a:t>    public void drive(Vehicle vehicle) {</a:t>
            </a:r>
          </a:p>
          <a:p>
            <a:pPr marL="0" indent="0">
              <a:buNone/>
            </a:pPr>
            <a:r>
              <a:rPr lang="en-US" altLang="ko-KR" sz="1400" dirty="0"/>
              <a:t>        // vehicle</a:t>
            </a:r>
            <a:r>
              <a:rPr lang="ko-KR" altLang="en-US" sz="1400" dirty="0"/>
              <a:t>이 </a:t>
            </a:r>
            <a:r>
              <a:rPr lang="en-US" altLang="ko-KR" sz="1400" dirty="0"/>
              <a:t>Bus </a:t>
            </a:r>
            <a:r>
              <a:rPr lang="ko-KR" altLang="en-US" sz="1400" dirty="0"/>
              <a:t>타입인지 확인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(vehicle </a:t>
            </a:r>
            <a:r>
              <a:rPr lang="en-US" altLang="ko-KR" sz="1400" dirty="0" err="1"/>
              <a:t>instanceof</a:t>
            </a:r>
            <a:r>
              <a:rPr lang="en-US" altLang="ko-KR" sz="1400" dirty="0"/>
              <a:t> Bus) {</a:t>
            </a:r>
          </a:p>
          <a:p>
            <a:pPr marL="0" indent="0">
              <a:buNone/>
            </a:pPr>
            <a:r>
              <a:rPr lang="en-US" altLang="ko-KR" sz="1400" dirty="0"/>
              <a:t>            Bus </a:t>
            </a:r>
            <a:r>
              <a:rPr lang="en-US" altLang="ko-KR" sz="1400" dirty="0" err="1"/>
              <a:t>bus</a:t>
            </a:r>
            <a:r>
              <a:rPr lang="en-US" altLang="ko-KR" sz="1400" dirty="0"/>
              <a:t> = (Bus) vehicle; // Bus</a:t>
            </a:r>
            <a:r>
              <a:rPr lang="ko-KR" altLang="en-US" sz="1400" dirty="0"/>
              <a:t>로 강제 타입 변환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bus.checkFare</a:t>
            </a:r>
            <a:r>
              <a:rPr lang="en-US" altLang="ko-KR" sz="1400" dirty="0"/>
              <a:t>(); // Bus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checkFare</a:t>
            </a:r>
            <a:r>
              <a:rPr lang="en-US" altLang="ko-KR" sz="1400" dirty="0"/>
              <a:t>() </a:t>
            </a:r>
            <a:r>
              <a:rPr lang="ko-KR" altLang="en-US" sz="1400" dirty="0"/>
              <a:t>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vehicle.run</a:t>
            </a:r>
            <a:r>
              <a:rPr lang="en-US" altLang="ko-KR" sz="1400" dirty="0"/>
              <a:t>(); // Vehicle</a:t>
            </a:r>
            <a:r>
              <a:rPr lang="ko-KR" altLang="en-US" sz="1400" dirty="0"/>
              <a:t>의 </a:t>
            </a:r>
            <a:r>
              <a:rPr lang="en-US" altLang="ko-KR" sz="1400" dirty="0"/>
              <a:t>run() </a:t>
            </a:r>
            <a:r>
              <a:rPr lang="ko-KR" altLang="en-US" sz="1400" dirty="0"/>
              <a:t>호출 </a:t>
            </a:r>
            <a:r>
              <a:rPr lang="en-US" altLang="ko-KR" sz="1400" dirty="0"/>
              <a:t> 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DriverExample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Driver </a:t>
            </a:r>
            <a:r>
              <a:rPr lang="en-US" altLang="ko-KR" sz="1400" dirty="0" err="1"/>
              <a:t>driver</a:t>
            </a:r>
            <a:r>
              <a:rPr lang="en-US" altLang="ko-KR" sz="1400" dirty="0"/>
              <a:t> = new Driver(); // Driver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Bus </a:t>
            </a:r>
            <a:r>
              <a:rPr lang="en-US" altLang="ko-KR" sz="1400" dirty="0" err="1"/>
              <a:t>bus</a:t>
            </a:r>
            <a:r>
              <a:rPr lang="en-US" altLang="ko-KR" sz="1400" dirty="0"/>
              <a:t> = new Bus(); // Bus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Taxi </a:t>
            </a:r>
            <a:r>
              <a:rPr lang="en-US" altLang="ko-KR" sz="1400" dirty="0" err="1"/>
              <a:t>taxi</a:t>
            </a:r>
            <a:r>
              <a:rPr lang="en-US" altLang="ko-KR" sz="1400" dirty="0"/>
              <a:t> = new Taxi(); // Taxi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driver.drive</a:t>
            </a:r>
            <a:r>
              <a:rPr lang="en-US" altLang="ko-KR" sz="1400" dirty="0"/>
              <a:t>(bus); // Driver</a:t>
            </a:r>
            <a:r>
              <a:rPr lang="ko-KR" altLang="en-US" sz="1400" dirty="0"/>
              <a:t>가 </a:t>
            </a:r>
            <a:r>
              <a:rPr lang="en-US" altLang="ko-KR" sz="1400" dirty="0"/>
              <a:t>Bus </a:t>
            </a:r>
            <a:r>
              <a:rPr lang="ko-KR" altLang="en-US" sz="1400" dirty="0"/>
              <a:t>객체 운전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driver.drive</a:t>
            </a:r>
            <a:r>
              <a:rPr lang="en-US" altLang="ko-KR" sz="1400" dirty="0"/>
              <a:t>(taxi); // Driver</a:t>
            </a:r>
            <a:r>
              <a:rPr lang="ko-KR" altLang="en-US" sz="1400" dirty="0"/>
              <a:t>가 </a:t>
            </a:r>
            <a:r>
              <a:rPr lang="en-US" altLang="ko-KR" sz="1400" dirty="0"/>
              <a:t>Taxi </a:t>
            </a:r>
            <a:r>
              <a:rPr lang="ko-KR" altLang="en-US" sz="1400" dirty="0"/>
              <a:t>객체 운전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422ED2-CEFE-7466-91D2-D7F0F1BCC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869" y="2650118"/>
            <a:ext cx="2341623" cy="104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894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3351</Words>
  <Application>Microsoft Office PowerPoint</Application>
  <PresentationFormat>와이드스크린</PresentationFormat>
  <Paragraphs>590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맑은 고딕</vt:lpstr>
      <vt:lpstr>Arial</vt:lpstr>
      <vt:lpstr>Wingdings</vt:lpstr>
      <vt:lpstr>Office 테마</vt:lpstr>
      <vt:lpstr>인터페이스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노찬희</dc:creator>
  <cp:lastModifiedBy>노찬희</cp:lastModifiedBy>
  <cp:revision>6</cp:revision>
  <dcterms:created xsi:type="dcterms:W3CDTF">2024-11-16T10:25:19Z</dcterms:created>
  <dcterms:modified xsi:type="dcterms:W3CDTF">2024-11-25T16:57:40Z</dcterms:modified>
</cp:coreProperties>
</file>