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D6B33F-E328-4715-A6CB-B7E8D359D92B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DF626-909C-40F1-A5DB-126530208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18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중첩 클래스와</a:t>
            </a:r>
            <a:br>
              <a:rPr lang="en-US" altLang="ko-KR" dirty="0"/>
            </a:br>
            <a:r>
              <a:rPr lang="ko-KR" altLang="en-US" dirty="0"/>
              <a:t>중첩 인터페이스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중첩 클래스와 중첩 인터페이스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객체 지향 프로그래밍에서 클래스들은 서로 상호작용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클래스가 특정 클래스와 관계를 맺을 경우 클래스를 내부에 선언하는 것이 좋다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중첩 클래스란 클래스 내부에 선언한 클래스를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중첩 클래스를 사용하면 두 클래스의 멤버들을 서로 쉽게 접근할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class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	class </a:t>
            </a:r>
            <a:r>
              <a:rPr lang="en-US" altLang="ko-KR" sz="1400" dirty="0" err="1"/>
              <a:t>NestedClassName</a:t>
            </a:r>
            <a:r>
              <a:rPr lang="en-US" altLang="ko-KR" sz="1400" dirty="0"/>
              <a:t>{ //</a:t>
            </a:r>
            <a:r>
              <a:rPr lang="ko-KR" altLang="en-US" sz="1400" dirty="0"/>
              <a:t>중첩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인터페이스도 클래스 내부에 선언할 수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이런 인터페이스를 중첩 인터페이스라고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인터페이스를 클래스 내부에 선언하는 이유는 해당 클래스와 긴밀한 관계를 맺는 구현 클래스를 구현 클래스를 만들기 위함이다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</a:t>
            </a:r>
            <a:r>
              <a:rPr lang="en-US" altLang="ko-KR" sz="1400" dirty="0" err="1"/>
              <a:t>ClassName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	interface </a:t>
            </a:r>
            <a:r>
              <a:rPr lang="en-US" altLang="ko-KR" sz="1400" dirty="0" err="1"/>
              <a:t>NestedInterfaceName</a:t>
            </a:r>
            <a:r>
              <a:rPr lang="en-US" altLang="ko-KR" sz="1400" dirty="0"/>
              <a:t>{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4568-D68C-86C2-5251-748AA78C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31497C-7305-33C7-5B9D-0C386F959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중첩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중첩 클래스는 클래스 내부의 선언되는 위치에 따라 분류된다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기존 클래스의 멤버로서 선언되는 중첩 클래스를 멤버 클래스라고 하고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/>
              <a:t>생성자 또는 메소드 내부에서 선언되는 중첩 클래스를 로컬 클래스라고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인스턴스 멤버 클래스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인스턴스 멤버 클래스란 어떠한 클래스 내부에 선언된 클래스를 말한다</a:t>
            </a:r>
            <a:r>
              <a:rPr lang="en-US" altLang="ko-KR" sz="1400" dirty="0"/>
              <a:t>. </a:t>
            </a:r>
            <a:r>
              <a:rPr lang="ko-KR" altLang="en-US" sz="1400" dirty="0"/>
              <a:t>이때 </a:t>
            </a:r>
            <a:r>
              <a:rPr lang="en-US" altLang="ko-KR" sz="1400" dirty="0"/>
              <a:t>static </a:t>
            </a:r>
            <a:r>
              <a:rPr lang="ko-KR" altLang="en-US" sz="1400" dirty="0"/>
              <a:t>키워드는 사용할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class A{</a:t>
            </a:r>
          </a:p>
          <a:p>
            <a:pPr marL="0" indent="0">
              <a:buNone/>
            </a:pPr>
            <a:r>
              <a:rPr lang="en-US" altLang="ko-KR" sz="1400" dirty="0"/>
              <a:t>	class B{</a:t>
            </a:r>
          </a:p>
          <a:p>
            <a:pPr marL="0" indent="0">
              <a:buNone/>
            </a:pPr>
            <a:r>
              <a:rPr lang="en-US" altLang="ko-KR" sz="1400" dirty="0"/>
              <a:t>		B(); //</a:t>
            </a:r>
            <a:r>
              <a:rPr lang="ko-KR" altLang="en-US" sz="1400" dirty="0"/>
              <a:t>생성자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int field1;</a:t>
            </a:r>
          </a:p>
          <a:p>
            <a:pPr marL="0" indent="0">
              <a:buNone/>
            </a:pPr>
            <a:r>
              <a:rPr lang="en-US" altLang="ko-KR" sz="1400" dirty="0"/>
              <a:t>		void method1(){	};</a:t>
            </a:r>
          </a:p>
          <a:p>
            <a:pPr marL="0" indent="0">
              <a:buNone/>
            </a:pPr>
            <a:r>
              <a:rPr lang="en-US" altLang="ko-KR" sz="1400" dirty="0"/>
              <a:t>		//static void method2(){	}; </a:t>
            </a:r>
            <a:r>
              <a:rPr lang="ko-KR" altLang="en-US" sz="1400" dirty="0"/>
              <a:t>정적 메소드 </a:t>
            </a:r>
            <a:r>
              <a:rPr lang="en-US" altLang="ko-KR" sz="1400" dirty="0"/>
              <a:t>x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</a:t>
            </a:r>
            <a:r>
              <a:rPr lang="ko-KR" altLang="en-US" sz="1400" dirty="0"/>
              <a:t>클래스 외부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 </a:t>
            </a:r>
            <a:r>
              <a:rPr lang="en-US" altLang="ko-KR" sz="1400" dirty="0" err="1"/>
              <a:t>a</a:t>
            </a:r>
            <a:r>
              <a:rPr lang="en-US" altLang="ko-KR" sz="1400" dirty="0"/>
              <a:t> = new A();</a:t>
            </a:r>
          </a:p>
          <a:p>
            <a:pPr marL="0" indent="0">
              <a:buNone/>
            </a:pPr>
            <a:r>
              <a:rPr lang="en-US" altLang="ko-KR" sz="1400" dirty="0"/>
              <a:t>A.B b = </a:t>
            </a:r>
            <a:r>
              <a:rPr lang="en-US" altLang="ko-KR" sz="1400" dirty="0" err="1"/>
              <a:t>a.new</a:t>
            </a:r>
            <a:r>
              <a:rPr lang="en-US" altLang="ko-KR" sz="1400" dirty="0"/>
              <a:t> B();</a:t>
            </a:r>
          </a:p>
          <a:p>
            <a:pPr marL="0" indent="0">
              <a:buNone/>
            </a:pPr>
            <a:r>
              <a:rPr lang="en-US" altLang="ko-KR" sz="1400" dirty="0"/>
              <a:t>b.field1 = 3;</a:t>
            </a:r>
          </a:p>
          <a:p>
            <a:pPr marL="0" indent="0">
              <a:buNone/>
            </a:pPr>
            <a:r>
              <a:rPr lang="en-US" altLang="ko-KR" sz="1400" dirty="0" err="1"/>
              <a:t>b.method</a:t>
            </a:r>
            <a:r>
              <a:rPr lang="en-US" altLang="ko-KR" sz="1400" dirty="0"/>
              <a:t>();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70A4D4-2960-4164-608E-E30030F67FD4}"/>
              </a:ext>
            </a:extLst>
          </p:cNvPr>
          <p:cNvSpPr txBox="1"/>
          <p:nvPr/>
        </p:nvSpPr>
        <p:spPr>
          <a:xfrm>
            <a:off x="7423841" y="4611231"/>
            <a:ext cx="483455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 </a:t>
            </a:r>
            <a:r>
              <a:rPr lang="ko-KR" altLang="en-US" sz="1400" dirty="0"/>
              <a:t>클래스 내부</a:t>
            </a:r>
            <a:endParaRPr lang="en-US" altLang="ko-KR" sz="1400" dirty="0"/>
          </a:p>
          <a:p>
            <a:r>
              <a:rPr lang="en-US" altLang="ko-KR" sz="1400" dirty="0"/>
              <a:t>class A{</a:t>
            </a:r>
          </a:p>
          <a:p>
            <a:r>
              <a:rPr lang="en-US" altLang="ko-KR" sz="1400" dirty="0"/>
              <a:t>	class B{</a:t>
            </a:r>
          </a:p>
          <a:p>
            <a:r>
              <a:rPr lang="en-US" altLang="ko-KR" sz="1400" dirty="0"/>
              <a:t>		void </a:t>
            </a:r>
            <a:r>
              <a:rPr lang="en-US" altLang="ko-KR" sz="1400" dirty="0" err="1"/>
              <a:t>methodA</a:t>
            </a:r>
            <a:r>
              <a:rPr lang="en-US" altLang="ko-KR" sz="1400" dirty="0"/>
              <a:t>(){</a:t>
            </a:r>
          </a:p>
          <a:p>
            <a:r>
              <a:rPr lang="en-US" altLang="ko-KR" sz="1400" dirty="0"/>
              <a:t>			B b= new B();				b.field1 = 3;</a:t>
            </a:r>
          </a:p>
          <a:p>
            <a:r>
              <a:rPr lang="en-US" altLang="ko-KR" sz="1400" dirty="0"/>
              <a:t>			b.method1();</a:t>
            </a:r>
          </a:p>
          <a:p>
            <a:r>
              <a:rPr lang="en-US" altLang="ko-KR" sz="1400" dirty="0"/>
              <a:t>		}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830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5C724-EF55-ABC6-C125-3AB1F5C8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3E4665-1F10-A2AC-1E27-A22519DAD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중첩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정적 멤버 클래스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정적 멤버 클래스란 </a:t>
            </a:r>
            <a:r>
              <a:rPr lang="en-US" altLang="ko-KR" sz="1400" dirty="0"/>
              <a:t>static </a:t>
            </a:r>
            <a:r>
              <a:rPr lang="ko-KR" altLang="en-US" sz="1400" dirty="0"/>
              <a:t>키워드로 선언된 클래스를 말한다</a:t>
            </a:r>
            <a:r>
              <a:rPr lang="en-US" altLang="ko-KR" sz="1400" dirty="0"/>
              <a:t>. </a:t>
            </a:r>
            <a:r>
              <a:rPr lang="ko-KR" altLang="en-US" sz="1400" dirty="0"/>
              <a:t>정적 멤버 클래스는 모든 종류의 필드와 메소드를 선언할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A{</a:t>
            </a:r>
          </a:p>
          <a:p>
            <a:pPr marL="0" indent="0">
              <a:buNone/>
            </a:pPr>
            <a:r>
              <a:rPr lang="en-US" altLang="ko-KR" sz="1400" dirty="0"/>
              <a:t>	static class C{</a:t>
            </a:r>
          </a:p>
          <a:p>
            <a:pPr marL="0" indent="0">
              <a:buNone/>
            </a:pPr>
            <a:r>
              <a:rPr lang="en-US" altLang="ko-KR" sz="1400" dirty="0"/>
              <a:t>		C(){	}</a:t>
            </a:r>
          </a:p>
          <a:p>
            <a:pPr marL="0" indent="0">
              <a:buNone/>
            </a:pPr>
            <a:r>
              <a:rPr lang="en-US" altLang="ko-KR" sz="1400" dirty="0"/>
              <a:t>		int field1;</a:t>
            </a:r>
          </a:p>
          <a:p>
            <a:pPr marL="0" indent="0">
              <a:buNone/>
            </a:pPr>
            <a:r>
              <a:rPr lang="en-US" altLang="ko-KR" sz="1400" dirty="0"/>
              <a:t>		static int field2;</a:t>
            </a:r>
          </a:p>
          <a:p>
            <a:pPr marL="0" indent="0">
              <a:buNone/>
            </a:pPr>
            <a:r>
              <a:rPr lang="en-US" altLang="ko-KR" sz="1400" dirty="0"/>
              <a:t>		void method1(){	}</a:t>
            </a:r>
          </a:p>
          <a:p>
            <a:pPr marL="0" indent="0">
              <a:buNone/>
            </a:pPr>
            <a:r>
              <a:rPr lang="en-US" altLang="ko-KR" sz="1400" dirty="0"/>
              <a:t>		static void method2(){	}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A </a:t>
            </a:r>
            <a:r>
              <a:rPr lang="ko-KR" altLang="en-US" sz="1400" dirty="0"/>
              <a:t>클래스 외부에서 정적 멤버 클래스 </a:t>
            </a:r>
            <a:r>
              <a:rPr lang="en-US" altLang="ko-KR" sz="1400" dirty="0"/>
              <a:t>C</a:t>
            </a:r>
            <a:r>
              <a:rPr lang="ko-KR" altLang="en-US" sz="1400" dirty="0"/>
              <a:t>의 객체를 생성하기 위해서는 </a:t>
            </a:r>
            <a:r>
              <a:rPr lang="en-US" altLang="ko-KR" sz="1400" dirty="0"/>
              <a:t>A</a:t>
            </a:r>
            <a:r>
              <a:rPr lang="ko-KR" altLang="en-US" sz="1400" dirty="0"/>
              <a:t>객체를 생성할 필요 없이 바로 </a:t>
            </a:r>
            <a:r>
              <a:rPr lang="en-US" altLang="ko-KR" sz="1400" dirty="0"/>
              <a:t>C</a:t>
            </a:r>
            <a:r>
              <a:rPr lang="ko-KR" altLang="en-US" sz="1400" dirty="0"/>
              <a:t>객체를 생성하면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A.C c = new A.C();</a:t>
            </a:r>
          </a:p>
          <a:p>
            <a:pPr marL="0" indent="0">
              <a:buNone/>
            </a:pPr>
            <a:r>
              <a:rPr lang="en-US" altLang="ko-KR" sz="1400" dirty="0"/>
              <a:t>c.field1= 3;</a:t>
            </a:r>
          </a:p>
          <a:p>
            <a:pPr marL="0" indent="0">
              <a:buNone/>
            </a:pPr>
            <a:r>
              <a:rPr lang="en-US" altLang="ko-KR" sz="1400" dirty="0"/>
              <a:t>c.method1();</a:t>
            </a:r>
          </a:p>
          <a:p>
            <a:pPr marL="0" indent="0">
              <a:buNone/>
            </a:pPr>
            <a:r>
              <a:rPr lang="en-US" altLang="ko-KR" sz="1400" dirty="0"/>
              <a:t>A.C.filed2 = 3;</a:t>
            </a:r>
          </a:p>
          <a:p>
            <a:pPr marL="0" indent="0">
              <a:buNone/>
            </a:pPr>
            <a:r>
              <a:rPr lang="en-US" altLang="ko-KR" sz="1400" dirty="0"/>
              <a:t>A.C.method2();</a:t>
            </a:r>
          </a:p>
        </p:txBody>
      </p:sp>
    </p:spTree>
    <p:extLst>
      <p:ext uri="{BB962C8B-B14F-4D97-AF65-F5344CB8AC3E}">
        <p14:creationId xmlns:p14="http://schemas.microsoft.com/office/powerpoint/2010/main" val="75076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DE79F-FAB6-784B-B042-6E0EDF7DA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881FA0-40B7-02EA-6282-C29580417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중첩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중첩 클래스는 메소드 내에서도 선언할 수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이것을 로컬 클래스라고 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로컬 클래스는 접근제한자와 </a:t>
            </a:r>
            <a:r>
              <a:rPr lang="en-US" altLang="ko-KR" sz="1400" dirty="0"/>
              <a:t>static </a:t>
            </a:r>
            <a:r>
              <a:rPr lang="ko-KR" altLang="en-US" sz="1400" dirty="0"/>
              <a:t>키워드를 붙일 수 없다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로컬 클래스는 메소드 내부에서만 사용되므로 접근을 제한할 필요가 없기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method(){</a:t>
            </a:r>
          </a:p>
          <a:p>
            <a:pPr marL="0" indent="0">
              <a:buNone/>
            </a:pPr>
            <a:r>
              <a:rPr lang="en-US" altLang="ko-KR" sz="1400" dirty="0"/>
              <a:t>	class D{ //</a:t>
            </a:r>
            <a:r>
              <a:rPr lang="ko-KR" altLang="en-US" sz="1400" dirty="0"/>
              <a:t>중첩 클래스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D(){	}</a:t>
            </a:r>
          </a:p>
          <a:p>
            <a:pPr marL="0" indent="0">
              <a:buNone/>
            </a:pPr>
            <a:r>
              <a:rPr lang="en-US" altLang="ko-KR" sz="1400" dirty="0"/>
              <a:t>		int field1;</a:t>
            </a:r>
          </a:p>
          <a:p>
            <a:pPr marL="0" indent="0">
              <a:buNone/>
            </a:pPr>
            <a:r>
              <a:rPr lang="en-US" altLang="ko-KR" sz="1400" dirty="0"/>
              <a:t>		void method1(){	}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D.d</a:t>
            </a:r>
            <a:r>
              <a:rPr lang="en-US" altLang="ko-KR" sz="1400" dirty="0"/>
              <a:t> = new D();</a:t>
            </a:r>
          </a:p>
          <a:p>
            <a:pPr marL="0" indent="0">
              <a:buNone/>
            </a:pPr>
            <a:r>
              <a:rPr lang="en-US" altLang="ko-KR" sz="1400" dirty="0"/>
              <a:t>	d.filed1 = 3;</a:t>
            </a:r>
          </a:p>
          <a:p>
            <a:pPr marL="0" indent="0">
              <a:buNone/>
            </a:pPr>
            <a:r>
              <a:rPr lang="en-US" altLang="ko-KR" sz="1400" dirty="0"/>
              <a:t>	d.method1();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5238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2948-1DDE-C89B-6A6B-875AA5D57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6A14C-B6FB-F8C6-AA26-DE49E10C4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class A {  // </a:t>
            </a:r>
            <a:r>
              <a:rPr lang="ko-KR" altLang="en-US" sz="1400" dirty="0"/>
              <a:t>바깥 클래스 </a:t>
            </a:r>
            <a:r>
              <a:rPr lang="en-US" altLang="ko-KR" sz="1400" dirty="0"/>
              <a:t>A </a:t>
            </a:r>
            <a:r>
              <a:rPr lang="ko-KR" altLang="en-US" sz="1400" dirty="0"/>
              <a:t>시작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A() {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("A </a:t>
            </a:r>
            <a:r>
              <a:rPr lang="ko-KR" altLang="en-US" sz="1400" dirty="0"/>
              <a:t>객체가 생성됨</a:t>
            </a:r>
            <a:r>
              <a:rPr lang="en-US" altLang="ko-KR" sz="1400" dirty="0"/>
              <a:t>"); }  // A </a:t>
            </a:r>
            <a:r>
              <a:rPr lang="ko-KR" altLang="en-US" sz="1400" dirty="0"/>
              <a:t>클래스의 생성자</a:t>
            </a:r>
            <a:r>
              <a:rPr lang="en-US" altLang="ko-KR" sz="1400" dirty="0"/>
              <a:t>, A </a:t>
            </a:r>
            <a:r>
              <a:rPr lang="ko-KR" altLang="en-US" sz="1400" dirty="0"/>
              <a:t>객체 생성 시 메시지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public class B {  // </a:t>
            </a:r>
            <a:r>
              <a:rPr lang="ko-KR" altLang="en-US" sz="1400" dirty="0"/>
              <a:t>인스턴스 멤버 클래스 </a:t>
            </a:r>
            <a:r>
              <a:rPr lang="en-US" altLang="ko-KR" sz="1400" dirty="0"/>
              <a:t>B </a:t>
            </a:r>
            <a:r>
              <a:rPr lang="ko-KR" altLang="en-US" sz="1400" dirty="0"/>
              <a:t>시작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B() {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("B </a:t>
            </a:r>
            <a:r>
              <a:rPr lang="ko-KR" altLang="en-US" sz="1400" dirty="0"/>
              <a:t>객체가 생성됨</a:t>
            </a:r>
            <a:r>
              <a:rPr lang="en-US" altLang="ko-KR" sz="1400" dirty="0"/>
              <a:t>"); }  // B </a:t>
            </a:r>
            <a:r>
              <a:rPr lang="ko-KR" altLang="en-US" sz="1400" dirty="0"/>
              <a:t>클래스의 생성자</a:t>
            </a:r>
            <a:r>
              <a:rPr lang="en-US" altLang="ko-KR" sz="1400" dirty="0"/>
              <a:t>, B </a:t>
            </a:r>
            <a:r>
              <a:rPr lang="ko-KR" altLang="en-US" sz="1400" dirty="0"/>
              <a:t>객체 생성 시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field1;  // </a:t>
            </a:r>
            <a:r>
              <a:rPr lang="ko-KR" altLang="en-US" sz="1400" dirty="0"/>
              <a:t>필드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void method1() { }  // </a:t>
            </a:r>
            <a:r>
              <a:rPr lang="ko-KR" altLang="en-US" sz="1400" dirty="0"/>
              <a:t>메소드 선언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// </a:t>
            </a:r>
            <a:r>
              <a:rPr lang="ko-KR" altLang="en-US" sz="1400" dirty="0"/>
              <a:t>인스턴스 멤버 클래스 </a:t>
            </a:r>
            <a:r>
              <a:rPr lang="en-US" altLang="ko-KR" sz="1400" dirty="0"/>
              <a:t>B </a:t>
            </a:r>
            <a:r>
              <a:rPr lang="ko-KR" altLang="en-US" sz="1400" dirty="0"/>
              <a:t>끝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class C {  // </a:t>
            </a:r>
            <a:r>
              <a:rPr lang="ko-KR" altLang="en-US" sz="1400" dirty="0"/>
              <a:t>정적 멤버 클래스 </a:t>
            </a:r>
            <a:r>
              <a:rPr lang="en-US" altLang="ko-KR" sz="1400" dirty="0"/>
              <a:t>C </a:t>
            </a:r>
            <a:r>
              <a:rPr lang="ko-KR" altLang="en-US" sz="1400" dirty="0"/>
              <a:t>시작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C() {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("C </a:t>
            </a:r>
            <a:r>
              <a:rPr lang="ko-KR" altLang="en-US" sz="1400" dirty="0"/>
              <a:t>객체가 생성됨</a:t>
            </a:r>
            <a:r>
              <a:rPr lang="en-US" altLang="ko-KR" sz="1400" dirty="0"/>
              <a:t>"); }  // C </a:t>
            </a:r>
            <a:r>
              <a:rPr lang="ko-KR" altLang="en-US" sz="1400" dirty="0"/>
              <a:t>클래스의 생성자</a:t>
            </a:r>
            <a:r>
              <a:rPr lang="en-US" altLang="ko-KR" sz="1400" dirty="0"/>
              <a:t>, C </a:t>
            </a:r>
            <a:r>
              <a:rPr lang="ko-KR" altLang="en-US" sz="1400" dirty="0"/>
              <a:t>객체 생성 시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field1;  // </a:t>
            </a:r>
            <a:r>
              <a:rPr lang="ko-KR" altLang="en-US" sz="1400" dirty="0"/>
              <a:t>필드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static int field2;  // </a:t>
            </a:r>
            <a:r>
              <a:rPr lang="ko-KR" altLang="en-US" sz="1400" dirty="0"/>
              <a:t>정적 필드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void method1() { }  // </a:t>
            </a:r>
            <a:r>
              <a:rPr lang="ko-KR" altLang="en-US" sz="1400" dirty="0"/>
              <a:t>메소드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static void method2() { }  // </a:t>
            </a:r>
            <a:r>
              <a:rPr lang="ko-KR" altLang="en-US" sz="1400" dirty="0"/>
              <a:t>정적 메소드 선언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// </a:t>
            </a:r>
            <a:r>
              <a:rPr lang="ko-KR" altLang="en-US" sz="1400" dirty="0"/>
              <a:t>정적 멤버 클래스 </a:t>
            </a:r>
            <a:r>
              <a:rPr lang="en-US" altLang="ko-KR" sz="1400" dirty="0"/>
              <a:t>C </a:t>
            </a:r>
            <a:r>
              <a:rPr lang="ko-KR" altLang="en-US" sz="1400" dirty="0"/>
              <a:t>끝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method() {  // A </a:t>
            </a:r>
            <a:r>
              <a:rPr lang="ko-KR" altLang="en-US" sz="1400" dirty="0"/>
              <a:t>클래스의 메소드</a:t>
            </a:r>
            <a:r>
              <a:rPr lang="en-US" altLang="ko-KR" sz="1400" dirty="0"/>
              <a:t>, </a:t>
            </a:r>
            <a:r>
              <a:rPr lang="ko-KR" altLang="en-US" sz="1400" dirty="0"/>
              <a:t>로컬 클래스 </a:t>
            </a:r>
            <a:r>
              <a:rPr lang="en-US" altLang="ko-KR" sz="1400" dirty="0"/>
              <a:t>D </a:t>
            </a:r>
            <a:r>
              <a:rPr lang="ko-KR" altLang="en-US" sz="1400" dirty="0"/>
              <a:t>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class D {  // </a:t>
            </a:r>
            <a:r>
              <a:rPr lang="ko-KR" altLang="en-US" sz="1400" dirty="0"/>
              <a:t>로컬 클래스 </a:t>
            </a:r>
            <a:r>
              <a:rPr lang="en-US" altLang="ko-KR" sz="1400" dirty="0"/>
              <a:t>D </a:t>
            </a:r>
            <a:r>
              <a:rPr lang="ko-KR" altLang="en-US" sz="1400" dirty="0"/>
              <a:t>시작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D() {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("D </a:t>
            </a:r>
            <a:r>
              <a:rPr lang="ko-KR" altLang="en-US" sz="1400" dirty="0"/>
              <a:t>객체가 생성됨</a:t>
            </a:r>
            <a:r>
              <a:rPr lang="en-US" altLang="ko-KR" sz="1400" dirty="0"/>
              <a:t>"); }  // D </a:t>
            </a:r>
            <a:r>
              <a:rPr lang="ko-KR" altLang="en-US" sz="1400" dirty="0"/>
              <a:t>클래스의 생성자</a:t>
            </a:r>
            <a:r>
              <a:rPr lang="en-US" altLang="ko-KR" sz="1400" dirty="0"/>
              <a:t>, D </a:t>
            </a:r>
            <a:r>
              <a:rPr lang="ko-KR" altLang="en-US" sz="1400" dirty="0"/>
              <a:t>객체 생성 시 메시지 출력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field1;  // </a:t>
            </a:r>
            <a:r>
              <a:rPr lang="ko-KR" altLang="en-US" sz="1400" dirty="0"/>
              <a:t>필드 선언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void method1() { }  // </a:t>
            </a:r>
            <a:r>
              <a:rPr lang="ko-KR" altLang="en-US" sz="1400" dirty="0"/>
              <a:t>메소드 선언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  // </a:t>
            </a:r>
            <a:r>
              <a:rPr lang="ko-KR" altLang="en-US" sz="1400" dirty="0"/>
              <a:t>로컬 클래스 </a:t>
            </a:r>
            <a:r>
              <a:rPr lang="en-US" altLang="ko-KR" sz="1400" dirty="0"/>
              <a:t>D </a:t>
            </a:r>
            <a:r>
              <a:rPr lang="ko-KR" altLang="en-US" sz="1400" dirty="0"/>
              <a:t>끝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 </a:t>
            </a:r>
            <a:r>
              <a:rPr lang="en-US" altLang="ko-KR" sz="1400" dirty="0" err="1"/>
              <a:t>d</a:t>
            </a:r>
            <a:r>
              <a:rPr lang="en-US" altLang="ko-KR" sz="1400" dirty="0"/>
              <a:t> = new D();  // </a:t>
            </a:r>
            <a:r>
              <a:rPr lang="ko-KR" altLang="en-US" sz="1400" dirty="0"/>
              <a:t>로컬 클래스 </a:t>
            </a:r>
            <a:r>
              <a:rPr lang="en-US" altLang="ko-KR" sz="1400" dirty="0"/>
              <a:t>D</a:t>
            </a:r>
            <a:r>
              <a:rPr lang="ko-KR" altLang="en-US" sz="1400" dirty="0"/>
              <a:t>의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d.field1 = 3;  // D </a:t>
            </a:r>
            <a:r>
              <a:rPr lang="ko-KR" altLang="en-US" sz="1400" dirty="0"/>
              <a:t>객체의 필드에 값 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d.method1();  // D </a:t>
            </a:r>
            <a:r>
              <a:rPr lang="ko-KR" altLang="en-US" sz="1400" dirty="0"/>
              <a:t>객체의 메소드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  // A </a:t>
            </a:r>
            <a:r>
              <a:rPr lang="ko-KR" altLang="en-US" sz="1400" dirty="0"/>
              <a:t>클래스의 메소드 끝</a:t>
            </a:r>
          </a:p>
          <a:p>
            <a:pPr marL="0" indent="0">
              <a:buNone/>
            </a:pPr>
            <a:r>
              <a:rPr lang="en-US" altLang="ko-KR" sz="1400" dirty="0"/>
              <a:t>}  // </a:t>
            </a:r>
            <a:r>
              <a:rPr lang="ko-KR" altLang="en-US" sz="1400" dirty="0"/>
              <a:t>바깥 클래스 </a:t>
            </a:r>
            <a:r>
              <a:rPr lang="en-US" altLang="ko-KR" sz="1400" dirty="0"/>
              <a:t>A </a:t>
            </a:r>
            <a:r>
              <a:rPr lang="ko-KR" altLang="en-US" sz="1400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43845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9F2D-CDEF-FB5D-4FB5-9CFE3383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01664-DAED-A7B8-1D14-4AE1EE450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Main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A </a:t>
            </a:r>
            <a:r>
              <a:rPr lang="en-US" altLang="ko-KR" sz="1400" dirty="0" err="1"/>
              <a:t>a</a:t>
            </a:r>
            <a:r>
              <a:rPr lang="en-US" altLang="ko-KR" sz="1400" dirty="0"/>
              <a:t> = new A();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인스턴스 멤버 클래스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A.B b = </a:t>
            </a:r>
            <a:r>
              <a:rPr lang="en-US" altLang="ko-KR" sz="1400" dirty="0" err="1"/>
              <a:t>a.new</a:t>
            </a:r>
            <a:r>
              <a:rPr lang="en-US" altLang="ko-KR" sz="1400" dirty="0"/>
              <a:t> B();  // A </a:t>
            </a:r>
            <a:r>
              <a:rPr lang="ko-KR" altLang="en-US" sz="1400" dirty="0"/>
              <a:t>클래스의 인스턴스 멤버 클래스 </a:t>
            </a:r>
            <a:r>
              <a:rPr lang="en-US" altLang="ko-KR" sz="1400" dirty="0"/>
              <a:t>B </a:t>
            </a:r>
            <a:r>
              <a:rPr lang="ko-KR" altLang="en-US" sz="1400" dirty="0"/>
              <a:t>객체 </a:t>
            </a:r>
            <a:r>
              <a:rPr lang="en-US" altLang="ko-KR" sz="1400" dirty="0"/>
              <a:t>b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b.field1 = 3;  // B </a:t>
            </a:r>
            <a:r>
              <a:rPr lang="ko-KR" altLang="en-US" sz="1400" dirty="0"/>
              <a:t>클래스의 필드 </a:t>
            </a:r>
            <a:r>
              <a:rPr lang="en-US" altLang="ko-KR" sz="1400" dirty="0"/>
              <a:t>field1</a:t>
            </a:r>
            <a:r>
              <a:rPr lang="ko-KR" altLang="en-US" sz="1400" dirty="0"/>
              <a:t>에 값 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b.method1();  // B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method1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정적 멤버 클래스 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A.C c = new A.C();  // A </a:t>
            </a:r>
            <a:r>
              <a:rPr lang="ko-KR" altLang="en-US" sz="1400" dirty="0"/>
              <a:t>클래스의 정적 멤버 클래스 </a:t>
            </a:r>
            <a:r>
              <a:rPr lang="en-US" altLang="ko-KR" sz="1400" dirty="0"/>
              <a:t>C </a:t>
            </a:r>
            <a:r>
              <a:rPr lang="ko-KR" altLang="en-US" sz="1400" dirty="0"/>
              <a:t>객체 </a:t>
            </a:r>
            <a:r>
              <a:rPr lang="en-US" altLang="ko-KR" sz="1400" dirty="0"/>
              <a:t>c </a:t>
            </a:r>
            <a:r>
              <a:rPr lang="ko-KR" altLang="en-US" sz="1400" dirty="0"/>
              <a:t>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c.field1 = 3;  // C </a:t>
            </a:r>
            <a:r>
              <a:rPr lang="ko-KR" altLang="en-US" sz="1400" dirty="0"/>
              <a:t>클래스의 필드 </a:t>
            </a:r>
            <a:r>
              <a:rPr lang="en-US" altLang="ko-KR" sz="1400" dirty="0"/>
              <a:t>field1</a:t>
            </a:r>
            <a:r>
              <a:rPr lang="ko-KR" altLang="en-US" sz="1400" dirty="0"/>
              <a:t>에 값 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c.method1();  // C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method1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A.C.field2 = 3;  // C </a:t>
            </a:r>
            <a:r>
              <a:rPr lang="ko-KR" altLang="en-US" sz="1400" dirty="0"/>
              <a:t>클래스의 정적 필드 </a:t>
            </a:r>
            <a:r>
              <a:rPr lang="en-US" altLang="ko-KR" sz="1400" dirty="0"/>
              <a:t>field2</a:t>
            </a:r>
            <a:r>
              <a:rPr lang="ko-KR" altLang="en-US" sz="1400" dirty="0"/>
              <a:t>에 값 할당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A.C.method2();  // C </a:t>
            </a:r>
            <a:r>
              <a:rPr lang="ko-KR" altLang="en-US" sz="1400" dirty="0"/>
              <a:t>클래스의 정적 메소드 </a:t>
            </a:r>
            <a:r>
              <a:rPr lang="en-US" altLang="ko-KR" sz="1400" dirty="0"/>
              <a:t>method2 </a:t>
            </a:r>
            <a:r>
              <a:rPr lang="ko-KR" altLang="en-US" sz="1400" dirty="0"/>
              <a:t>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로컬 클래스 객체 생성을 위한 메소드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a.method</a:t>
            </a:r>
            <a:r>
              <a:rPr lang="en-US" altLang="ko-KR" sz="1400" dirty="0"/>
              <a:t>();  // A </a:t>
            </a:r>
            <a:r>
              <a:rPr lang="ko-KR" altLang="en-US" sz="1400" dirty="0"/>
              <a:t>클래스의 </a:t>
            </a:r>
            <a:r>
              <a:rPr lang="en-US" altLang="ko-KR" sz="1400" dirty="0"/>
              <a:t>method </a:t>
            </a:r>
            <a:r>
              <a:rPr lang="ko-KR" altLang="en-US" sz="1400" dirty="0"/>
              <a:t>호출 </a:t>
            </a:r>
            <a:r>
              <a:rPr lang="en-US" altLang="ko-KR" sz="1400" dirty="0"/>
              <a:t>(</a:t>
            </a:r>
            <a:r>
              <a:rPr lang="ko-KR" altLang="en-US" sz="1400" dirty="0"/>
              <a:t>로컬 클래스 </a:t>
            </a:r>
            <a:r>
              <a:rPr lang="en-US" altLang="ko-KR" sz="1400" dirty="0"/>
              <a:t>D </a:t>
            </a:r>
            <a:r>
              <a:rPr lang="ko-KR" altLang="en-US" sz="1400" dirty="0"/>
              <a:t>객체 생성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5B1453-D234-1514-E05A-A6C0E903A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784" y="2193673"/>
            <a:ext cx="2294653" cy="1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35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0D79E-F63E-611F-EA8F-2C5A0F302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3C26A-6DF7-E9BD-EF5C-E925AE7AB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ko-KR" altLang="en-US" sz="1400" b="1" dirty="0"/>
              <a:t>중첩 클래스의 접근 제한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멤버 클래스 내부에서 바깥 클래스 필드와 메소드에 접근할 때에는 제한이 따른다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또한 메소드의 매개 변수나 로컬 변수를 로컬 클래스에서 사용할 때도 제한이 따른다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바깥 필드와 메소드에서 사용 제한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public class A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인스턴스 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B field1 = new B();  // A </a:t>
            </a:r>
            <a:r>
              <a:rPr lang="ko-KR" altLang="en-US" sz="1400" dirty="0"/>
              <a:t>클래스의 인스턴스 멤버 클래스 </a:t>
            </a:r>
            <a:r>
              <a:rPr lang="en-US" altLang="ko-KR" sz="1400" dirty="0"/>
              <a:t>B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C field2 = new C();  // A </a:t>
            </a:r>
            <a:r>
              <a:rPr lang="ko-KR" altLang="en-US" sz="1400" dirty="0"/>
              <a:t>클래스의 정적 멤버 클래스 </a:t>
            </a:r>
            <a:r>
              <a:rPr lang="en-US" altLang="ko-KR" sz="1400" dirty="0"/>
              <a:t>C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인스턴스 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method1() {</a:t>
            </a:r>
          </a:p>
          <a:p>
            <a:pPr marL="0" indent="0">
              <a:buNone/>
            </a:pPr>
            <a:r>
              <a:rPr lang="en-US" altLang="ko-KR" sz="1400" dirty="0"/>
              <a:t>        B var1 = new B();  // A </a:t>
            </a:r>
            <a:r>
              <a:rPr lang="ko-KR" altLang="en-US" sz="1400" dirty="0"/>
              <a:t>클래스의 인스턴스 멤버 클래스 </a:t>
            </a:r>
            <a:r>
              <a:rPr lang="en-US" altLang="ko-KR" sz="1400" dirty="0"/>
              <a:t>B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 var2 = new C();  // A </a:t>
            </a:r>
            <a:r>
              <a:rPr lang="ko-KR" altLang="en-US" sz="1400" dirty="0"/>
              <a:t>클래스의 정적 멤버 클래스 </a:t>
            </a:r>
            <a:r>
              <a:rPr lang="en-US" altLang="ko-KR" sz="1400" dirty="0"/>
              <a:t>C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정적 필드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static B field3 = new B();  // </a:t>
            </a:r>
            <a:r>
              <a:rPr lang="ko-KR" altLang="en-US" sz="1400" dirty="0"/>
              <a:t>인스턴스 멤버 클래스는 정적 필드로 선언할 수 없음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C field4 = new C();  // A </a:t>
            </a:r>
            <a:r>
              <a:rPr lang="ko-KR" altLang="en-US" sz="1400" dirty="0"/>
              <a:t>클래스의 정적 멤버 클래스 </a:t>
            </a:r>
            <a:r>
              <a:rPr lang="en-US" altLang="ko-KR" sz="1400" dirty="0"/>
              <a:t>C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정적 메소드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void method2() {</a:t>
            </a:r>
          </a:p>
          <a:p>
            <a:pPr marL="0" indent="0">
              <a:buNone/>
            </a:pPr>
            <a:r>
              <a:rPr lang="en-US" altLang="ko-KR" sz="1400" dirty="0"/>
              <a:t>        // B var1 = new B();  // </a:t>
            </a:r>
            <a:r>
              <a:rPr lang="ko-KR" altLang="en-US" sz="1400" dirty="0"/>
              <a:t>인스턴스 멤버 클래스는 정적 메소드 내에서 생성할 수 없음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C var2 = new C();  // A </a:t>
            </a:r>
            <a:r>
              <a:rPr lang="ko-KR" altLang="en-US" sz="1400" dirty="0"/>
              <a:t>클래스의 정적 멤버 클래스 </a:t>
            </a:r>
            <a:r>
              <a:rPr lang="en-US" altLang="ko-KR" sz="1400" dirty="0"/>
              <a:t>C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인스턴스 멤버 클래스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class B {}  // A </a:t>
            </a:r>
            <a:r>
              <a:rPr lang="ko-KR" altLang="en-US" sz="1400" dirty="0"/>
              <a:t>클래스의 인스턴스 멤버 클래스 </a:t>
            </a:r>
            <a:r>
              <a:rPr lang="en-US" altLang="ko-KR" sz="1400" dirty="0"/>
              <a:t>B </a:t>
            </a:r>
            <a:r>
              <a:rPr lang="ko-KR" altLang="en-US" sz="1400" dirty="0"/>
              <a:t>정의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정적 멤버 클래스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class C {}  // A </a:t>
            </a:r>
            <a:r>
              <a:rPr lang="ko-KR" altLang="en-US" sz="1400" dirty="0"/>
              <a:t>클래스의 정적 멤버 클래스 </a:t>
            </a:r>
            <a:r>
              <a:rPr lang="en-US" altLang="ko-KR" sz="1400" dirty="0"/>
              <a:t>C </a:t>
            </a:r>
            <a:r>
              <a:rPr lang="ko-KR" altLang="en-US" sz="1400" dirty="0"/>
              <a:t>정의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F318F-9720-E16E-9B82-18344300461F}"/>
              </a:ext>
            </a:extLst>
          </p:cNvPr>
          <p:cNvSpPr txBox="1"/>
          <p:nvPr/>
        </p:nvSpPr>
        <p:spPr>
          <a:xfrm>
            <a:off x="4562947" y="5473005"/>
            <a:ext cx="76290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인스턴스 멤버 클래스</a:t>
            </a:r>
            <a:r>
              <a:rPr lang="en-US" altLang="ko-KR" sz="1400" dirty="0"/>
              <a:t>B</a:t>
            </a:r>
            <a:r>
              <a:rPr lang="ko-KR" altLang="en-US" sz="1400" dirty="0"/>
              <a:t>는 바깥 클래스의 인스턴스 필드</a:t>
            </a:r>
            <a:r>
              <a:rPr lang="en-US" altLang="ko-KR" sz="1400" dirty="0"/>
              <a:t>(field1)</a:t>
            </a:r>
            <a:r>
              <a:rPr lang="ko-KR" altLang="en-US" sz="1400" dirty="0"/>
              <a:t>의 초기값이나 인스턴스 메소드</a:t>
            </a:r>
            <a:r>
              <a:rPr lang="en-US" altLang="ko-KR" sz="1400" dirty="0"/>
              <a:t>(method1)</a:t>
            </a:r>
            <a:r>
              <a:rPr lang="ko-KR" altLang="en-US" sz="1400" dirty="0"/>
              <a:t>에서 객체를 생성할 수 있으나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정적 필드</a:t>
            </a:r>
            <a:r>
              <a:rPr lang="en-US" altLang="ko-KR" sz="1400" dirty="0"/>
              <a:t>(filed3)</a:t>
            </a:r>
            <a:r>
              <a:rPr lang="ko-KR" altLang="en-US" sz="1400" dirty="0"/>
              <a:t>의 초기값이나 정적 메소드</a:t>
            </a:r>
            <a:r>
              <a:rPr lang="en-US" altLang="ko-KR" sz="1400" dirty="0"/>
              <a:t>(method2)</a:t>
            </a:r>
            <a:r>
              <a:rPr lang="ko-KR" altLang="en-US" sz="1400" dirty="0"/>
              <a:t>에서는 객체를 생성할 수 없다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/>
              <a:t>반면 정적 멤버 클래스</a:t>
            </a:r>
            <a:r>
              <a:rPr lang="en-US" altLang="ko-KR" sz="1400" dirty="0"/>
              <a:t>C</a:t>
            </a:r>
            <a:r>
              <a:rPr lang="ko-KR" altLang="en-US" sz="1400" dirty="0"/>
              <a:t>는 모든 필드의 초기값이나 메소드에서 객체를 생성할 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14055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500C1-8BED-23D6-D930-27C6C22D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0A72BF-F6F3-C218-5F71-20C8FDB34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중첩 클래스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멤버 클래스에서 사용 제한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멤버 클래스가 인스턴스 또는 정적으로 선언됨에 따라 멤버 클래스 내부에서 바깥 클래스의 필드와 메소드 접근에 제한이 따른다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A{</a:t>
            </a:r>
          </a:p>
          <a:p>
            <a:pPr marL="0" indent="0">
              <a:buNone/>
            </a:pPr>
            <a:r>
              <a:rPr lang="en-US" altLang="ko-KR" sz="1400" dirty="0"/>
              <a:t>	int field1;</a:t>
            </a:r>
          </a:p>
          <a:p>
            <a:pPr marL="0" indent="0">
              <a:buNone/>
            </a:pPr>
            <a:r>
              <a:rPr lang="en-US" altLang="ko-KR" sz="1400" dirty="0"/>
              <a:t>	void method1(){	}</a:t>
            </a:r>
          </a:p>
          <a:p>
            <a:pPr marL="0" indent="0">
              <a:buNone/>
            </a:pP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	static int field2;</a:t>
            </a:r>
          </a:p>
          <a:p>
            <a:pPr marL="0" indent="0">
              <a:buNone/>
            </a:pPr>
            <a:r>
              <a:rPr lang="en-US" altLang="ko-KR" sz="1400" dirty="0"/>
              <a:t>	static void method2(){	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static class C{</a:t>
            </a:r>
          </a:p>
          <a:p>
            <a:pPr marL="0" indent="0">
              <a:buNone/>
            </a:pPr>
            <a:r>
              <a:rPr lang="en-US" altLang="ko-KR" sz="1400" dirty="0"/>
              <a:t>		void method(){</a:t>
            </a:r>
          </a:p>
          <a:p>
            <a:pPr marL="0" indent="0">
              <a:buNone/>
            </a:pPr>
            <a:r>
              <a:rPr lang="en-US" altLang="ko-KR" sz="1400" dirty="0"/>
              <a:t>			//field1 = 10; </a:t>
            </a:r>
            <a:r>
              <a:rPr lang="ko-KR" altLang="en-US" sz="1400" dirty="0"/>
              <a:t>오류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//method();</a:t>
            </a:r>
            <a:r>
              <a:rPr lang="ko-KR" altLang="en-US" sz="1400" dirty="0"/>
              <a:t> </a:t>
            </a:r>
            <a:r>
              <a:rPr lang="en-US" altLang="ko-KR" sz="1400" dirty="0"/>
              <a:t>//</a:t>
            </a:r>
            <a:r>
              <a:rPr lang="ko-KR" altLang="en-US" sz="1400" dirty="0"/>
              <a:t>오류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		field2 = 10;</a:t>
            </a:r>
          </a:p>
          <a:p>
            <a:pPr marL="0" indent="0">
              <a:buNone/>
            </a:pPr>
            <a:r>
              <a:rPr lang="en-US" altLang="ko-KR" sz="1400" dirty="0"/>
              <a:t>			method2();</a:t>
            </a:r>
          </a:p>
          <a:p>
            <a:pPr marL="0" indent="0">
              <a:buNone/>
            </a:pPr>
            <a:r>
              <a:rPr lang="en-US" altLang="ko-KR" sz="1400" dirty="0"/>
              <a:t>		}	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FE792F-F7D4-4173-D92B-B4153509F351}"/>
              </a:ext>
            </a:extLst>
          </p:cNvPr>
          <p:cNvSpPr txBox="1"/>
          <p:nvPr/>
        </p:nvSpPr>
        <p:spPr>
          <a:xfrm>
            <a:off x="4137434" y="6119336"/>
            <a:ext cx="82839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정적 멤버 클래스</a:t>
            </a:r>
            <a:r>
              <a:rPr lang="en-US" altLang="ko-KR" sz="1400" dirty="0"/>
              <a:t>C</a:t>
            </a:r>
            <a:r>
              <a:rPr lang="ko-KR" altLang="en-US" sz="1400" dirty="0"/>
              <a:t>안에는 바깥 클래스의 정적 필드 </a:t>
            </a:r>
            <a:r>
              <a:rPr lang="en-US" altLang="ko-KR" sz="1400" dirty="0"/>
              <a:t>field2,</a:t>
            </a:r>
            <a:r>
              <a:rPr lang="ko-KR" altLang="en-US" sz="1400" dirty="0"/>
              <a:t>와 메소드 </a:t>
            </a:r>
            <a:r>
              <a:rPr lang="en-US" altLang="ko-KR" sz="1400" dirty="0"/>
              <a:t>method2()</a:t>
            </a:r>
            <a:r>
              <a:rPr lang="ko-KR" altLang="en-US" sz="1400" dirty="0"/>
              <a:t>에만 접근할 수 있고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인스턴스 필드</a:t>
            </a:r>
            <a:r>
              <a:rPr lang="en-US" altLang="ko-KR" sz="1400" dirty="0"/>
              <a:t>field1, </a:t>
            </a:r>
            <a:r>
              <a:rPr lang="ko-KR" altLang="en-US" sz="1400" dirty="0"/>
              <a:t>인스턴스 메소드</a:t>
            </a:r>
            <a:r>
              <a:rPr lang="en-US" altLang="ko-KR" sz="1400" dirty="0"/>
              <a:t> method1()</a:t>
            </a:r>
            <a:r>
              <a:rPr lang="ko-KR" altLang="en-US" sz="1400" dirty="0"/>
              <a:t>에는 접근할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9845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F677F-6BC3-FF80-9D3C-B17D1EDA2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FCA42-D158-A381-3510-59BEE726F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A {</a:t>
            </a:r>
          </a:p>
          <a:p>
            <a:pPr marL="0" indent="0">
              <a:buNone/>
            </a:pPr>
            <a:r>
              <a:rPr lang="en-US" altLang="ko-KR" sz="1400" dirty="0"/>
              <a:t>    int field1;  // </a:t>
            </a:r>
            <a:r>
              <a:rPr lang="ko-KR" altLang="en-US" sz="1400" dirty="0"/>
              <a:t>인스턴스 변수</a:t>
            </a:r>
            <a:r>
              <a:rPr lang="en-US" altLang="ko-KR" sz="1400" dirty="0"/>
              <a:t>, A </a:t>
            </a:r>
            <a:r>
              <a:rPr lang="ko-KR" altLang="en-US" sz="1400" dirty="0"/>
              <a:t>클래스의 객체가 생성되어야 접근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method1() { }  // </a:t>
            </a:r>
            <a:r>
              <a:rPr lang="ko-KR" altLang="en-US" sz="1400" dirty="0"/>
              <a:t>인스턴스 메서드</a:t>
            </a:r>
            <a:r>
              <a:rPr lang="en-US" altLang="ko-KR" sz="1400" dirty="0"/>
              <a:t>, A </a:t>
            </a:r>
            <a:r>
              <a:rPr lang="ko-KR" altLang="en-US" sz="1400" dirty="0"/>
              <a:t>클래스의 객체가 생성되어야 호출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int field2;  // </a:t>
            </a:r>
            <a:r>
              <a:rPr lang="ko-KR" altLang="en-US" sz="1400" dirty="0"/>
              <a:t>정적 변수</a:t>
            </a:r>
            <a:r>
              <a:rPr lang="en-US" altLang="ko-KR" sz="1400" dirty="0"/>
              <a:t>, </a:t>
            </a:r>
            <a:r>
              <a:rPr lang="ko-KR" altLang="en-US" sz="1400" dirty="0"/>
              <a:t>클래스 이름으로 접근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void method2() { }  // </a:t>
            </a:r>
            <a:r>
              <a:rPr lang="ko-KR" altLang="en-US" sz="1400" dirty="0"/>
              <a:t>정적 메서드</a:t>
            </a:r>
            <a:r>
              <a:rPr lang="en-US" altLang="ko-KR" sz="1400" dirty="0"/>
              <a:t>, </a:t>
            </a:r>
            <a:r>
              <a:rPr lang="ko-KR" altLang="en-US" sz="1400" dirty="0"/>
              <a:t>클래스 이름으로 호출 가능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class B {</a:t>
            </a:r>
          </a:p>
          <a:p>
            <a:pPr marL="0" indent="0">
              <a:buNone/>
            </a:pPr>
            <a:r>
              <a:rPr lang="en-US" altLang="ko-KR" sz="1400" dirty="0"/>
              <a:t>        void method() {</a:t>
            </a:r>
          </a:p>
          <a:p>
            <a:pPr marL="0" indent="0">
              <a:buNone/>
            </a:pPr>
            <a:r>
              <a:rPr lang="en-US" altLang="ko-KR" sz="1400" dirty="0"/>
              <a:t>            field1 = 10;  // </a:t>
            </a:r>
            <a:r>
              <a:rPr lang="ko-KR" altLang="en-US" sz="1400" dirty="0"/>
              <a:t>인스턴스 변수 </a:t>
            </a:r>
            <a:r>
              <a:rPr lang="en-US" altLang="ko-KR" sz="1400" dirty="0"/>
              <a:t>field1</a:t>
            </a:r>
            <a:r>
              <a:rPr lang="ko-KR" altLang="en-US" sz="1400" dirty="0"/>
              <a:t>에 접근 </a:t>
            </a:r>
            <a:r>
              <a:rPr lang="en-US" altLang="ko-KR" sz="1400" dirty="0"/>
              <a:t>(B </a:t>
            </a:r>
            <a:r>
              <a:rPr lang="ko-KR" altLang="en-US" sz="1400" dirty="0"/>
              <a:t>클래스는 </a:t>
            </a:r>
            <a:r>
              <a:rPr lang="en-US" altLang="ko-KR" sz="1400" dirty="0"/>
              <a:t>A </a:t>
            </a:r>
            <a:r>
              <a:rPr lang="ko-KR" altLang="en-US" sz="1400" dirty="0"/>
              <a:t>클래스의 인스턴스를 통해 </a:t>
            </a:r>
            <a:r>
              <a:rPr lang="en-US" altLang="ko-KR" sz="1400" dirty="0"/>
              <a:t>field1</a:t>
            </a:r>
            <a:r>
              <a:rPr lang="ko-KR" altLang="en-US" sz="1400" dirty="0"/>
              <a:t>에 접근 가능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method1();  // </a:t>
            </a:r>
            <a:r>
              <a:rPr lang="ko-KR" altLang="en-US" sz="1400" dirty="0"/>
              <a:t>인스턴스 메서드 </a:t>
            </a:r>
            <a:r>
              <a:rPr lang="en-US" altLang="ko-KR" sz="1400" dirty="0"/>
              <a:t>method1 </a:t>
            </a:r>
            <a:r>
              <a:rPr lang="ko-KR" altLang="en-US" sz="1400" dirty="0"/>
              <a:t>호출 </a:t>
            </a:r>
            <a:r>
              <a:rPr lang="en-US" altLang="ko-KR" sz="1400" dirty="0"/>
              <a:t>(B </a:t>
            </a:r>
            <a:r>
              <a:rPr lang="ko-KR" altLang="en-US" sz="1400" dirty="0"/>
              <a:t>클래스는 </a:t>
            </a:r>
            <a:r>
              <a:rPr lang="en-US" altLang="ko-KR" sz="1400" dirty="0"/>
              <a:t>A </a:t>
            </a:r>
            <a:r>
              <a:rPr lang="ko-KR" altLang="en-US" sz="1400" dirty="0"/>
              <a:t>클래스의 인스턴스를 통해 </a:t>
            </a:r>
            <a:r>
              <a:rPr lang="en-US" altLang="ko-KR" sz="1400" dirty="0"/>
              <a:t>method1</a:t>
            </a:r>
            <a:r>
              <a:rPr lang="ko-KR" altLang="en-US" sz="1400" dirty="0"/>
              <a:t>을 호출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</a:p>
          <a:p>
            <a:pPr marL="0" indent="0">
              <a:buNone/>
            </a:pPr>
            <a:r>
              <a:rPr lang="en-US" altLang="ko-KR" sz="1400" dirty="0"/>
              <a:t>            field2 = 10;  // </a:t>
            </a:r>
            <a:r>
              <a:rPr lang="ko-KR" altLang="en-US" sz="1400" dirty="0"/>
              <a:t>정적 변수 </a:t>
            </a:r>
            <a:r>
              <a:rPr lang="en-US" altLang="ko-KR" sz="1400" dirty="0"/>
              <a:t>field2</a:t>
            </a:r>
            <a:r>
              <a:rPr lang="ko-KR" altLang="en-US" sz="1400" dirty="0"/>
              <a:t>에 접근 </a:t>
            </a:r>
            <a:r>
              <a:rPr lang="en-US" altLang="ko-KR" sz="1400" dirty="0"/>
              <a:t>(B </a:t>
            </a:r>
            <a:r>
              <a:rPr lang="ko-KR" altLang="en-US" sz="1400" dirty="0"/>
              <a:t>클래스에서는 </a:t>
            </a:r>
            <a:r>
              <a:rPr lang="en-US" altLang="ko-KR" sz="1400" dirty="0"/>
              <a:t>A </a:t>
            </a:r>
            <a:r>
              <a:rPr lang="ko-KR" altLang="en-US" sz="1400" dirty="0"/>
              <a:t>클래스의 인스턴스와 상관없이 접근 가능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    method2();  // </a:t>
            </a:r>
            <a:r>
              <a:rPr lang="ko-KR" altLang="en-US" sz="1400" dirty="0"/>
              <a:t>정적 메서드 </a:t>
            </a:r>
            <a:r>
              <a:rPr lang="en-US" altLang="ko-KR" sz="1400" dirty="0"/>
              <a:t>method2 </a:t>
            </a:r>
            <a:r>
              <a:rPr lang="ko-KR" altLang="en-US" sz="1400" dirty="0"/>
              <a:t>호출 </a:t>
            </a:r>
            <a:r>
              <a:rPr lang="en-US" altLang="ko-KR" sz="1400" dirty="0"/>
              <a:t>(</a:t>
            </a:r>
            <a:r>
              <a:rPr lang="ko-KR" altLang="en-US" sz="1400" dirty="0"/>
              <a:t>클래스 이름으로 접근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static class C {</a:t>
            </a:r>
          </a:p>
          <a:p>
            <a:pPr marL="0" indent="0">
              <a:buNone/>
            </a:pPr>
            <a:r>
              <a:rPr lang="en-US" altLang="ko-KR" sz="1400" dirty="0"/>
              <a:t>        void method() {</a:t>
            </a:r>
          </a:p>
          <a:p>
            <a:pPr marL="0" indent="0">
              <a:buNone/>
            </a:pPr>
            <a:r>
              <a:rPr lang="en-US" altLang="ko-KR" sz="1400" dirty="0"/>
              <a:t>            //field1 = 10;  // </a:t>
            </a:r>
            <a:r>
              <a:rPr lang="ko-KR" altLang="en-US" sz="1400" dirty="0"/>
              <a:t>에러</a:t>
            </a:r>
            <a:r>
              <a:rPr lang="en-US" altLang="ko-KR" sz="1400" dirty="0"/>
              <a:t>: static </a:t>
            </a:r>
            <a:r>
              <a:rPr lang="ko-KR" altLang="en-US" sz="1400" dirty="0"/>
              <a:t>클래스에서는 인스턴스 변수에 접근할 수 없음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//method1();  // </a:t>
            </a:r>
            <a:r>
              <a:rPr lang="ko-KR" altLang="en-US" sz="1400" dirty="0"/>
              <a:t>에러</a:t>
            </a:r>
            <a:r>
              <a:rPr lang="en-US" altLang="ko-KR" sz="1400" dirty="0"/>
              <a:t>: static </a:t>
            </a:r>
            <a:r>
              <a:rPr lang="ko-KR" altLang="en-US" sz="1400" dirty="0"/>
              <a:t>클래스에서는 인스턴스 메서드를 호출할 수 없음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field2 = 10;  // </a:t>
            </a:r>
            <a:r>
              <a:rPr lang="ko-KR" altLang="en-US" sz="1400" dirty="0"/>
              <a:t>정적 변수 </a:t>
            </a:r>
            <a:r>
              <a:rPr lang="en-US" altLang="ko-KR" sz="1400" dirty="0"/>
              <a:t>field2</a:t>
            </a:r>
            <a:r>
              <a:rPr lang="ko-KR" altLang="en-US" sz="1400" dirty="0"/>
              <a:t>에 접근 가능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method2();  // </a:t>
            </a:r>
            <a:r>
              <a:rPr lang="ko-KR" altLang="en-US" sz="1400" dirty="0"/>
              <a:t>정적 메서드 </a:t>
            </a:r>
            <a:r>
              <a:rPr lang="en-US" altLang="ko-KR" sz="1400" dirty="0"/>
              <a:t>method2 </a:t>
            </a:r>
            <a:r>
              <a:rPr lang="ko-KR" altLang="en-US" sz="1400" dirty="0"/>
              <a:t>호출 가능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    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397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A01-B24A-8CA4-CD54-1EE66E23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EEBA18-ACD2-9A65-5D66-CAC8D5FC6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중첩 클래스에서 바깥 클래스 참조 얻기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클래스 내부에서 </a:t>
            </a:r>
            <a:r>
              <a:rPr lang="en-US" altLang="ko-KR" sz="1400" dirty="0"/>
              <a:t>this</a:t>
            </a:r>
            <a:r>
              <a:rPr lang="ko-KR" altLang="en-US" sz="1400" dirty="0"/>
              <a:t>는 객체 자신의 참조이다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중첩 클래스에서 </a:t>
            </a:r>
            <a:r>
              <a:rPr lang="en-US" altLang="ko-KR" sz="1400" dirty="0"/>
              <a:t>this</a:t>
            </a:r>
            <a:r>
              <a:rPr lang="ko-KR" altLang="en-US" sz="1400" dirty="0"/>
              <a:t>를 사용하면 바깥 클래스의 객체 참조가 아니라 중첩 클래스의 객체 참조가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따라서 중첩 클래스 내부에서 </a:t>
            </a:r>
            <a:r>
              <a:rPr lang="en-US" altLang="ko-KR" sz="1400" dirty="0"/>
              <a:t>this.</a:t>
            </a:r>
            <a:r>
              <a:rPr lang="ko-KR" altLang="en-US" sz="1400" dirty="0"/>
              <a:t>필드 </a:t>
            </a:r>
            <a:r>
              <a:rPr lang="en-US" altLang="ko-KR" sz="1400" dirty="0"/>
              <a:t>/ this.</a:t>
            </a:r>
            <a:r>
              <a:rPr lang="ko-KR" altLang="en-US" sz="1400" dirty="0"/>
              <a:t>메소드</a:t>
            </a:r>
            <a:r>
              <a:rPr lang="en-US" altLang="ko-KR" sz="1400" dirty="0"/>
              <a:t>()</a:t>
            </a:r>
            <a:r>
              <a:rPr lang="ko-KR" altLang="en-US" sz="1400" dirty="0"/>
              <a:t>로</a:t>
            </a:r>
            <a:r>
              <a:rPr lang="en-US" altLang="ko-KR" sz="1400" dirty="0"/>
              <a:t> </a:t>
            </a:r>
            <a:r>
              <a:rPr lang="ko-KR" altLang="en-US" sz="1400" dirty="0"/>
              <a:t>호출하면 중첩 클래스의 필드와 메소드가 사용된다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중첩 클래스 내부에서 바깥 클래스의 객체 참조를 얻으려면 바깥 클래스의 이름을 </a:t>
            </a:r>
            <a:r>
              <a:rPr lang="en-US" altLang="ko-KR" sz="1400" dirty="0"/>
              <a:t>this</a:t>
            </a:r>
            <a:r>
              <a:rPr lang="ko-KR" altLang="en-US" sz="1400" dirty="0"/>
              <a:t>앞에 붙여주면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바깥 클래스</a:t>
            </a:r>
            <a:r>
              <a:rPr lang="en-US" altLang="ko-KR" sz="1400" dirty="0"/>
              <a:t>.this.</a:t>
            </a:r>
            <a:r>
              <a:rPr lang="ko-KR" altLang="en-US" sz="1400" dirty="0"/>
              <a:t>필드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ko-KR" altLang="en-US" sz="1400" dirty="0"/>
              <a:t>바깥 클래스</a:t>
            </a:r>
            <a:r>
              <a:rPr lang="en-US" altLang="ko-KR" sz="1400" dirty="0"/>
              <a:t>.this.</a:t>
            </a:r>
            <a:r>
              <a:rPr lang="ko-KR" altLang="en-US" sz="1400" dirty="0"/>
              <a:t>메소드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5FFEA3-25D9-A33F-82B6-FF07AA322E72}"/>
              </a:ext>
            </a:extLst>
          </p:cNvPr>
          <p:cNvSpPr txBox="1"/>
          <p:nvPr/>
        </p:nvSpPr>
        <p:spPr>
          <a:xfrm>
            <a:off x="0" y="2553076"/>
            <a:ext cx="823261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public class 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 {</a:t>
            </a:r>
          </a:p>
          <a:p>
            <a:r>
              <a:rPr lang="en-US" altLang="ko-KR" sz="1200" dirty="0"/>
              <a:t>    String field = "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-field";  // 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 </a:t>
            </a:r>
            <a:r>
              <a:rPr lang="ko-KR" altLang="en-US" sz="1200" dirty="0"/>
              <a:t>클래스의 인스턴스 변수</a:t>
            </a:r>
          </a:p>
          <a:p>
            <a:r>
              <a:rPr lang="ko-KR" altLang="en-US" sz="1200" dirty="0"/>
              <a:t>    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/>
              <a:t>void method() {</a:t>
            </a:r>
          </a:p>
          <a:p>
            <a:r>
              <a:rPr lang="en-US" altLang="ko-KR" sz="1200" dirty="0"/>
              <a:t>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-method");  // 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 </a:t>
            </a:r>
            <a:r>
              <a:rPr lang="ko-KR" altLang="en-US" sz="1200" dirty="0"/>
              <a:t>클래스의 인스턴스 메서드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/>
              <a:t>}</a:t>
            </a:r>
          </a:p>
          <a:p>
            <a:r>
              <a:rPr lang="en-US" altLang="ko-KR" sz="1200" dirty="0"/>
              <a:t>    </a:t>
            </a:r>
          </a:p>
          <a:p>
            <a:r>
              <a:rPr lang="en-US" altLang="ko-KR" sz="1200" dirty="0"/>
              <a:t>    class Nested {</a:t>
            </a:r>
          </a:p>
          <a:p>
            <a:r>
              <a:rPr lang="en-US" altLang="ko-KR" sz="1200" dirty="0"/>
              <a:t>        String field = "Nested-field";  // Nested </a:t>
            </a:r>
            <a:r>
              <a:rPr lang="ko-KR" altLang="en-US" sz="1200" dirty="0"/>
              <a:t>클래스의 인스턴스 변수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Outter</a:t>
            </a:r>
            <a:r>
              <a:rPr lang="ko-KR" altLang="en-US" sz="1200" dirty="0"/>
              <a:t>의 </a:t>
            </a:r>
            <a:r>
              <a:rPr lang="en-US" altLang="ko-KR" sz="1200" dirty="0"/>
              <a:t>field</a:t>
            </a:r>
            <a:r>
              <a:rPr lang="ko-KR" altLang="en-US" sz="1200" dirty="0"/>
              <a:t>와 이름이 같음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        </a:t>
            </a:r>
          </a:p>
          <a:p>
            <a:r>
              <a:rPr lang="en-US" altLang="ko-KR" sz="1200" dirty="0"/>
              <a:t>        void method() {</a:t>
            </a:r>
          </a:p>
          <a:p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("Nested-method");  // Nested </a:t>
            </a:r>
            <a:r>
              <a:rPr lang="ko-KR" altLang="en-US" sz="1200" dirty="0"/>
              <a:t>클래스의 인스턴스 메서드</a:t>
            </a:r>
          </a:p>
          <a:p>
            <a:r>
              <a:rPr lang="ko-KR" altLang="en-US" sz="1200" dirty="0"/>
              <a:t>        </a:t>
            </a:r>
            <a:r>
              <a:rPr lang="en-US" altLang="ko-KR" sz="1200" dirty="0"/>
              <a:t>}</a:t>
            </a:r>
          </a:p>
          <a:p>
            <a:r>
              <a:rPr lang="en-US" altLang="ko-KR" sz="1200" dirty="0"/>
              <a:t>        </a:t>
            </a:r>
          </a:p>
          <a:p>
            <a:r>
              <a:rPr lang="en-US" altLang="ko-KR" sz="1200" dirty="0"/>
              <a:t>        void print() {</a:t>
            </a:r>
          </a:p>
          <a:p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this.field</a:t>
            </a:r>
            <a:r>
              <a:rPr lang="en-US" altLang="ko-KR" sz="1200" dirty="0"/>
              <a:t>);  // </a:t>
            </a:r>
            <a:r>
              <a:rPr lang="ko-KR" altLang="en-US" sz="1200" dirty="0"/>
              <a:t>현재 객체</a:t>
            </a:r>
            <a:r>
              <a:rPr lang="en-US" altLang="ko-KR" sz="1200" dirty="0"/>
              <a:t>(Nested)</a:t>
            </a:r>
            <a:r>
              <a:rPr lang="ko-KR" altLang="en-US" sz="1200" dirty="0"/>
              <a:t>의 </a:t>
            </a:r>
            <a:r>
              <a:rPr lang="en-US" altLang="ko-KR" sz="1200" dirty="0"/>
              <a:t>field</a:t>
            </a:r>
            <a:r>
              <a:rPr lang="ko-KR" altLang="en-US" sz="1200" dirty="0"/>
              <a:t>를 출력 </a:t>
            </a:r>
            <a:r>
              <a:rPr lang="en-US" altLang="ko-KR" sz="1200" dirty="0"/>
              <a:t>(Nested-field)</a:t>
            </a:r>
          </a:p>
          <a:p>
            <a:r>
              <a:rPr lang="en-US" altLang="ko-KR" sz="1200" dirty="0"/>
              <a:t>            </a:t>
            </a:r>
            <a:r>
              <a:rPr lang="en-US" altLang="ko-KR" sz="1200" dirty="0" err="1"/>
              <a:t>this.method</a:t>
            </a:r>
            <a:r>
              <a:rPr lang="en-US" altLang="ko-KR" sz="1200" dirty="0"/>
              <a:t>();  // </a:t>
            </a:r>
            <a:r>
              <a:rPr lang="ko-KR" altLang="en-US" sz="1200" dirty="0"/>
              <a:t>현재 객체</a:t>
            </a:r>
            <a:r>
              <a:rPr lang="en-US" altLang="ko-KR" sz="1200" dirty="0"/>
              <a:t>(Nested)</a:t>
            </a:r>
            <a:r>
              <a:rPr lang="ko-KR" altLang="en-US" sz="1200" dirty="0"/>
              <a:t>의 </a:t>
            </a:r>
            <a:r>
              <a:rPr lang="en-US" altLang="ko-KR" sz="1200" dirty="0"/>
              <a:t>method</a:t>
            </a:r>
            <a:r>
              <a:rPr lang="ko-KR" altLang="en-US" sz="1200" dirty="0"/>
              <a:t>를 호출 </a:t>
            </a:r>
            <a:r>
              <a:rPr lang="en-US" altLang="ko-KR" sz="1200" dirty="0"/>
              <a:t>(Nested-method)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     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</a:t>
            </a:r>
            <a:r>
              <a:rPr lang="en-US" altLang="ko-KR" sz="1200" dirty="0" err="1"/>
              <a:t>Outter.this.field</a:t>
            </a:r>
            <a:r>
              <a:rPr lang="en-US" altLang="ko-KR" sz="1200" dirty="0"/>
              <a:t>);  // </a:t>
            </a:r>
            <a:r>
              <a:rPr lang="ko-KR" altLang="en-US" sz="1200" dirty="0"/>
              <a:t>외부 클래스</a:t>
            </a:r>
            <a:r>
              <a:rPr lang="en-US" altLang="ko-KR" sz="1200" dirty="0"/>
              <a:t>(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)</a:t>
            </a:r>
            <a:r>
              <a:rPr lang="ko-KR" altLang="en-US" sz="1200" dirty="0"/>
              <a:t>의 </a:t>
            </a:r>
            <a:r>
              <a:rPr lang="en-US" altLang="ko-KR" sz="1200" dirty="0"/>
              <a:t>field</a:t>
            </a:r>
            <a:r>
              <a:rPr lang="ko-KR" altLang="en-US" sz="1200" dirty="0"/>
              <a:t>를 출력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-field)</a:t>
            </a:r>
          </a:p>
          <a:p>
            <a:r>
              <a:rPr lang="en-US" altLang="ko-KR" sz="1200" dirty="0"/>
              <a:t>            </a:t>
            </a:r>
            <a:r>
              <a:rPr lang="en-US" altLang="ko-KR" sz="1200" dirty="0" err="1"/>
              <a:t>Outter.this.method</a:t>
            </a:r>
            <a:r>
              <a:rPr lang="en-US" altLang="ko-KR" sz="1200" dirty="0"/>
              <a:t>();  // </a:t>
            </a:r>
            <a:r>
              <a:rPr lang="ko-KR" altLang="en-US" sz="1200" dirty="0"/>
              <a:t>외부 클래스</a:t>
            </a:r>
            <a:r>
              <a:rPr lang="en-US" altLang="ko-KR" sz="1200" dirty="0"/>
              <a:t>(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)</a:t>
            </a:r>
            <a:r>
              <a:rPr lang="ko-KR" altLang="en-US" sz="1200" dirty="0"/>
              <a:t>의 </a:t>
            </a:r>
            <a:r>
              <a:rPr lang="en-US" altLang="ko-KR" sz="1200" dirty="0"/>
              <a:t>method</a:t>
            </a:r>
            <a:r>
              <a:rPr lang="ko-KR" altLang="en-US" sz="1200" dirty="0"/>
              <a:t>를 호출 </a:t>
            </a:r>
            <a:r>
              <a:rPr lang="en-US" altLang="ko-KR" sz="1200" dirty="0"/>
              <a:t>(</a:t>
            </a:r>
            <a:r>
              <a:rPr lang="en-US" altLang="ko-KR" sz="1200" dirty="0" err="1"/>
              <a:t>Outter</a:t>
            </a:r>
            <a:r>
              <a:rPr lang="en-US" altLang="ko-KR" sz="1200" dirty="0"/>
              <a:t>-method)</a:t>
            </a:r>
          </a:p>
          <a:p>
            <a:r>
              <a:rPr lang="en-US" altLang="ko-KR" sz="1200" dirty="0"/>
              <a:t>        }</a:t>
            </a:r>
          </a:p>
          <a:p>
            <a:r>
              <a:rPr lang="en-US" altLang="ko-KR" sz="1200" dirty="0"/>
              <a:t>    }</a:t>
            </a:r>
          </a:p>
          <a:p>
            <a:r>
              <a:rPr lang="en-US" altLang="ko-KR" sz="1200" dirty="0"/>
              <a:t>}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00733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1584A-FD9F-10B3-6A55-38CEE80E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EF7F73-889C-0EF8-6E8D-F6C39E786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OutterExample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1. </a:t>
            </a:r>
            <a:r>
              <a:rPr lang="en-US" altLang="ko-KR" sz="1400" dirty="0" err="1"/>
              <a:t>Outter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클래스의 인스턴스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Outter</a:t>
            </a:r>
            <a:r>
              <a:rPr lang="en-US" altLang="ko-KR" sz="1400" dirty="0"/>
              <a:t> </a:t>
            </a:r>
            <a:r>
              <a:rPr lang="en-US" altLang="ko-KR" sz="1400" dirty="0" err="1"/>
              <a:t>outter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Outter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2. </a:t>
            </a:r>
            <a:r>
              <a:rPr lang="en-US" altLang="ko-KR" sz="1400" dirty="0" err="1"/>
              <a:t>Outter</a:t>
            </a:r>
            <a:r>
              <a:rPr lang="en-US" altLang="ko-KR" sz="1400" dirty="0"/>
              <a:t> </a:t>
            </a:r>
            <a:r>
              <a:rPr lang="ko-KR" altLang="en-US" sz="1400" dirty="0"/>
              <a:t>인스턴스를 통해 </a:t>
            </a:r>
            <a:r>
              <a:rPr lang="en-US" altLang="ko-KR" sz="1400" dirty="0"/>
              <a:t>Nested </a:t>
            </a:r>
            <a:r>
              <a:rPr lang="ko-KR" altLang="en-US" sz="1400" dirty="0"/>
              <a:t>클래스의 인스턴스를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Nested </a:t>
            </a:r>
            <a:r>
              <a:rPr lang="ko-KR" altLang="en-US" sz="1400" dirty="0"/>
              <a:t>클래스는 </a:t>
            </a:r>
            <a:r>
              <a:rPr lang="en-US" altLang="ko-KR" sz="1400" dirty="0" err="1"/>
              <a:t>Outter</a:t>
            </a:r>
            <a:r>
              <a:rPr lang="en-US" altLang="ko-KR" sz="1400" dirty="0"/>
              <a:t> </a:t>
            </a:r>
            <a:r>
              <a:rPr lang="ko-KR" altLang="en-US" sz="1400" dirty="0"/>
              <a:t>클래스의 인스턴스가 있어야 생성할 수 있기 때문에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</a:t>
            </a:r>
            <a:r>
              <a:rPr lang="ko-KR" altLang="en-US" sz="1400" dirty="0"/>
              <a:t>먼저 </a:t>
            </a:r>
            <a:r>
              <a:rPr lang="en-US" altLang="ko-KR" sz="1400" dirty="0" err="1"/>
              <a:t>Outter</a:t>
            </a:r>
            <a:r>
              <a:rPr lang="en-US" altLang="ko-KR" sz="1400" dirty="0"/>
              <a:t> </a:t>
            </a:r>
            <a:r>
              <a:rPr lang="ko-KR" altLang="en-US" sz="1400" dirty="0"/>
              <a:t>객체를 만들어야 </a:t>
            </a:r>
            <a:r>
              <a:rPr lang="en-US" altLang="ko-KR" sz="1400" dirty="0"/>
              <a:t>Nested </a:t>
            </a:r>
            <a:r>
              <a:rPr lang="ko-KR" altLang="en-US" sz="1400" dirty="0"/>
              <a:t>객체를 만들 수 있음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Outter.Nested</a:t>
            </a:r>
            <a:r>
              <a:rPr lang="en-US" altLang="ko-KR" sz="1400" dirty="0"/>
              <a:t> nested = </a:t>
            </a:r>
            <a:r>
              <a:rPr lang="en-US" altLang="ko-KR" sz="1400" dirty="0" err="1"/>
              <a:t>outter.new</a:t>
            </a:r>
            <a:r>
              <a:rPr lang="en-US" altLang="ko-KR" sz="1400" dirty="0"/>
              <a:t> Nested();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3. Nested </a:t>
            </a:r>
            <a:r>
              <a:rPr lang="ko-KR" altLang="en-US" sz="1400" dirty="0"/>
              <a:t>객체의 </a:t>
            </a:r>
            <a:r>
              <a:rPr lang="en-US" altLang="ko-KR" sz="1400" dirty="0"/>
              <a:t>print() </a:t>
            </a:r>
            <a:r>
              <a:rPr lang="ko-KR" altLang="en-US" sz="1400" dirty="0"/>
              <a:t>메서드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nested.print</a:t>
            </a:r>
            <a:r>
              <a:rPr lang="en-US" altLang="ko-KR" sz="1400" dirty="0"/>
              <a:t>();  // print() </a:t>
            </a:r>
            <a:r>
              <a:rPr lang="ko-KR" altLang="en-US" sz="1400" dirty="0"/>
              <a:t>메서드는 </a:t>
            </a:r>
            <a:r>
              <a:rPr lang="en-US" altLang="ko-KR" sz="1400" dirty="0" err="1"/>
              <a:t>this.field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Outter.this.field</a:t>
            </a:r>
            <a:r>
              <a:rPr lang="ko-KR" altLang="en-US" sz="1400" dirty="0"/>
              <a:t>를 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5244E1-D533-4C92-B4E6-851DBCA11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028" y="2623707"/>
            <a:ext cx="2136146" cy="161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26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FFBCE-8F79-1340-0EF8-BE250272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F263D-5C4E-0DFF-1E00-B564DD7B0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중첩 인터페이스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중첩 인터페이스는 클래스의 멤버로 선언된 인터페이스를 말한다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인터페이스를 클래스 내부에 선언하는 이유는 해당 클래스와 긴밀한 관계를 맺는 구현 클래스를 만들기 위함이다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A{</a:t>
            </a:r>
          </a:p>
          <a:p>
            <a:pPr marL="0" indent="0">
              <a:buNone/>
            </a:pPr>
            <a:r>
              <a:rPr lang="en-US" altLang="ko-KR" sz="1400" dirty="0"/>
              <a:t>	interface I{</a:t>
            </a:r>
          </a:p>
          <a:p>
            <a:pPr marL="0" indent="0">
              <a:buNone/>
            </a:pPr>
            <a:r>
              <a:rPr lang="en-US" altLang="ko-KR" sz="1400" dirty="0"/>
              <a:t>		void method();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중첩 인터페이스는 인스턴스 멤버 인터페이스와 정적 멤버 인터페이스 모두 가능하다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인스턴스 멤버 인터페이스는 바깥 클래스의 객체가 있어야 사용 가능하며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정적 멤버 인터페이스는 바깥 클래스의 객체 없이 바깥 클래스로만 접근할 수 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1661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397A-A1BE-98AE-B13E-4E8FF95D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6DB994-0D85-729D-30EB-22DD36805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Button {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listener;  // 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</a:t>
            </a:r>
            <a:r>
              <a:rPr lang="ko-KR" altLang="en-US" sz="1400" dirty="0"/>
              <a:t>타입의 변수 </a:t>
            </a:r>
            <a:r>
              <a:rPr lang="en-US" altLang="ko-KR" sz="1400" dirty="0"/>
              <a:t>listener, </a:t>
            </a:r>
            <a:r>
              <a:rPr lang="ko-KR" altLang="en-US" sz="1400" dirty="0"/>
              <a:t>클릭 이벤트 </a:t>
            </a:r>
            <a:r>
              <a:rPr lang="ko-KR" altLang="en-US" sz="1400" dirty="0" err="1"/>
              <a:t>리스너를</a:t>
            </a:r>
            <a:r>
              <a:rPr lang="ko-KR" altLang="en-US" sz="1400" dirty="0"/>
              <a:t> 저장하는 역할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1. </a:t>
            </a:r>
            <a:r>
              <a:rPr lang="ko-KR" altLang="en-US" sz="1400" dirty="0"/>
              <a:t>클릭 </a:t>
            </a:r>
            <a:r>
              <a:rPr lang="ko-KR" altLang="en-US" sz="1400" dirty="0" err="1"/>
              <a:t>리스너</a:t>
            </a:r>
            <a:r>
              <a:rPr lang="ko-KR" altLang="en-US" sz="1400" dirty="0"/>
              <a:t> 설정 메서드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외부에서 </a:t>
            </a:r>
            <a:r>
              <a:rPr lang="en-US" altLang="ko-KR" sz="1400" dirty="0" err="1"/>
              <a:t>OnClickListener</a:t>
            </a:r>
            <a:r>
              <a:rPr lang="ko-KR" altLang="en-US" sz="1400" dirty="0"/>
              <a:t>를 설정할 수 있게 해주는 메서드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setOnClickListener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listener)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this.listener</a:t>
            </a:r>
            <a:r>
              <a:rPr lang="en-US" altLang="ko-KR" sz="1400" dirty="0"/>
              <a:t> = listener;  // </a:t>
            </a:r>
            <a:r>
              <a:rPr lang="ko-KR" altLang="en-US" sz="1400" dirty="0"/>
              <a:t>전달받은 </a:t>
            </a:r>
            <a:r>
              <a:rPr lang="ko-KR" altLang="en-US" sz="1400" dirty="0" err="1"/>
              <a:t>리스너를</a:t>
            </a:r>
            <a:r>
              <a:rPr lang="ko-KR" altLang="en-US" sz="1400" dirty="0"/>
              <a:t> 클래스 변수에 저장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2. </a:t>
            </a:r>
            <a:r>
              <a:rPr lang="ko-KR" altLang="en-US" sz="1400" dirty="0"/>
              <a:t>버튼 터치 메서드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버튼이 </a:t>
            </a:r>
            <a:r>
              <a:rPr lang="ko-KR" altLang="en-US" sz="1400" dirty="0" err="1"/>
              <a:t>터치되었을</a:t>
            </a:r>
            <a:r>
              <a:rPr lang="ko-KR" altLang="en-US" sz="1400" dirty="0"/>
              <a:t> 때 호출되는 메서드로</a:t>
            </a:r>
            <a:r>
              <a:rPr lang="en-US" altLang="ko-KR" sz="1400" dirty="0"/>
              <a:t>, </a:t>
            </a:r>
            <a:r>
              <a:rPr lang="ko-KR" altLang="en-US" sz="1400" dirty="0"/>
              <a:t>설정된 </a:t>
            </a:r>
            <a:r>
              <a:rPr lang="ko-KR" altLang="en-US" sz="1400" dirty="0" err="1"/>
              <a:t>리스너의</a:t>
            </a:r>
            <a:r>
              <a:rPr lang="ko-KR" altLang="en-US" sz="1400" dirty="0"/>
              <a:t>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 </a:t>
            </a:r>
            <a:r>
              <a:rPr lang="ko-KR" altLang="en-US" sz="1400" dirty="0"/>
              <a:t>메서드를 실행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touch()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listener.onClick</a:t>
            </a:r>
            <a:r>
              <a:rPr lang="en-US" altLang="ko-KR" sz="1400" dirty="0"/>
              <a:t>();  // </a:t>
            </a:r>
            <a:r>
              <a:rPr lang="ko-KR" altLang="en-US" sz="1400" dirty="0"/>
              <a:t>터치 시 설정된 </a:t>
            </a:r>
            <a:r>
              <a:rPr lang="ko-KR" altLang="en-US" sz="1400" dirty="0" err="1"/>
              <a:t>리스너의</a:t>
            </a:r>
            <a:r>
              <a:rPr lang="ko-KR" altLang="en-US" sz="1400" dirty="0"/>
              <a:t>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3. </a:t>
            </a:r>
            <a:r>
              <a:rPr lang="ko-KR" altLang="en-US" sz="1400" dirty="0"/>
              <a:t>클릭 </a:t>
            </a:r>
            <a:r>
              <a:rPr lang="ko-KR" altLang="en-US" sz="1400" dirty="0" err="1"/>
              <a:t>리스너</a:t>
            </a:r>
            <a:r>
              <a:rPr lang="ko-KR" altLang="en-US" sz="1400" dirty="0"/>
              <a:t> 인터페이스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ko-KR" altLang="en-US" sz="1400" dirty="0"/>
              <a:t>버튼 클릭 시 호출될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정의하는 인터페이스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interface 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    void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();  // </a:t>
            </a:r>
            <a:r>
              <a:rPr lang="ko-KR" altLang="en-US" sz="1400" dirty="0"/>
              <a:t>클릭 시 실행할 메서드 정의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7977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DCB41-3F18-11E2-5ABE-F04E9998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AFFE17-BAEA-1A4C-4694-36DD4E19D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CallListener</a:t>
            </a:r>
            <a:r>
              <a:rPr lang="en-US" altLang="ko-KR" sz="1400" dirty="0"/>
              <a:t> implements </a:t>
            </a:r>
            <a:r>
              <a:rPr lang="en-US" altLang="ko-KR" sz="1400" dirty="0" err="1"/>
              <a:t>Button.OnClickListener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// 1.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구현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Button.OnClickListener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인터페이스의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구현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void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버튼 클릭 시 </a:t>
            </a:r>
            <a:r>
              <a:rPr lang="en-US" altLang="ko-KR" sz="1400" dirty="0"/>
              <a:t>"</a:t>
            </a:r>
            <a:r>
              <a:rPr lang="ko-KR" altLang="en-US" sz="1400" dirty="0"/>
              <a:t>전화를 겁니다</a:t>
            </a:r>
            <a:r>
              <a:rPr lang="en-US" altLang="ko-KR" sz="1400" dirty="0"/>
              <a:t>."</a:t>
            </a:r>
            <a:r>
              <a:rPr lang="ko-KR" altLang="en-US" sz="1400" dirty="0"/>
              <a:t>라는 메시지를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전화를 겁니다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MessageListener</a:t>
            </a:r>
            <a:r>
              <a:rPr lang="en-US" altLang="ko-KR" sz="1400" dirty="0"/>
              <a:t> implements </a:t>
            </a:r>
            <a:r>
              <a:rPr lang="en-US" altLang="ko-KR" sz="1400" dirty="0" err="1"/>
              <a:t>Button.OnClickListener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// 1.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구현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// </a:t>
            </a:r>
            <a:r>
              <a:rPr lang="en-US" altLang="ko-KR" sz="1400" dirty="0" err="1"/>
              <a:t>Button.OnClickListener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인터페이스의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구현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public void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버튼 클릭 시 </a:t>
            </a:r>
            <a:r>
              <a:rPr lang="en-US" altLang="ko-KR" sz="1400" dirty="0"/>
              <a:t>"</a:t>
            </a:r>
            <a:r>
              <a:rPr lang="ko-KR" altLang="en-US" sz="1400" dirty="0"/>
              <a:t>메시지를 보냅니다</a:t>
            </a:r>
            <a:r>
              <a:rPr lang="en-US" altLang="ko-KR" sz="1400" dirty="0"/>
              <a:t>."</a:t>
            </a:r>
            <a:r>
              <a:rPr lang="ko-KR" altLang="en-US" sz="1400" dirty="0"/>
              <a:t>라는 메시지를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메시지를 보냅니다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122233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19F7-9C11-8381-7AA4-97A233A4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A21853-79E1-6600-D724-282ADD11F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ButtonExample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1. Button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Button </a:t>
            </a:r>
            <a:r>
              <a:rPr lang="en-US" altLang="ko-KR" sz="1400" dirty="0" err="1"/>
              <a:t>btn</a:t>
            </a:r>
            <a:r>
              <a:rPr lang="en-US" altLang="ko-KR" sz="1400" dirty="0"/>
              <a:t> = new Button();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2. </a:t>
            </a:r>
            <a:r>
              <a:rPr lang="ko-KR" altLang="en-US" sz="1400" dirty="0"/>
              <a:t>첫 번째 </a:t>
            </a:r>
            <a:r>
              <a:rPr lang="ko-KR" altLang="en-US" sz="1400" dirty="0" err="1"/>
              <a:t>리스너로</a:t>
            </a:r>
            <a:r>
              <a:rPr lang="ko-KR" altLang="en-US" sz="1400" dirty="0"/>
              <a:t> </a:t>
            </a:r>
            <a:r>
              <a:rPr lang="en-US" altLang="ko-KR" sz="1400" dirty="0" err="1"/>
              <a:t>CallListener</a:t>
            </a:r>
            <a:r>
              <a:rPr lang="en-US" altLang="ko-KR" sz="1400" dirty="0"/>
              <a:t> </a:t>
            </a:r>
            <a:r>
              <a:rPr lang="ko-KR" altLang="en-US" sz="1400" dirty="0"/>
              <a:t>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btn.setOnClickListener</a:t>
            </a:r>
            <a:r>
              <a:rPr lang="en-US" altLang="ko-KR" sz="1400" dirty="0"/>
              <a:t>(new </a:t>
            </a:r>
            <a:r>
              <a:rPr lang="en-US" altLang="ko-KR" sz="1400" dirty="0" err="1"/>
              <a:t>CallListener</a:t>
            </a:r>
            <a:r>
              <a:rPr lang="en-US" altLang="ko-KR" sz="1400" dirty="0"/>
              <a:t>());  // "</a:t>
            </a:r>
            <a:r>
              <a:rPr lang="ko-KR" altLang="en-US" sz="1400" dirty="0"/>
              <a:t>전화를 겁니다</a:t>
            </a:r>
            <a:r>
              <a:rPr lang="en-US" altLang="ko-KR" sz="1400" dirty="0"/>
              <a:t>."</a:t>
            </a:r>
            <a:r>
              <a:rPr lang="ko-KR" altLang="en-US" sz="1400" dirty="0"/>
              <a:t>가 실행될 </a:t>
            </a:r>
            <a:r>
              <a:rPr lang="ko-KR" altLang="en-US" sz="1400" dirty="0" err="1"/>
              <a:t>리스너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btn.touch</a:t>
            </a:r>
            <a:r>
              <a:rPr lang="en-US" altLang="ko-KR" sz="1400" dirty="0"/>
              <a:t>();  // </a:t>
            </a:r>
            <a:r>
              <a:rPr lang="ko-KR" altLang="en-US" sz="1400" dirty="0"/>
              <a:t>버튼 터치 </a:t>
            </a:r>
            <a:r>
              <a:rPr lang="en-US" altLang="ko-KR" sz="1400" dirty="0"/>
              <a:t>-&gt; "</a:t>
            </a:r>
            <a:r>
              <a:rPr lang="ko-KR" altLang="en-US" sz="1400" dirty="0"/>
              <a:t>전화를 겁니다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3. </a:t>
            </a:r>
            <a:r>
              <a:rPr lang="ko-KR" altLang="en-US" sz="1400" dirty="0"/>
              <a:t>두 번째 </a:t>
            </a:r>
            <a:r>
              <a:rPr lang="ko-KR" altLang="en-US" sz="1400" dirty="0" err="1"/>
              <a:t>리스너로</a:t>
            </a:r>
            <a:r>
              <a:rPr lang="ko-KR" altLang="en-US" sz="1400" dirty="0"/>
              <a:t> </a:t>
            </a:r>
            <a:r>
              <a:rPr lang="en-US" altLang="ko-KR" sz="1400" dirty="0" err="1"/>
              <a:t>MessageListener</a:t>
            </a:r>
            <a:r>
              <a:rPr lang="en-US" altLang="ko-KR" sz="1400" dirty="0"/>
              <a:t> </a:t>
            </a:r>
            <a:r>
              <a:rPr lang="ko-KR" altLang="en-US" sz="1400" dirty="0"/>
              <a:t>설정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btn.setOnClickListener</a:t>
            </a:r>
            <a:r>
              <a:rPr lang="en-US" altLang="ko-KR" sz="1400" dirty="0"/>
              <a:t>(new </a:t>
            </a:r>
            <a:r>
              <a:rPr lang="en-US" altLang="ko-KR" sz="1400" dirty="0" err="1"/>
              <a:t>MessageListener</a:t>
            </a:r>
            <a:r>
              <a:rPr lang="en-US" altLang="ko-KR" sz="1400" dirty="0"/>
              <a:t>());  // "</a:t>
            </a:r>
            <a:r>
              <a:rPr lang="ko-KR" altLang="en-US" sz="1400" dirty="0"/>
              <a:t>메시지를 보냅니다</a:t>
            </a:r>
            <a:r>
              <a:rPr lang="en-US" altLang="ko-KR" sz="1400" dirty="0"/>
              <a:t>."</a:t>
            </a:r>
            <a:r>
              <a:rPr lang="ko-KR" altLang="en-US" sz="1400" dirty="0"/>
              <a:t>가 실행될 </a:t>
            </a:r>
            <a:r>
              <a:rPr lang="ko-KR" altLang="en-US" sz="1400" dirty="0" err="1"/>
              <a:t>리스너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btn.touch</a:t>
            </a:r>
            <a:r>
              <a:rPr lang="en-US" altLang="ko-KR" sz="1400" dirty="0"/>
              <a:t>();  // </a:t>
            </a:r>
            <a:r>
              <a:rPr lang="ko-KR" altLang="en-US" sz="1400" dirty="0"/>
              <a:t>버튼 터치 </a:t>
            </a:r>
            <a:r>
              <a:rPr lang="en-US" altLang="ko-KR" sz="1400" dirty="0"/>
              <a:t>-&gt; "</a:t>
            </a:r>
            <a:r>
              <a:rPr lang="ko-KR" altLang="en-US" sz="1400" dirty="0"/>
              <a:t>메시지를 보냅니다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14FB52-96C1-6062-BA02-EB91B7F3C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020" y="2879582"/>
            <a:ext cx="2840384" cy="109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72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E8F8C-3393-4745-88EB-A59018A1D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1E322-7F9C-D0E6-499F-55565C2C3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익명 객체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클래스를 선언할 때 일반적으로 클래스 이름과 동일한 소스 파일을 생성하고 클래스를 선언한다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한번 선언해놓고 여러 곳에서 객체를 만들어 사용하고 싶을 때 간단히 클래스 이름으로 생성자를 호출할 수 있기 때문이다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그런데 클래스 이름이 없는 객체도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이것을 익명 객체라고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익명 객체를 만들려면 조건이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어떤 클래스를 상속하거나 인터페이스를 구현해야만 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익명 자식 객체 생성</a:t>
            </a: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dirty="0"/>
              <a:t>부모 클래스 변수 </a:t>
            </a:r>
            <a:r>
              <a:rPr lang="en-US" altLang="ko-KR" sz="1400" dirty="0"/>
              <a:t>= new </a:t>
            </a:r>
            <a:r>
              <a:rPr lang="ko-KR" altLang="en-US" sz="1400" dirty="0"/>
              <a:t>부모 클래스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매개값</a:t>
            </a:r>
            <a:r>
              <a:rPr lang="en-US" altLang="ko-KR" sz="1400" dirty="0"/>
              <a:t>, ...){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부모 클래스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매개값</a:t>
            </a:r>
            <a:r>
              <a:rPr lang="en-US" altLang="ko-KR" sz="1400" dirty="0"/>
              <a:t>, ...){...}</a:t>
            </a:r>
            <a:r>
              <a:rPr lang="ko-KR" altLang="en-US" sz="1400" dirty="0"/>
              <a:t>은 부모 클래스를 상속해서 중괄호</a:t>
            </a:r>
            <a:r>
              <a:rPr lang="en-US" altLang="ko-KR" sz="1400" dirty="0"/>
              <a:t>{}</a:t>
            </a:r>
            <a:r>
              <a:rPr lang="ko-KR" altLang="en-US" sz="1400" dirty="0"/>
              <a:t>와 같이 자식 클래스를 선언하라는 뜻이다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부모 클래스</a:t>
            </a:r>
            <a:r>
              <a:rPr lang="en-US" altLang="ko-KR" sz="1400" dirty="0"/>
              <a:t>(</a:t>
            </a:r>
            <a:r>
              <a:rPr lang="ko-KR" altLang="en-US" sz="1400" dirty="0" err="1"/>
              <a:t>매개값</a:t>
            </a:r>
            <a:r>
              <a:rPr lang="en-US" altLang="ko-KR" sz="1400" dirty="0"/>
              <a:t>, ...)</a:t>
            </a:r>
            <a:r>
              <a:rPr lang="ko-KR" altLang="en-US" sz="1400" dirty="0"/>
              <a:t>은 부모 생성자를 호출하는 코드로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매개값은</a:t>
            </a:r>
            <a:r>
              <a:rPr lang="ko-KR" altLang="en-US" sz="1400" dirty="0"/>
              <a:t> 부모 생성자의 매개 변수에 맞게 입력하면 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ko-KR" altLang="en-US" sz="1400" dirty="0"/>
              <a:t>중괄호 내부는 필드나 메소드를 선언하거나 부모 클래스의 메소드를 재정의하는 내용을 작성한다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544673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DA93-BAD3-37D3-2A1E-B8F59AE9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9CD8CF-9B0D-0316-2180-9821AD1D9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필드를 선언할 때 초기값으로 익명 자식 객체를 생성해서 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class A {</a:t>
            </a:r>
          </a:p>
          <a:p>
            <a:pPr marL="0" indent="0">
              <a:buNone/>
            </a:pPr>
            <a:r>
              <a:rPr lang="en-US" altLang="ko-KR" sz="1400" dirty="0"/>
              <a:t>    // Parent </a:t>
            </a:r>
            <a:r>
              <a:rPr lang="ko-KR" altLang="en-US" sz="1400" dirty="0"/>
              <a:t>클래스의 익명 클래스를 사용하여 </a:t>
            </a:r>
            <a:r>
              <a:rPr lang="en-US" altLang="ko-KR" sz="1400" dirty="0"/>
              <a:t>field</a:t>
            </a:r>
            <a:r>
              <a:rPr lang="ko-KR" altLang="en-US" sz="1400" dirty="0"/>
              <a:t>를 초기화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Parent field = new Parent()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자식 클래스에서 정의한 새로운 필드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childField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자식 클래스에서 정의한 새로운 메서드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childMethod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childMethod</a:t>
            </a:r>
            <a:r>
              <a:rPr lang="en-US" altLang="ko-KR" sz="1400" dirty="0"/>
              <a:t> called");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부모 클래스의 </a:t>
            </a:r>
            <a:r>
              <a:rPr lang="en-US" altLang="ko-KR" sz="1400" dirty="0" err="1"/>
              <a:t>parentMethod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void </a:t>
            </a:r>
            <a:r>
              <a:rPr lang="en-US" altLang="ko-KR" sz="1400" dirty="0" err="1"/>
              <a:t>parentMethod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parentMethod</a:t>
            </a:r>
            <a:r>
              <a:rPr lang="en-US" altLang="ko-KR" sz="1400" dirty="0"/>
              <a:t> overridden in anonymous class");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5070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9AB12-20E9-0819-A64E-59AFA080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D3B8F-8462-5FC4-AAD5-8CEE9555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메소드 내에서 로컬 변수를 선언할 때 초기값으로 익명 자식 객체를 생성해서 대입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 {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method() {</a:t>
            </a:r>
          </a:p>
          <a:p>
            <a:pPr marL="0" indent="0">
              <a:buNone/>
            </a:pPr>
            <a:r>
              <a:rPr lang="en-US" altLang="ko-KR" sz="1400" dirty="0"/>
              <a:t>        // Parent </a:t>
            </a:r>
            <a:r>
              <a:rPr lang="ko-KR" altLang="en-US" sz="1400" dirty="0"/>
              <a:t>클래스를 상속받은 익명 클래스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Parent </a:t>
            </a:r>
            <a:r>
              <a:rPr lang="en-US" altLang="ko-KR" sz="1400" dirty="0" err="1"/>
              <a:t>localVar</a:t>
            </a:r>
            <a:r>
              <a:rPr lang="en-US" altLang="ko-KR" sz="1400" dirty="0"/>
              <a:t> = new Parent()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익명 클래스에서 새로 정의한 필드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childField</a:t>
            </a:r>
            <a:r>
              <a:rPr lang="en-US" altLang="ko-KR" sz="1400" dirty="0"/>
              <a:t>;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익명 클래스에서 새로 정의한 메서드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childMethod</a:t>
            </a:r>
            <a:r>
              <a:rPr lang="en-US" altLang="ko-KR" sz="1400" dirty="0"/>
              <a:t>() {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// Parent </a:t>
            </a:r>
            <a:r>
              <a:rPr lang="ko-KR" altLang="en-US" sz="1400" dirty="0"/>
              <a:t>클래스의 </a:t>
            </a:r>
            <a:r>
              <a:rPr lang="en-US" altLang="ko-KR" sz="1400" dirty="0" err="1"/>
              <a:t>parentMethod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    void </a:t>
            </a:r>
            <a:r>
              <a:rPr lang="en-US" altLang="ko-KR" sz="1400" dirty="0" err="1"/>
              <a:t>parentMethod</a:t>
            </a:r>
            <a:r>
              <a:rPr lang="en-US" altLang="ko-KR" sz="1400" dirty="0"/>
              <a:t>() { }</a:t>
            </a:r>
          </a:p>
          <a:p>
            <a:pPr marL="0" indent="0">
              <a:buNone/>
            </a:pPr>
            <a:r>
              <a:rPr lang="en-US" altLang="ko-KR" sz="1400" dirty="0"/>
              <a:t>        };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9185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3E87-9941-A9CD-A7EE-B3EC5544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8DAB7-53F3-21FE-044C-9D8A4AEC9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메소드의 매개 변수가 부모 타입을 경우 메소드를 호출하는 코드에서 익명 자식 객체를 생성해서 매개 값으로 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 {</a:t>
            </a:r>
          </a:p>
          <a:p>
            <a:pPr marL="0" indent="0">
              <a:buNone/>
            </a:pPr>
            <a:r>
              <a:rPr lang="en-US" altLang="ko-KR" sz="1400" dirty="0"/>
              <a:t>    // Parent </a:t>
            </a:r>
            <a:r>
              <a:rPr lang="ko-KR" altLang="en-US" sz="1400" dirty="0"/>
              <a:t>타입의 객체를 인자로 받는 </a:t>
            </a:r>
            <a:r>
              <a:rPr lang="en-US" altLang="ko-KR" sz="1400" dirty="0"/>
              <a:t>method1</a:t>
            </a:r>
          </a:p>
          <a:p>
            <a:pPr marL="0" indent="0">
              <a:buNone/>
            </a:pPr>
            <a:r>
              <a:rPr lang="en-US" altLang="ko-KR" sz="1400" dirty="0"/>
              <a:t>    void method1(Parent parent) {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method2() {</a:t>
            </a:r>
          </a:p>
          <a:p>
            <a:pPr marL="0" indent="0">
              <a:buNone/>
            </a:pPr>
            <a:r>
              <a:rPr lang="en-US" altLang="ko-KR" sz="1400" dirty="0"/>
              <a:t>        // method1 </a:t>
            </a:r>
            <a:r>
              <a:rPr lang="ko-KR" altLang="en-US" sz="1400" dirty="0"/>
              <a:t>호출 시</a:t>
            </a:r>
            <a:r>
              <a:rPr lang="en-US" altLang="ko-KR" sz="1400" dirty="0"/>
              <a:t>, </a:t>
            </a:r>
            <a:r>
              <a:rPr lang="ko-KR" altLang="en-US" sz="1400" dirty="0"/>
              <a:t>익명 클래스를 인자로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method1(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익명 클래스 생성 및 </a:t>
            </a:r>
            <a:r>
              <a:rPr lang="en-US" altLang="ko-KR" sz="1400" dirty="0"/>
              <a:t>Parent </a:t>
            </a:r>
            <a:r>
              <a:rPr lang="ko-KR" altLang="en-US" sz="1400" dirty="0"/>
              <a:t>객체 전달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new Parent() {</a:t>
            </a:r>
          </a:p>
          <a:p>
            <a:pPr marL="0" indent="0">
              <a:buNone/>
            </a:pPr>
            <a:r>
              <a:rPr lang="en-US" altLang="ko-KR" sz="1400" dirty="0"/>
              <a:t>                int </a:t>
            </a:r>
            <a:r>
              <a:rPr lang="en-US" altLang="ko-KR" sz="1400" dirty="0" err="1"/>
              <a:t>childField</a:t>
            </a:r>
            <a:r>
              <a:rPr lang="en-US" altLang="ko-KR" sz="1400" dirty="0"/>
              <a:t>;  // </a:t>
            </a:r>
            <a:r>
              <a:rPr lang="ko-KR" altLang="en-US" sz="1400" dirty="0"/>
              <a:t>익명 클래스에서 정의한 필드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childMethod</a:t>
            </a:r>
            <a:r>
              <a:rPr lang="en-US" altLang="ko-KR" sz="1400" dirty="0"/>
              <a:t>() { }  // </a:t>
            </a:r>
            <a:r>
              <a:rPr lang="ko-KR" altLang="en-US" sz="1400" dirty="0"/>
              <a:t>익명 클래스에서 정의한 메서드</a:t>
            </a:r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        void </a:t>
            </a:r>
            <a:r>
              <a:rPr lang="en-US" altLang="ko-KR" sz="1400" dirty="0" err="1"/>
              <a:t>parentMethod</a:t>
            </a:r>
            <a:r>
              <a:rPr lang="en-US" altLang="ko-KR" sz="1400" dirty="0"/>
              <a:t>() { }  // Parent </a:t>
            </a:r>
            <a:r>
              <a:rPr lang="ko-KR" altLang="en-US" sz="1400" dirty="0"/>
              <a:t>클래스의 </a:t>
            </a:r>
            <a:r>
              <a:rPr lang="en-US" altLang="ko-KR" sz="1400" dirty="0" err="1"/>
              <a:t>parentMethod</a:t>
            </a:r>
            <a:r>
              <a:rPr lang="en-US" altLang="ko-KR" sz="1400" dirty="0"/>
              <a:t>()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4282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504D5-F27F-4E00-B941-D6C8467F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0EFF55-F0E2-5BEE-CC70-B52D20A1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Person {</a:t>
            </a:r>
          </a:p>
          <a:p>
            <a:pPr marL="0" indent="0">
              <a:buNone/>
            </a:pPr>
            <a:r>
              <a:rPr lang="en-US" altLang="ko-KR" sz="1400" dirty="0"/>
              <a:t>	void wake() {</a:t>
            </a:r>
          </a:p>
          <a:p>
            <a:pPr marL="0" indent="0">
              <a:buNone/>
            </a:pPr>
            <a:r>
              <a:rPr lang="en-US" altLang="ko-KR" sz="1400" dirty="0"/>
              <a:t>		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("7</a:t>
            </a:r>
            <a:r>
              <a:rPr lang="ko-KR" altLang="en-US" sz="1400" dirty="0"/>
              <a:t>시에 일어납니다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	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Anonymous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 초기값으로 대입</a:t>
            </a:r>
            <a:r>
              <a:rPr lang="en-US" altLang="ko-KR" sz="1400" dirty="0"/>
              <a:t>: Person </a:t>
            </a:r>
            <a:r>
              <a:rPr lang="ko-KR" altLang="en-US" sz="1400" dirty="0"/>
              <a:t>클래스를 상속받은 익명 클래스 정의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Person field = new Person()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익명 클래스에서 새로 정의한 메서드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void work()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출근합니다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부모 클래스의 </a:t>
            </a:r>
            <a:r>
              <a:rPr lang="en-US" altLang="ko-KR" sz="1400" dirty="0"/>
              <a:t>wake() </a:t>
            </a:r>
            <a:r>
              <a:rPr lang="ko-KR" altLang="en-US" sz="1400" dirty="0"/>
              <a:t>메서드를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void wake()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("6</a:t>
            </a:r>
            <a:r>
              <a:rPr lang="ko-KR" altLang="en-US" sz="1400" dirty="0"/>
              <a:t>시에 일어납니다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work();  // wake()</a:t>
            </a:r>
            <a:r>
              <a:rPr lang="ko-KR" altLang="en-US" sz="1400" dirty="0"/>
              <a:t>가 호출되면 </a:t>
            </a:r>
            <a:r>
              <a:rPr lang="en-US" altLang="ko-KR" sz="1400" dirty="0"/>
              <a:t>work() </a:t>
            </a:r>
            <a:r>
              <a:rPr lang="ko-KR" altLang="en-US" sz="1400" dirty="0"/>
              <a:t>메서드도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};</a:t>
            </a:r>
          </a:p>
          <a:p>
            <a:pPr marL="0" indent="0">
              <a:buNone/>
            </a:pPr>
            <a:r>
              <a:rPr lang="en-US" altLang="ko-KR" sz="1400" dirty="0"/>
              <a:t> </a:t>
            </a:r>
            <a:r>
              <a:rPr lang="ko-KR" altLang="en-US" sz="1400" dirty="0"/>
              <a:t> </a:t>
            </a:r>
            <a:r>
              <a:rPr lang="en-US" altLang="ko-KR" sz="1400" dirty="0"/>
              <a:t>void method1()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 err="1"/>
              <a:t>로컬변수값으로</a:t>
            </a:r>
            <a:r>
              <a:rPr lang="ko-KR" altLang="en-US" sz="1400" dirty="0"/>
              <a:t> 대입</a:t>
            </a:r>
            <a:r>
              <a:rPr lang="en-US" altLang="ko-KR" sz="1400" dirty="0"/>
              <a:t>: Person </a:t>
            </a:r>
            <a:r>
              <a:rPr lang="ko-KR" altLang="en-US" sz="1400" dirty="0"/>
              <a:t>클래스를 상속받은 익명 클래스 정의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Person </a:t>
            </a:r>
            <a:r>
              <a:rPr lang="en-US" altLang="ko-KR" sz="1400" dirty="0" err="1"/>
              <a:t>localVar</a:t>
            </a:r>
            <a:r>
              <a:rPr lang="en-US" altLang="ko-KR" sz="1400" dirty="0"/>
              <a:t> = new Person() {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ko-KR" altLang="en-US" sz="1400" dirty="0"/>
              <a:t>익명 클래스에서 새로 정의한 메서드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/>
              <a:t>void walk()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산책합니다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C0C35A-F799-24D1-C4A3-962BF83D7140}"/>
              </a:ext>
            </a:extLst>
          </p:cNvPr>
          <p:cNvSpPr txBox="1"/>
          <p:nvPr/>
        </p:nvSpPr>
        <p:spPr>
          <a:xfrm>
            <a:off x="5993394" y="1577668"/>
            <a:ext cx="583948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 </a:t>
            </a:r>
            <a:r>
              <a:rPr lang="en-US" altLang="ko-KR" sz="1400" dirty="0"/>
              <a:t>// </a:t>
            </a:r>
            <a:r>
              <a:rPr lang="ko-KR" altLang="en-US" sz="1400" dirty="0"/>
              <a:t>부모 클래스의 </a:t>
            </a:r>
            <a:r>
              <a:rPr lang="en-US" altLang="ko-KR" sz="1400" dirty="0"/>
              <a:t>wake() </a:t>
            </a:r>
            <a:r>
              <a:rPr lang="ko-KR" altLang="en-US" sz="1400" dirty="0"/>
              <a:t>메서드를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@Override</a:t>
            </a:r>
          </a:p>
          <a:p>
            <a:r>
              <a:rPr lang="en-US" altLang="ko-KR" sz="1400" dirty="0"/>
              <a:t>            void wake() {</a:t>
            </a:r>
          </a:p>
          <a:p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("7</a:t>
            </a:r>
            <a:r>
              <a:rPr lang="ko-KR" altLang="en-US" sz="1400" dirty="0"/>
              <a:t>시에 일어납니다</a:t>
            </a:r>
            <a:r>
              <a:rPr lang="en-US" altLang="ko-KR" sz="1400" dirty="0"/>
              <a:t>.");</a:t>
            </a:r>
          </a:p>
          <a:p>
            <a:r>
              <a:rPr lang="en-US" altLang="ko-KR" sz="1400" dirty="0"/>
              <a:t>                walk();  // wake()</a:t>
            </a:r>
            <a:r>
              <a:rPr lang="ko-KR" altLang="en-US" sz="1400" dirty="0"/>
              <a:t>가 호출되면 </a:t>
            </a:r>
            <a:r>
              <a:rPr lang="en-US" altLang="ko-KR" sz="1400" dirty="0"/>
              <a:t>walk() </a:t>
            </a:r>
            <a:r>
              <a:rPr lang="ko-KR" altLang="en-US" sz="1400" dirty="0"/>
              <a:t>메서드도 호출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}</a:t>
            </a:r>
          </a:p>
          <a:p>
            <a:r>
              <a:rPr lang="en-US" altLang="ko-KR" sz="1400" dirty="0"/>
              <a:t>        };</a:t>
            </a:r>
          </a:p>
          <a:p>
            <a:r>
              <a:rPr lang="en-US" altLang="ko-KR" sz="1400" dirty="0"/>
              <a:t>        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로컬변수 사용</a:t>
            </a:r>
            <a:r>
              <a:rPr lang="en-US" altLang="ko-KR" sz="1400" dirty="0"/>
              <a:t>: wake() </a:t>
            </a:r>
            <a:r>
              <a:rPr lang="ko-KR" altLang="en-US" sz="1400" dirty="0"/>
              <a:t>메서드 호출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localVar.wake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</a:t>
            </a:r>
          </a:p>
          <a:p>
            <a:r>
              <a:rPr lang="en-US" altLang="ko-KR" sz="1400" dirty="0"/>
              <a:t>    // </a:t>
            </a:r>
            <a:r>
              <a:rPr lang="ko-KR" altLang="en-US" sz="1400" dirty="0"/>
              <a:t>매개변수로 </a:t>
            </a:r>
            <a:r>
              <a:rPr lang="en-US" altLang="ko-KR" sz="1400" dirty="0"/>
              <a:t>Person </a:t>
            </a:r>
            <a:r>
              <a:rPr lang="ko-KR" altLang="en-US" sz="1400" dirty="0"/>
              <a:t>객체를 받아 </a:t>
            </a:r>
            <a:r>
              <a:rPr lang="en-US" altLang="ko-KR" sz="1400" dirty="0"/>
              <a:t>wake() </a:t>
            </a:r>
            <a:r>
              <a:rPr lang="ko-KR" altLang="en-US" sz="1400" dirty="0"/>
              <a:t>메서드를 호출</a:t>
            </a:r>
          </a:p>
          <a:p>
            <a:r>
              <a:rPr lang="ko-KR" altLang="en-US" sz="1400" dirty="0"/>
              <a:t>    </a:t>
            </a:r>
            <a:r>
              <a:rPr lang="en-US" altLang="ko-KR" sz="1400" dirty="0"/>
              <a:t>void method2(Person person) {</a:t>
            </a:r>
          </a:p>
          <a:p>
            <a:r>
              <a:rPr lang="en-US" altLang="ko-KR" sz="1400" dirty="0"/>
              <a:t>        </a:t>
            </a:r>
            <a:r>
              <a:rPr lang="en-US" altLang="ko-KR" sz="1400" dirty="0" err="1"/>
              <a:t>person.wake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64603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7031-66D6-E2B7-B328-71E2A47AF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4295F-5467-4179-4890-4D5CF23F1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AnonymousExample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Anonymous </a:t>
            </a:r>
            <a:r>
              <a:rPr lang="ko-KR" altLang="en-US" sz="1400" dirty="0"/>
              <a:t>클래스의 인스턴스를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Anonymous </a:t>
            </a:r>
            <a:r>
              <a:rPr lang="en-US" altLang="ko-KR" sz="1400" dirty="0" err="1"/>
              <a:t>anony</a:t>
            </a:r>
            <a:r>
              <a:rPr lang="en-US" altLang="ko-KR" sz="1400" dirty="0"/>
              <a:t> = new Anonymous();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익명 객체 필드 사용</a:t>
            </a:r>
            <a:r>
              <a:rPr lang="en-US" altLang="ko-KR" sz="1400" dirty="0"/>
              <a:t>: field</a:t>
            </a:r>
            <a:r>
              <a:rPr lang="ko-KR" altLang="en-US" sz="1400" dirty="0"/>
              <a:t>에 정의된 익명 객체의 </a:t>
            </a:r>
            <a:r>
              <a:rPr lang="en-US" altLang="ko-KR" sz="1400" dirty="0"/>
              <a:t>wake() </a:t>
            </a:r>
            <a:r>
              <a:rPr lang="ko-KR" altLang="en-US" sz="1400" dirty="0"/>
              <a:t>메서드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anony.field.wake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익명 객체 로컬변수 사용</a:t>
            </a:r>
            <a:r>
              <a:rPr lang="en-US" altLang="ko-KR" sz="1400" dirty="0"/>
              <a:t>: method1</a:t>
            </a:r>
            <a:r>
              <a:rPr lang="ko-KR" altLang="en-US" sz="1400" dirty="0"/>
              <a:t>에서 정의된 익명 객체의 </a:t>
            </a:r>
            <a:r>
              <a:rPr lang="en-US" altLang="ko-KR" sz="1400" dirty="0"/>
              <a:t>wake() </a:t>
            </a:r>
            <a:r>
              <a:rPr lang="ko-KR" altLang="en-US" sz="1400" dirty="0"/>
              <a:t>메서드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anony.method1();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익명 객체 </a:t>
            </a:r>
            <a:r>
              <a:rPr lang="ko-KR" altLang="en-US" sz="1400" dirty="0" err="1"/>
              <a:t>매개값</a:t>
            </a:r>
            <a:r>
              <a:rPr lang="ko-KR" altLang="en-US" sz="1400" dirty="0"/>
              <a:t> 사용</a:t>
            </a:r>
            <a:r>
              <a:rPr lang="en-US" altLang="ko-KR" sz="1400" dirty="0"/>
              <a:t>: method2</a:t>
            </a:r>
            <a:r>
              <a:rPr lang="ko-KR" altLang="en-US" sz="1400" dirty="0"/>
              <a:t>에 익명 객체를 인자로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anony.method2(</a:t>
            </a:r>
          </a:p>
          <a:p>
            <a:pPr marL="0" indent="0">
              <a:buNone/>
            </a:pPr>
            <a:r>
              <a:rPr lang="en-US" altLang="ko-KR" sz="1400" dirty="0"/>
              <a:t>            new Person() {</a:t>
            </a:r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익명 클래스에서 새로 정의한 메서드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void study() {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공부합니다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부모 클래스의 </a:t>
            </a:r>
            <a:r>
              <a:rPr lang="en-US" altLang="ko-KR" sz="1400" dirty="0"/>
              <a:t>wake() </a:t>
            </a:r>
            <a:r>
              <a:rPr lang="ko-KR" altLang="en-US" sz="1400" dirty="0"/>
              <a:t>메서드를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        void wake() {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("8</a:t>
            </a:r>
            <a:r>
              <a:rPr lang="ko-KR" altLang="en-US" sz="1400" dirty="0"/>
              <a:t>시에 일어납니다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    study();  // wake()</a:t>
            </a:r>
            <a:r>
              <a:rPr lang="ko-KR" altLang="en-US" sz="1400" dirty="0"/>
              <a:t>가 호출되면 </a:t>
            </a:r>
            <a:r>
              <a:rPr lang="en-US" altLang="ko-KR" sz="1400" dirty="0"/>
              <a:t>study() </a:t>
            </a:r>
            <a:r>
              <a:rPr lang="ko-KR" altLang="en-US" sz="1400" dirty="0"/>
              <a:t>메서드도 호출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AAA969-A6A9-A7DC-3272-485DA1E70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60" y="2327009"/>
            <a:ext cx="2046555" cy="220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14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B9601-75E2-1D4E-702B-BC1EE43C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CBBED-6178-AA80-FC40-8A8206F7C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익명 구현 객체 생성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인터페이스 변수 </a:t>
            </a:r>
            <a:r>
              <a:rPr lang="en-US" altLang="ko-KR" sz="1400" dirty="0"/>
              <a:t>= new</a:t>
            </a:r>
            <a:r>
              <a:rPr lang="ko-KR" altLang="en-US" sz="1400" dirty="0"/>
              <a:t> 인터페이스</a:t>
            </a:r>
            <a:r>
              <a:rPr lang="en-US" altLang="ko-KR" sz="1400" dirty="0"/>
              <a:t>(){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인터페이스에 선언된 추상 메소드의 실체 메소드 선언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필드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// </a:t>
            </a:r>
            <a:r>
              <a:rPr lang="ko-KR" altLang="en-US" sz="1400" dirty="0"/>
              <a:t>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필드를 선언할 때 초기값으로 익명 구현 객체를 생성해서 대입하는 예시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인터페이스를 구현한 익명 클래스 필드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field = new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 </a:t>
            </a:r>
          </a:p>
          <a:p>
            <a:pPr marL="0" indent="0">
              <a:buNone/>
            </a:pPr>
            <a:r>
              <a:rPr lang="en-US" altLang="ko-KR" sz="1400" dirty="0"/>
              <a:t>            //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 </a:t>
            </a:r>
            <a:r>
              <a:rPr lang="ko-KR" altLang="en-US" sz="1400" dirty="0"/>
              <a:t>메서드의 내용은 비어 있음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69673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FA44E-0F85-EBC9-F0AF-4094DDA6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8686D0-DE67-C397-92D1-874F4363B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 err="1"/>
              <a:t>매소드</a:t>
            </a:r>
            <a:r>
              <a:rPr lang="ko-KR" altLang="en-US" sz="1400" b="1" dirty="0"/>
              <a:t> 내에서 로컬 변수를 선언할 때 초기값으로 익명 구현 객체를 생성해서 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void method()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인터페이스를 구현한 익명 클래스 로컬 변수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localVar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 </a:t>
            </a:r>
          </a:p>
          <a:p>
            <a:pPr marL="0" indent="0">
              <a:buNone/>
            </a:pPr>
            <a:r>
              <a:rPr lang="en-US" altLang="ko-KR" sz="1400" dirty="0"/>
              <a:t> 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};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68000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F7E7-A45B-3256-EF24-0B36476E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CC53B-CB3C-D07E-BD22-9F0BB0B7D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메소드의 매개 변수가 인터페이스 타입일 경우 메소드를 호출하는 코드에서 익명 구현 객체를 생성해서 </a:t>
            </a:r>
            <a:r>
              <a:rPr lang="ko-KR" altLang="en-US" sz="1400" b="1" dirty="0" err="1"/>
              <a:t>매개값으로</a:t>
            </a:r>
            <a:r>
              <a:rPr lang="ko-KR" altLang="en-US" sz="1400" b="1" dirty="0"/>
              <a:t> 대입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class A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타입을 매개변수로 받는 </a:t>
            </a:r>
            <a:r>
              <a:rPr lang="en-US" altLang="ko-KR" sz="1400" dirty="0"/>
              <a:t>method1</a:t>
            </a:r>
          </a:p>
          <a:p>
            <a:pPr marL="0" indent="0">
              <a:buNone/>
            </a:pPr>
            <a:r>
              <a:rPr lang="en-US" altLang="ko-KR" sz="1400" dirty="0"/>
              <a:t>    void method1(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void method2()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익명 클래스를 생성하여 </a:t>
            </a:r>
            <a:r>
              <a:rPr lang="en-US" altLang="ko-KR" sz="1400" dirty="0"/>
              <a:t>method1</a:t>
            </a:r>
            <a:r>
              <a:rPr lang="ko-KR" altLang="en-US" sz="1400" dirty="0"/>
              <a:t>에 인자로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method1(</a:t>
            </a:r>
          </a:p>
          <a:p>
            <a:pPr marL="0" indent="0">
              <a:buNone/>
            </a:pPr>
            <a:r>
              <a:rPr lang="en-US" altLang="ko-KR" sz="1400" dirty="0"/>
              <a:t>            new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메서드를 </a:t>
            </a:r>
            <a:r>
              <a:rPr lang="ko-KR" altLang="en-US" sz="1400" dirty="0" err="1"/>
              <a:t>오버라이드</a:t>
            </a: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       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 </a:t>
            </a:r>
          </a:p>
          <a:p>
            <a:pPr marL="0" indent="0">
              <a:buNone/>
            </a:pPr>
            <a:r>
              <a:rPr lang="en-US" altLang="ko-KR" sz="1400" dirty="0"/>
              <a:t>                    //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 </a:t>
            </a:r>
            <a:r>
              <a:rPr lang="ko-KR" altLang="en-US" sz="1400" dirty="0"/>
              <a:t>메서드 내용은 비어 있음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 err="1"/>
          </a:p>
        </p:txBody>
      </p:sp>
    </p:spTree>
    <p:extLst>
      <p:ext uri="{BB962C8B-B14F-4D97-AF65-F5344CB8AC3E}">
        <p14:creationId xmlns:p14="http://schemas.microsoft.com/office/powerpoint/2010/main" val="1714318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0F3FF-899D-F078-83F3-B5B4121C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4E815A-13F1-1D11-C31F-8C3E59B91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public interface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	public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	public 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Anonymous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 초기값으로 대입</a:t>
            </a:r>
            <a:r>
              <a:rPr lang="en-US" altLang="ko-KR" sz="1400" dirty="0"/>
              <a:t>: </a:t>
            </a:r>
          </a:p>
          <a:p>
            <a:pPr marL="0" indent="0">
              <a:buNone/>
            </a:pPr>
            <a:r>
              <a:rPr lang="en-US" altLang="ko-KR" sz="1400" dirty="0"/>
              <a:t>    //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인터페이스를 구현한 익명 클래스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field = new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</a:t>
            </a:r>
            <a:r>
              <a:rPr lang="ko-KR" altLang="en-US" sz="1400" dirty="0" err="1"/>
              <a:t>오버라이드</a:t>
            </a:r>
            <a:r>
              <a:rPr lang="en-US" altLang="ko-KR" sz="1400" dirty="0"/>
              <a:t>: TV</a:t>
            </a:r>
            <a:r>
              <a:rPr lang="ko-KR" altLang="en-US" sz="1400" dirty="0"/>
              <a:t>를 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public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("TV</a:t>
            </a:r>
            <a:r>
              <a:rPr lang="ko-KR" altLang="en-US" sz="1400" dirty="0"/>
              <a:t>를 켭니다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</a:t>
            </a:r>
            <a:r>
              <a:rPr lang="ko-KR" altLang="en-US" sz="1400" dirty="0" err="1"/>
              <a:t>오버라이드</a:t>
            </a:r>
            <a:r>
              <a:rPr lang="en-US" altLang="ko-KR" sz="1400" dirty="0"/>
              <a:t>: TV</a:t>
            </a:r>
            <a:r>
              <a:rPr lang="ko-KR" altLang="en-US" sz="1400" dirty="0"/>
              <a:t>를 끔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public 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("TV</a:t>
            </a:r>
            <a:r>
              <a:rPr lang="ko-KR" altLang="en-US" sz="1400" dirty="0"/>
              <a:t>를 끕니다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};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3116C1-8E46-4A08-A918-25E592423EE7}"/>
              </a:ext>
            </a:extLst>
          </p:cNvPr>
          <p:cNvSpPr txBox="1"/>
          <p:nvPr/>
        </p:nvSpPr>
        <p:spPr>
          <a:xfrm>
            <a:off x="5592024" y="1272777"/>
            <a:ext cx="659997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 void method1() {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 err="1"/>
              <a:t>로컬변수값으로</a:t>
            </a:r>
            <a:r>
              <a:rPr lang="ko-KR" altLang="en-US" sz="1400" dirty="0"/>
              <a:t> 대입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인터페이스를 구현한 익명 클래스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localVar</a:t>
            </a:r>
            <a:r>
              <a:rPr lang="en-US" altLang="ko-KR" sz="1400" dirty="0"/>
              <a:t> = new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() {</a:t>
            </a:r>
          </a:p>
          <a:p>
            <a:r>
              <a:rPr lang="en-US" altLang="ko-KR" sz="1400" dirty="0"/>
              <a:t>            //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</a:t>
            </a:r>
            <a:r>
              <a:rPr lang="ko-KR" altLang="en-US" sz="1400" dirty="0" err="1"/>
              <a:t>오버라이드</a:t>
            </a:r>
            <a:r>
              <a:rPr lang="en-US" altLang="ko-KR" sz="1400" dirty="0"/>
              <a:t>: Audio</a:t>
            </a:r>
            <a:r>
              <a:rPr lang="ko-KR" altLang="en-US" sz="1400" dirty="0"/>
              <a:t>를 켬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@Override</a:t>
            </a:r>
          </a:p>
          <a:p>
            <a:r>
              <a:rPr lang="en-US" altLang="ko-KR" sz="1400" dirty="0"/>
              <a:t>            public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</a:t>
            </a:r>
          </a:p>
          <a:p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("Audio</a:t>
            </a:r>
            <a:r>
              <a:rPr lang="ko-KR" altLang="en-US" sz="1400" dirty="0"/>
              <a:t>를 켭니다</a:t>
            </a:r>
            <a:r>
              <a:rPr lang="en-US" altLang="ko-KR" sz="1400" dirty="0"/>
              <a:t>.");</a:t>
            </a:r>
          </a:p>
          <a:p>
            <a:r>
              <a:rPr lang="en-US" altLang="ko-KR" sz="1400" dirty="0"/>
              <a:t>            }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    //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</a:t>
            </a:r>
            <a:r>
              <a:rPr lang="ko-KR" altLang="en-US" sz="1400" dirty="0" err="1"/>
              <a:t>오버라이드</a:t>
            </a:r>
            <a:r>
              <a:rPr lang="en-US" altLang="ko-KR" sz="1400" dirty="0"/>
              <a:t>: Audio</a:t>
            </a:r>
            <a:r>
              <a:rPr lang="ko-KR" altLang="en-US" sz="1400" dirty="0"/>
              <a:t>를 끔</a:t>
            </a:r>
          </a:p>
          <a:p>
            <a:r>
              <a:rPr lang="ko-KR" altLang="en-US" sz="1400" dirty="0"/>
              <a:t>            </a:t>
            </a:r>
            <a:r>
              <a:rPr lang="en-US" altLang="ko-KR" sz="1400" dirty="0"/>
              <a:t>@Override</a:t>
            </a:r>
          </a:p>
          <a:p>
            <a:r>
              <a:rPr lang="en-US" altLang="ko-KR" sz="1400" dirty="0"/>
              <a:t>            public 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{</a:t>
            </a:r>
          </a:p>
          <a:p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("Audio</a:t>
            </a:r>
            <a:r>
              <a:rPr lang="ko-KR" altLang="en-US" sz="1400" dirty="0"/>
              <a:t>를 끕니다</a:t>
            </a:r>
            <a:r>
              <a:rPr lang="en-US" altLang="ko-KR" sz="1400" dirty="0"/>
              <a:t>.");</a:t>
            </a:r>
          </a:p>
          <a:p>
            <a:r>
              <a:rPr lang="en-US" altLang="ko-KR" sz="1400" dirty="0"/>
              <a:t>            }</a:t>
            </a:r>
          </a:p>
          <a:p>
            <a:r>
              <a:rPr lang="en-US" altLang="ko-KR" sz="1400" dirty="0"/>
              <a:t>        };</a:t>
            </a:r>
          </a:p>
          <a:p>
            <a:r>
              <a:rPr lang="en-US" altLang="ko-KR" sz="1400" dirty="0"/>
              <a:t>        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로컬변수 사용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localVar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호출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localVar.turnOn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    </a:t>
            </a:r>
          </a:p>
          <a:p>
            <a:r>
              <a:rPr lang="en-US" altLang="ko-KR" sz="1400" dirty="0"/>
              <a:t>    void method2(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en-US" altLang="ko-KR" sz="1400" dirty="0" err="1"/>
              <a:t>rc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매개변수로 전달된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 </a:t>
            </a:r>
            <a:r>
              <a:rPr lang="ko-KR" altLang="en-US" sz="1400" dirty="0"/>
              <a:t>객체의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호출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 err="1"/>
              <a:t>rc.turnOn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31379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C57AC-542F-91E3-247D-8CC6EA5C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736239-675E-9B1C-2784-A2A146C54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AnonymousExample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Anonymous </a:t>
            </a:r>
            <a:r>
              <a:rPr lang="ko-KR" altLang="en-US" sz="1400" dirty="0"/>
              <a:t>클래스의 인스턴스를 생성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Anonymous </a:t>
            </a:r>
            <a:r>
              <a:rPr lang="en-US" altLang="ko-KR" sz="1400" dirty="0" err="1"/>
              <a:t>anony</a:t>
            </a:r>
            <a:r>
              <a:rPr lang="en-US" altLang="ko-KR" sz="1400" dirty="0"/>
              <a:t> = new Anonymous();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익명 객체 필드 사용</a:t>
            </a:r>
            <a:r>
              <a:rPr lang="en-US" altLang="ko-KR" sz="1400" dirty="0"/>
              <a:t>: field</a:t>
            </a:r>
            <a:r>
              <a:rPr lang="ko-KR" altLang="en-US" sz="1400" dirty="0"/>
              <a:t>에 정의된 익명 객체의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anony.field.turnOn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익명 객체 로컬변수 사용</a:t>
            </a:r>
            <a:r>
              <a:rPr lang="en-US" altLang="ko-KR" sz="1400" dirty="0"/>
              <a:t>: method1</a:t>
            </a:r>
            <a:r>
              <a:rPr lang="ko-KR" altLang="en-US" sz="1400" dirty="0"/>
              <a:t>에서 정의된 익명 객체의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호출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anony.method1();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익명 객체 </a:t>
            </a:r>
            <a:r>
              <a:rPr lang="ko-KR" altLang="en-US" sz="1400" dirty="0" err="1"/>
              <a:t>매개값</a:t>
            </a:r>
            <a:r>
              <a:rPr lang="ko-KR" altLang="en-US" sz="1400" dirty="0"/>
              <a:t> 사용</a:t>
            </a:r>
            <a:r>
              <a:rPr lang="en-US" altLang="ko-KR" sz="1400" dirty="0"/>
              <a:t>: method2</a:t>
            </a:r>
            <a:r>
              <a:rPr lang="ko-KR" altLang="en-US" sz="1400" dirty="0"/>
              <a:t>에 익명 객체를 인자로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anony.method2(</a:t>
            </a:r>
          </a:p>
          <a:p>
            <a:pPr marL="0" indent="0">
              <a:buNone/>
            </a:pPr>
            <a:r>
              <a:rPr lang="en-US" altLang="ko-KR" sz="1400" dirty="0"/>
              <a:t>            new </a:t>
            </a:r>
            <a:r>
              <a:rPr lang="en-US" altLang="ko-KR" sz="1400" dirty="0" err="1"/>
              <a:t>RemoteControl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익명 클래스에서 새로운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정의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        public void </a:t>
            </a:r>
            <a:r>
              <a:rPr lang="en-US" altLang="ko-KR" sz="1400" dirty="0" err="1"/>
              <a:t>turnOn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SmartTV</a:t>
            </a:r>
            <a:r>
              <a:rPr lang="ko-KR" altLang="en-US" sz="1400" dirty="0"/>
              <a:t>를 켭니다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        // </a:t>
            </a:r>
            <a:r>
              <a:rPr lang="ko-KR" altLang="en-US" sz="1400" dirty="0"/>
              <a:t>익명 클래스에서 새로운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</a:t>
            </a:r>
            <a:r>
              <a:rPr lang="ko-KR" altLang="en-US" sz="1400" dirty="0"/>
              <a:t>메서드 정의</a:t>
            </a:r>
          </a:p>
          <a:p>
            <a:pPr marL="0" indent="0">
              <a:buNone/>
            </a:pPr>
            <a:r>
              <a:rPr lang="ko-KR" altLang="en-US" sz="1400" dirty="0"/>
              <a:t>                </a:t>
            </a:r>
            <a:r>
              <a:rPr lang="en-US" altLang="ko-KR" sz="1400" dirty="0"/>
              <a:t>@Override</a:t>
            </a:r>
          </a:p>
          <a:p>
            <a:pPr marL="0" indent="0">
              <a:buNone/>
            </a:pPr>
            <a:r>
              <a:rPr lang="en-US" altLang="ko-KR" sz="1400" dirty="0"/>
              <a:t>                public void </a:t>
            </a:r>
            <a:r>
              <a:rPr lang="en-US" altLang="ko-KR" sz="1400" dirty="0" err="1"/>
              <a:t>turnOff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en-US" altLang="ko-KR" sz="1400" dirty="0" err="1"/>
              <a:t>SmartTV</a:t>
            </a:r>
            <a:r>
              <a:rPr lang="ko-KR" altLang="en-US" sz="1400" dirty="0"/>
              <a:t>를 끕니다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    }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F36C34-A89B-C3BE-BFAF-8E7F445D7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0466" y="2867119"/>
            <a:ext cx="1966582" cy="112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662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386BF-C6CD-6885-04B0-DE6E86CE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6B4361-E35B-8C46-8CB7-4D6EBBB92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윈도우 및 안드로이드 등의 </a:t>
            </a:r>
            <a:r>
              <a:rPr lang="en-US" altLang="ko-KR" sz="1400" b="1" dirty="0"/>
              <a:t>UI</a:t>
            </a:r>
            <a:r>
              <a:rPr lang="ko-KR" altLang="en-US" sz="1400" b="1" dirty="0"/>
              <a:t>프로그램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UI</a:t>
            </a:r>
            <a:r>
              <a:rPr lang="ko-KR" altLang="en-US" sz="1400" dirty="0"/>
              <a:t>란  </a:t>
            </a:r>
            <a:r>
              <a:rPr lang="en-US" altLang="ko-KR" sz="1400" dirty="0"/>
              <a:t>User Interface(</a:t>
            </a:r>
            <a:r>
              <a:rPr lang="ko-KR" altLang="en-US" sz="1400" dirty="0"/>
              <a:t>사용자 인터페이스</a:t>
            </a:r>
            <a:r>
              <a:rPr lang="en-US" altLang="ko-KR" sz="1400" dirty="0"/>
              <a:t>)</a:t>
            </a:r>
            <a:r>
              <a:rPr lang="ko-KR" altLang="en-US" sz="1400" dirty="0"/>
              <a:t>의 약자로</a:t>
            </a:r>
            <a:r>
              <a:rPr lang="en-US" altLang="ko-KR" sz="1400" dirty="0"/>
              <a:t>, </a:t>
            </a:r>
            <a:r>
              <a:rPr lang="ko-KR" altLang="en-US" sz="1400" dirty="0"/>
              <a:t>사용자가 컴퓨터</a:t>
            </a:r>
            <a:r>
              <a:rPr lang="en-US" altLang="ko-KR" sz="1400" dirty="0"/>
              <a:t>, </a:t>
            </a:r>
            <a:r>
              <a:rPr lang="ko-KR" altLang="en-US" sz="1400" dirty="0"/>
              <a:t>소프트웨어</a:t>
            </a:r>
            <a:r>
              <a:rPr lang="en-US" altLang="ko-KR" sz="1400" dirty="0"/>
              <a:t>, </a:t>
            </a:r>
            <a:r>
              <a:rPr lang="ko-KR" altLang="en-US" sz="1400" dirty="0"/>
              <a:t>웹사이트</a:t>
            </a:r>
            <a:r>
              <a:rPr lang="en-US" altLang="ko-KR" sz="1400" dirty="0"/>
              <a:t>, </a:t>
            </a:r>
            <a:r>
              <a:rPr lang="ko-KR" altLang="en-US" sz="1400" dirty="0"/>
              <a:t>또는 다른 디지털 시스템과 상호작용할 수 있게 해주는 모든 시각적 요소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Button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</a:t>
            </a:r>
            <a:r>
              <a:rPr lang="ko-KR" altLang="en-US" sz="1400" dirty="0"/>
              <a:t>타입의 </a:t>
            </a:r>
            <a:r>
              <a:rPr lang="en-US" altLang="ko-KR" sz="1400" dirty="0"/>
              <a:t>listener </a:t>
            </a:r>
            <a:r>
              <a:rPr lang="ko-KR" altLang="en-US" sz="1400" dirty="0"/>
              <a:t>필드 선언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listener;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setOnClickListener</a:t>
            </a:r>
            <a:r>
              <a:rPr lang="en-US" altLang="ko-KR" sz="1400" dirty="0"/>
              <a:t> </a:t>
            </a:r>
            <a:r>
              <a:rPr lang="ko-KR" altLang="en-US" sz="1400" dirty="0"/>
              <a:t>메서드</a:t>
            </a:r>
            <a:r>
              <a:rPr lang="en-US" altLang="ko-KR" sz="1400" dirty="0"/>
              <a:t>: </a:t>
            </a:r>
            <a:r>
              <a:rPr lang="ko-KR" altLang="en-US" sz="1400" dirty="0"/>
              <a:t>버튼의 클릭 </a:t>
            </a:r>
            <a:r>
              <a:rPr lang="ko-KR" altLang="en-US" sz="1400" dirty="0" err="1"/>
              <a:t>리스너를</a:t>
            </a:r>
            <a:r>
              <a:rPr lang="ko-KR" altLang="en-US" sz="1400" dirty="0"/>
              <a:t> 설정하는 메서드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setOnClickListener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listener)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this.listener</a:t>
            </a:r>
            <a:r>
              <a:rPr lang="en-US" altLang="ko-KR" sz="1400" dirty="0"/>
              <a:t> = listener;  // </a:t>
            </a:r>
            <a:r>
              <a:rPr lang="ko-KR" altLang="en-US" sz="1400" dirty="0"/>
              <a:t>전달된 </a:t>
            </a:r>
            <a:r>
              <a:rPr lang="ko-KR" altLang="en-US" sz="1400" dirty="0" err="1"/>
              <a:t>리스너를</a:t>
            </a:r>
            <a:r>
              <a:rPr lang="ko-KR" altLang="en-US" sz="1400" dirty="0"/>
              <a:t> 필드에 할당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touch </a:t>
            </a:r>
            <a:r>
              <a:rPr lang="ko-KR" altLang="en-US" sz="1400" dirty="0"/>
              <a:t>메서드</a:t>
            </a:r>
            <a:r>
              <a:rPr lang="en-US" altLang="ko-KR" sz="1400" dirty="0"/>
              <a:t>: </a:t>
            </a:r>
            <a:r>
              <a:rPr lang="ko-KR" altLang="en-US" sz="1400" dirty="0"/>
              <a:t>버튼이 눌렸을 때 호출되는 메서드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void touch() {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  <a:r>
              <a:rPr lang="en-US" altLang="ko-KR" sz="1400" dirty="0" err="1"/>
              <a:t>listener.onClick</a:t>
            </a:r>
            <a:r>
              <a:rPr lang="en-US" altLang="ko-KR" sz="1400" dirty="0"/>
              <a:t>();  // </a:t>
            </a:r>
            <a:r>
              <a:rPr lang="ko-KR" altLang="en-US" sz="1400" dirty="0"/>
              <a:t>설정된 </a:t>
            </a:r>
            <a:r>
              <a:rPr lang="ko-KR" altLang="en-US" sz="1400" dirty="0" err="1"/>
              <a:t>리스너의</a:t>
            </a:r>
            <a:r>
              <a:rPr lang="ko-KR" altLang="en-US" sz="1400" dirty="0"/>
              <a:t>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 </a:t>
            </a:r>
            <a:r>
              <a:rPr lang="ko-KR" altLang="en-US" sz="1400" dirty="0"/>
              <a:t>메서드를 호출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 정의</a:t>
            </a:r>
            <a:r>
              <a:rPr lang="en-US" altLang="ko-KR" sz="1400" dirty="0"/>
              <a:t>: </a:t>
            </a:r>
            <a:r>
              <a:rPr lang="ko-KR" altLang="en-US" sz="1400" dirty="0"/>
              <a:t>버튼 클릭 시 수행할 작업을 정의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static interface </a:t>
            </a:r>
            <a:r>
              <a:rPr lang="en-US" altLang="ko-KR" sz="1400" dirty="0" err="1"/>
              <a:t>OnClickListener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클릭 시 수행할 메서드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void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761056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24B71-826A-2DBF-9629-74F86304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03E957-C759-40F0-799B-F4E4AA9E8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1400" dirty="0"/>
              <a:t>public class Window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버튼 </a:t>
            </a:r>
            <a:r>
              <a:rPr lang="en-US" altLang="ko-KR" sz="1400" dirty="0"/>
              <a:t>1</a:t>
            </a:r>
            <a:r>
              <a:rPr lang="ko-KR" altLang="en-US" sz="1400" dirty="0"/>
              <a:t>과 버튼 </a:t>
            </a:r>
            <a:r>
              <a:rPr lang="en-US" altLang="ko-KR" sz="1400" dirty="0"/>
              <a:t>2 </a:t>
            </a:r>
            <a:r>
              <a:rPr lang="ko-KR" altLang="en-US" sz="1400" dirty="0"/>
              <a:t>객체 생성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Button button1 = new Button();</a:t>
            </a:r>
          </a:p>
          <a:p>
            <a:pPr marL="0" indent="0">
              <a:buNone/>
            </a:pPr>
            <a:r>
              <a:rPr lang="en-US" altLang="ko-KR" sz="1400" dirty="0"/>
              <a:t>    Button button2 = new Button();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필드 초기값으로 클릭 </a:t>
            </a:r>
            <a:r>
              <a:rPr lang="ko-KR" altLang="en-US" sz="1400" dirty="0" err="1"/>
              <a:t>리스너</a:t>
            </a:r>
            <a:r>
              <a:rPr lang="ko-KR" altLang="en-US" sz="1400" dirty="0"/>
              <a:t> 대입</a:t>
            </a:r>
            <a:r>
              <a:rPr lang="en-US" altLang="ko-KR" sz="1400" dirty="0"/>
              <a:t>: </a:t>
            </a:r>
            <a:r>
              <a:rPr lang="ko-KR" altLang="en-US" sz="1400" dirty="0"/>
              <a:t>버튼 클릭 시 </a:t>
            </a:r>
            <a:r>
              <a:rPr lang="en-US" altLang="ko-KR" sz="1400" dirty="0"/>
              <a:t>"</a:t>
            </a:r>
            <a:r>
              <a:rPr lang="ko-KR" altLang="en-US" sz="1400" dirty="0"/>
              <a:t>전화를 겁니다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Button.OnClickListener</a:t>
            </a:r>
            <a:r>
              <a:rPr lang="en-US" altLang="ko-KR" sz="1400" dirty="0"/>
              <a:t> listener = new </a:t>
            </a:r>
            <a:r>
              <a:rPr lang="en-US" altLang="ko-KR" sz="1400" dirty="0" err="1"/>
              <a:t>Button.OnClickListener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@Override</a:t>
            </a:r>
          </a:p>
          <a:p>
            <a:pPr marL="0" indent="0">
              <a:buNone/>
            </a:pPr>
            <a:r>
              <a:rPr lang="en-US" altLang="ko-KR" sz="1400" dirty="0"/>
              <a:t>        public void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전화를 겁니다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}</a:t>
            </a:r>
          </a:p>
          <a:p>
            <a:pPr marL="0" indent="0">
              <a:buNone/>
            </a:pPr>
            <a:r>
              <a:rPr lang="en-US" altLang="ko-KR" sz="1400" dirty="0"/>
              <a:t>    };</a:t>
            </a:r>
          </a:p>
          <a:p>
            <a:pPr marL="0" indent="0">
              <a:buNone/>
            </a:pPr>
            <a:r>
              <a:rPr lang="en-US" altLang="ko-KR" sz="1400" dirty="0"/>
              <a:t>    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생성자</a:t>
            </a:r>
            <a:r>
              <a:rPr lang="en-US" altLang="ko-KR" sz="1400" dirty="0"/>
              <a:t>: </a:t>
            </a:r>
            <a:r>
              <a:rPr lang="ko-KR" altLang="en-US" sz="1400" dirty="0"/>
              <a:t>버튼 </a:t>
            </a:r>
            <a:r>
              <a:rPr lang="en-US" altLang="ko-KR" sz="1400" dirty="0"/>
              <a:t>1</a:t>
            </a:r>
            <a:r>
              <a:rPr lang="ko-KR" altLang="en-US" sz="1400" dirty="0"/>
              <a:t>과 버튼 </a:t>
            </a:r>
            <a:r>
              <a:rPr lang="en-US" altLang="ko-KR" sz="1400" dirty="0"/>
              <a:t>2</a:t>
            </a:r>
            <a:r>
              <a:rPr lang="ko-KR" altLang="en-US" sz="1400" dirty="0"/>
              <a:t>에 클릭 </a:t>
            </a:r>
            <a:r>
              <a:rPr lang="ko-KR" altLang="en-US" sz="1400" dirty="0" err="1"/>
              <a:t>리스너를</a:t>
            </a:r>
            <a:r>
              <a:rPr lang="ko-KR" altLang="en-US" sz="1400" dirty="0"/>
              <a:t> 설정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Window()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버튼 </a:t>
            </a:r>
            <a:r>
              <a:rPr lang="en-US" altLang="ko-KR" sz="1400" dirty="0"/>
              <a:t>1</a:t>
            </a:r>
            <a:r>
              <a:rPr lang="ko-KR" altLang="en-US" sz="1400" dirty="0"/>
              <a:t>에 </a:t>
            </a:r>
            <a:r>
              <a:rPr lang="ko-KR" altLang="en-US" sz="1400" dirty="0" err="1"/>
              <a:t>리스너</a:t>
            </a:r>
            <a:r>
              <a:rPr lang="ko-KR" altLang="en-US" sz="1400" dirty="0"/>
              <a:t> 설정</a:t>
            </a:r>
            <a:r>
              <a:rPr lang="en-US" altLang="ko-KR" sz="1400" dirty="0"/>
              <a:t>: "</a:t>
            </a:r>
            <a:r>
              <a:rPr lang="ko-KR" altLang="en-US" sz="1400" dirty="0"/>
              <a:t>전화를 겁니다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button1.setOnClickListener(listener);</a:t>
            </a:r>
          </a:p>
          <a:p>
            <a:pPr marL="0" indent="0">
              <a:buNone/>
            </a:pPr>
            <a:r>
              <a:rPr lang="en-US" altLang="ko-KR" sz="1400" dirty="0"/>
              <a:t>        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버튼 </a:t>
            </a:r>
            <a:r>
              <a:rPr lang="en-US" altLang="ko-KR" sz="1400" dirty="0"/>
              <a:t>2</a:t>
            </a:r>
            <a:r>
              <a:rPr lang="ko-KR" altLang="en-US" sz="1400" dirty="0"/>
              <a:t>에 새로운 </a:t>
            </a:r>
            <a:r>
              <a:rPr lang="ko-KR" altLang="en-US" sz="1400" dirty="0" err="1"/>
              <a:t>리스너</a:t>
            </a:r>
            <a:r>
              <a:rPr lang="ko-KR" altLang="en-US" sz="1400" dirty="0"/>
              <a:t> 설정</a:t>
            </a:r>
            <a:r>
              <a:rPr lang="en-US" altLang="ko-KR" sz="1400" dirty="0"/>
              <a:t>: "</a:t>
            </a:r>
            <a:r>
              <a:rPr lang="ko-KR" altLang="en-US" sz="1400" dirty="0"/>
              <a:t>메시지를 보냅니다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button2.setOnClickListener(new </a:t>
            </a:r>
            <a:r>
              <a:rPr lang="en-US" altLang="ko-KR" sz="1400" dirty="0" err="1"/>
              <a:t>Button.OnClickListener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@Override</a:t>
            </a:r>
          </a:p>
          <a:p>
            <a:pPr marL="0" indent="0">
              <a:buNone/>
            </a:pPr>
            <a:r>
              <a:rPr lang="en-US" altLang="ko-KR" sz="1400" dirty="0"/>
              <a:t>            public void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() {</a:t>
            </a:r>
          </a:p>
          <a:p>
            <a:pPr marL="0" indent="0">
              <a:buNone/>
            </a:pPr>
            <a:r>
              <a:rPr lang="en-US" altLang="ko-KR" sz="1400" dirty="0"/>
              <a:t>    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</a:t>
            </a:r>
            <a:r>
              <a:rPr lang="ko-KR" altLang="en-US" sz="1400" dirty="0"/>
              <a:t>메시지를 보냅니다</a:t>
            </a:r>
            <a:r>
              <a:rPr lang="en-US" altLang="ko-KR" sz="1400" dirty="0"/>
              <a:t>.");</a:t>
            </a:r>
          </a:p>
          <a:p>
            <a:pPr marL="0" indent="0">
              <a:buNone/>
            </a:pPr>
            <a:r>
              <a:rPr lang="en-US" altLang="ko-KR" sz="1400" dirty="0"/>
              <a:t>            }</a:t>
            </a:r>
          </a:p>
          <a:p>
            <a:pPr marL="0" indent="0">
              <a:buNone/>
            </a:pPr>
            <a:r>
              <a:rPr lang="en-US" altLang="ko-KR" sz="1400" dirty="0"/>
              <a:t>        });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C697A-9AF3-8E17-62D0-683DFA6D1736}"/>
              </a:ext>
            </a:extLst>
          </p:cNvPr>
          <p:cNvSpPr txBox="1"/>
          <p:nvPr/>
        </p:nvSpPr>
        <p:spPr>
          <a:xfrm>
            <a:off x="5377758" y="0"/>
            <a:ext cx="71884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public class Main {</a:t>
            </a:r>
          </a:p>
          <a:p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r>
              <a:rPr lang="en-US" altLang="ko-KR" sz="1400" dirty="0"/>
              <a:t>        // Window </a:t>
            </a:r>
            <a:r>
              <a:rPr lang="ko-KR" altLang="en-US" sz="1400" dirty="0"/>
              <a:t>객체 생성</a:t>
            </a:r>
            <a:r>
              <a:rPr lang="en-US" altLang="ko-KR" sz="1400" dirty="0"/>
              <a:t>: </a:t>
            </a:r>
            <a:r>
              <a:rPr lang="ko-KR" altLang="en-US" sz="1400" dirty="0"/>
              <a:t>버튼과 </a:t>
            </a:r>
            <a:r>
              <a:rPr lang="ko-KR" altLang="en-US" sz="1400" dirty="0" err="1"/>
              <a:t>리스너를</a:t>
            </a:r>
            <a:r>
              <a:rPr lang="ko-KR" altLang="en-US" sz="1400" dirty="0"/>
              <a:t> 설정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Window w = new Window();</a:t>
            </a:r>
          </a:p>
          <a:p>
            <a:r>
              <a:rPr lang="en-US" altLang="ko-KR" sz="1400" dirty="0"/>
              <a:t>        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버튼 </a:t>
            </a:r>
            <a:r>
              <a:rPr lang="en-US" altLang="ko-KR" sz="1400" dirty="0"/>
              <a:t>1 </a:t>
            </a:r>
            <a:r>
              <a:rPr lang="ko-KR" altLang="en-US" sz="1400" dirty="0"/>
              <a:t>클릭</a:t>
            </a:r>
            <a:r>
              <a:rPr lang="en-US" altLang="ko-KR" sz="1400" dirty="0"/>
              <a:t>: </a:t>
            </a:r>
            <a:r>
              <a:rPr lang="ko-KR" altLang="en-US" sz="1400" dirty="0"/>
              <a:t>버튼 </a:t>
            </a:r>
            <a:r>
              <a:rPr lang="en-US" altLang="ko-KR" sz="1400" dirty="0"/>
              <a:t>1</a:t>
            </a:r>
            <a:r>
              <a:rPr lang="ko-KR" altLang="en-US" sz="1400" dirty="0"/>
              <a:t>에 설정된 </a:t>
            </a:r>
            <a:r>
              <a:rPr lang="ko-KR" altLang="en-US" sz="1400" dirty="0" err="1"/>
              <a:t>리스너가</a:t>
            </a:r>
            <a:r>
              <a:rPr lang="ko-KR" altLang="en-US" sz="1400" dirty="0"/>
              <a:t> 호출되어 </a:t>
            </a:r>
            <a:r>
              <a:rPr lang="en-US" altLang="ko-KR" sz="1400" dirty="0"/>
              <a:t>"</a:t>
            </a:r>
            <a:r>
              <a:rPr lang="ko-KR" altLang="en-US" sz="1400" dirty="0"/>
              <a:t>전화를 겁니다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w.button1.touch();</a:t>
            </a:r>
          </a:p>
          <a:p>
            <a:r>
              <a:rPr lang="en-US" altLang="ko-KR" sz="1400" dirty="0"/>
              <a:t>        </a:t>
            </a:r>
          </a:p>
          <a:p>
            <a:r>
              <a:rPr lang="en-US" altLang="ko-KR" sz="1400" dirty="0"/>
              <a:t>        // </a:t>
            </a:r>
            <a:r>
              <a:rPr lang="ko-KR" altLang="en-US" sz="1400" dirty="0"/>
              <a:t>버튼 </a:t>
            </a:r>
            <a:r>
              <a:rPr lang="en-US" altLang="ko-KR" sz="1400" dirty="0"/>
              <a:t>2 </a:t>
            </a:r>
            <a:r>
              <a:rPr lang="ko-KR" altLang="en-US" sz="1400" dirty="0"/>
              <a:t>클릭</a:t>
            </a:r>
            <a:r>
              <a:rPr lang="en-US" altLang="ko-KR" sz="1400" dirty="0"/>
              <a:t>: </a:t>
            </a:r>
            <a:r>
              <a:rPr lang="ko-KR" altLang="en-US" sz="1400" dirty="0"/>
              <a:t>버튼 </a:t>
            </a:r>
            <a:r>
              <a:rPr lang="en-US" altLang="ko-KR" sz="1400" dirty="0"/>
              <a:t>2</a:t>
            </a:r>
            <a:r>
              <a:rPr lang="ko-KR" altLang="en-US" sz="1400" dirty="0"/>
              <a:t>에 설정된 </a:t>
            </a:r>
            <a:r>
              <a:rPr lang="ko-KR" altLang="en-US" sz="1400" dirty="0" err="1"/>
              <a:t>리스너가</a:t>
            </a:r>
            <a:r>
              <a:rPr lang="ko-KR" altLang="en-US" sz="1400" dirty="0"/>
              <a:t> 호출되어 </a:t>
            </a:r>
            <a:r>
              <a:rPr lang="en-US" altLang="ko-KR" sz="1400" dirty="0"/>
              <a:t>"</a:t>
            </a:r>
            <a:r>
              <a:rPr lang="ko-KR" altLang="en-US" sz="1400" dirty="0"/>
              <a:t>메시지를 보냅니다</a:t>
            </a:r>
            <a:r>
              <a:rPr lang="en-US" altLang="ko-KR" sz="1400" dirty="0"/>
              <a:t>." </a:t>
            </a:r>
            <a:r>
              <a:rPr lang="ko-KR" altLang="en-US" sz="1400" dirty="0"/>
              <a:t>출력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w.button2.touch();</a:t>
            </a:r>
          </a:p>
          <a:p>
            <a:r>
              <a:rPr lang="en-US" altLang="ko-KR" sz="1400" dirty="0"/>
              <a:t>    }</a:t>
            </a:r>
          </a:p>
          <a:p>
            <a:r>
              <a:rPr lang="en-US" altLang="ko-KR" sz="1400" dirty="0"/>
              <a:t>}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FE6A75-AD7B-1C46-2451-4F28BEFDF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816" y="3737901"/>
            <a:ext cx="3242264" cy="108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05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4317</Words>
  <Application>Microsoft Office PowerPoint</Application>
  <PresentationFormat>와이드스크린</PresentationFormat>
  <Paragraphs>690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맑은 고딕</vt:lpstr>
      <vt:lpstr>Arial</vt:lpstr>
      <vt:lpstr>Office 테마</vt:lpstr>
      <vt:lpstr>중첩 클래스와 중첩 인터페이스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8</cp:revision>
  <dcterms:created xsi:type="dcterms:W3CDTF">2024-11-16T10:25:19Z</dcterms:created>
  <dcterms:modified xsi:type="dcterms:W3CDTF">2024-11-28T09:21:02Z</dcterms:modified>
</cp:coreProperties>
</file>