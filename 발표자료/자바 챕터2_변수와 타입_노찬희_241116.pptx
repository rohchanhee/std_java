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7B476-A159-41A5-8105-1DE54CC38714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5DB62-9FD9-419A-BEBC-54C9E19047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88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5DB62-9FD9-419A-BEBC-54C9E19047B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882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D7457-C1C7-64D1-BF93-600DFE98D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6F8300-D2F7-B2E8-1FCB-115600E65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45B0E3-6908-8F41-63D3-363F4C6C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E3FCF2-051E-3ED6-6971-87D3F88A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21A93D-CB1C-265E-6C7D-07BC24FA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89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672BB-5DDB-E450-3E59-BC083B8D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8F06F1-2AC0-CD73-DC97-60A02C1F4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889142-F9B3-DC04-2279-19D53639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D408-4497-4B77-912B-3A6A177C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30B73-F5F3-00A9-7F27-4F6251F5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57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87FE8-9A2A-F5B8-9E43-8FA6422D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38527A-7F37-346E-C8EB-C0FC5A68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37F3C3-296F-0546-54FF-C3EAD8B7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6615C-270D-C962-582F-EEA2AAD5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F578C0-377D-BBE0-D0B9-489C59B3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0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06B98-A229-6AE4-EB4A-5DDE5B53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D5B59-C425-4E1C-13DC-389E900B5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B6D4CF-D1B7-0A06-D2DD-159CD401D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A0B933-7AE3-472D-00E9-63AF4ABF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96D270-3AAD-7F6F-9CF9-6D8BC3B4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354857-A352-9AF9-AF7B-EFB166E6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35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7AFA6-63DC-DCB9-4629-01458216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431A1C-3B55-8810-F7B3-25F2E408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660D5B-BC67-D3B4-9DE1-A1537FDE7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22612B-4379-D644-CF34-5B89086EA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97FA05-E7EC-2A1D-A84B-F42BBBF27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E11096-B40C-3C20-1635-4267367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B5AC05-7F84-2762-12E2-67FBD316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196FE4-F3F9-3D18-3835-EA66FA70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10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98885-D661-B480-948D-82B18360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5DB465-FF6A-6F76-8F22-62D27DDB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7B7940-4E4E-CDF7-167F-E6C2B226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1DABC8-ACCF-0C3C-F606-DB347029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0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BFD607-172A-FF0B-50D4-6EE6B049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2420F8-A2EE-8620-E913-A750CAF0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43DF95-3776-DD98-BB62-91FC7F1E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15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3813D-657F-DB38-BB0C-235579C5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2CB9A0-3AF0-60C3-8585-E97CA90DD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A87DDE-4AF8-6DF6-70A2-5E697EA93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3553F-DC05-017E-8722-3BFCCFBA5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FA915C-4B9F-BEC2-81DA-EA11DCE9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8FE4DD-4697-DD4C-E284-60E97BDC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381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1A5F4-0C2F-BAC7-F3E8-77A30ECF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916BE5-2A7E-0261-725D-9D1BD41BC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115D7B-F14B-7CC6-BB32-53E3F06E8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C21E88-DB28-EE86-97FD-3E8B91DB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69168F-026E-CB2E-FEF6-228E57D4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277229-CDB8-247E-4983-B98FDA47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5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CC30E-7F28-9500-5956-76FB57A3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68F08D-BBE3-5C3F-7234-AC95A31E6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C38186-F2E8-7C5F-BF73-8D13266F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D11EEC-1868-5990-B01D-7BE9CA5C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9657BD-028B-F436-C2A9-A3A5269F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895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FCF0CE-E71B-D6F3-0D95-B94A3007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BD1AB2-5522-083F-9CA3-A94FCF0D2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440E26-D9B0-83B2-FD51-2F1F6D31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216AB-3650-29D9-651F-6BD7291D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742BF7-56C5-804D-DF68-64667CFA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97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149A6D-E7AF-B0CA-11E8-DF0DC1D1E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FDEF44-0135-88D4-7E9F-AE1C3A09F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18323-CCB8-7DFD-ECB6-518177E8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41F61-04B0-41A9-BF8A-31850683A27D}" type="datetimeFigureOut">
              <a:rPr lang="ko-KR" altLang="en-US" smtClean="0"/>
              <a:t>2024-11-16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509E7C-0F03-744A-8E59-A063685B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05F8C-BAE7-7CC4-6989-DD2480E8B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46D11-B4CE-488E-B486-430DED4B82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41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2CC44-17DD-2E8E-405E-E1BBE451EB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변수와 타입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C49C76-9BAA-CCEB-61B5-4B364B874A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267353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변수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컴퓨터 메모리는 수많은 번지들로 구성된 데이터 공간이다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프로그램은 데이터를 메모리에 저장하고 읽는 작업을 빈번히 수행한다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이때 변수라는 개념은 데이터를 어디에</a:t>
            </a:r>
            <a:r>
              <a:rPr lang="en-US" altLang="ko-KR" sz="1400" dirty="0"/>
              <a:t>, </a:t>
            </a:r>
            <a:r>
              <a:rPr lang="ko-KR" altLang="en-US" sz="1400" dirty="0"/>
              <a:t>어떤 방식으로 저장할지 정해준다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변수란 값을 저장할 수 있는 메모리 번지에 붙여진 이름이다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변수를 통해 프로그램은 메모리 번지에 값을 저장하고 읽는다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변수의 선언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변수의 선언은 어떤 타입의 데이터를 저장할 것인지</a:t>
            </a:r>
            <a:r>
              <a:rPr lang="en-US" altLang="ko-KR" sz="1400" dirty="0"/>
              <a:t>, </a:t>
            </a:r>
            <a:r>
              <a:rPr lang="ko-KR" altLang="en-US" sz="1400" dirty="0"/>
              <a:t>변수 이름이 무엇인지 정하는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age;// </a:t>
            </a:r>
            <a:r>
              <a:rPr lang="ko-KR" altLang="en-US" sz="1400" dirty="0"/>
              <a:t>정수 값을 저장할 수 있는 변수 </a:t>
            </a:r>
            <a:r>
              <a:rPr lang="en-US" altLang="ko-KR" sz="1400" dirty="0"/>
              <a:t>age</a:t>
            </a:r>
            <a:r>
              <a:rPr lang="ko-KR" altLang="en-US" sz="1400" dirty="0"/>
              <a:t>선언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 value;// </a:t>
            </a:r>
            <a:r>
              <a:rPr lang="ko-KR" altLang="en-US" sz="1400" dirty="0"/>
              <a:t>실수 값을 저장할 수 있는 변수 </a:t>
            </a:r>
            <a:r>
              <a:rPr lang="en-US" altLang="ko-KR" sz="1400" dirty="0"/>
              <a:t>value</a:t>
            </a:r>
            <a:r>
              <a:rPr lang="ko-KR" altLang="en-US" sz="1400" dirty="0"/>
              <a:t>선언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*</a:t>
            </a:r>
            <a:r>
              <a:rPr lang="ko-KR" altLang="en-US" sz="1400" dirty="0"/>
              <a:t>변수 이름은 첫 번째 글자가 </a:t>
            </a:r>
            <a:r>
              <a:rPr lang="ko-KR" altLang="en-US" sz="1400" dirty="0" err="1"/>
              <a:t>문자고</a:t>
            </a:r>
            <a:r>
              <a:rPr lang="en-US" altLang="ko-KR" sz="1400" dirty="0"/>
              <a:t>, $,_, </a:t>
            </a:r>
            <a:r>
              <a:rPr lang="ko-KR" altLang="en-US" sz="1400" dirty="0"/>
              <a:t>숫자를 포함할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*</a:t>
            </a:r>
            <a:r>
              <a:rPr lang="ko-KR" altLang="en-US" sz="1400" dirty="0"/>
              <a:t>자바 </a:t>
            </a:r>
            <a:r>
              <a:rPr lang="ko-KR" altLang="en-US" sz="1400" dirty="0" err="1"/>
              <a:t>예약어는</a:t>
            </a:r>
            <a:r>
              <a:rPr lang="ko-KR" altLang="en-US" sz="1400" dirty="0"/>
              <a:t> 변수명이 될 수 없다</a:t>
            </a:r>
            <a:r>
              <a:rPr lang="en-US" altLang="ko-KR" sz="1400" dirty="0"/>
              <a:t>.(if, for, … )</a:t>
            </a:r>
          </a:p>
          <a:p>
            <a:pPr marL="0" indent="0">
              <a:buNone/>
            </a:pPr>
            <a:r>
              <a:rPr lang="en-US" altLang="ko-KR" sz="1400" dirty="0"/>
              <a:t>*</a:t>
            </a:r>
            <a:r>
              <a:rPr lang="ko-KR" altLang="en-US" sz="1400" dirty="0" err="1"/>
              <a:t>캐멀</a:t>
            </a:r>
            <a:r>
              <a:rPr lang="ko-KR" altLang="en-US" sz="1400" dirty="0"/>
              <a:t> 스타일로 작성하는 것이 관례이다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en-US" altLang="ko-KR" sz="1400" dirty="0" err="1"/>
              <a:t>goodNumber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7154-4F7C-231E-04F2-026B72D5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4A6E63-AF21-8F0D-B524-D7FBEF7C6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변수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변수가 선언되면 값을 저장할 수 있는데 이때 대입 연산자</a:t>
            </a:r>
            <a:r>
              <a:rPr lang="en-US" altLang="ko-KR" sz="1400" dirty="0"/>
              <a:t>=</a:t>
            </a:r>
            <a:r>
              <a:rPr lang="ko-KR" altLang="en-US" sz="1400" dirty="0"/>
              <a:t>를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수학에서는 </a:t>
            </a:r>
            <a:r>
              <a:rPr lang="en-US" altLang="ko-KR" sz="1400" dirty="0"/>
              <a:t>=</a:t>
            </a:r>
            <a:r>
              <a:rPr lang="ko-KR" altLang="en-US" sz="1400" dirty="0"/>
              <a:t>는 </a:t>
            </a:r>
            <a:r>
              <a:rPr lang="en-US" altLang="ko-KR" sz="1400" dirty="0"/>
              <a:t>‘</a:t>
            </a:r>
            <a:r>
              <a:rPr lang="ko-KR" altLang="en-US" sz="1400" dirty="0"/>
              <a:t>같다</a:t>
            </a:r>
            <a:r>
              <a:rPr lang="en-US" altLang="ko-KR" sz="1400" dirty="0"/>
              <a:t>’</a:t>
            </a:r>
            <a:r>
              <a:rPr lang="ko-KR" altLang="en-US" sz="1400" dirty="0"/>
              <a:t>라는 의미이지만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프로그래밍에서는 우측 값을 좌측 변수에 대입하는 연산자로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score; //</a:t>
            </a:r>
            <a:r>
              <a:rPr lang="ko-KR" altLang="en-US" sz="1400" dirty="0"/>
              <a:t>정수형 변수 </a:t>
            </a:r>
            <a:r>
              <a:rPr lang="en-US" altLang="ko-KR" sz="1400" dirty="0"/>
              <a:t>score</a:t>
            </a:r>
            <a:r>
              <a:rPr lang="ko-KR" altLang="en-US" sz="1400" dirty="0"/>
              <a:t>선언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score = 90; //score</a:t>
            </a:r>
            <a:r>
              <a:rPr lang="ko-KR" altLang="en-US" sz="1400" dirty="0"/>
              <a:t>에 </a:t>
            </a:r>
            <a:r>
              <a:rPr lang="en-US" altLang="ko-KR" sz="1400" dirty="0"/>
              <a:t>90</a:t>
            </a:r>
            <a:r>
              <a:rPr lang="ko-KR" altLang="en-US" sz="1400" dirty="0"/>
              <a:t>이란 값 대입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변수 선언은 저장되는 값의 타입과 이름만 결정한 것이지</a:t>
            </a:r>
            <a:r>
              <a:rPr lang="en-US" altLang="ko-KR" sz="1400" dirty="0"/>
              <a:t>, </a:t>
            </a:r>
            <a:r>
              <a:rPr lang="ko-KR" altLang="en-US" sz="1400" dirty="0"/>
              <a:t>아직 메모리에 할당된 것은 아니다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변수에 값이 최초로 대입될 때 메모리에 할당되고</a:t>
            </a:r>
            <a:r>
              <a:rPr lang="en-US" altLang="ko-KR" sz="1400" dirty="0"/>
              <a:t>, </a:t>
            </a:r>
            <a:r>
              <a:rPr lang="ko-KR" altLang="en-US" sz="1400" dirty="0"/>
              <a:t>해당 메모리에 값이 저장된다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변수에 최초로 값을 대입하는 행위를 변수 초기화라고 하고</a:t>
            </a:r>
            <a:r>
              <a:rPr lang="en-US" altLang="ko-KR" sz="1400" dirty="0"/>
              <a:t>, </a:t>
            </a:r>
            <a:r>
              <a:rPr lang="ko-KR" altLang="en-US" sz="1400" dirty="0"/>
              <a:t>이때의 값을 초기값이라고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또한 다음과 같이 변수 선언과 동시에 초기화를 시킬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score = 90;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36465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9143B-EE26-9821-EC65-BF2E13C4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2E181-3A22-A8D8-9A9D-7B48FCE75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변수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 class Test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int x = 3;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x</a:t>
            </a:r>
            <a:r>
              <a:rPr lang="ko-KR" altLang="en-US" sz="1400" dirty="0"/>
              <a:t>에 </a:t>
            </a:r>
            <a:r>
              <a:rPr lang="en-US" altLang="ko-KR" sz="1400" dirty="0"/>
              <a:t>3 </a:t>
            </a:r>
            <a:r>
              <a:rPr lang="ko-KR" altLang="en-US" sz="1400" dirty="0"/>
              <a:t>대입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int y = 5;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y</a:t>
            </a:r>
            <a:r>
              <a:rPr lang="ko-KR" altLang="en-US" sz="1400" dirty="0"/>
              <a:t>에 </a:t>
            </a:r>
            <a:r>
              <a:rPr lang="en-US" altLang="ko-KR" sz="1400" dirty="0"/>
              <a:t>5 </a:t>
            </a:r>
            <a:r>
              <a:rPr lang="ko-KR" altLang="en-US" sz="1400" dirty="0"/>
              <a:t>대입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int temp = x;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temp</a:t>
            </a:r>
            <a:r>
              <a:rPr lang="ko-KR" altLang="en-US" sz="1400" dirty="0"/>
              <a:t>에 </a:t>
            </a:r>
            <a:r>
              <a:rPr lang="en-US" altLang="ko-KR" sz="1400" dirty="0"/>
              <a:t>3</a:t>
            </a:r>
            <a:r>
              <a:rPr lang="ko-KR" altLang="en-US" sz="1400" dirty="0"/>
              <a:t>대입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(x + "," + y);</a:t>
            </a:r>
          </a:p>
          <a:p>
            <a:pPr marL="0" indent="0">
              <a:buNone/>
            </a:pPr>
            <a:r>
              <a:rPr lang="en-US" altLang="ko-KR" sz="1400" dirty="0"/>
              <a:t>		x = y;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x</a:t>
            </a:r>
            <a:r>
              <a:rPr lang="ko-KR" altLang="en-US" sz="1400" dirty="0"/>
              <a:t>에 </a:t>
            </a:r>
            <a:r>
              <a:rPr lang="en-US" altLang="ko-KR" sz="1400" dirty="0"/>
              <a:t>y</a:t>
            </a:r>
            <a:r>
              <a:rPr lang="ko-KR" altLang="en-US" sz="1400" dirty="0"/>
              <a:t>값 대입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y = temp; // </a:t>
            </a:r>
            <a:r>
              <a:rPr lang="ko-KR" altLang="en-US" sz="1400" dirty="0"/>
              <a:t>변수 </a:t>
            </a:r>
            <a:r>
              <a:rPr lang="en-US" altLang="ko-KR" sz="1400" dirty="0"/>
              <a:t>y</a:t>
            </a:r>
            <a:r>
              <a:rPr lang="ko-KR" altLang="en-US" sz="1400" dirty="0"/>
              <a:t>에 </a:t>
            </a:r>
            <a:r>
              <a:rPr lang="en-US" altLang="ko-KR" sz="1400" dirty="0"/>
              <a:t>temp</a:t>
            </a:r>
            <a:r>
              <a:rPr lang="ko-KR" altLang="en-US" sz="1400" dirty="0"/>
              <a:t>값 대입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(x + "," + y);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033798-6FE9-31E9-ECDF-857A0418EBDF}"/>
              </a:ext>
            </a:extLst>
          </p:cNvPr>
          <p:cNvSpPr/>
          <p:nvPr/>
        </p:nvSpPr>
        <p:spPr>
          <a:xfrm>
            <a:off x="402336" y="4453128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x=3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12A7E0-8D9C-2917-04F3-F215939965BD}"/>
              </a:ext>
            </a:extLst>
          </p:cNvPr>
          <p:cNvSpPr/>
          <p:nvPr/>
        </p:nvSpPr>
        <p:spPr>
          <a:xfrm>
            <a:off x="1103376" y="5326380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temp=3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98ED5E-16BB-930D-4C0A-7CBB16F69131}"/>
              </a:ext>
            </a:extLst>
          </p:cNvPr>
          <p:cNvSpPr/>
          <p:nvPr/>
        </p:nvSpPr>
        <p:spPr>
          <a:xfrm>
            <a:off x="1793748" y="4453128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y=5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F53E13-E448-EC4F-223A-BBE32F374794}"/>
              </a:ext>
            </a:extLst>
          </p:cNvPr>
          <p:cNvSpPr/>
          <p:nvPr/>
        </p:nvSpPr>
        <p:spPr>
          <a:xfrm>
            <a:off x="4905756" y="4453128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x=5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88D444-3616-3441-F2C2-92C1D2660DBA}"/>
              </a:ext>
            </a:extLst>
          </p:cNvPr>
          <p:cNvSpPr/>
          <p:nvPr/>
        </p:nvSpPr>
        <p:spPr>
          <a:xfrm>
            <a:off x="5606796" y="5326380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temp=3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585CED-EFD1-3C38-AF63-71A1FAF6DAE0}"/>
              </a:ext>
            </a:extLst>
          </p:cNvPr>
          <p:cNvSpPr/>
          <p:nvPr/>
        </p:nvSpPr>
        <p:spPr>
          <a:xfrm>
            <a:off x="6297168" y="4453128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y=5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45E5B1-D059-2F42-FF89-8A14A82D66A2}"/>
              </a:ext>
            </a:extLst>
          </p:cNvPr>
          <p:cNvSpPr/>
          <p:nvPr/>
        </p:nvSpPr>
        <p:spPr>
          <a:xfrm>
            <a:off x="9255252" y="4453128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x=5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242242-ED0D-83A0-C96F-0A8E0A8F1C65}"/>
              </a:ext>
            </a:extLst>
          </p:cNvPr>
          <p:cNvSpPr/>
          <p:nvPr/>
        </p:nvSpPr>
        <p:spPr>
          <a:xfrm>
            <a:off x="9956292" y="5326380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temp=3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01E801-B243-1F15-5E54-292DB68A2E44}"/>
              </a:ext>
            </a:extLst>
          </p:cNvPr>
          <p:cNvSpPr/>
          <p:nvPr/>
        </p:nvSpPr>
        <p:spPr>
          <a:xfrm>
            <a:off x="10646664" y="4453128"/>
            <a:ext cx="1143000" cy="6583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y=3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357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8DA8-4611-57F4-5CA5-7BBEDECC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7B46F-E4AA-C449-C0CF-40F7ED8B4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정수타입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변수가 선언될 때의 타입에 따라 저장할 수 있는 값의 종류와 허용 범위가 달라진다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정수타입은 총 </a:t>
            </a:r>
            <a:r>
              <a:rPr lang="en-US" altLang="ko-KR" sz="1400" dirty="0"/>
              <a:t>5</a:t>
            </a:r>
            <a:r>
              <a:rPr lang="ko-KR" altLang="en-US" sz="1400" dirty="0"/>
              <a:t>개로 메모리 할당크기와 저장되는 값의 범위는 다음과 같다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932FAAE-F57A-EBF5-C936-C9E1F7D4C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256969"/>
              </p:ext>
            </p:extLst>
          </p:nvPr>
        </p:nvGraphicFramePr>
        <p:xfrm>
          <a:off x="1903984" y="1414610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08480">
                  <a:extLst>
                    <a:ext uri="{9D8B030D-6E8A-4147-A177-3AD203B41FA5}">
                      <a16:colId xmlns:a16="http://schemas.microsoft.com/office/drawing/2014/main" val="3117608796"/>
                    </a:ext>
                  </a:extLst>
                </a:gridCol>
                <a:gridCol w="6319520">
                  <a:extLst>
                    <a:ext uri="{9D8B030D-6E8A-4147-A177-3AD203B41FA5}">
                      <a16:colId xmlns:a16="http://schemas.microsoft.com/office/drawing/2014/main" val="170163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값의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 타입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814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byte, char, short, int, long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0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Float, double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353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논리</a:t>
                      </a:r>
                      <a:r>
                        <a:rPr lang="en-US" altLang="ko-KR" dirty="0"/>
                        <a:t>(true/false)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boolean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799275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91A75EF7-6A52-E3AA-4174-BD682B30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84" y="3867981"/>
            <a:ext cx="8128000" cy="29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0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BC70-3BAE-F558-2E7C-6C0A9997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D7289-C56F-3B0B-438D-05126BB54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정수타입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코드에서 프로그래머가 직접 입력한 값을 </a:t>
            </a:r>
            <a:r>
              <a:rPr lang="ko-KR" altLang="en-US" sz="1400" dirty="0" err="1"/>
              <a:t>리터럴</a:t>
            </a:r>
            <a:r>
              <a:rPr lang="en-US" altLang="ko-KR" sz="1400" dirty="0"/>
              <a:t>(literal)</a:t>
            </a:r>
            <a:r>
              <a:rPr lang="ko-KR" altLang="en-US" sz="1400" dirty="0"/>
              <a:t>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IntegerLiteralExample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int var1 = 0b1011;		//2</a:t>
            </a:r>
            <a:r>
              <a:rPr lang="ko-KR" altLang="en-US" sz="1400" dirty="0"/>
              <a:t>진수		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int var2 = 0206;		  //8</a:t>
            </a:r>
            <a:r>
              <a:rPr lang="ko-KR" altLang="en-US" sz="1400" dirty="0"/>
              <a:t>진수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int var3 = 365;		//10</a:t>
            </a:r>
            <a:r>
              <a:rPr lang="ko-KR" altLang="en-US" sz="1400" dirty="0"/>
              <a:t>진수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int var4 = 0xB3;		  //16</a:t>
            </a:r>
            <a:r>
              <a:rPr lang="ko-KR" altLang="en-US" sz="1400" dirty="0"/>
              <a:t>진수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("var1: " + var1);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("var2: " + var2);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("var3: " + var3);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("var4: " + var4);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B411EA-8CE7-50B7-FAE5-B3C3439F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454" y="2146685"/>
            <a:ext cx="2742057" cy="256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8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84248-8041-46A7-711D-EB3FBE6C1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14AAA-D2BE-8D25-4166-90E449DAC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정수타입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정수타입에서 </a:t>
            </a:r>
            <a:r>
              <a:rPr lang="en-US" altLang="ko-KR" sz="1400" dirty="0"/>
              <a:t>long</a:t>
            </a:r>
            <a:r>
              <a:rPr lang="ko-KR" altLang="en-US" sz="1400" dirty="0"/>
              <a:t>타입은 수치가 큰 데이터를 다룰 때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기본적으로 컴파일러는 정수 </a:t>
            </a:r>
            <a:r>
              <a:rPr lang="ko-KR" altLang="en-US" sz="1400" dirty="0" err="1"/>
              <a:t>리터럴을</a:t>
            </a:r>
            <a:r>
              <a:rPr lang="ko-KR" altLang="en-US" sz="1400" dirty="0"/>
              <a:t>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 값으로 간주하기 때문에 </a:t>
            </a:r>
            <a:r>
              <a:rPr lang="en-US" altLang="ko-KR" sz="1400" dirty="0"/>
              <a:t> int</a:t>
            </a:r>
            <a:r>
              <a:rPr lang="ko-KR" altLang="en-US" sz="1400" dirty="0"/>
              <a:t>의 허용범위를 초과하는 </a:t>
            </a:r>
            <a:r>
              <a:rPr lang="ko-KR" altLang="en-US" sz="1400" dirty="0" err="1"/>
              <a:t>리터럴은</a:t>
            </a:r>
            <a:r>
              <a:rPr lang="ko-KR" altLang="en-US" sz="1400" dirty="0"/>
              <a:t> 뒤에 소문자</a:t>
            </a:r>
            <a:r>
              <a:rPr lang="en-US" altLang="ko-KR" sz="1400" dirty="0"/>
              <a:t>l</a:t>
            </a:r>
            <a:r>
              <a:rPr lang="ko-KR" altLang="en-US" sz="1400" dirty="0"/>
              <a:t>이나 </a:t>
            </a:r>
            <a:r>
              <a:rPr lang="en-US" altLang="ko-KR" sz="1400" dirty="0"/>
              <a:t>L</a:t>
            </a:r>
            <a:r>
              <a:rPr lang="ko-KR" altLang="en-US" sz="1400" dirty="0"/>
              <a:t>을 붙여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long</a:t>
            </a:r>
            <a:r>
              <a:rPr lang="ko-KR" altLang="en-US" sz="1400" dirty="0"/>
              <a:t>타입 값임을 컴파일러에게 </a:t>
            </a:r>
            <a:r>
              <a:rPr lang="ko-KR" altLang="en-US" sz="1400" dirty="0" err="1"/>
              <a:t>알려줘야한다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LongExample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long var1 = 10;		</a:t>
            </a:r>
          </a:p>
          <a:p>
            <a:pPr marL="0" indent="0">
              <a:buNone/>
            </a:pPr>
            <a:r>
              <a:rPr lang="en-US" altLang="ko-KR" sz="1400" dirty="0"/>
              <a:t>		long var2 = 20L;		</a:t>
            </a:r>
          </a:p>
          <a:p>
            <a:pPr marL="0" indent="0">
              <a:buNone/>
            </a:pPr>
            <a:r>
              <a:rPr lang="en-US" altLang="ko-KR" sz="1400" dirty="0"/>
              <a:t>		//long var3 = 1000000000000;  //</a:t>
            </a:r>
            <a:r>
              <a:rPr lang="ko-KR" altLang="en-US" sz="1400" dirty="0"/>
              <a:t>컴파일러는 </a:t>
            </a:r>
            <a:r>
              <a:rPr lang="en-US" altLang="ko-KR" sz="1400" dirty="0"/>
              <a:t>int</a:t>
            </a:r>
            <a:r>
              <a:rPr lang="ko-KR" altLang="en-US" sz="1400" dirty="0"/>
              <a:t>로 간주하기 때문에 에러 발생시킴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long var4 = 1000000000000L;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(var1);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(var2);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(var4);</a:t>
            </a:r>
          </a:p>
          <a:p>
            <a:pPr marL="0" indent="0">
              <a:buNone/>
            </a:pPr>
            <a:r>
              <a:rPr lang="en-US" altLang="ko-KR" sz="1400" dirty="0"/>
              <a:t>	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1400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2E0B-2741-6308-8B58-74146AB9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480CD4-15FF-FC57-EC12-38FDF8A86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문자타입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하나의 문자를 </a:t>
            </a:r>
            <a:r>
              <a:rPr lang="ko-KR" altLang="en-US" sz="1400" dirty="0" err="1"/>
              <a:t>작음따옴표</a:t>
            </a:r>
            <a:r>
              <a:rPr lang="en-US" altLang="ko-KR" sz="1400" dirty="0"/>
              <a:t>＇</a:t>
            </a:r>
            <a:r>
              <a:rPr lang="ko-KR" altLang="en-US" sz="1400" dirty="0"/>
              <a:t>로 감싼 것을 문자 </a:t>
            </a:r>
            <a:r>
              <a:rPr lang="ko-KR" altLang="en-US" sz="1400" dirty="0" err="1"/>
              <a:t>리터럴이라고</a:t>
            </a:r>
            <a:r>
              <a:rPr lang="ko-KR" altLang="en-US" sz="1400" dirty="0"/>
              <a:t>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문자 </a:t>
            </a:r>
            <a:r>
              <a:rPr lang="ko-KR" altLang="en-US" sz="1400" dirty="0" err="1"/>
              <a:t>리터럴은</a:t>
            </a:r>
            <a:r>
              <a:rPr lang="ko-KR" altLang="en-US" sz="1400" dirty="0"/>
              <a:t> 유니코드로 변환되어 저장되는데</a:t>
            </a:r>
            <a:r>
              <a:rPr lang="en-US" altLang="ko-KR" sz="1400" dirty="0"/>
              <a:t>, </a:t>
            </a:r>
            <a:r>
              <a:rPr lang="ko-KR" altLang="en-US" sz="1400" dirty="0"/>
              <a:t>유니코드는 세계각국의 문자를 </a:t>
            </a:r>
            <a:r>
              <a:rPr lang="en-US" altLang="ko-KR" sz="1400" dirty="0"/>
              <a:t>0~65535</a:t>
            </a:r>
            <a:r>
              <a:rPr lang="ko-KR" altLang="en-US" sz="1400" dirty="0"/>
              <a:t>숫자로 매핑한 표준 규약이다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자바는 이러한 유니코드를  저장할 수 있도록 </a:t>
            </a:r>
            <a:r>
              <a:rPr lang="en-US" altLang="ko-KR" sz="1400" dirty="0"/>
              <a:t>char </a:t>
            </a:r>
            <a:r>
              <a:rPr lang="ko-KR" altLang="en-US" sz="1400" dirty="0"/>
              <a:t>타입을 제공한다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char var1 = ‘A’; //’A’ </a:t>
            </a:r>
            <a:r>
              <a:rPr lang="ko-KR" altLang="en-US" sz="1400" dirty="0"/>
              <a:t>문자와 </a:t>
            </a:r>
            <a:r>
              <a:rPr lang="ko-KR" altLang="en-US" sz="1400" dirty="0" err="1"/>
              <a:t>매핑되는</a:t>
            </a:r>
            <a:r>
              <a:rPr lang="ko-KR" altLang="en-US" sz="1400" dirty="0"/>
              <a:t> 숫자</a:t>
            </a:r>
            <a:r>
              <a:rPr lang="en-US" altLang="ko-KR" sz="1400" dirty="0"/>
              <a:t>: 65</a:t>
            </a:r>
            <a:r>
              <a:rPr lang="ko-KR" altLang="en-US" sz="1400" dirty="0"/>
              <a:t>로 대입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char var2 = ‘</a:t>
            </a:r>
            <a:r>
              <a:rPr lang="ko-KR" altLang="en-US" sz="1400" dirty="0"/>
              <a:t>가</a:t>
            </a:r>
            <a:r>
              <a:rPr lang="en-US" altLang="ko-KR" sz="1400" dirty="0"/>
              <a:t>‘; //’</a:t>
            </a:r>
            <a:r>
              <a:rPr lang="ko-KR" altLang="en-US" sz="1400" dirty="0"/>
              <a:t>가</a:t>
            </a:r>
            <a:r>
              <a:rPr lang="en-US" altLang="ko-KR" sz="1400" dirty="0"/>
              <a:t>’ </a:t>
            </a:r>
            <a:r>
              <a:rPr lang="ko-KR" altLang="en-US" sz="1400" dirty="0"/>
              <a:t>문자와 </a:t>
            </a:r>
            <a:r>
              <a:rPr lang="ko-KR" altLang="en-US" sz="1400" dirty="0" err="1"/>
              <a:t>매핑되는</a:t>
            </a:r>
            <a:r>
              <a:rPr lang="ko-KR" altLang="en-US" sz="1400" dirty="0"/>
              <a:t> 숫자</a:t>
            </a:r>
            <a:r>
              <a:rPr lang="en-US" altLang="ko-KR" sz="1400" dirty="0"/>
              <a:t>: 44032</a:t>
            </a:r>
            <a:r>
              <a:rPr lang="ko-KR" altLang="en-US" sz="1400" dirty="0"/>
              <a:t>로 대입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CharExample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char c1 = 'A';          	//</a:t>
            </a:r>
            <a:r>
              <a:rPr lang="ko-KR" altLang="en-US" sz="1400" dirty="0"/>
              <a:t>문자 저장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char c2 = 65;          	//</a:t>
            </a:r>
            <a:r>
              <a:rPr lang="ko-KR" altLang="en-US" sz="1400" dirty="0"/>
              <a:t>유니코드 직접 저장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char c3 = '</a:t>
            </a:r>
            <a:r>
              <a:rPr lang="ko-KR" altLang="en-US" sz="1400" dirty="0"/>
              <a:t>가</a:t>
            </a:r>
            <a:r>
              <a:rPr lang="en-US" altLang="ko-KR" sz="1400" dirty="0"/>
              <a:t>';         	//</a:t>
            </a:r>
            <a:r>
              <a:rPr lang="ko-KR" altLang="en-US" sz="1400" dirty="0"/>
              <a:t>문자 저장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char c4 = 44032;      	//</a:t>
            </a:r>
            <a:r>
              <a:rPr lang="ko-KR" altLang="en-US" sz="1400" dirty="0"/>
              <a:t>유니코드 직접 저장</a:t>
            </a:r>
          </a:p>
          <a:p>
            <a:pPr marL="0" indent="0">
              <a:buNone/>
            </a:pPr>
            <a:r>
              <a:rPr lang="ko-KR" altLang="en-US" sz="1400" dirty="0"/>
              <a:t>				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(c1);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(c2);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(c3);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(c4);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775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F1AA-505D-5308-24F7-1871ABE1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39847-5494-803A-489B-725DEE476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실수타입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실수 타입에는 </a:t>
            </a:r>
            <a:r>
              <a:rPr lang="en-US" altLang="ko-KR" sz="1400" dirty="0"/>
              <a:t>float</a:t>
            </a:r>
            <a:r>
              <a:rPr lang="ko-KR" altLang="en-US" sz="1400" dirty="0"/>
              <a:t>과 </a:t>
            </a:r>
            <a:r>
              <a:rPr lang="en-US" altLang="ko-KR" sz="1400" dirty="0"/>
              <a:t>double</a:t>
            </a:r>
            <a:r>
              <a:rPr lang="ko-KR" altLang="en-US" sz="1400" dirty="0"/>
              <a:t>이 있으며 메모리 크기와 할당크기는 다음과 같다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단 </a:t>
            </a:r>
            <a:r>
              <a:rPr lang="en-US" altLang="ko-KR" sz="1400" dirty="0"/>
              <a:t>float</a:t>
            </a:r>
            <a:r>
              <a:rPr lang="ko-KR" altLang="en-US" sz="1400" dirty="0"/>
              <a:t>는 유효 소수 자리가 </a:t>
            </a:r>
            <a:r>
              <a:rPr lang="en-US" altLang="ko-KR" sz="1400" dirty="0"/>
              <a:t>7</a:t>
            </a:r>
            <a:r>
              <a:rPr lang="ko-KR" altLang="en-US" sz="1400" dirty="0"/>
              <a:t>자리 이하이고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</a:t>
            </a:r>
            <a:r>
              <a:rPr lang="ko-KR" altLang="en-US" sz="1400" dirty="0"/>
              <a:t>은 </a:t>
            </a:r>
            <a:r>
              <a:rPr lang="en-US" altLang="ko-KR" sz="1400" dirty="0"/>
              <a:t>15</a:t>
            </a:r>
            <a:r>
              <a:rPr lang="ko-KR" altLang="en-US" sz="1400" dirty="0"/>
              <a:t>자리 이하이다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컴파일러는 실수 </a:t>
            </a:r>
            <a:r>
              <a:rPr lang="ko-KR" altLang="en-US" sz="1400" dirty="0" err="1"/>
              <a:t>리터럴을</a:t>
            </a:r>
            <a:r>
              <a:rPr lang="ko-KR" altLang="en-US" sz="1400" dirty="0"/>
              <a:t> 기본적으로 </a:t>
            </a:r>
            <a:r>
              <a:rPr lang="en-US" altLang="ko-KR" sz="1400" dirty="0"/>
              <a:t>double</a:t>
            </a:r>
            <a:r>
              <a:rPr lang="ko-KR" altLang="en-US" sz="1400" dirty="0"/>
              <a:t>타입으로 해석하기 때문에 </a:t>
            </a:r>
            <a:r>
              <a:rPr lang="en-US" altLang="ko-KR" sz="1400" dirty="0"/>
              <a:t>float</a:t>
            </a:r>
            <a:r>
              <a:rPr lang="ko-KR" altLang="en-US" sz="1400" dirty="0"/>
              <a:t>타입에 변수를 대입하고 싶다면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리터럴</a:t>
            </a:r>
            <a:r>
              <a:rPr lang="ko-KR" altLang="en-US" sz="1400" dirty="0"/>
              <a:t> 뒤에</a:t>
            </a:r>
            <a:r>
              <a:rPr lang="en-US" altLang="ko-KR" sz="1400" dirty="0"/>
              <a:t> f</a:t>
            </a:r>
            <a:r>
              <a:rPr lang="ko-KR" altLang="en-US" sz="1400" dirty="0"/>
              <a:t>나 </a:t>
            </a:r>
            <a:r>
              <a:rPr lang="en-US" altLang="ko-KR" sz="1400" dirty="0"/>
              <a:t>F</a:t>
            </a:r>
            <a:r>
              <a:rPr lang="ko-KR" altLang="en-US" sz="1400" dirty="0"/>
              <a:t>를 붙여 컴파일러에게 </a:t>
            </a:r>
            <a:r>
              <a:rPr lang="en-US" altLang="ko-KR" sz="1400" dirty="0"/>
              <a:t>float </a:t>
            </a:r>
            <a:r>
              <a:rPr lang="ko-KR" altLang="en-US" sz="1400" dirty="0"/>
              <a:t>타입임을 알 수 있도록 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 a = 3.14;</a:t>
            </a:r>
          </a:p>
          <a:p>
            <a:pPr marL="0" indent="0">
              <a:buNone/>
            </a:pPr>
            <a:r>
              <a:rPr lang="en-US" altLang="ko-KR" sz="1400" dirty="0"/>
              <a:t>float b = 3.14f;</a:t>
            </a:r>
          </a:p>
          <a:p>
            <a:pPr marL="0" indent="0">
              <a:buNone/>
            </a:pPr>
            <a:r>
              <a:rPr lang="ko-KR" altLang="en-US" sz="1400" dirty="0"/>
              <a:t>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04732F-5594-C142-4FB0-5F824AF9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361694"/>
            <a:ext cx="1095375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5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1613-001F-0DA6-C694-4ACDD989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C6F3F2-9CB0-94AC-4A6C-C3ED74E93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실수타입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float</a:t>
            </a:r>
            <a:r>
              <a:rPr lang="ko-KR" altLang="en-US" sz="1400" dirty="0"/>
              <a:t>과 </a:t>
            </a:r>
            <a:r>
              <a:rPr lang="en-US" altLang="ko-KR" sz="1400" dirty="0"/>
              <a:t>double</a:t>
            </a:r>
            <a:r>
              <a:rPr lang="ko-KR" altLang="en-US" sz="1400" dirty="0"/>
              <a:t>의 소수 이하 유효 자릿수는 </a:t>
            </a:r>
            <a:r>
              <a:rPr lang="en-US" altLang="ko-KR" sz="1400" dirty="0"/>
              <a:t>double</a:t>
            </a:r>
            <a:r>
              <a:rPr lang="ko-KR" altLang="en-US" sz="1400" dirty="0"/>
              <a:t>타입이 약 </a:t>
            </a:r>
            <a:r>
              <a:rPr lang="en-US" altLang="ko-KR" sz="1400" dirty="0"/>
              <a:t>2</a:t>
            </a:r>
            <a:r>
              <a:rPr lang="ko-KR" altLang="en-US" sz="1400" dirty="0"/>
              <a:t>배 많다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때문에 보다 정확한 데이터의 저장이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package ch02.sec04;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FloatDoubleExample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		</a:t>
            </a:r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정밀도 확인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float var1 = 0.1234567890123456789f;</a:t>
            </a:r>
          </a:p>
          <a:p>
            <a:pPr marL="0" indent="0">
              <a:buNone/>
            </a:pPr>
            <a:r>
              <a:rPr lang="en-US" altLang="ko-KR" sz="1400" dirty="0"/>
              <a:t>		double var2 = 0.1234567890123456789;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("var1: " + var1);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("var2: " + var2);</a:t>
            </a:r>
          </a:p>
          <a:p>
            <a:pPr marL="0" indent="0">
              <a:buNone/>
            </a:pPr>
            <a:r>
              <a:rPr lang="en-US" altLang="ko-KR" sz="1400" dirty="0"/>
              <a:t>		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var1: 0.12345679</a:t>
            </a:r>
          </a:p>
          <a:p>
            <a:pPr marL="0" indent="0">
              <a:buNone/>
            </a:pPr>
            <a:r>
              <a:rPr lang="en-US" altLang="ko-KR" sz="1400" dirty="0"/>
              <a:t>var2: 0.12345678901234568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90712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C8FB-F9C3-42CB-553D-750F5A81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00024E-FE6B-4D16-3867-FE91AA072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논리 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참과 거짓을 의미하는 논리 </a:t>
            </a:r>
            <a:r>
              <a:rPr lang="ko-KR" altLang="en-US" sz="1400" dirty="0" err="1"/>
              <a:t>리터럴은</a:t>
            </a:r>
            <a:r>
              <a:rPr lang="ko-KR" altLang="en-US" sz="1400" dirty="0"/>
              <a:t> </a:t>
            </a:r>
            <a:r>
              <a:rPr lang="en-US" altLang="ko-KR" sz="1400" dirty="0"/>
              <a:t>true</a:t>
            </a:r>
            <a:r>
              <a:rPr lang="ko-KR" altLang="en-US" sz="1400" dirty="0"/>
              <a:t>와 </a:t>
            </a:r>
            <a:r>
              <a:rPr lang="en-US" altLang="ko-KR" sz="1400" dirty="0"/>
              <a:t>false</a:t>
            </a:r>
            <a:r>
              <a:rPr lang="ko-KR" altLang="en-US" sz="1400" dirty="0"/>
              <a:t>로 나뉜다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ko-KR" altLang="en-US" sz="1400" dirty="0"/>
              <a:t> </a:t>
            </a:r>
            <a:r>
              <a:rPr lang="en-US" altLang="ko-KR" sz="1400" dirty="0"/>
              <a:t>run = true;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false = false;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Boolean </a:t>
            </a:r>
            <a:r>
              <a:rPr lang="ko-KR" altLang="en-US" sz="1400" dirty="0"/>
              <a:t>타입 변수는 참과 거짓의 </a:t>
            </a:r>
            <a:r>
              <a:rPr lang="ko-KR" altLang="en-US" sz="1400" dirty="0" err="1"/>
              <a:t>상태값을</a:t>
            </a:r>
            <a:r>
              <a:rPr lang="ko-KR" altLang="en-US" sz="1400" dirty="0"/>
              <a:t> 저장할 필요가 있을 때 쓰이며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상태값에</a:t>
            </a:r>
            <a:r>
              <a:rPr lang="ko-KR" altLang="en-US" sz="1400" dirty="0"/>
              <a:t> 따라 조건문과 제어문의 실행 흐름을 변경하는 데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x = 10;</a:t>
            </a:r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result = (x ==20);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result = (x !=20);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result = (x &lt; 20);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boolean</a:t>
            </a:r>
            <a:r>
              <a:rPr lang="en-US" altLang="ko-KR" sz="1400" dirty="0"/>
              <a:t> result = (x &gt; 20);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54615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127CB-79C0-3160-015C-7792939E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CEEB2-3A25-68F9-0047-12BCA39F6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문자열 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작은따옴표 </a:t>
            </a:r>
            <a:r>
              <a:rPr lang="en-US" altLang="ko-KR" sz="1400" dirty="0"/>
              <a:t>’</a:t>
            </a:r>
            <a:r>
              <a:rPr lang="ko-KR" altLang="en-US" sz="1400" dirty="0"/>
              <a:t>로 감싼 한 개의 문자는 </a:t>
            </a:r>
            <a:r>
              <a:rPr lang="en-US" altLang="ko-KR" sz="1400" dirty="0"/>
              <a:t>char </a:t>
            </a:r>
            <a:r>
              <a:rPr lang="ko-KR" altLang="en-US" sz="1400" dirty="0"/>
              <a:t>타입이지만</a:t>
            </a:r>
            <a:r>
              <a:rPr lang="en-US" altLang="ko-KR" sz="1400" dirty="0"/>
              <a:t> </a:t>
            </a:r>
            <a:r>
              <a:rPr lang="ko-KR" altLang="en-US" sz="1400" dirty="0"/>
              <a:t>큰따옴표 </a:t>
            </a:r>
            <a:r>
              <a:rPr lang="en-US" altLang="ko-KR" sz="1400" dirty="0"/>
              <a:t>“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감싼 여러 개의 문자는 유니코드로 변환되지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char a = “A”;//</a:t>
            </a:r>
            <a:r>
              <a:rPr lang="ko-KR" altLang="en-US" sz="1400" dirty="0"/>
              <a:t>컴파일 에러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char b =“AAA”; //</a:t>
            </a:r>
            <a:r>
              <a:rPr lang="ko-KR" altLang="en-US" sz="1400" dirty="0"/>
              <a:t>컴파일 에러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큰따옴표 </a:t>
            </a:r>
            <a:r>
              <a:rPr lang="en-US" altLang="ko-KR" sz="1400" dirty="0"/>
              <a:t>“</a:t>
            </a:r>
            <a:r>
              <a:rPr lang="ko-KR" altLang="en-US" sz="1400" dirty="0"/>
              <a:t>로 감싼 문자열을 문자열이라 부르는데</a:t>
            </a:r>
            <a:r>
              <a:rPr lang="en-US" altLang="ko-KR" sz="1400" dirty="0"/>
              <a:t>, </a:t>
            </a:r>
            <a:r>
              <a:rPr lang="ko-KR" altLang="en-US" sz="1400" dirty="0"/>
              <a:t>문자열을 변수에 저장하고 싶다면 다음과 같이 </a:t>
            </a:r>
            <a:r>
              <a:rPr lang="en-US" altLang="ko-KR" sz="1400" dirty="0"/>
              <a:t>String </a:t>
            </a:r>
            <a:r>
              <a:rPr lang="ko-KR" altLang="en-US" sz="1400" dirty="0"/>
              <a:t>타입을 사용해야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a = “A”;</a:t>
            </a:r>
          </a:p>
          <a:p>
            <a:pPr marL="0" indent="0">
              <a:buNone/>
            </a:pPr>
            <a:r>
              <a:rPr lang="en-US" altLang="ko-KR" sz="1400" dirty="0"/>
              <a:t>String b =“AAA”;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String name = 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";</a:t>
            </a:r>
          </a:p>
          <a:p>
            <a:pPr marL="0" indent="0">
              <a:buNone/>
            </a:pPr>
            <a:r>
              <a:rPr lang="en-US" altLang="ko-KR" sz="1400" dirty="0"/>
              <a:t>		String job = "</a:t>
            </a:r>
            <a:r>
              <a:rPr lang="ko-KR" altLang="en-US" sz="1400" dirty="0"/>
              <a:t>프로그래머</a:t>
            </a:r>
            <a:r>
              <a:rPr lang="en-US" altLang="ko-KR" sz="1400" dirty="0"/>
              <a:t>";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(name);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(job);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</a:t>
            </a:r>
            <a:r>
              <a:rPr lang="ko-KR" altLang="en-US" sz="1400" dirty="0"/>
              <a:t>나는</a:t>
            </a:r>
            <a:r>
              <a:rPr lang="en-US" altLang="ko-KR" sz="1400" dirty="0"/>
              <a:t>\n");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</a:t>
            </a:r>
            <a:r>
              <a:rPr lang="ko-KR" altLang="en-US" sz="1400" dirty="0"/>
              <a:t>자바를</a:t>
            </a:r>
            <a:r>
              <a:rPr lang="en-US" altLang="ko-KR" sz="1400" dirty="0"/>
              <a:t>\n");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</a:t>
            </a:r>
            <a:r>
              <a:rPr lang="ko-KR" altLang="en-US" sz="1400" dirty="0"/>
              <a:t>배웁니다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00295C-454D-8341-7920-B7EC1B492685}"/>
              </a:ext>
            </a:extLst>
          </p:cNvPr>
          <p:cNvSpPr txBox="1"/>
          <p:nvPr/>
        </p:nvSpPr>
        <p:spPr>
          <a:xfrm>
            <a:off x="7008876" y="3849624"/>
            <a:ext cx="33238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홍길동</a:t>
            </a:r>
          </a:p>
          <a:p>
            <a:r>
              <a:rPr lang="ko-KR" altLang="en-US" dirty="0"/>
              <a:t>프로그래머</a:t>
            </a:r>
          </a:p>
          <a:p>
            <a:r>
              <a:rPr lang="ko-KR" altLang="en-US" dirty="0"/>
              <a:t>나는</a:t>
            </a:r>
          </a:p>
          <a:p>
            <a:r>
              <a:rPr lang="ko-KR" altLang="en-US" dirty="0"/>
              <a:t>자바를</a:t>
            </a:r>
          </a:p>
          <a:p>
            <a:r>
              <a:rPr lang="ko-KR" altLang="en-US" dirty="0"/>
              <a:t>배웁니다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921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E291F-92B6-CD0F-9F6C-CA34D03E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C07142-F3AA-A04E-BA62-B019221C4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자동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자동 타입 변환은 말 그대로 자동으로 타입 변환이 일어나는 것을 말한다</a:t>
            </a:r>
            <a:r>
              <a:rPr lang="en-US" altLang="ko-KR" sz="1400" dirty="0"/>
              <a:t>. </a:t>
            </a:r>
            <a:r>
              <a:rPr lang="ko-KR" altLang="en-US" sz="1400" dirty="0"/>
              <a:t>자동 타입 변환은 값의 허용 범위가 작은 타입이 허용 범위가 큰 타입으로 대입될 때 발생한다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큰 허용 범위 타입 </a:t>
            </a:r>
            <a:r>
              <a:rPr lang="en-US" altLang="ko-KR" sz="1400" dirty="0"/>
              <a:t>= </a:t>
            </a:r>
            <a:r>
              <a:rPr lang="ko-KR" altLang="en-US" sz="1400" dirty="0"/>
              <a:t>작은 허용 범위 타입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byte a = 10;</a:t>
            </a:r>
          </a:p>
          <a:p>
            <a:pPr marL="0" indent="0">
              <a:buNone/>
            </a:pPr>
            <a:r>
              <a:rPr lang="en-US" altLang="ko-KR" sz="1400" dirty="0"/>
              <a:t>int b = a; //</a:t>
            </a:r>
            <a:r>
              <a:rPr lang="ko-KR" altLang="en-US" sz="1400" dirty="0"/>
              <a:t>자동 타입 변환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 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ko-KR" altLang="en-US" sz="1400" dirty="0"/>
              <a:t>타입</a:t>
            </a:r>
            <a:r>
              <a:rPr lang="en-US" altLang="ko-KR" sz="1400" dirty="0"/>
              <a:t>(4byte)					</a:t>
            </a:r>
            <a:r>
              <a:rPr lang="en-US" altLang="ko-KR" sz="1400" dirty="0">
                <a:sym typeface="Wingdings" panose="05000000000000000000" pitchFamily="2" charset="2"/>
              </a:rPr>
              <a:t> </a:t>
            </a:r>
            <a:r>
              <a:rPr lang="ko-KR" altLang="en-US" sz="1400" dirty="0">
                <a:sym typeface="Wingdings" panose="05000000000000000000" pitchFamily="2" charset="2"/>
              </a:rPr>
              <a:t>자동 타입 변환</a:t>
            </a:r>
            <a:r>
              <a:rPr lang="en-US" altLang="ko-KR" sz="1400" dirty="0">
                <a:sym typeface="Wingdings" panose="05000000000000000000" pitchFamily="2" charset="2"/>
              </a:rPr>
              <a:t>	           byte</a:t>
            </a:r>
            <a:r>
              <a:rPr lang="ko-KR" altLang="en-US" sz="1400" dirty="0">
                <a:sym typeface="Wingdings" panose="05000000000000000000" pitchFamily="2" charset="2"/>
              </a:rPr>
              <a:t>타입</a:t>
            </a:r>
            <a:r>
              <a:rPr lang="en-US" altLang="ko-KR" sz="1400" dirty="0">
                <a:sym typeface="Wingdings" panose="05000000000000000000" pitchFamily="2" charset="2"/>
              </a:rPr>
              <a:t>(1byte)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dirty="0"/>
              <a:t>기본 타입을 허용 범위 순으로 나열하면 다음과 같다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byte&lt; short, char &lt; int &lt; long &lt; float &lt; double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정수 타입이 실수 타입으로 대입될 경우에는 무조건 자동 타입 변환이 된다</a:t>
            </a:r>
            <a:r>
              <a:rPr lang="en-US" altLang="ko-KR" sz="1400" dirty="0"/>
              <a:t>. </a:t>
            </a:r>
            <a:r>
              <a:rPr lang="ko-KR" altLang="en-US" sz="1400" dirty="0"/>
              <a:t>실수 타입은 정수 타입보다 허용 범위가 더 크기 때문에다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long a = 5000L;</a:t>
            </a:r>
          </a:p>
          <a:p>
            <a:pPr marL="0" indent="0">
              <a:buNone/>
            </a:pPr>
            <a:r>
              <a:rPr lang="en-US" altLang="ko-KR" sz="1400" dirty="0"/>
              <a:t>float b = a; //5000.0f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형변환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double c = a; //5000.0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형변환</a:t>
            </a:r>
            <a:endParaRPr lang="en-US" altLang="ko-KR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2C456F-C155-30CA-8E51-4C20D44E48B8}"/>
              </a:ext>
            </a:extLst>
          </p:cNvPr>
          <p:cNvSpPr/>
          <p:nvPr/>
        </p:nvSpPr>
        <p:spPr>
          <a:xfrm>
            <a:off x="60961" y="3703320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C2D577-A793-568F-99AE-1E7783542473}"/>
              </a:ext>
            </a:extLst>
          </p:cNvPr>
          <p:cNvSpPr/>
          <p:nvPr/>
        </p:nvSpPr>
        <p:spPr>
          <a:xfrm>
            <a:off x="1258825" y="3700272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218363-1287-5ABF-6880-54E7A03E0DD8}"/>
              </a:ext>
            </a:extLst>
          </p:cNvPr>
          <p:cNvSpPr/>
          <p:nvPr/>
        </p:nvSpPr>
        <p:spPr>
          <a:xfrm>
            <a:off x="2456689" y="3700272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1996A4-F0E2-02A4-8FB0-1F216DACFD00}"/>
              </a:ext>
            </a:extLst>
          </p:cNvPr>
          <p:cNvSpPr/>
          <p:nvPr/>
        </p:nvSpPr>
        <p:spPr>
          <a:xfrm>
            <a:off x="3654553" y="3700272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00001010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440CBF-46E0-A8DA-9A4F-7B277D64462B}"/>
              </a:ext>
            </a:extLst>
          </p:cNvPr>
          <p:cNvSpPr/>
          <p:nvPr/>
        </p:nvSpPr>
        <p:spPr>
          <a:xfrm>
            <a:off x="8098536" y="3700272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00001010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210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D659-EE81-DF83-8B2A-10DD2CA1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B990E-1154-2829-8D85-CC128E89E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자동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char</a:t>
            </a:r>
            <a:r>
              <a:rPr lang="ko-KR" altLang="en-US" sz="1400" dirty="0"/>
              <a:t>타입에 경우 </a:t>
            </a:r>
            <a:r>
              <a:rPr lang="en-US" altLang="ko-KR" sz="1400" dirty="0"/>
              <a:t>int </a:t>
            </a:r>
            <a:r>
              <a:rPr lang="ko-KR" altLang="en-US" sz="1400" dirty="0"/>
              <a:t>타입으로 자동 변환되면 유니코드 값이 </a:t>
            </a:r>
            <a:r>
              <a:rPr lang="en-US" altLang="ko-KR" sz="1400" dirty="0"/>
              <a:t>int </a:t>
            </a:r>
            <a:r>
              <a:rPr lang="ko-KR" altLang="en-US" sz="1400" dirty="0"/>
              <a:t>타입에 대입된다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char a = ‘A’;</a:t>
            </a:r>
          </a:p>
          <a:p>
            <a:pPr marL="0" indent="0">
              <a:buNone/>
            </a:pPr>
            <a:r>
              <a:rPr lang="en-US" altLang="ko-KR" sz="1400" dirty="0"/>
              <a:t>int b = a; //65</a:t>
            </a:r>
            <a:r>
              <a:rPr lang="ko-KR" altLang="en-US" sz="1400" dirty="0"/>
              <a:t>가 저장됨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자동 타입 변환에서 예외 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char</a:t>
            </a:r>
            <a:r>
              <a:rPr lang="ko-KR" altLang="en-US" sz="1400" dirty="0"/>
              <a:t>타입보다 허용 범위가 작은 </a:t>
            </a:r>
            <a:r>
              <a:rPr lang="en-US" altLang="ko-KR" sz="1400" dirty="0"/>
              <a:t>byte</a:t>
            </a:r>
            <a:r>
              <a:rPr lang="ko-KR" altLang="en-US" sz="1400" dirty="0"/>
              <a:t>타입은 </a:t>
            </a:r>
            <a:r>
              <a:rPr lang="en-US" altLang="ko-KR" sz="1400" dirty="0"/>
              <a:t>char</a:t>
            </a:r>
            <a:r>
              <a:rPr lang="ko-KR" altLang="en-US" sz="1400" dirty="0"/>
              <a:t>타입으로 자동 변환될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char</a:t>
            </a:r>
            <a:r>
              <a:rPr lang="ko-KR" altLang="en-US" sz="1400" dirty="0"/>
              <a:t> 타입의 허용 범위는 음수를 포함하지 않는데</a:t>
            </a:r>
            <a:r>
              <a:rPr lang="en-US" altLang="ko-KR" sz="1400" dirty="0"/>
              <a:t>, byte </a:t>
            </a:r>
            <a:r>
              <a:rPr lang="ko-KR" altLang="en-US" sz="1400" dirty="0"/>
              <a:t>타입은 음수를 포함하기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byte a = 65;</a:t>
            </a:r>
          </a:p>
          <a:p>
            <a:pPr marL="0" indent="0">
              <a:buNone/>
            </a:pPr>
            <a:r>
              <a:rPr lang="en-US" altLang="ko-KR" sz="1400" dirty="0"/>
              <a:t>char b = a; //</a:t>
            </a:r>
            <a:r>
              <a:rPr lang="ko-KR" altLang="en-US" sz="1400" dirty="0"/>
              <a:t>컴파일 에러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34009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9379-C6FD-B19A-7473-D776D4DD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CAE854-BCBB-DD54-CB23-E89C361BF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자동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PromotionExample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자동 타입 변환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byte </a:t>
            </a:r>
            <a:r>
              <a:rPr lang="en-US" altLang="ko-KR" sz="1400" dirty="0" err="1"/>
              <a:t>byteValue</a:t>
            </a:r>
            <a:r>
              <a:rPr lang="en-US" altLang="ko-KR" sz="1400" dirty="0"/>
              <a:t> = 10;</a:t>
            </a:r>
          </a:p>
          <a:p>
            <a:pPr marL="0" indent="0">
              <a:buNone/>
            </a:pPr>
            <a:r>
              <a:rPr lang="en-US" altLang="ko-KR" sz="1400" dirty="0"/>
              <a:t>		int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byteValue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char </a:t>
            </a:r>
            <a:r>
              <a:rPr lang="en-US" altLang="ko-KR" sz="1400" dirty="0" err="1"/>
              <a:t>charValue</a:t>
            </a:r>
            <a:r>
              <a:rPr lang="en-US" altLang="ko-KR" sz="1400" dirty="0"/>
              <a:t> = '</a:t>
            </a:r>
            <a:r>
              <a:rPr lang="ko-KR" altLang="en-US" sz="1400" dirty="0"/>
              <a:t>가</a:t>
            </a:r>
            <a:r>
              <a:rPr lang="en-US" altLang="ko-KR" sz="1400" dirty="0"/>
              <a:t>';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charValue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가의 유니코드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50;</a:t>
            </a:r>
          </a:p>
          <a:p>
            <a:pPr marL="0" indent="0">
              <a:buNone/>
            </a:pPr>
            <a:r>
              <a:rPr lang="en-US" altLang="ko-KR" sz="1400" dirty="0"/>
              <a:t>		long </a:t>
            </a:r>
            <a:r>
              <a:rPr lang="en-US" altLang="ko-KR" sz="1400" dirty="0" err="1"/>
              <a:t>longValue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;;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longValue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longValue</a:t>
            </a:r>
            <a:r>
              <a:rPr lang="en-US" altLang="ko-KR" sz="1400" dirty="0"/>
              <a:t>);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longValue</a:t>
            </a:r>
            <a:r>
              <a:rPr lang="en-US" altLang="ko-KR" sz="1400" dirty="0"/>
              <a:t> = 100;</a:t>
            </a:r>
          </a:p>
          <a:p>
            <a:pPr marL="0" indent="0">
              <a:buNone/>
            </a:pPr>
            <a:r>
              <a:rPr lang="en-US" altLang="ko-KR" sz="1400" dirty="0"/>
              <a:t>		float </a:t>
            </a:r>
            <a:r>
              <a:rPr lang="en-US" altLang="ko-KR" sz="1400" dirty="0" err="1"/>
              <a:t>floatValue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longValue</a:t>
            </a:r>
            <a:r>
              <a:rPr lang="en-US" altLang="ko-KR" sz="1400" dirty="0"/>
              <a:t>; 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floatValue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floatValue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floatValue</a:t>
            </a:r>
            <a:r>
              <a:rPr lang="en-US" altLang="ko-KR" sz="1400" dirty="0"/>
              <a:t> = 100.5F;</a:t>
            </a:r>
          </a:p>
          <a:p>
            <a:pPr marL="0" indent="0">
              <a:buNone/>
            </a:pPr>
            <a:r>
              <a:rPr lang="en-US" altLang="ko-KR" sz="1400" dirty="0"/>
              <a:t>		double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floatValue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30C82-AD85-15B9-7A0C-A9242E8C15EF}"/>
              </a:ext>
            </a:extLst>
          </p:cNvPr>
          <p:cNvSpPr txBox="1"/>
          <p:nvPr/>
        </p:nvSpPr>
        <p:spPr>
          <a:xfrm>
            <a:off x="5637276" y="275234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7971C-3714-3AC3-2BA0-92B118804AB2}"/>
              </a:ext>
            </a:extLst>
          </p:cNvPr>
          <p:cNvSpPr txBox="1"/>
          <p:nvPr/>
        </p:nvSpPr>
        <p:spPr>
          <a:xfrm>
            <a:off x="7968234" y="2690336"/>
            <a:ext cx="2807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ko-KR" sz="1800" dirty="0" err="1">
                <a:effectLst/>
                <a:latin typeface="Consolas" panose="020B0609020204030204" pitchFamily="49" charset="0"/>
              </a:rPr>
              <a:t>intValue</a:t>
            </a:r>
            <a:r>
              <a:rPr lang="en-US" altLang="ko-KR" sz="1800" dirty="0">
                <a:effectLst/>
                <a:latin typeface="Consolas" panose="020B0609020204030204" pitchFamily="49" charset="0"/>
              </a:rPr>
              <a:t>: 10</a:t>
            </a:r>
          </a:p>
          <a:p>
            <a:pPr marL="0" marR="0"/>
            <a:r>
              <a:rPr lang="ko-KR" altLang="en-US" sz="1800" dirty="0">
                <a:effectLst/>
                <a:latin typeface="Consolas" panose="020B0609020204030204" pitchFamily="49" charset="0"/>
              </a:rPr>
              <a:t>가의 유니코드</a:t>
            </a:r>
            <a:r>
              <a:rPr lang="en-US" altLang="ko-KR" sz="1800" dirty="0">
                <a:effectLst/>
                <a:latin typeface="Consolas" panose="020B0609020204030204" pitchFamily="49" charset="0"/>
              </a:rPr>
              <a:t>: 44032</a:t>
            </a:r>
          </a:p>
          <a:p>
            <a:pPr marL="0" marR="0"/>
            <a:r>
              <a:rPr lang="en-US" altLang="ko-KR" sz="1800" dirty="0" err="1">
                <a:effectLst/>
                <a:latin typeface="Consolas" panose="020B0609020204030204" pitchFamily="49" charset="0"/>
              </a:rPr>
              <a:t>longValue</a:t>
            </a:r>
            <a:r>
              <a:rPr lang="en-US" altLang="ko-KR" sz="1800" dirty="0">
                <a:effectLst/>
                <a:latin typeface="Consolas" panose="020B0609020204030204" pitchFamily="49" charset="0"/>
              </a:rPr>
              <a:t>: 50</a:t>
            </a:r>
          </a:p>
          <a:p>
            <a:pPr marL="0" marR="0"/>
            <a:r>
              <a:rPr lang="en-US" altLang="ko-KR" sz="1800" dirty="0" err="1">
                <a:effectLst/>
                <a:latin typeface="Consolas" panose="020B0609020204030204" pitchFamily="49" charset="0"/>
              </a:rPr>
              <a:t>floatValue</a:t>
            </a:r>
            <a:r>
              <a:rPr lang="en-US" altLang="ko-KR" sz="1800" dirty="0">
                <a:effectLst/>
                <a:latin typeface="Consolas" panose="020B0609020204030204" pitchFamily="49" charset="0"/>
              </a:rPr>
              <a:t>: 100.0</a:t>
            </a:r>
          </a:p>
          <a:p>
            <a:pPr marL="0" marR="0"/>
            <a:r>
              <a:rPr lang="en-US" altLang="ko-KR" sz="1800" dirty="0" err="1">
                <a:effectLst/>
                <a:latin typeface="Consolas" panose="020B0609020204030204" pitchFamily="49" charset="0"/>
              </a:rPr>
              <a:t>doubleValue</a:t>
            </a:r>
            <a:r>
              <a:rPr lang="en-US" altLang="ko-KR" sz="1800" dirty="0">
                <a:effectLst/>
                <a:latin typeface="Consolas" panose="020B0609020204030204" pitchFamily="49" charset="0"/>
              </a:rPr>
              <a:t>: 100.5</a:t>
            </a:r>
          </a:p>
        </p:txBody>
      </p:sp>
    </p:spTree>
    <p:extLst>
      <p:ext uri="{BB962C8B-B14F-4D97-AF65-F5344CB8AC3E}">
        <p14:creationId xmlns:p14="http://schemas.microsoft.com/office/powerpoint/2010/main" val="4127734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77BA-1C29-F2A0-F50E-F149CB4A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6BC7B9-61CA-90E9-6DBD-7C74687A1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강제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큰 허용 범위 타입을 작은 허용 범위 타입으로 강제로 나눠서 저장하는 것을 강제 타입 변환이라고 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강제 타입 변환은 캐스팅 연산자 괄호</a:t>
            </a:r>
            <a:r>
              <a:rPr lang="en-US" altLang="ko-KR" sz="1400" dirty="0"/>
              <a:t>()</a:t>
            </a:r>
            <a:r>
              <a:rPr lang="ko-KR" altLang="en-US" sz="1400" dirty="0"/>
              <a:t>를 사용한다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작은 허용 범위 타입 </a:t>
            </a:r>
            <a:r>
              <a:rPr lang="en-US" altLang="ko-KR" sz="1400" dirty="0"/>
              <a:t>= (</a:t>
            </a:r>
            <a:r>
              <a:rPr lang="ko-KR" altLang="en-US" sz="1400" dirty="0"/>
              <a:t>작은 허용 범위 타입</a:t>
            </a:r>
            <a:r>
              <a:rPr lang="en-US" altLang="ko-KR" sz="1400" dirty="0"/>
              <a:t>)</a:t>
            </a:r>
            <a:r>
              <a:rPr lang="ko-KR" altLang="en-US" sz="1400" dirty="0"/>
              <a:t>큰 허용 범위 타입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10;</a:t>
            </a:r>
          </a:p>
          <a:p>
            <a:pPr marL="0" indent="0">
              <a:buNone/>
            </a:pPr>
            <a:r>
              <a:rPr lang="en-US" altLang="ko-KR" sz="1400" dirty="0"/>
              <a:t>byte </a:t>
            </a:r>
            <a:r>
              <a:rPr lang="en-US" altLang="ko-KR" sz="1400" dirty="0" err="1"/>
              <a:t>byteValue</a:t>
            </a:r>
            <a:r>
              <a:rPr lang="en-US" altLang="ko-KR" sz="1400" dirty="0"/>
              <a:t> = (byte)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; //</a:t>
            </a:r>
            <a:r>
              <a:rPr lang="ko-KR" altLang="en-US" sz="1400" dirty="0"/>
              <a:t>강제 타입 변환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 </a:t>
            </a:r>
            <a:r>
              <a:rPr lang="ko-KR" altLang="en-US" sz="1400" dirty="0"/>
              <a:t>타입</a:t>
            </a:r>
            <a:r>
              <a:rPr lang="en-US" altLang="ko-KR" sz="1400" dirty="0"/>
              <a:t>(4byte)					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강제 타입 변환</a:t>
            </a:r>
            <a:r>
              <a:rPr lang="en-US" altLang="ko-KR" sz="1400" dirty="0">
                <a:sym typeface="Wingdings" panose="05000000000000000000" pitchFamily="2" charset="2"/>
              </a:rPr>
              <a:t>	           byte</a:t>
            </a:r>
            <a:r>
              <a:rPr lang="ko-KR" altLang="en-US" sz="1400" dirty="0">
                <a:sym typeface="Wingdings" panose="05000000000000000000" pitchFamily="2" charset="2"/>
              </a:rPr>
              <a:t>타입</a:t>
            </a:r>
            <a:r>
              <a:rPr lang="en-US" altLang="ko-KR" sz="1400" dirty="0">
                <a:sym typeface="Wingdings" panose="05000000000000000000" pitchFamily="2" charset="2"/>
              </a:rPr>
              <a:t>(1byte)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int </a:t>
            </a:r>
            <a:r>
              <a:rPr lang="ko-KR" altLang="en-US" sz="1400" dirty="0">
                <a:sym typeface="Wingdings" panose="05000000000000000000" pitchFamily="2" charset="2"/>
              </a:rPr>
              <a:t>타입은 </a:t>
            </a:r>
            <a:r>
              <a:rPr lang="en-US" altLang="ko-KR" sz="1400" dirty="0">
                <a:sym typeface="Wingdings" panose="05000000000000000000" pitchFamily="2" charset="2"/>
              </a:rPr>
              <a:t>byte</a:t>
            </a:r>
            <a:r>
              <a:rPr lang="ko-KR" altLang="en-US" sz="1400" dirty="0">
                <a:sym typeface="Wingdings" panose="05000000000000000000" pitchFamily="2" charset="2"/>
              </a:rPr>
              <a:t>타입보다 더 큰 허용 범위를 가진다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  <a:r>
              <a:rPr lang="ko-KR" altLang="en-US" sz="1400" dirty="0">
                <a:sym typeface="Wingdings" panose="05000000000000000000" pitchFamily="2" charset="2"/>
              </a:rPr>
              <a:t>따라서 </a:t>
            </a:r>
            <a:r>
              <a:rPr lang="en-US" altLang="ko-KR" sz="1400" dirty="0">
                <a:sym typeface="Wingdings" panose="05000000000000000000" pitchFamily="2" charset="2"/>
              </a:rPr>
              <a:t>int </a:t>
            </a:r>
            <a:r>
              <a:rPr lang="ko-KR" altLang="en-US" sz="1400" dirty="0">
                <a:sym typeface="Wingdings" panose="05000000000000000000" pitchFamily="2" charset="2"/>
              </a:rPr>
              <a:t>타입은 </a:t>
            </a:r>
            <a:r>
              <a:rPr lang="en-US" altLang="ko-KR" sz="1400" dirty="0">
                <a:sym typeface="Wingdings" panose="05000000000000000000" pitchFamily="2" charset="2"/>
              </a:rPr>
              <a:t>byte</a:t>
            </a:r>
            <a:r>
              <a:rPr lang="ko-KR" altLang="en-US" sz="1400" dirty="0">
                <a:sym typeface="Wingdings" panose="05000000000000000000" pitchFamily="2" charset="2"/>
              </a:rPr>
              <a:t>타입으로 자동 변환 되지 않는다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ko-KR" altLang="en-US" sz="1400" dirty="0">
                <a:sym typeface="Wingdings" panose="05000000000000000000" pitchFamily="2" charset="2"/>
              </a:rPr>
              <a:t>하지만 </a:t>
            </a:r>
            <a:r>
              <a:rPr lang="en-US" altLang="ko-KR" sz="1400" dirty="0">
                <a:sym typeface="Wingdings" panose="05000000000000000000" pitchFamily="2" charset="2"/>
              </a:rPr>
              <a:t>(byte)</a:t>
            </a:r>
            <a:r>
              <a:rPr lang="ko-KR" altLang="en-US" sz="1400" dirty="0">
                <a:sym typeface="Wingdings" panose="05000000000000000000" pitchFamily="2" charset="2"/>
              </a:rPr>
              <a:t>캐스팅 연산자 </a:t>
            </a:r>
            <a:r>
              <a:rPr lang="en-US" altLang="ko-KR" sz="1400" dirty="0">
                <a:sym typeface="Wingdings" panose="05000000000000000000" pitchFamily="2" charset="2"/>
              </a:rPr>
              <a:t>(byte)</a:t>
            </a:r>
            <a:r>
              <a:rPr lang="ko-KR" altLang="en-US" sz="1400" dirty="0">
                <a:sym typeface="Wingdings" panose="05000000000000000000" pitchFamily="2" charset="2"/>
              </a:rPr>
              <a:t>를 통해서 </a:t>
            </a:r>
            <a:r>
              <a:rPr lang="en-US" altLang="ko-KR" sz="1400" dirty="0">
                <a:sym typeface="Wingdings" panose="05000000000000000000" pitchFamily="2" charset="2"/>
              </a:rPr>
              <a:t>byte </a:t>
            </a:r>
            <a:r>
              <a:rPr lang="ko-KR" altLang="en-US" sz="1400" dirty="0">
                <a:sym typeface="Wingdings" panose="05000000000000000000" pitchFamily="2" charset="2"/>
              </a:rPr>
              <a:t>타입으로 강제 변환 시킬 수 있다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948FD2-B317-E198-1503-9C1EF8E68DE1}"/>
              </a:ext>
            </a:extLst>
          </p:cNvPr>
          <p:cNvSpPr/>
          <p:nvPr/>
        </p:nvSpPr>
        <p:spPr>
          <a:xfrm>
            <a:off x="0" y="3821015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A6A7D4-DED5-8CE8-8625-7A6A0341B24B}"/>
              </a:ext>
            </a:extLst>
          </p:cNvPr>
          <p:cNvSpPr/>
          <p:nvPr/>
        </p:nvSpPr>
        <p:spPr>
          <a:xfrm>
            <a:off x="1197864" y="3817967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AC66CE-DB80-363A-663F-00A40C64ECA8}"/>
              </a:ext>
            </a:extLst>
          </p:cNvPr>
          <p:cNvSpPr/>
          <p:nvPr/>
        </p:nvSpPr>
        <p:spPr>
          <a:xfrm>
            <a:off x="2395728" y="3817967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00000000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C1D57A-5E34-D14B-D56C-ED66E4FA06CB}"/>
              </a:ext>
            </a:extLst>
          </p:cNvPr>
          <p:cNvSpPr/>
          <p:nvPr/>
        </p:nvSpPr>
        <p:spPr>
          <a:xfrm>
            <a:off x="3593592" y="3817967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00001010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640832-9BB6-6CD9-47C9-8E540D926A38}"/>
              </a:ext>
            </a:extLst>
          </p:cNvPr>
          <p:cNvSpPr/>
          <p:nvPr/>
        </p:nvSpPr>
        <p:spPr>
          <a:xfrm>
            <a:off x="8037575" y="3817967"/>
            <a:ext cx="1197864" cy="356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00001010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220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5433-1918-2EB6-6D9F-37A4B924C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7F9D63-0E88-DFBD-30CE-239EBA958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강제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CastingExample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int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44032;</a:t>
            </a:r>
          </a:p>
          <a:p>
            <a:pPr marL="0" indent="0">
              <a:buNone/>
            </a:pPr>
            <a:r>
              <a:rPr lang="en-US" altLang="ko-KR" sz="1400" dirty="0"/>
              <a:t>        char </a:t>
            </a:r>
            <a:r>
              <a:rPr lang="en-US" altLang="ko-KR" sz="1400" dirty="0" err="1"/>
              <a:t>charValue</a:t>
            </a:r>
            <a:r>
              <a:rPr lang="en-US" altLang="ko-KR" sz="1400" dirty="0"/>
              <a:t> = (char)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; // int </a:t>
            </a:r>
            <a:r>
              <a:rPr lang="ko-KR" altLang="en-US" sz="1400" dirty="0"/>
              <a:t>타입을 </a:t>
            </a:r>
            <a:r>
              <a:rPr lang="en-US" altLang="ko-KR" sz="1400" dirty="0"/>
              <a:t>char </a:t>
            </a:r>
            <a:r>
              <a:rPr lang="ko-KR" altLang="en-US" sz="1400" dirty="0"/>
              <a:t>타입으로 강제 타입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charValue</a:t>
            </a:r>
            <a:r>
              <a:rPr lang="en-US" altLang="ko-KR" sz="1400" dirty="0"/>
              <a:t>); //44032</a:t>
            </a:r>
            <a:r>
              <a:rPr lang="ko-KR" altLang="en-US" sz="1400" dirty="0"/>
              <a:t>는 한글 </a:t>
            </a:r>
            <a:r>
              <a:rPr lang="en-US" altLang="ko-KR" sz="1400" dirty="0"/>
              <a:t>’</a:t>
            </a:r>
            <a:r>
              <a:rPr lang="ko-KR" altLang="en-US" sz="1400" dirty="0"/>
              <a:t>가</a:t>
            </a:r>
            <a:r>
              <a:rPr lang="en-US" altLang="ko-KR" sz="1400" dirty="0"/>
              <a:t>‘</a:t>
            </a:r>
            <a:r>
              <a:rPr lang="ko-KR" altLang="en-US" sz="1400" dirty="0"/>
              <a:t>의 유니코드 값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long </a:t>
            </a:r>
            <a:r>
              <a:rPr lang="en-US" altLang="ko-KR" sz="1400" dirty="0" err="1"/>
              <a:t>longValue</a:t>
            </a:r>
            <a:r>
              <a:rPr lang="en-US" altLang="ko-KR" sz="1400" dirty="0"/>
              <a:t> = 500;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(int) </a:t>
            </a:r>
            <a:r>
              <a:rPr lang="en-US" altLang="ko-KR" sz="1400" dirty="0" err="1"/>
              <a:t>longValue</a:t>
            </a:r>
            <a:r>
              <a:rPr lang="en-US" altLang="ko-KR" sz="1400" dirty="0"/>
              <a:t>; // long </a:t>
            </a:r>
            <a:r>
              <a:rPr lang="ko-KR" altLang="en-US" sz="1400" dirty="0"/>
              <a:t>타입을 </a:t>
            </a:r>
            <a:r>
              <a:rPr lang="en-US" altLang="ko-KR" sz="1400" dirty="0"/>
              <a:t>int </a:t>
            </a:r>
            <a:r>
              <a:rPr lang="ko-KR" altLang="en-US" sz="1400" dirty="0"/>
              <a:t>타입으로 강제 타입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); //500</a:t>
            </a:r>
            <a:r>
              <a:rPr lang="ko-KR" altLang="en-US" sz="1400" dirty="0"/>
              <a:t>은 </a:t>
            </a:r>
            <a:r>
              <a:rPr lang="en-US" altLang="ko-KR" sz="1400" dirty="0"/>
              <a:t>int</a:t>
            </a:r>
            <a:r>
              <a:rPr lang="ko-KR" altLang="en-US" sz="1400" dirty="0"/>
              <a:t>범위에</a:t>
            </a:r>
            <a:r>
              <a:rPr lang="en-US" altLang="ko-KR" sz="1400" dirty="0"/>
              <a:t> </a:t>
            </a:r>
            <a:r>
              <a:rPr lang="ko-KR" altLang="en-US" sz="1400" dirty="0"/>
              <a:t>속하기에 값의 변화가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double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 = 3.14; 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(int)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; // double </a:t>
            </a:r>
            <a:r>
              <a:rPr lang="ko-KR" altLang="en-US" sz="1400" dirty="0"/>
              <a:t>타입을 </a:t>
            </a:r>
            <a:r>
              <a:rPr lang="en-US" altLang="ko-KR" sz="1400" dirty="0"/>
              <a:t>int </a:t>
            </a:r>
            <a:r>
              <a:rPr lang="ko-KR" altLang="en-US" sz="1400" dirty="0"/>
              <a:t>타입으로 강제 타입 변환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); .//double</a:t>
            </a:r>
            <a:r>
              <a:rPr lang="ko-KR" altLang="en-US" sz="1400" dirty="0"/>
              <a:t>을 </a:t>
            </a:r>
            <a:r>
              <a:rPr lang="en-US" altLang="ko-KR" sz="1400" dirty="0"/>
              <a:t>int</a:t>
            </a:r>
            <a:r>
              <a:rPr lang="ko-KR" altLang="en-US" sz="1400" dirty="0"/>
              <a:t>로 변환할 때 소수점 이하 값이 손실되어 정수 부분만 남는다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    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BF058D-8FD3-905A-DE23-E61DAA0D0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77" y="2284633"/>
            <a:ext cx="1668338" cy="150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01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1553-AE3C-2E0E-CD4C-4EB61BAD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FB84F-A4DE-3AAC-EDC2-82B427235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정수 연산에서의 자동 타입변환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정수 타입 변수가 연산식에서 피연산자로 사용되면 </a:t>
            </a:r>
            <a:r>
              <a:rPr lang="en-US" altLang="ko-KR" sz="1400" dirty="0"/>
              <a:t>int </a:t>
            </a:r>
            <a:r>
              <a:rPr lang="ko-KR" altLang="en-US" sz="1400" dirty="0"/>
              <a:t>타입보다 작은 </a:t>
            </a:r>
            <a:r>
              <a:rPr lang="en-US" altLang="ko-KR" sz="1400" dirty="0"/>
              <a:t>byte, short </a:t>
            </a:r>
            <a:r>
              <a:rPr lang="ko-KR" altLang="en-US" sz="1400" dirty="0"/>
              <a:t>타입 변수는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타입으로 자동 타입 변환되어 연산을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byte x = 10;</a:t>
            </a:r>
          </a:p>
          <a:p>
            <a:pPr marL="0" indent="0">
              <a:buNone/>
            </a:pPr>
            <a:r>
              <a:rPr lang="en-US" altLang="ko-KR" sz="1400" dirty="0"/>
              <a:t>byte y = 20;</a:t>
            </a:r>
          </a:p>
          <a:p>
            <a:pPr marL="0" indent="0">
              <a:buNone/>
            </a:pPr>
            <a:r>
              <a:rPr lang="en-US" altLang="ko-KR" sz="1400" dirty="0"/>
              <a:t>byte result = x + y; </a:t>
            </a:r>
          </a:p>
          <a:p>
            <a:pPr marL="0" indent="0">
              <a:buNone/>
            </a:pPr>
            <a:r>
              <a:rPr lang="en-US" altLang="ko-KR" sz="1400" dirty="0"/>
              <a:t>//byte</a:t>
            </a:r>
            <a:r>
              <a:rPr lang="ko-KR" altLang="en-US" sz="1400" dirty="0"/>
              <a:t>형 변수 </a:t>
            </a:r>
            <a:r>
              <a:rPr lang="en-US" altLang="ko-KR" sz="1400" dirty="0"/>
              <a:t>x</a:t>
            </a:r>
            <a:r>
              <a:rPr lang="ko-KR" altLang="en-US" sz="1400" dirty="0"/>
              <a:t>와 </a:t>
            </a:r>
            <a:r>
              <a:rPr lang="en-US" altLang="ko-KR" sz="1400" dirty="0"/>
              <a:t>y</a:t>
            </a:r>
            <a:r>
              <a:rPr lang="ko-KR" altLang="en-US" sz="1400" dirty="0"/>
              <a:t>와 피연산자로 사용되었다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이때 </a:t>
            </a:r>
            <a:r>
              <a:rPr lang="en-US" altLang="ko-KR" sz="1400" dirty="0"/>
              <a:t>x</a:t>
            </a:r>
            <a:r>
              <a:rPr lang="ko-KR" altLang="en-US" sz="1400" dirty="0"/>
              <a:t>와 </a:t>
            </a:r>
            <a:r>
              <a:rPr lang="en-US" altLang="ko-KR" sz="1400" dirty="0"/>
              <a:t>y</a:t>
            </a:r>
            <a:r>
              <a:rPr lang="ko-KR" altLang="en-US" sz="1400" dirty="0"/>
              <a:t>는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타입으로 변환됨으로 </a:t>
            </a:r>
            <a:r>
              <a:rPr lang="en-US" altLang="ko-KR" sz="1400" dirty="0"/>
              <a:t>byte</a:t>
            </a:r>
            <a:r>
              <a:rPr lang="ko-KR" altLang="en-US" sz="1400" dirty="0"/>
              <a:t>형 변수 </a:t>
            </a:r>
            <a:r>
              <a:rPr lang="en-US" altLang="ko-KR" sz="1400" dirty="0"/>
              <a:t>result</a:t>
            </a:r>
            <a:r>
              <a:rPr lang="ko-KR" altLang="en-US" sz="1400" dirty="0"/>
              <a:t>에 담을 수 없다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따라서 다음과 같이 코드를 바꾸어야 한다</a:t>
            </a:r>
            <a:r>
              <a:rPr lang="en-US" altLang="ko-KR" sz="1400" dirty="0"/>
              <a:t>. int result = x + y; 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ByteOperationExample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byte result1 = 10 + 20; //</a:t>
            </a:r>
            <a:r>
              <a:rPr lang="ko-KR" altLang="en-US" sz="1400" dirty="0"/>
              <a:t>피연산자가 변수가 아니므로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타입으로 변환하지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(result1);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byte x = 10;</a:t>
            </a:r>
          </a:p>
          <a:p>
            <a:pPr marL="0" indent="0">
              <a:buNone/>
            </a:pPr>
            <a:r>
              <a:rPr lang="en-US" altLang="ko-KR" sz="1400" dirty="0"/>
              <a:t>		byte y = 20;</a:t>
            </a:r>
          </a:p>
          <a:p>
            <a:pPr marL="0" indent="0">
              <a:buNone/>
            </a:pPr>
            <a:r>
              <a:rPr lang="en-US" altLang="ko-KR" sz="1400" dirty="0"/>
              <a:t>		int result2 = x + y; //</a:t>
            </a:r>
            <a:r>
              <a:rPr lang="ko-KR" altLang="en-US" sz="1400" dirty="0"/>
              <a:t>피연산자가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 보다 작은 변수이므로 </a:t>
            </a:r>
            <a:r>
              <a:rPr lang="en-US" altLang="ko-KR" sz="1400" dirty="0"/>
              <a:t>int</a:t>
            </a:r>
            <a:r>
              <a:rPr lang="ko-KR" altLang="en-US" sz="1400" dirty="0"/>
              <a:t>로 자동 타입 변환되어 연산을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(result2);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51530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3DBD2-47C4-C85D-DCD9-6125BA86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DD1EA-62D8-DA4C-015A-4ADD25890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정수 연산에서의 자동 타입변환 예외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정수 연산시에서 모든 변수가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타입으로 변환 되는 것은 아니다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피연사들 중에 허용범위가 큰 타입으로 변환되어 연산을 수행한다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피연산자중 가장 큰 타입이 </a:t>
            </a:r>
            <a:r>
              <a:rPr lang="en-US" altLang="ko-KR" sz="1400" dirty="0"/>
              <a:t>long</a:t>
            </a:r>
            <a:r>
              <a:rPr lang="ko-KR" altLang="en-US" sz="1400" dirty="0"/>
              <a:t>이라면</a:t>
            </a:r>
            <a:r>
              <a:rPr lang="en-US" altLang="ko-KR" sz="1400" dirty="0"/>
              <a:t>, </a:t>
            </a:r>
            <a:r>
              <a:rPr lang="ko-KR" altLang="en-US" sz="1400" dirty="0"/>
              <a:t>나머지 피연산자들도 </a:t>
            </a:r>
            <a:r>
              <a:rPr lang="en-US" altLang="ko-KR" sz="1400" dirty="0"/>
              <a:t>long</a:t>
            </a:r>
            <a:r>
              <a:rPr lang="ko-KR" altLang="en-US" sz="1400" dirty="0"/>
              <a:t>형으로 타입을 변환하고 연산을 수행한다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이 경우는 </a:t>
            </a:r>
            <a:r>
              <a:rPr lang="en-US" altLang="ko-KR" sz="1400" dirty="0"/>
              <a:t>long</a:t>
            </a:r>
            <a:r>
              <a:rPr lang="ko-KR" altLang="en-US" sz="1400" dirty="0"/>
              <a:t>타입 변수에 결과를 저장하여야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LongOperationExample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byte value1 = 10;</a:t>
            </a:r>
          </a:p>
          <a:p>
            <a:pPr marL="0" indent="0">
              <a:buNone/>
            </a:pPr>
            <a:r>
              <a:rPr lang="en-US" altLang="ko-KR" sz="1400" dirty="0"/>
              <a:t>		int value2 = 100;</a:t>
            </a:r>
          </a:p>
          <a:p>
            <a:pPr marL="0" indent="0">
              <a:buNone/>
            </a:pPr>
            <a:r>
              <a:rPr lang="en-US" altLang="ko-KR" sz="1400" dirty="0"/>
              <a:t>		long value3 = 1000L;</a:t>
            </a:r>
          </a:p>
          <a:p>
            <a:pPr marL="0" indent="0">
              <a:buNone/>
            </a:pPr>
            <a:r>
              <a:rPr lang="en-US" altLang="ko-KR" sz="1400" dirty="0"/>
              <a:t>		long result = value1 + value2 + value3; </a:t>
            </a:r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피연산자의 타입이 </a:t>
            </a:r>
            <a:r>
              <a:rPr lang="en-US" altLang="ko-KR" sz="1400" dirty="0"/>
              <a:t>byte, int, long</a:t>
            </a:r>
            <a:r>
              <a:rPr lang="ko-KR" altLang="en-US" sz="1400" dirty="0"/>
              <a:t>중에 </a:t>
            </a:r>
            <a:r>
              <a:rPr lang="en-US" altLang="ko-KR" sz="1400" dirty="0"/>
              <a:t>long</a:t>
            </a:r>
            <a:r>
              <a:rPr lang="ko-KR" altLang="en-US" sz="1400" dirty="0"/>
              <a:t>이 가장 크므로 </a:t>
            </a:r>
            <a:r>
              <a:rPr lang="en-US" altLang="ko-KR" sz="1400" dirty="0"/>
              <a:t>value1, value2</a:t>
            </a:r>
            <a:r>
              <a:rPr lang="ko-KR" altLang="en-US" sz="1400" dirty="0"/>
              <a:t>를 </a:t>
            </a:r>
            <a:r>
              <a:rPr lang="en-US" altLang="ko-KR" sz="1400" dirty="0"/>
              <a:t>long</a:t>
            </a:r>
            <a:r>
              <a:rPr lang="ko-KR" altLang="en-US" sz="1400" dirty="0"/>
              <a:t>으로 강제 타입 변환을 한 후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연산을 진행한다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(result);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63ACE7-87DB-6E98-67C7-15030DB5D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855" y="3429000"/>
            <a:ext cx="1616580" cy="85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73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3801-8E11-B9AF-A8BE-2E3FAFB8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73A17-6E78-F926-4718-8FBB73E2B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실수 연산에서의 자동 타입변환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실수 타입 변수가 산술 연산식에서 피연산자로 사용될 경우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피연산자중 하나라도 </a:t>
            </a:r>
            <a:r>
              <a:rPr lang="en-US" altLang="ko-KR" sz="1400" dirty="0"/>
              <a:t>double</a:t>
            </a:r>
            <a:r>
              <a:rPr lang="ko-KR" altLang="en-US" sz="1400" dirty="0"/>
              <a:t>타입이면 다른 피연산자도 </a:t>
            </a:r>
            <a:r>
              <a:rPr lang="en-US" altLang="ko-KR" sz="1400" dirty="0"/>
              <a:t>double</a:t>
            </a:r>
            <a:r>
              <a:rPr lang="ko-KR" altLang="en-US" sz="1400" dirty="0"/>
              <a:t>타입으로 자동 변환되어 연산을 수행한다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</a:t>
            </a:r>
            <a:r>
              <a:rPr lang="ko-KR" altLang="en-US" sz="1400" dirty="0"/>
              <a:t>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10;</a:t>
            </a:r>
          </a:p>
          <a:p>
            <a:pPr marL="0" indent="0">
              <a:buNone/>
            </a:pPr>
            <a:r>
              <a:rPr lang="en-US" altLang="ko-KR" sz="1400" dirty="0"/>
              <a:t>double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 = 5.5;</a:t>
            </a:r>
          </a:p>
          <a:p>
            <a:pPr marL="0" indent="0">
              <a:buNone/>
            </a:pPr>
            <a:r>
              <a:rPr lang="en-US" altLang="ko-KR" sz="1400" dirty="0"/>
              <a:t>double result =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+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실수 타입 변수 </a:t>
            </a:r>
            <a:r>
              <a:rPr lang="en-US" altLang="ko-KR" sz="1400" dirty="0" err="1"/>
              <a:t>doubleVaule</a:t>
            </a:r>
            <a:r>
              <a:rPr lang="ko-KR" altLang="en-US" sz="1400" dirty="0"/>
              <a:t>가 피연산자로 사용됐으므로 </a:t>
            </a:r>
            <a:r>
              <a:rPr lang="en-US" altLang="ko-KR" sz="1400" dirty="0" err="1"/>
              <a:t>intValue</a:t>
            </a:r>
            <a:r>
              <a:rPr lang="ko-KR" altLang="en-US" sz="1400" dirty="0"/>
              <a:t>도 </a:t>
            </a:r>
            <a:r>
              <a:rPr lang="en-US" altLang="ko-KR" sz="1400" dirty="0" err="1"/>
              <a:t>doubleValue</a:t>
            </a:r>
            <a:r>
              <a:rPr lang="ko-KR" altLang="en-US" sz="1400" dirty="0"/>
              <a:t>로 자동 변환되어 연산을 수행한다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만약 </a:t>
            </a:r>
            <a:r>
              <a:rPr lang="en-US" altLang="ko-KR" sz="1400" dirty="0"/>
              <a:t>int</a:t>
            </a:r>
            <a:r>
              <a:rPr lang="ko-KR" altLang="en-US" sz="1400" dirty="0"/>
              <a:t>타입에 결과를 담고 싶다면 피연산자를 강제 변환 하면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int</a:t>
            </a:r>
            <a:r>
              <a:rPr lang="ko-KR" altLang="en-US" sz="1400" dirty="0"/>
              <a:t>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10;</a:t>
            </a:r>
          </a:p>
          <a:p>
            <a:pPr marL="0" indent="0">
              <a:buNone/>
            </a:pPr>
            <a:r>
              <a:rPr lang="en-US" altLang="ko-KR" sz="1400" dirty="0"/>
              <a:t>double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 = 5.5;</a:t>
            </a:r>
          </a:p>
          <a:p>
            <a:pPr marL="0" indent="0">
              <a:buNone/>
            </a:pPr>
            <a:r>
              <a:rPr lang="en-US" altLang="ko-KR" sz="1400" dirty="0"/>
              <a:t>double result =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+(int)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; //10 + 5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82780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0A05-4D87-5579-C1D6-F82549C0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3C9E5-9E6D-44E6-87E2-7E953DF9B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OperationsPromotionExample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	</a:t>
            </a:r>
          </a:p>
          <a:p>
            <a:pPr marL="0" indent="0">
              <a:buNone/>
            </a:pPr>
            <a:r>
              <a:rPr lang="en-US" altLang="ko-KR" sz="1400" dirty="0"/>
              <a:t>		byte byteValue1 = 10;</a:t>
            </a:r>
          </a:p>
          <a:p>
            <a:pPr marL="0" indent="0">
              <a:buNone/>
            </a:pPr>
            <a:r>
              <a:rPr lang="en-US" altLang="ko-KR" sz="1400" dirty="0"/>
              <a:t>		byte byteValue2 = 20;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ko-KR" altLang="en-US" sz="1400" dirty="0"/>
              <a:t>	</a:t>
            </a:r>
            <a:r>
              <a:rPr lang="en-US" altLang="ko-KR" sz="1400" dirty="0"/>
              <a:t>int intValue1 = byteValue1 + byteValue2; //</a:t>
            </a:r>
            <a:r>
              <a:rPr lang="ko-KR" altLang="en-US" sz="1400" dirty="0"/>
              <a:t>피연산자가 </a:t>
            </a:r>
            <a:r>
              <a:rPr lang="en-US" altLang="ko-KR" sz="1400" dirty="0"/>
              <a:t>int</a:t>
            </a:r>
            <a:r>
              <a:rPr lang="ko-KR" altLang="en-US" sz="1400" dirty="0"/>
              <a:t>보다 작으므로 </a:t>
            </a:r>
            <a:r>
              <a:rPr lang="en-US" altLang="ko-KR" sz="1400" dirty="0"/>
              <a:t>int</a:t>
            </a:r>
            <a:r>
              <a:rPr lang="ko-KR" altLang="en-US" sz="1400" dirty="0"/>
              <a:t>로 강제변환후 계산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(intValue1);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char charValue1 = 'A';</a:t>
            </a:r>
          </a:p>
          <a:p>
            <a:pPr marL="0" indent="0">
              <a:buNone/>
            </a:pPr>
            <a:r>
              <a:rPr lang="en-US" altLang="ko-KR" sz="1400" dirty="0"/>
              <a:t>		char charValue2 = 1;</a:t>
            </a:r>
          </a:p>
          <a:p>
            <a:pPr marL="0" indent="0">
              <a:buNone/>
            </a:pPr>
            <a:r>
              <a:rPr lang="en-US" altLang="ko-KR" sz="1400" dirty="0"/>
              <a:t>		int intValue2 = charValue1 + charValue2; //</a:t>
            </a:r>
            <a:r>
              <a:rPr lang="ko-KR" altLang="en-US" sz="1400" dirty="0"/>
              <a:t>피연산자가 </a:t>
            </a:r>
            <a:r>
              <a:rPr lang="en-US" altLang="ko-KR" sz="1400" dirty="0"/>
              <a:t>int</a:t>
            </a:r>
            <a:r>
              <a:rPr lang="ko-KR" altLang="en-US" sz="1400" dirty="0"/>
              <a:t>보다 작으므로 </a:t>
            </a:r>
            <a:r>
              <a:rPr lang="en-US" altLang="ko-KR" sz="1400" dirty="0"/>
              <a:t>char</a:t>
            </a:r>
            <a:r>
              <a:rPr lang="ko-KR" altLang="en-US" sz="1400" dirty="0"/>
              <a:t>로 강제변환후 계산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유니코드</a:t>
            </a:r>
            <a:r>
              <a:rPr lang="en-US" altLang="ko-KR" sz="1400" dirty="0"/>
              <a:t>=" + intValue2); 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출력문자</a:t>
            </a:r>
            <a:r>
              <a:rPr lang="en-US" altLang="ko-KR" sz="1400" dirty="0"/>
              <a:t>=" + (char)intValue2); //intValue2</a:t>
            </a:r>
            <a:r>
              <a:rPr lang="ko-KR" altLang="en-US" sz="1400" dirty="0"/>
              <a:t>를 </a:t>
            </a:r>
            <a:r>
              <a:rPr lang="en-US" altLang="ko-KR" sz="1400" dirty="0"/>
              <a:t>char</a:t>
            </a:r>
            <a:r>
              <a:rPr lang="ko-KR" altLang="en-US" sz="1400" dirty="0"/>
              <a:t>로 강제 타입변환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int intValue3 = 10;</a:t>
            </a:r>
          </a:p>
          <a:p>
            <a:pPr marL="0" indent="0">
              <a:buNone/>
            </a:pPr>
            <a:r>
              <a:rPr lang="en-US" altLang="ko-KR" sz="1400" dirty="0"/>
              <a:t>		int intValue4 = intValue3/4; //</a:t>
            </a:r>
            <a:r>
              <a:rPr lang="ko-KR" altLang="en-US" sz="1400" dirty="0"/>
              <a:t>정수 값인 </a:t>
            </a:r>
            <a:r>
              <a:rPr lang="en-US" altLang="ko-KR" sz="1400" dirty="0"/>
              <a:t>intValue3</a:t>
            </a:r>
            <a:r>
              <a:rPr lang="ko-KR" altLang="en-US" sz="1400" dirty="0"/>
              <a:t>를 정수 값인 </a:t>
            </a:r>
            <a:r>
              <a:rPr lang="en-US" altLang="ko-KR" sz="1400" dirty="0"/>
              <a:t>4</a:t>
            </a:r>
            <a:r>
              <a:rPr lang="ko-KR" altLang="en-US" sz="1400" dirty="0"/>
              <a:t>로 나눈다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(intValue4); //2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int intValue5 = 10;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double 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 = intValue5 / 4.0; //</a:t>
            </a:r>
            <a:r>
              <a:rPr lang="ko-KR" altLang="en-US" sz="1400" dirty="0"/>
              <a:t>피연산자중 </a:t>
            </a:r>
            <a:r>
              <a:rPr lang="ko-KR" altLang="en-US" sz="1400" dirty="0" err="1"/>
              <a:t>실수값이</a:t>
            </a:r>
            <a:r>
              <a:rPr lang="ko-KR" altLang="en-US" sz="1400" dirty="0"/>
              <a:t> 있으면 나머지 피연산자도 </a:t>
            </a:r>
            <a:r>
              <a:rPr lang="en-US" altLang="ko-KR" sz="1400" dirty="0"/>
              <a:t>double</a:t>
            </a:r>
            <a:r>
              <a:rPr lang="ko-KR" altLang="en-US" sz="1400" dirty="0"/>
              <a:t>로 자동 타입 변환이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doubleValue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int x = 1;</a:t>
            </a:r>
          </a:p>
          <a:p>
            <a:pPr marL="0" indent="0">
              <a:buNone/>
            </a:pPr>
            <a:r>
              <a:rPr lang="en-US" altLang="ko-KR" sz="1400" dirty="0"/>
              <a:t>		int y = 2;</a:t>
            </a:r>
          </a:p>
          <a:p>
            <a:pPr marL="0" indent="0">
              <a:buNone/>
            </a:pPr>
            <a:r>
              <a:rPr lang="en-US" altLang="ko-KR" sz="1400" dirty="0"/>
              <a:t>		double result = (double) x / y; //</a:t>
            </a:r>
            <a:r>
              <a:rPr lang="ko-KR" altLang="en-US" sz="1400" dirty="0"/>
              <a:t>피연산자중 </a:t>
            </a:r>
            <a:r>
              <a:rPr lang="ko-KR" altLang="en-US" sz="1400" dirty="0" err="1"/>
              <a:t>실수값이</a:t>
            </a:r>
            <a:r>
              <a:rPr lang="ko-KR" altLang="en-US" sz="1400" dirty="0"/>
              <a:t> 있으면 나머지 피연산자도 </a:t>
            </a:r>
            <a:r>
              <a:rPr lang="en-US" altLang="ko-KR" sz="1400" dirty="0"/>
              <a:t>double</a:t>
            </a:r>
            <a:r>
              <a:rPr lang="ko-KR" altLang="en-US" sz="1400" dirty="0"/>
              <a:t>로 자동 타입 변환이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(result);</a:t>
            </a:r>
          </a:p>
          <a:p>
            <a:pPr marL="0" indent="0">
              <a:buNone/>
            </a:pPr>
            <a:r>
              <a:rPr lang="en-US" altLang="ko-KR" sz="1400" dirty="0"/>
              <a:t>	}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A3BDD7-EFB1-986B-EDBA-DF7B8F2EF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077" y="2199048"/>
            <a:ext cx="1601193" cy="18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42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E1AE-CDB9-72A3-8FFA-0AB25D63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94301-99ED-BEE7-315D-4C4E30FDF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+</a:t>
            </a:r>
            <a:r>
              <a:rPr lang="ko-KR" altLang="en-US" sz="1400" b="1" dirty="0"/>
              <a:t>연산에서의 문자열 자동 타입 변환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+</a:t>
            </a:r>
            <a:r>
              <a:rPr lang="ko-KR" altLang="en-US" sz="1400" dirty="0"/>
              <a:t>연산에서 피연산자중 하나가 문자열일 경우 나머지 피연산자도 문자열로 자동 변환되어 문자열 결합 연산을 수행한다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int value = 3 + 7; //10</a:t>
            </a:r>
          </a:p>
          <a:p>
            <a:pPr marL="0" indent="0">
              <a:buNone/>
            </a:pPr>
            <a:r>
              <a:rPr lang="en-US" altLang="ko-KR" sz="1400" dirty="0"/>
              <a:t>String str = “3” + 7; // </a:t>
            </a:r>
            <a:r>
              <a:rPr lang="ko-KR" altLang="en-US" sz="1400" dirty="0"/>
              <a:t>피연산자중에 문자열이 있으므로 </a:t>
            </a:r>
            <a:r>
              <a:rPr lang="en-US" altLang="ko-KR" sz="1400" dirty="0"/>
              <a:t>7</a:t>
            </a:r>
            <a:r>
              <a:rPr lang="ko-KR" altLang="en-US" sz="1400" dirty="0"/>
              <a:t>이 </a:t>
            </a:r>
            <a:r>
              <a:rPr lang="en-US" altLang="ko-KR" sz="1400" dirty="0"/>
              <a:t>“7”</a:t>
            </a:r>
            <a:r>
              <a:rPr lang="ko-KR" altLang="en-US" sz="1400" dirty="0"/>
              <a:t>이 되어 결과값은 </a:t>
            </a:r>
            <a:r>
              <a:rPr lang="en-US" altLang="ko-KR" sz="1400" dirty="0"/>
              <a:t>“37”</a:t>
            </a:r>
            <a:r>
              <a:rPr lang="ko-KR" altLang="en-US" sz="1400" dirty="0"/>
              <a:t>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String str = 3 + “7”; // </a:t>
            </a:r>
            <a:r>
              <a:rPr lang="ko-KR" altLang="en-US" sz="1400" dirty="0"/>
              <a:t>피연산자중에 문자열이 있으므로 </a:t>
            </a:r>
            <a:r>
              <a:rPr lang="en-US" altLang="ko-KR" sz="1400" dirty="0"/>
              <a:t>3</a:t>
            </a:r>
            <a:r>
              <a:rPr lang="ko-KR" altLang="en-US" sz="1400" dirty="0"/>
              <a:t>이 </a:t>
            </a:r>
            <a:r>
              <a:rPr lang="en-US" altLang="ko-KR" sz="1400" dirty="0"/>
              <a:t>“3”</a:t>
            </a:r>
            <a:r>
              <a:rPr lang="ko-KR" altLang="en-US" sz="1400" dirty="0"/>
              <a:t>이 되어 결과값은 </a:t>
            </a:r>
            <a:r>
              <a:rPr lang="en-US" altLang="ko-KR" sz="1400" dirty="0"/>
              <a:t>“37”</a:t>
            </a:r>
            <a:r>
              <a:rPr lang="ko-KR" altLang="en-US" sz="1400" dirty="0"/>
              <a:t>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먼저 수행된 결과가 일반 덧셈 연산이라면 덧셈결과를 유지한 후에 문자열 결합 연산을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먼저 수행된 결과가 문자열 결합 연산이라면 문자열 결합 결과를 유지한 후에 덧셈 연산을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String str 1 + 2 + “3”; // 3+”3” </a:t>
            </a:r>
            <a:r>
              <a:rPr lang="en-US" altLang="ko-KR" sz="1400" dirty="0">
                <a:sym typeface="Wingdings" panose="05000000000000000000" pitchFamily="2" charset="2"/>
              </a:rPr>
              <a:t> 33</a:t>
            </a:r>
          </a:p>
          <a:p>
            <a:pPr marL="0" indent="0">
              <a:buNone/>
            </a:pPr>
            <a:r>
              <a:rPr lang="en-US" altLang="ko-KR" sz="1400" dirty="0"/>
              <a:t>String str 1+ “2” + 3; // ”12” + 3 </a:t>
            </a:r>
            <a:r>
              <a:rPr lang="en-US" altLang="ko-KR" sz="1400" dirty="0">
                <a:sym typeface="Wingdings" panose="05000000000000000000" pitchFamily="2" charset="2"/>
              </a:rPr>
              <a:t>123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String str “1”+ 2 + 3; // “12” + 3 </a:t>
            </a:r>
            <a:r>
              <a:rPr lang="en-US" altLang="ko-KR" sz="1400" dirty="0">
                <a:sym typeface="Wingdings" panose="05000000000000000000" pitchFamily="2" charset="2"/>
              </a:rPr>
              <a:t>123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84454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7F1C-1CF6-9A4C-7544-9BF32F1F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CBEEA-4B18-972A-68F3-C90B6474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+</a:t>
            </a:r>
            <a:r>
              <a:rPr lang="ko-KR" altLang="en-US" sz="1400" b="1" dirty="0"/>
              <a:t>연산에서의 문자열 자동 타입 변환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StringConcatExample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숫자 연산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int value = 10 + 2 + 8;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("value: " + value);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//</a:t>
            </a:r>
            <a:r>
              <a:rPr lang="ko-KR" altLang="en-US" sz="1400" dirty="0"/>
              <a:t>결합 연산</a:t>
            </a:r>
          </a:p>
          <a:p>
            <a:pPr marL="0" indent="0">
              <a:buNone/>
            </a:pPr>
            <a:r>
              <a:rPr lang="ko-KR" altLang="en-US" sz="1400" dirty="0"/>
              <a:t>		</a:t>
            </a:r>
            <a:r>
              <a:rPr lang="en-US" altLang="ko-KR" sz="1400" dirty="0"/>
              <a:t>String str1 = 10 + 2 + "8";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("str1: " + str1); // 12 + “8” </a:t>
            </a:r>
            <a:r>
              <a:rPr lang="en-US" altLang="ko-KR" sz="1400" dirty="0">
                <a:sym typeface="Wingdings" panose="05000000000000000000" pitchFamily="2" charset="2"/>
              </a:rPr>
              <a:t>128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String str2 = 10 + "2" + 8;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("str2: " + str2); // “102” + 8 </a:t>
            </a:r>
            <a:r>
              <a:rPr lang="en-US" altLang="ko-KR" sz="1400" dirty="0">
                <a:sym typeface="Wingdings" panose="05000000000000000000" pitchFamily="2" charset="2"/>
              </a:rPr>
              <a:t> 1028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String str3 = "10" + 2 + 8;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("str3: " + str3); // “102” + 8 </a:t>
            </a:r>
            <a:r>
              <a:rPr lang="en-US" altLang="ko-KR" sz="1400" dirty="0">
                <a:sym typeface="Wingdings" panose="05000000000000000000" pitchFamily="2" charset="2"/>
              </a:rPr>
              <a:t> 1028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</a:t>
            </a:r>
          </a:p>
          <a:p>
            <a:pPr marL="0" indent="0">
              <a:buNone/>
            </a:pPr>
            <a:r>
              <a:rPr lang="en-US" altLang="ko-KR" sz="1400" dirty="0"/>
              <a:t>		String str4 = "10" + (2 + 8);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("str4: " + str4); //”10” + 10 </a:t>
            </a:r>
            <a:r>
              <a:rPr lang="en-US" altLang="ko-KR" sz="1400" dirty="0">
                <a:sym typeface="Wingdings" panose="05000000000000000000" pitchFamily="2" charset="2"/>
              </a:rPr>
              <a:t> 1010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88D9EB-F6D0-5B95-06E4-67DFA3848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569" y="2080364"/>
            <a:ext cx="2145200" cy="226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9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8062-9E97-4BA1-DDAC-1B2FA0C6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34F25-0322-1B40-BE84-2A6897CEA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변수와 시스템 출력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지금까지 변수를 출력하기 위해서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</a:t>
            </a:r>
            <a:r>
              <a:rPr lang="ko-KR" altLang="en-US" sz="1400" dirty="0"/>
              <a:t>을 사용하였다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System : </a:t>
            </a:r>
            <a:r>
              <a:rPr lang="en-US" altLang="ko-KR" sz="1400" dirty="0" err="1"/>
              <a:t>java.lang</a:t>
            </a:r>
            <a:r>
              <a:rPr lang="ko-KR" altLang="en-US" sz="1400" dirty="0"/>
              <a:t>패키지에 </a:t>
            </a:r>
            <a:r>
              <a:rPr lang="ko-KR" altLang="en-US" sz="1400" dirty="0" err="1"/>
              <a:t>속해있는</a:t>
            </a:r>
            <a:r>
              <a:rPr lang="ko-KR" altLang="en-US" sz="1400" dirty="0"/>
              <a:t> 자바 표준 라이브러리에 포함된 클래스이다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이 클래스는 입출력 관련 기능을 제공한다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out: System </a:t>
            </a:r>
            <a:r>
              <a:rPr lang="ko-KR" altLang="en-US" sz="1400" dirty="0"/>
              <a:t>클래스의 정적 필드이다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System.out</a:t>
            </a:r>
            <a:r>
              <a:rPr lang="ko-KR" altLang="en-US" sz="1400" dirty="0"/>
              <a:t>은 프로그램이 실행되는 콘솔에 데이터를 출력하는 역할을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println</a:t>
            </a:r>
            <a:r>
              <a:rPr lang="en-US" altLang="ko-KR" sz="1400" dirty="0"/>
              <a:t>(): System</a:t>
            </a:r>
            <a:r>
              <a:rPr lang="ko-KR" altLang="en-US" sz="1400" dirty="0"/>
              <a:t>클래스의 메서드이다</a:t>
            </a:r>
            <a:r>
              <a:rPr lang="en-US" altLang="ko-KR" sz="1400" dirty="0"/>
              <a:t>. </a:t>
            </a:r>
            <a:r>
              <a:rPr lang="ko-KR" altLang="en-US" sz="1400" dirty="0"/>
              <a:t>주어진 내용을 </a:t>
            </a:r>
            <a:r>
              <a:rPr lang="ko-KR" altLang="en-US" sz="1400" dirty="0" err="1"/>
              <a:t>출력후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줄바꿈을</a:t>
            </a:r>
            <a:r>
              <a:rPr lang="ko-KR" altLang="en-US" sz="1400" dirty="0"/>
              <a:t> 한다</a:t>
            </a:r>
            <a:r>
              <a:rPr lang="en-US" altLang="ko-KR" sz="1400" dirty="0"/>
              <a:t>. </a:t>
            </a:r>
            <a:r>
              <a:rPr lang="ko-KR" altLang="en-US" sz="1400" dirty="0"/>
              <a:t>매개변수 값으로는 </a:t>
            </a:r>
            <a:r>
              <a:rPr lang="ko-KR" altLang="en-US" sz="1400" dirty="0" err="1"/>
              <a:t>리터럴</a:t>
            </a:r>
            <a:r>
              <a:rPr lang="ko-KR" altLang="en-US" sz="1400" dirty="0"/>
              <a:t> 또는 상수가 들어간다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변수 출력의 </a:t>
            </a:r>
            <a:r>
              <a:rPr lang="en-US" altLang="ko-KR" sz="1400" dirty="0"/>
              <a:t>3</a:t>
            </a:r>
            <a:r>
              <a:rPr lang="ko-KR" altLang="en-US" sz="1400" dirty="0"/>
              <a:t>가지 방법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println</a:t>
            </a:r>
            <a:r>
              <a:rPr lang="en-US" altLang="ko-KR" sz="1400" dirty="0"/>
              <a:t>();	//</a:t>
            </a:r>
            <a:r>
              <a:rPr lang="ko-KR" altLang="en-US" sz="1400" dirty="0"/>
              <a:t>괄호 안의 내용을 출력하고 행을 바꾼다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print();	//</a:t>
            </a:r>
            <a:r>
              <a:rPr lang="ko-KR" altLang="en-US" sz="1400" dirty="0"/>
              <a:t>괄호 안의 내용을 출력만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printf</a:t>
            </a:r>
            <a:r>
              <a:rPr lang="en-US" altLang="ko-KR" sz="1400" dirty="0"/>
              <a:t>(“</a:t>
            </a:r>
            <a:r>
              <a:rPr lang="ko-KR" altLang="en-US" sz="1400" dirty="0"/>
              <a:t>형식 문자열</a:t>
            </a:r>
            <a:r>
              <a:rPr lang="en-US" altLang="ko-KR" sz="1400" dirty="0"/>
              <a:t>“,  </a:t>
            </a:r>
            <a:r>
              <a:rPr lang="ko-KR" altLang="en-US" sz="1400" dirty="0"/>
              <a:t>값</a:t>
            </a:r>
            <a:r>
              <a:rPr lang="en-US" altLang="ko-KR" sz="1400" dirty="0"/>
              <a:t>1, </a:t>
            </a:r>
            <a:r>
              <a:rPr lang="ko-KR" altLang="en-US" sz="1400" dirty="0"/>
              <a:t>값</a:t>
            </a:r>
            <a:r>
              <a:rPr lang="en-US" altLang="ko-KR" sz="1400" dirty="0"/>
              <a:t>2…);	//</a:t>
            </a:r>
            <a:r>
              <a:rPr lang="ko-KR" altLang="en-US" sz="1400" dirty="0"/>
              <a:t>괄호안의 </a:t>
            </a:r>
            <a:r>
              <a:rPr lang="ko-KR" altLang="en-US" sz="1400" dirty="0" err="1"/>
              <a:t>형식문자열대로</a:t>
            </a:r>
            <a:r>
              <a:rPr lang="ko-KR" altLang="en-US" sz="1400" dirty="0"/>
              <a:t> 내용을 출력한다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 err="1"/>
              <a:t>System.out.printf</a:t>
            </a:r>
            <a:r>
              <a:rPr lang="en-US" altLang="ko-KR" sz="1400" dirty="0"/>
              <a:t>(“</a:t>
            </a:r>
            <a:r>
              <a:rPr lang="ko-KR" altLang="en-US" sz="1400" dirty="0"/>
              <a:t>이름 </a:t>
            </a:r>
            <a:r>
              <a:rPr lang="en-US" altLang="ko-KR" sz="1400" dirty="0"/>
              <a:t>: %s”, “</a:t>
            </a:r>
            <a:r>
              <a:rPr lang="ko-KR" altLang="en-US" sz="1400" dirty="0"/>
              <a:t>홍길동</a:t>
            </a:r>
            <a:r>
              <a:rPr lang="en-US" altLang="ko-KR" sz="1400" dirty="0"/>
              <a:t>”);	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이름 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홍길동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System.out.printf</a:t>
            </a:r>
            <a:r>
              <a:rPr lang="en-US" altLang="ko-KR" sz="1400" dirty="0"/>
              <a:t>(“</a:t>
            </a:r>
            <a:r>
              <a:rPr lang="ko-KR" altLang="en-US" sz="1400" dirty="0"/>
              <a:t>나이 </a:t>
            </a:r>
            <a:r>
              <a:rPr lang="en-US" altLang="ko-KR" sz="1400" dirty="0"/>
              <a:t>: %d”, 12);		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나이 </a:t>
            </a:r>
            <a:r>
              <a:rPr lang="en-US" altLang="ko-KR" sz="1400" dirty="0">
                <a:sym typeface="Wingdings" panose="05000000000000000000" pitchFamily="2" charset="2"/>
              </a:rPr>
              <a:t>: 12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8F11B0-B2EC-41D2-2B85-1485A663D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428" y="4065005"/>
            <a:ext cx="5799572" cy="279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0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B6B94-A395-3210-B4BF-5B4705F3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E6515F-C6AD-C24A-BBB7-7C6DE9E50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printf</a:t>
            </a:r>
            <a:r>
              <a:rPr lang="en-US" altLang="ko-KR" sz="1400" b="1" dirty="0"/>
              <a:t>()</a:t>
            </a:r>
            <a:r>
              <a:rPr lang="ko-KR" altLang="en-US" sz="1400" b="1" dirty="0"/>
              <a:t>메서드 사용 방법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PrintfExample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		int value = 123;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System.out.printf</a:t>
            </a:r>
            <a:r>
              <a:rPr lang="en-US" altLang="ko-KR" sz="1400" dirty="0"/>
              <a:t>("</a:t>
            </a:r>
            <a:r>
              <a:rPr lang="ko-KR" altLang="en-US" sz="1400" dirty="0"/>
              <a:t>상품의 가격</a:t>
            </a:r>
            <a:r>
              <a:rPr lang="en-US" altLang="ko-KR" sz="1400" dirty="0"/>
              <a:t>:%d</a:t>
            </a:r>
            <a:r>
              <a:rPr lang="ko-KR" altLang="en-US" sz="1400" dirty="0"/>
              <a:t>원</a:t>
            </a:r>
            <a:r>
              <a:rPr lang="en-US" altLang="ko-KR" sz="1400" dirty="0"/>
              <a:t>\n", value);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System.out.printf</a:t>
            </a:r>
            <a:r>
              <a:rPr lang="en-US" altLang="ko-KR" sz="1400" dirty="0"/>
              <a:t>("</a:t>
            </a:r>
            <a:r>
              <a:rPr lang="ko-KR" altLang="en-US" sz="1400" dirty="0"/>
              <a:t>상품의 가격</a:t>
            </a:r>
            <a:r>
              <a:rPr lang="en-US" altLang="ko-KR" sz="1400" dirty="0"/>
              <a:t>:%6d</a:t>
            </a:r>
            <a:r>
              <a:rPr lang="ko-KR" altLang="en-US" sz="1400" dirty="0"/>
              <a:t>원</a:t>
            </a:r>
            <a:r>
              <a:rPr lang="en-US" altLang="ko-KR" sz="1400" dirty="0"/>
              <a:t>\n", value);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System.out.printf</a:t>
            </a:r>
            <a:r>
              <a:rPr lang="en-US" altLang="ko-KR" sz="1400" dirty="0"/>
              <a:t>("</a:t>
            </a:r>
            <a:r>
              <a:rPr lang="ko-KR" altLang="en-US" sz="1400" dirty="0"/>
              <a:t>상품의 가격</a:t>
            </a:r>
            <a:r>
              <a:rPr lang="en-US" altLang="ko-KR" sz="1400" dirty="0"/>
              <a:t>:%-6d</a:t>
            </a:r>
            <a:r>
              <a:rPr lang="ko-KR" altLang="en-US" sz="1400" dirty="0"/>
              <a:t>원</a:t>
            </a:r>
            <a:r>
              <a:rPr lang="en-US" altLang="ko-KR" sz="1400" dirty="0"/>
              <a:t>\n", value);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System.out.printf</a:t>
            </a:r>
            <a:r>
              <a:rPr lang="en-US" altLang="ko-KR" sz="1400" dirty="0"/>
              <a:t>("</a:t>
            </a:r>
            <a:r>
              <a:rPr lang="ko-KR" altLang="en-US" sz="1400" dirty="0"/>
              <a:t>상품의 가격</a:t>
            </a:r>
            <a:r>
              <a:rPr lang="en-US" altLang="ko-KR" sz="1400" dirty="0"/>
              <a:t>:%06d</a:t>
            </a:r>
            <a:r>
              <a:rPr lang="ko-KR" altLang="en-US" sz="1400" dirty="0"/>
              <a:t>원</a:t>
            </a:r>
            <a:r>
              <a:rPr lang="en-US" altLang="ko-KR" sz="1400" dirty="0"/>
              <a:t>\n", value);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double area = 3.14159 * 10 * 10;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System.out.printf</a:t>
            </a:r>
            <a:r>
              <a:rPr lang="en-US" altLang="ko-KR" sz="1400" dirty="0"/>
              <a:t>("</a:t>
            </a:r>
            <a:r>
              <a:rPr lang="ko-KR" altLang="en-US" sz="1400" dirty="0"/>
              <a:t>반지름이 </a:t>
            </a:r>
            <a:r>
              <a:rPr lang="en-US" altLang="ko-KR" sz="1400" dirty="0"/>
              <a:t>%d</a:t>
            </a:r>
            <a:r>
              <a:rPr lang="ko-KR" altLang="en-US" sz="1400" dirty="0"/>
              <a:t>인 원의 넓이</a:t>
            </a:r>
            <a:r>
              <a:rPr lang="en-US" altLang="ko-KR" sz="1400" dirty="0"/>
              <a:t>:%10.2f\n", 10, area);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String name = 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";</a:t>
            </a:r>
          </a:p>
          <a:p>
            <a:pPr marL="0" indent="0">
              <a:buNone/>
            </a:pPr>
            <a:r>
              <a:rPr lang="en-US" altLang="ko-KR" sz="1400" dirty="0"/>
              <a:t>		String job = "</a:t>
            </a:r>
            <a:r>
              <a:rPr lang="ko-KR" altLang="en-US" sz="1400" dirty="0"/>
              <a:t>도적</a:t>
            </a:r>
            <a:r>
              <a:rPr lang="en-US" altLang="ko-KR" sz="1400" dirty="0"/>
              <a:t>";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System.out.printf</a:t>
            </a:r>
            <a:r>
              <a:rPr lang="en-US" altLang="ko-KR" sz="1400" dirty="0"/>
              <a:t>("%6d | %-10s | %10s\n", 1, name, job);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0F0776-551E-87F0-9823-415BF8C8E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655" y="2506394"/>
            <a:ext cx="3488696" cy="15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62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EC6F-7CAE-5B94-95A8-48AE779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A579C5-1C38-418E-96D9-00EEE4995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키보드의 입력 데이터를 변수에 저장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키보드로부터 입력된 데이터를 읽고 변수에 저장하는 방법은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패키지에 있는 </a:t>
            </a:r>
            <a:r>
              <a:rPr lang="en-US" altLang="ko-KR" sz="1400" dirty="0"/>
              <a:t>Scanner</a:t>
            </a:r>
            <a:r>
              <a:rPr lang="ko-KR" altLang="en-US" sz="1400" dirty="0"/>
              <a:t>라는 클래스를 사용하는 것이다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다음과 같이 </a:t>
            </a:r>
            <a:r>
              <a:rPr lang="en-US" altLang="ko-KR" sz="1400" dirty="0"/>
              <a:t>Scanner</a:t>
            </a:r>
            <a:r>
              <a:rPr lang="ko-KR" altLang="en-US" sz="1400" dirty="0"/>
              <a:t>타입 변수를 사용하고 </a:t>
            </a:r>
            <a:r>
              <a:rPr lang="en-US" altLang="ko-KR" sz="1400" dirty="0"/>
              <a:t>new</a:t>
            </a:r>
            <a:r>
              <a:rPr lang="ko-KR" altLang="en-US" sz="1400" dirty="0"/>
              <a:t>연산자를 통해서 </a:t>
            </a:r>
            <a:r>
              <a:rPr lang="en-US" altLang="ko-KR" sz="1400" dirty="0"/>
              <a:t>Scanner </a:t>
            </a:r>
            <a:r>
              <a:rPr lang="ko-KR" altLang="en-US" sz="1400" dirty="0"/>
              <a:t>객체를 생성할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클래스와 인스턴스에 대한 내용은 </a:t>
            </a:r>
            <a:r>
              <a:rPr lang="en-US" altLang="ko-KR" sz="1400" dirty="0"/>
              <a:t>6</a:t>
            </a:r>
            <a:r>
              <a:rPr lang="ko-KR" altLang="en-US" sz="1400" dirty="0"/>
              <a:t>장에서 자세히 다룬다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Scanner </a:t>
            </a:r>
            <a:r>
              <a:rPr lang="en-US" altLang="ko-KR" sz="1400" dirty="0" err="1"/>
              <a:t>scanner</a:t>
            </a:r>
            <a:r>
              <a:rPr lang="en-US" altLang="ko-KR" sz="1400" dirty="0"/>
              <a:t> = new Scanner(System.in);</a:t>
            </a:r>
          </a:p>
          <a:p>
            <a:pPr marL="0" indent="0">
              <a:buNone/>
            </a:pPr>
            <a:r>
              <a:rPr lang="en-US" altLang="ko-KR" sz="1400" dirty="0"/>
              <a:t>ystem.in</a:t>
            </a:r>
            <a:r>
              <a:rPr lang="ko-KR" altLang="en-US" sz="1400" dirty="0"/>
              <a:t>은 자바의 표준 입력 스트림을 나타내며</a:t>
            </a:r>
            <a:r>
              <a:rPr lang="en-US" altLang="ko-KR" sz="1400" dirty="0"/>
              <a:t>, </a:t>
            </a:r>
            <a:r>
              <a:rPr lang="ko-KR" altLang="en-US" sz="1400" dirty="0"/>
              <a:t>보통 콘솔이나 터미널에서 입력을 받는 역할을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그리고 </a:t>
            </a:r>
            <a:r>
              <a:rPr lang="en-US" altLang="ko-KR" sz="1400" dirty="0"/>
              <a:t>scanner</a:t>
            </a:r>
            <a:r>
              <a:rPr lang="ko-KR" altLang="en-US" sz="1400" dirty="0"/>
              <a:t>의 메서드를 이용해 데이터를 읽고 변수에 저장할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nextLine</a:t>
            </a:r>
            <a:r>
              <a:rPr lang="en-US" altLang="ko-KR" sz="1400" dirty="0"/>
              <a:t>(): </a:t>
            </a:r>
            <a:r>
              <a:rPr lang="ko-KR" altLang="en-US" sz="1400" dirty="0"/>
              <a:t>사용자가 입력한 한 줄의 문자열을 읽어온다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nextInt</a:t>
            </a:r>
            <a:r>
              <a:rPr lang="en-US" altLang="ko-KR" sz="1400" dirty="0"/>
              <a:t>(): </a:t>
            </a:r>
            <a:r>
              <a:rPr lang="ko-KR" altLang="en-US" sz="1400" dirty="0"/>
              <a:t>사용자가 입력한 정수를 읽어온다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 err="1"/>
              <a:t>nextDouble</a:t>
            </a:r>
            <a:r>
              <a:rPr lang="en-US" altLang="ko-KR" sz="1400" dirty="0"/>
              <a:t>(): </a:t>
            </a:r>
            <a:r>
              <a:rPr lang="ko-KR" altLang="en-US" sz="1400" dirty="0"/>
              <a:t>사용자가 입력한 실수를 읽어온다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String str = </a:t>
            </a:r>
            <a:r>
              <a:rPr lang="en-US" altLang="ko-KR" sz="1400" dirty="0" err="1"/>
              <a:t>scanner.nextLine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int I = </a:t>
            </a:r>
            <a:r>
              <a:rPr lang="en-US" altLang="ko-KR" sz="1400" dirty="0" err="1"/>
              <a:t>scanner.nextInt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double d = </a:t>
            </a:r>
            <a:r>
              <a:rPr lang="en-US" altLang="ko-KR" sz="1400" dirty="0" err="1"/>
              <a:t>scanner.nextDouble</a:t>
            </a:r>
            <a:r>
              <a:rPr lang="en-US" altLang="ko-KR" sz="1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204593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02B21-D2D5-726E-616D-091E562A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628BB-78FD-F1B3-77CA-D29E32BFD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java.util.Scanner</a:t>
            </a:r>
            <a:r>
              <a:rPr lang="en-US" altLang="ko-KR" sz="1400" dirty="0"/>
              <a:t>; //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 </a:t>
            </a:r>
            <a:r>
              <a:rPr lang="ko-KR" altLang="en-US" sz="1400" dirty="0"/>
              <a:t>패키지에 있는 </a:t>
            </a:r>
            <a:r>
              <a:rPr lang="en-US" altLang="ko-KR" sz="1400" dirty="0"/>
              <a:t>Scanner </a:t>
            </a:r>
            <a:r>
              <a:rPr lang="ko-KR" altLang="en-US" sz="1400" dirty="0"/>
              <a:t>클래스를 </a:t>
            </a:r>
            <a:r>
              <a:rPr lang="en-US" altLang="ko-KR" sz="1400" dirty="0"/>
              <a:t>import</a:t>
            </a:r>
            <a:r>
              <a:rPr lang="ko-KR" altLang="en-US" sz="1400" dirty="0"/>
              <a:t>하여 사용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public class Main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Scanner </a:t>
            </a:r>
            <a:r>
              <a:rPr lang="en-US" altLang="ko-KR" sz="1400" dirty="0" err="1"/>
              <a:t>scanner</a:t>
            </a:r>
            <a:r>
              <a:rPr lang="en-US" altLang="ko-KR" sz="1400" dirty="0"/>
              <a:t> = new Scanner(System.in); // Scanner </a:t>
            </a:r>
            <a:r>
              <a:rPr lang="ko-KR" altLang="en-US" sz="1400" dirty="0"/>
              <a:t>객체 생성하여 입력 받을 준비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("x </a:t>
            </a:r>
            <a:r>
              <a:rPr lang="ko-KR" altLang="en-US" sz="1400" dirty="0"/>
              <a:t>값 입력</a:t>
            </a:r>
            <a:r>
              <a:rPr lang="en-US" altLang="ko-KR" sz="1400" dirty="0"/>
              <a:t>: "); // </a:t>
            </a:r>
            <a:r>
              <a:rPr lang="ko-KR" altLang="en-US" sz="1400" dirty="0"/>
              <a:t>사용자에게 </a:t>
            </a:r>
            <a:r>
              <a:rPr lang="en-US" altLang="ko-KR" sz="1400" dirty="0"/>
              <a:t>x </a:t>
            </a:r>
            <a:r>
              <a:rPr lang="ko-KR" altLang="en-US" sz="1400" dirty="0"/>
              <a:t>값 입력 요청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x = </a:t>
            </a:r>
            <a:r>
              <a:rPr lang="en-US" altLang="ko-KR" sz="1400" dirty="0" err="1"/>
              <a:t>scanner.nextLine</a:t>
            </a:r>
            <a:r>
              <a:rPr lang="en-US" altLang="ko-KR" sz="1400" dirty="0"/>
              <a:t>(); // </a:t>
            </a:r>
            <a:r>
              <a:rPr lang="ko-KR" altLang="en-US" sz="1400" dirty="0"/>
              <a:t>입력된 값을 문자열로 받음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(x); // </a:t>
            </a:r>
            <a:r>
              <a:rPr lang="ko-KR" altLang="en-US" sz="1400" dirty="0"/>
              <a:t>입력된 </a:t>
            </a:r>
            <a:r>
              <a:rPr lang="en-US" altLang="ko-KR" sz="1400" dirty="0"/>
              <a:t>x </a:t>
            </a:r>
            <a:r>
              <a:rPr lang="ko-KR" altLang="en-US" sz="1400" dirty="0"/>
              <a:t>값을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("y </a:t>
            </a:r>
            <a:r>
              <a:rPr lang="ko-KR" altLang="en-US" sz="1400" dirty="0"/>
              <a:t>값 입력</a:t>
            </a:r>
            <a:r>
              <a:rPr lang="en-US" altLang="ko-KR" sz="1400" dirty="0"/>
              <a:t>: "); // </a:t>
            </a:r>
            <a:r>
              <a:rPr lang="ko-KR" altLang="en-US" sz="1400" dirty="0"/>
              <a:t>사용자에게 </a:t>
            </a:r>
            <a:r>
              <a:rPr lang="en-US" altLang="ko-KR" sz="1400" dirty="0"/>
              <a:t>y </a:t>
            </a:r>
            <a:r>
              <a:rPr lang="ko-KR" altLang="en-US" sz="1400" dirty="0"/>
              <a:t>값 입력 요청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y = </a:t>
            </a:r>
            <a:r>
              <a:rPr lang="en-US" altLang="ko-KR" sz="1400" dirty="0" err="1"/>
              <a:t>scanner.nextInt</a:t>
            </a:r>
            <a:r>
              <a:rPr lang="en-US" altLang="ko-KR" sz="1400" dirty="0"/>
              <a:t>(); // </a:t>
            </a:r>
            <a:r>
              <a:rPr lang="ko-KR" altLang="en-US" sz="1400" dirty="0"/>
              <a:t>입력된 값을 정수로 받음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(y); // </a:t>
            </a:r>
            <a:r>
              <a:rPr lang="ko-KR" altLang="en-US" sz="1400" dirty="0"/>
              <a:t>입력된 </a:t>
            </a:r>
            <a:r>
              <a:rPr lang="en-US" altLang="ko-KR" sz="1400" dirty="0"/>
              <a:t>y </a:t>
            </a:r>
            <a:r>
              <a:rPr lang="ko-KR" altLang="en-US" sz="1400" dirty="0"/>
              <a:t>값을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("z </a:t>
            </a:r>
            <a:r>
              <a:rPr lang="ko-KR" altLang="en-US" sz="1400" dirty="0"/>
              <a:t>값 입력</a:t>
            </a:r>
            <a:r>
              <a:rPr lang="en-US" altLang="ko-KR" sz="1400" dirty="0"/>
              <a:t>: "); // </a:t>
            </a:r>
            <a:r>
              <a:rPr lang="ko-KR" altLang="en-US" sz="1400" dirty="0"/>
              <a:t>사용자에게 </a:t>
            </a:r>
            <a:r>
              <a:rPr lang="en-US" altLang="ko-KR" sz="1400" dirty="0"/>
              <a:t>z </a:t>
            </a:r>
            <a:r>
              <a:rPr lang="ko-KR" altLang="en-US" sz="1400" dirty="0"/>
              <a:t>값 입력 요청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double z = </a:t>
            </a:r>
            <a:r>
              <a:rPr lang="en-US" altLang="ko-KR" sz="1400" dirty="0" err="1"/>
              <a:t>scanner.nextDouble</a:t>
            </a:r>
            <a:r>
              <a:rPr lang="en-US" altLang="ko-KR" sz="1400" dirty="0"/>
              <a:t>(); // </a:t>
            </a:r>
            <a:r>
              <a:rPr lang="ko-KR" altLang="en-US" sz="1400" dirty="0"/>
              <a:t>입력된 값을 실수로 받음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(z); // </a:t>
            </a:r>
            <a:r>
              <a:rPr lang="ko-KR" altLang="en-US" sz="1400" dirty="0"/>
              <a:t>입력된 </a:t>
            </a:r>
            <a:r>
              <a:rPr lang="en-US" altLang="ko-KR" sz="1400" dirty="0"/>
              <a:t>z </a:t>
            </a:r>
            <a:r>
              <a:rPr lang="ko-KR" altLang="en-US" sz="1400" dirty="0"/>
              <a:t>값을 출력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A8DBFC-F8AD-D9DF-D82B-BB0BEC48C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598" y="2781542"/>
            <a:ext cx="2935141" cy="129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5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3712</Words>
  <Application>Microsoft Office PowerPoint</Application>
  <PresentationFormat>와이드스크린</PresentationFormat>
  <Paragraphs>540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Consolas</vt:lpstr>
      <vt:lpstr>Wingdings</vt:lpstr>
      <vt:lpstr>Office 테마</vt:lpstr>
      <vt:lpstr>변수와 타입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12</cp:revision>
  <dcterms:created xsi:type="dcterms:W3CDTF">2024-11-11T04:21:24Z</dcterms:created>
  <dcterms:modified xsi:type="dcterms:W3CDTF">2024-11-16T00:55:37Z</dcterms:modified>
</cp:coreProperties>
</file>