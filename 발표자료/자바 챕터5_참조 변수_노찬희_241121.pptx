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AF243-8CB0-4991-8928-827EEB4F1E62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26B9A-3B23-43CA-B1E0-A4802EA0C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294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0FDA2-43A9-403B-86F8-894FE4423C10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7FD1-7E9F-43AB-9DAC-8110E8133848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249D2-A927-4688-BD8D-E73196D1D66D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32DB1-A0DA-4A5D-A4B2-870FEA0F8484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88FA-2153-497F-B2A6-692C142044A0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595C-ECCB-4744-AFAB-76F7A186D612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A1D57-7276-443E-83F0-2B6764B11E62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11D1-8788-462B-9F31-7E6D551F0465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32A0-AFAA-4B47-856A-0C07A70B8CB3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A4511-5076-418A-A910-9F404F846045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858E-F6AA-49E4-BE51-B10A1ACF4387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C1CAC-462A-4809-A070-3B9E097E71D4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참조 타입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E05DF-4646-BBCB-BC64-356DE07A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기본 타입과 참조 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기본</a:t>
            </a:r>
            <a:r>
              <a:rPr lang="en-US" altLang="ko-KR" sz="1400" dirty="0"/>
              <a:t> </a:t>
            </a:r>
            <a:r>
              <a:rPr lang="ko-KR" altLang="en-US" sz="1400" dirty="0"/>
              <a:t>타입으로 선언된 변수와 참조 타입으로 선언된 변수의 차이는 변수에 저장되는 값이다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기본 타입은 앞서 </a:t>
            </a:r>
            <a:r>
              <a:rPr lang="en-US" altLang="ko-KR" sz="1400" dirty="0"/>
              <a:t>2</a:t>
            </a:r>
            <a:r>
              <a:rPr lang="ko-KR" altLang="en-US" sz="1400" dirty="0"/>
              <a:t>장에서 배웠던 것처럼 정수</a:t>
            </a:r>
            <a:r>
              <a:rPr lang="en-US" altLang="ko-KR" sz="1400" dirty="0"/>
              <a:t>,</a:t>
            </a:r>
            <a:r>
              <a:rPr lang="ko-KR" altLang="en-US" sz="1400" dirty="0"/>
              <a:t>실수</a:t>
            </a:r>
            <a:r>
              <a:rPr lang="en-US" altLang="ko-KR" sz="1400" dirty="0"/>
              <a:t>, </a:t>
            </a:r>
            <a:r>
              <a:rPr lang="ko-KR" altLang="en-US" sz="1400" dirty="0"/>
              <a:t>문자</a:t>
            </a:r>
            <a:r>
              <a:rPr lang="en-US" altLang="ko-KR" sz="1400" dirty="0"/>
              <a:t>, </a:t>
            </a:r>
            <a:r>
              <a:rPr lang="ko-KR" altLang="en-US" sz="1400" dirty="0"/>
              <a:t>논리 </a:t>
            </a:r>
            <a:r>
              <a:rPr lang="ko-KR" altLang="en-US" sz="1400" dirty="0" err="1"/>
              <a:t>리터럴을</a:t>
            </a:r>
            <a:r>
              <a:rPr lang="ko-KR" altLang="en-US" sz="1400" dirty="0"/>
              <a:t> 저장하는 타입을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(byte, char, short, int ,long, float, double,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ko-KR" altLang="en-US" sz="1400" dirty="0"/>
              <a:t>이 변수들은 실제 초기화 값을 변수 안에 저장한다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배열</a:t>
            </a:r>
            <a:r>
              <a:rPr lang="en-US" altLang="ko-KR" sz="1400" dirty="0"/>
              <a:t>, </a:t>
            </a:r>
            <a:r>
              <a:rPr lang="ko-KR" altLang="en-US" sz="1400" dirty="0"/>
              <a:t>열거</a:t>
            </a:r>
            <a:r>
              <a:rPr lang="en-US" altLang="ko-KR" sz="1400" dirty="0"/>
              <a:t>,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, </a:t>
            </a:r>
            <a:r>
              <a:rPr lang="ko-KR" altLang="en-US" sz="1400" dirty="0"/>
              <a:t>인터페이스와 같은 참조 타입은 메모리의 번지를 변수에 저장한다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번지를 통해서 값을 참조한다는 뜻에서 참조 타입이라고 부른다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기본 타입 변수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age = 25;</a:t>
            </a:r>
          </a:p>
          <a:p>
            <a:pPr marL="0" indent="0">
              <a:buNone/>
            </a:pPr>
            <a:r>
              <a:rPr lang="en-US" altLang="ko-KR" sz="1400" dirty="0"/>
              <a:t>double price = 100.5;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참조 타입 변수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 name = “</a:t>
            </a:r>
            <a:r>
              <a:rPr lang="ko-KR" altLang="en-US" sz="1400" dirty="0"/>
              <a:t>홍길동</a:t>
            </a:r>
            <a:r>
              <a:rPr lang="en-US" altLang="ko-KR" sz="1400" dirty="0"/>
              <a:t>”;</a:t>
            </a:r>
          </a:p>
          <a:p>
            <a:pPr marL="0" indent="0">
              <a:buNone/>
            </a:pPr>
            <a:r>
              <a:rPr lang="en-US" altLang="ko-KR" sz="1400" dirty="0"/>
              <a:t>String hobby = “</a:t>
            </a:r>
            <a:r>
              <a:rPr lang="ko-KR" altLang="en-US" sz="1400" dirty="0"/>
              <a:t>독서</a:t>
            </a:r>
            <a:r>
              <a:rPr lang="en-US" altLang="ko-KR" sz="1400" dirty="0"/>
              <a:t>”;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8374C60-2FD1-36A7-AFFF-481D9034A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190823"/>
              </p:ext>
            </p:extLst>
          </p:nvPr>
        </p:nvGraphicFramePr>
        <p:xfrm>
          <a:off x="3851742" y="3901877"/>
          <a:ext cx="16437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855">
                  <a:extLst>
                    <a:ext uri="{9D8B030D-6E8A-4147-A177-3AD203B41FA5}">
                      <a16:colId xmlns:a16="http://schemas.microsoft.com/office/drawing/2014/main" val="1459603434"/>
                    </a:ext>
                  </a:extLst>
                </a:gridCol>
                <a:gridCol w="821855">
                  <a:extLst>
                    <a:ext uri="{9D8B030D-6E8A-4147-A177-3AD203B41FA5}">
                      <a16:colId xmlns:a16="http://schemas.microsoft.com/office/drawing/2014/main" val="278845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76061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FF64A6-1DC7-3D0F-2190-D65D21F4C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853056"/>
              </p:ext>
            </p:extLst>
          </p:nvPr>
        </p:nvGraphicFramePr>
        <p:xfrm>
          <a:off x="8021871" y="3901877"/>
          <a:ext cx="16437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855">
                  <a:extLst>
                    <a:ext uri="{9D8B030D-6E8A-4147-A177-3AD203B41FA5}">
                      <a16:colId xmlns:a16="http://schemas.microsoft.com/office/drawing/2014/main" val="1459603434"/>
                    </a:ext>
                  </a:extLst>
                </a:gridCol>
                <a:gridCol w="821855">
                  <a:extLst>
                    <a:ext uri="{9D8B030D-6E8A-4147-A177-3AD203B41FA5}">
                      <a16:colId xmlns:a16="http://schemas.microsoft.com/office/drawing/2014/main" val="278845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100.5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76061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C8292EA-E418-D979-1563-68BF2809B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19998"/>
              </p:ext>
            </p:extLst>
          </p:nvPr>
        </p:nvGraphicFramePr>
        <p:xfrm>
          <a:off x="3851742" y="5124932"/>
          <a:ext cx="19153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658">
                  <a:extLst>
                    <a:ext uri="{9D8B030D-6E8A-4147-A177-3AD203B41FA5}">
                      <a16:colId xmlns:a16="http://schemas.microsoft.com/office/drawing/2014/main" val="1459603434"/>
                    </a:ext>
                  </a:extLst>
                </a:gridCol>
                <a:gridCol w="957658">
                  <a:extLst>
                    <a:ext uri="{9D8B030D-6E8A-4147-A177-3AD203B41FA5}">
                      <a16:colId xmlns:a16="http://schemas.microsoft.com/office/drawing/2014/main" val="278845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76061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C7965D-841C-3275-DAE9-26EFF5186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269060"/>
              </p:ext>
            </p:extLst>
          </p:nvPr>
        </p:nvGraphicFramePr>
        <p:xfrm>
          <a:off x="3851742" y="5771253"/>
          <a:ext cx="1915316" cy="366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658">
                  <a:extLst>
                    <a:ext uri="{9D8B030D-6E8A-4147-A177-3AD203B41FA5}">
                      <a16:colId xmlns:a16="http://schemas.microsoft.com/office/drawing/2014/main" val="1459603434"/>
                    </a:ext>
                  </a:extLst>
                </a:gridCol>
                <a:gridCol w="957658">
                  <a:extLst>
                    <a:ext uri="{9D8B030D-6E8A-4147-A177-3AD203B41FA5}">
                      <a16:colId xmlns:a16="http://schemas.microsoft.com/office/drawing/2014/main" val="2788459841"/>
                    </a:ext>
                  </a:extLst>
                </a:gridCol>
              </a:tblGrid>
              <a:tr h="3665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hobby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76061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DEA7AEC-557A-75F2-726E-34C0A0B65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976123"/>
              </p:ext>
            </p:extLst>
          </p:nvPr>
        </p:nvGraphicFramePr>
        <p:xfrm>
          <a:off x="6968156" y="4869926"/>
          <a:ext cx="16437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710">
                  <a:extLst>
                    <a:ext uri="{9D8B030D-6E8A-4147-A177-3AD203B41FA5}">
                      <a16:colId xmlns:a16="http://schemas.microsoft.com/office/drawing/2014/main" val="1459603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7606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EE08209-C52A-3435-5966-8E95BF154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177370"/>
              </p:ext>
            </p:extLst>
          </p:nvPr>
        </p:nvGraphicFramePr>
        <p:xfrm>
          <a:off x="6968156" y="5978899"/>
          <a:ext cx="16437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710">
                  <a:extLst>
                    <a:ext uri="{9D8B030D-6E8A-4147-A177-3AD203B41FA5}">
                      <a16:colId xmlns:a16="http://schemas.microsoft.com/office/drawing/2014/main" val="1459603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독서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760611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F8BA9DA-E096-12C3-092F-0C8F166B385E}"/>
              </a:ext>
            </a:extLst>
          </p:cNvPr>
          <p:cNvCxnSpPr/>
          <p:nvPr/>
        </p:nvCxnSpPr>
        <p:spPr>
          <a:xfrm flipV="1">
            <a:off x="6038663" y="5055346"/>
            <a:ext cx="751438" cy="255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9B697C1-0D65-32F5-CD85-63CC279F72FA}"/>
              </a:ext>
            </a:extLst>
          </p:cNvPr>
          <p:cNvCxnSpPr>
            <a:cxnSpLocks/>
          </p:cNvCxnSpPr>
          <p:nvPr/>
        </p:nvCxnSpPr>
        <p:spPr>
          <a:xfrm>
            <a:off x="6038663" y="5956673"/>
            <a:ext cx="739365" cy="18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ED41C4-CBA3-82B8-C860-E011000B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9B073-BAE6-EE16-1B38-F333DF284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38714-2EEB-4823-7343-5F620E836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메모리 사용 영역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JVM</a:t>
            </a:r>
            <a:r>
              <a:rPr lang="ko-KR" altLang="en-US" sz="1400" dirty="0"/>
              <a:t>은 운영체제로부터 메모리를 </a:t>
            </a:r>
            <a:r>
              <a:rPr lang="ko-KR" altLang="en-US" sz="1400" dirty="0" err="1"/>
              <a:t>할당받고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할당받은</a:t>
            </a:r>
            <a:r>
              <a:rPr lang="ko-KR" altLang="en-US" sz="1400" dirty="0"/>
              <a:t> 메모리 영역을 메소드 영역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</a:t>
            </a:r>
            <a:r>
              <a:rPr lang="en-US" altLang="ko-KR" sz="1400" dirty="0"/>
              <a:t>, </a:t>
            </a:r>
            <a:r>
              <a:rPr lang="ko-KR" altLang="en-US" sz="1400" dirty="0"/>
              <a:t>스택 영역으로 나눠 구분한다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메소드 영역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 영역은 </a:t>
            </a:r>
            <a:r>
              <a:rPr lang="en-US" altLang="ko-KR" sz="1400" dirty="0"/>
              <a:t>JVM</a:t>
            </a:r>
            <a:r>
              <a:rPr lang="ko-KR" altLang="en-US" sz="1400" dirty="0"/>
              <a:t>이 시작할 때 생성된다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클래스 파일이 </a:t>
            </a:r>
            <a:r>
              <a:rPr lang="en-US" altLang="ko-KR" sz="1400" dirty="0"/>
              <a:t>JVM</a:t>
            </a:r>
            <a:r>
              <a:rPr lang="ko-KR" altLang="en-US" sz="1400" dirty="0"/>
              <a:t>에 의해 로드되면 해당 클래스의 메타데이터가 메소드 영역에 저장된다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여기에는 클래스 이름</a:t>
            </a:r>
            <a:r>
              <a:rPr lang="en-US" altLang="ko-KR" sz="1400" dirty="0"/>
              <a:t>, </a:t>
            </a:r>
            <a:r>
              <a:rPr lang="ko-KR" altLang="en-US" sz="1400" dirty="0"/>
              <a:t>메서드 및 필드 정보</a:t>
            </a:r>
            <a:r>
              <a:rPr lang="en-US" altLang="ko-KR" sz="1400" dirty="0"/>
              <a:t>, </a:t>
            </a:r>
            <a:r>
              <a:rPr lang="ko-KR" altLang="en-US" sz="1400" dirty="0"/>
              <a:t>인터페이스 등이 포함된다</a:t>
            </a:r>
            <a:r>
              <a:rPr lang="en-US" altLang="ko-KR" sz="14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B3DAAA-91AD-4E12-68D1-CAEAEE040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943" y="3694803"/>
            <a:ext cx="4120114" cy="229859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03E925D-FE45-CA08-36DE-9910403B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61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6642-C611-F88D-7846-E00164BA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B8BBC-AE6D-90EC-0FAF-72383713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메모리 사용 영역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힙</a:t>
            </a:r>
            <a:r>
              <a:rPr lang="ko-KR" altLang="en-US" sz="1400" dirty="0"/>
              <a:t> 영역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힙</a:t>
            </a:r>
            <a:r>
              <a:rPr lang="ko-KR" altLang="en-US" sz="1400" dirty="0"/>
              <a:t> 영역은 모든 객체와 배열이 저장되는 메모리 공간이다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/>
              <a:t>Java </a:t>
            </a:r>
            <a:r>
              <a:rPr lang="ko-KR" altLang="en-US" sz="1400" dirty="0"/>
              <a:t>프로그램의 동적 메모리 할당을 담당하며</a:t>
            </a:r>
            <a:r>
              <a:rPr lang="en-US" altLang="ko-KR" sz="1400" dirty="0"/>
              <a:t>, GC(Garbage Collector)</a:t>
            </a:r>
            <a:r>
              <a:rPr lang="ko-KR" altLang="en-US" sz="1400" dirty="0"/>
              <a:t>가 관리하는 영역이다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여기에 생성된 객체와 배열은 </a:t>
            </a:r>
            <a:r>
              <a:rPr lang="en-US" altLang="ko-KR" sz="1400" dirty="0"/>
              <a:t>JVM </a:t>
            </a:r>
            <a:r>
              <a:rPr lang="ko-KR" altLang="en-US" sz="1400" dirty="0"/>
              <a:t>스택 영역의 변수나 다른 객체의 필드에서 참조한다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만약 참조하는 변수나 필드가 없다면 의미 없는 객체가 되기 때문에 </a:t>
            </a:r>
            <a:r>
              <a:rPr lang="en-US" altLang="ko-KR" sz="1400" dirty="0"/>
              <a:t>JVM</a:t>
            </a:r>
            <a:r>
              <a:rPr lang="ko-KR" altLang="en-US" sz="1400" dirty="0"/>
              <a:t>을 이것을 쓰레기로 취급하고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Garbage Collector</a:t>
            </a:r>
            <a:r>
              <a:rPr lang="ko-KR" altLang="en-US" sz="1400" dirty="0"/>
              <a:t>를 실행시켜 자동으로 </a:t>
            </a:r>
            <a:r>
              <a:rPr lang="ko-KR" altLang="en-US" sz="1400" dirty="0" err="1"/>
              <a:t>제거시킨다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GarbageCollectionExample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String </a:t>
            </a:r>
            <a:r>
              <a:rPr lang="ko-KR" altLang="en-US" sz="1400" dirty="0"/>
              <a:t>객체를 생성하고 참조 변수 </a:t>
            </a:r>
            <a:r>
              <a:rPr lang="en-US" altLang="ko-KR" sz="1400" dirty="0"/>
              <a:t>str</a:t>
            </a:r>
            <a:r>
              <a:rPr lang="ko-KR" altLang="en-US" sz="1400" dirty="0"/>
              <a:t>이 이를 참조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 = new String("Hello, Java!");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Hello, Java!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참조 변수를 </a:t>
            </a:r>
            <a:r>
              <a:rPr lang="en-US" altLang="ko-KR" sz="1400" dirty="0"/>
              <a:t>null</a:t>
            </a:r>
            <a:r>
              <a:rPr lang="ko-KR" altLang="en-US" sz="1400" dirty="0"/>
              <a:t>로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 = null;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GC</a:t>
            </a:r>
            <a:r>
              <a:rPr lang="ko-KR" altLang="en-US" sz="1400" dirty="0"/>
              <a:t>가 객체를 제거할 수 있는 상태가 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67215-33D1-1217-AC07-9A72CEE4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318" y="3090863"/>
            <a:ext cx="2686050" cy="25050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965DD3-C27B-E9DC-A7F2-76747EE58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926" y="4010920"/>
            <a:ext cx="2029844" cy="75120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612D04-E0E9-C796-FD20-C725F422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9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B3DD-2AB1-F81E-860D-CE7E2F120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C35E5-9BF9-910A-4103-65CF275BF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메모리 사용 영역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스택 영역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JVM</a:t>
            </a:r>
            <a:r>
              <a:rPr lang="ko-KR" altLang="en-US" sz="1400" dirty="0"/>
              <a:t> 스택은 메소드를 호출할 때 마다 프레임</a:t>
            </a:r>
            <a:r>
              <a:rPr lang="en-US" altLang="ko-KR" sz="1400" dirty="0"/>
              <a:t>(Frame)</a:t>
            </a:r>
            <a:r>
              <a:rPr lang="ko-KR" altLang="en-US" sz="1400" dirty="0"/>
              <a:t>을 추가</a:t>
            </a:r>
            <a:r>
              <a:rPr lang="en-US" altLang="ko-KR" sz="1400" dirty="0"/>
              <a:t>(push)</a:t>
            </a:r>
            <a:r>
              <a:rPr lang="ko-KR" altLang="en-US" sz="1400" dirty="0"/>
              <a:t>하고 메소드가 종료되면 해당 프레임을 제거</a:t>
            </a:r>
            <a:r>
              <a:rPr lang="en-US" altLang="ko-KR" sz="1400" dirty="0"/>
              <a:t>(pop)</a:t>
            </a:r>
            <a:r>
              <a:rPr lang="ko-KR" altLang="en-US" sz="1400" dirty="0"/>
              <a:t>하는 동작을 수행한다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프레임 내부에는 변수 스택이 있는데</a:t>
            </a:r>
            <a:r>
              <a:rPr lang="en-US" altLang="ko-KR" sz="1400" dirty="0"/>
              <a:t>,. </a:t>
            </a:r>
            <a:r>
              <a:rPr lang="ko-KR" altLang="en-US" sz="1400" dirty="0"/>
              <a:t>기본 타입 변수와 참조 타입 변수가 추가</a:t>
            </a:r>
            <a:r>
              <a:rPr lang="en-US" altLang="ko-KR" sz="1400" dirty="0"/>
              <a:t>(push)</a:t>
            </a:r>
            <a:r>
              <a:rPr lang="ko-KR" altLang="en-US" sz="1400" dirty="0"/>
              <a:t>되거나 제거</a:t>
            </a:r>
            <a:r>
              <a:rPr lang="en-US" altLang="ko-KR" sz="1400" dirty="0"/>
              <a:t>(pop)</a:t>
            </a:r>
            <a:r>
              <a:rPr lang="ko-KR" altLang="en-US" sz="1400" dirty="0"/>
              <a:t>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스택 영역에 변수가 생성되는 시점은 변수에 값이 저장될 때</a:t>
            </a:r>
            <a:r>
              <a:rPr lang="en-US" altLang="ko-KR" sz="1400" dirty="0"/>
              <a:t>(</a:t>
            </a:r>
            <a:r>
              <a:rPr lang="ko-KR" altLang="en-US" sz="1400" dirty="0"/>
              <a:t>초기화 될 때</a:t>
            </a:r>
            <a:r>
              <a:rPr lang="en-US" altLang="ko-KR" sz="1400" dirty="0"/>
              <a:t>)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char v1 = ‘A’;</a:t>
            </a:r>
          </a:p>
          <a:p>
            <a:pPr marL="0" indent="0">
              <a:buNone/>
            </a:pPr>
            <a:r>
              <a:rPr lang="en-US" altLang="ko-KR" sz="1400" dirty="0"/>
              <a:t>if(v1==A){</a:t>
            </a:r>
          </a:p>
          <a:p>
            <a:pPr marL="0" indent="0">
              <a:buNone/>
            </a:pPr>
            <a:r>
              <a:rPr lang="en-US" altLang="ko-KR" sz="1400" dirty="0"/>
              <a:t>	int v2 = 100;</a:t>
            </a:r>
          </a:p>
          <a:p>
            <a:pPr marL="0" indent="0">
              <a:buNone/>
            </a:pPr>
            <a:r>
              <a:rPr lang="en-US" altLang="ko-KR" sz="1400" dirty="0"/>
              <a:t>	double v3 = 3.14;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v4 = true;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2050" name="Picture 2" descr="자료구조] 스택 (Stack)">
            <a:extLst>
              <a:ext uri="{FF2B5EF4-FFF2-40B4-BE49-F238E27FC236}">
                <a16:creationId xmlns:a16="http://schemas.microsoft.com/office/drawing/2014/main" id="{F70AA664-3482-CC03-61F9-850207286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974" y="1330859"/>
            <a:ext cx="2553026" cy="375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95D21EA-C022-B34F-312B-42D31CBD0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448279"/>
              </p:ext>
            </p:extLst>
          </p:nvPr>
        </p:nvGraphicFramePr>
        <p:xfrm>
          <a:off x="212253" y="5083520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7474C6A-63A6-DA1E-BF6E-DAD50145C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331426"/>
              </p:ext>
            </p:extLst>
          </p:nvPr>
        </p:nvGraphicFramePr>
        <p:xfrm>
          <a:off x="3537894" y="5454360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13767E1-D00C-D155-B4BA-EB3FC7146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050069"/>
              </p:ext>
            </p:extLst>
          </p:nvPr>
        </p:nvGraphicFramePr>
        <p:xfrm>
          <a:off x="3537894" y="4712680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3.14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8B7BBE-E284-8704-5399-0FBB60E54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40758"/>
              </p:ext>
            </p:extLst>
          </p:nvPr>
        </p:nvGraphicFramePr>
        <p:xfrm>
          <a:off x="3537894" y="5083520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3275B46-6D0D-BABD-98E0-B7D5514F6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68975"/>
              </p:ext>
            </p:extLst>
          </p:nvPr>
        </p:nvGraphicFramePr>
        <p:xfrm>
          <a:off x="6588434" y="4898100"/>
          <a:ext cx="17614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58241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FA7869A-0BE5-1C06-EEB9-54B79631E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253286"/>
              </p:ext>
            </p:extLst>
          </p:nvPr>
        </p:nvGraphicFramePr>
        <p:xfrm>
          <a:off x="6588434" y="5268940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88D5D73-C788-C124-4A43-C00DD75E028A}"/>
              </a:ext>
            </a:extLst>
          </p:cNvPr>
          <p:cNvCxnSpPr/>
          <p:nvPr/>
        </p:nvCxnSpPr>
        <p:spPr>
          <a:xfrm>
            <a:off x="2248756" y="5268940"/>
            <a:ext cx="901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04B06DE-DD29-20BF-FD65-36987179FEA0}"/>
              </a:ext>
            </a:extLst>
          </p:cNvPr>
          <p:cNvCxnSpPr/>
          <p:nvPr/>
        </p:nvCxnSpPr>
        <p:spPr>
          <a:xfrm>
            <a:off x="5488388" y="5268940"/>
            <a:ext cx="901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C99946-801D-380A-4652-5E7C858B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12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3561-07AD-B5F2-A24F-6A7302F0F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D9958-DE74-CAB1-2F57-1C7DEE3F2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char v1 = ‘A’;</a:t>
            </a:r>
          </a:p>
          <a:p>
            <a:pPr marL="0" indent="0">
              <a:buNone/>
            </a:pPr>
            <a:r>
              <a:rPr lang="en-US" altLang="ko-KR" sz="1400" dirty="0"/>
              <a:t>if(v1==A){</a:t>
            </a:r>
          </a:p>
          <a:p>
            <a:pPr marL="0" indent="0">
              <a:buNone/>
            </a:pPr>
            <a:r>
              <a:rPr lang="en-US" altLang="ko-KR" sz="1400" dirty="0"/>
              <a:t>	int v2 = 100;</a:t>
            </a:r>
          </a:p>
          <a:p>
            <a:pPr marL="0" indent="0">
              <a:buNone/>
            </a:pPr>
            <a:r>
              <a:rPr lang="en-US" altLang="ko-KR" sz="1400" dirty="0"/>
              <a:t>	double v3 = 3.14;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v4 = true;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기본 타입 변수는 스택 영역에 직접 값을 갖고 있지만</a:t>
            </a:r>
            <a:r>
              <a:rPr lang="en-US" altLang="ko-KR" sz="1400" dirty="0"/>
              <a:t>, </a:t>
            </a:r>
            <a:r>
              <a:rPr lang="ko-KR" altLang="en-US" sz="1400" dirty="0"/>
              <a:t>참조 타입 변수는 스택 영역에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영역의 객체 주소를 갖는다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int[] scores = {10, 20, 30};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	5</a:t>
            </a:r>
            <a:r>
              <a:rPr lang="ko-KR" altLang="en-US" sz="1400" dirty="0"/>
              <a:t>번지</a:t>
            </a: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2AF338-BF08-238E-77FC-954B9588C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096765"/>
              </p:ext>
            </p:extLst>
          </p:nvPr>
        </p:nvGraphicFramePr>
        <p:xfrm>
          <a:off x="112664" y="2376534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AB5542-4CFC-A4A3-8DE3-8C173A3CD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980020"/>
              </p:ext>
            </p:extLst>
          </p:nvPr>
        </p:nvGraphicFramePr>
        <p:xfrm>
          <a:off x="3438305" y="2747374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4087D06-11EF-3B1F-C980-AADBF6B68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718651"/>
              </p:ext>
            </p:extLst>
          </p:nvPr>
        </p:nvGraphicFramePr>
        <p:xfrm>
          <a:off x="3438305" y="2005694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3.14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CE3CA7B-6089-9CA6-492E-25FBD4B8F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061522"/>
              </p:ext>
            </p:extLst>
          </p:nvPr>
        </p:nvGraphicFramePr>
        <p:xfrm>
          <a:off x="3438305" y="2376534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DBFA6E9-8650-3B0E-B8BD-E3915BCA2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22510"/>
              </p:ext>
            </p:extLst>
          </p:nvPr>
        </p:nvGraphicFramePr>
        <p:xfrm>
          <a:off x="6488845" y="2191114"/>
          <a:ext cx="17614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58241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FF527E5-251E-44E5-1544-8C2B662B6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60972"/>
              </p:ext>
            </p:extLst>
          </p:nvPr>
        </p:nvGraphicFramePr>
        <p:xfrm>
          <a:off x="6488845" y="2561954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2B7B9E9-A034-73A2-20E0-A12E6D4361A8}"/>
              </a:ext>
            </a:extLst>
          </p:cNvPr>
          <p:cNvCxnSpPr/>
          <p:nvPr/>
        </p:nvCxnSpPr>
        <p:spPr>
          <a:xfrm>
            <a:off x="2149167" y="2561954"/>
            <a:ext cx="901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BCCC10F-B122-C6EF-6FE1-36A58FB3EA30}"/>
              </a:ext>
            </a:extLst>
          </p:cNvPr>
          <p:cNvCxnSpPr/>
          <p:nvPr/>
        </p:nvCxnSpPr>
        <p:spPr>
          <a:xfrm>
            <a:off x="5388799" y="2561954"/>
            <a:ext cx="901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BC88EBE-2B4B-C8D8-56C2-5336295F7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714060"/>
              </p:ext>
            </p:extLst>
          </p:nvPr>
        </p:nvGraphicFramePr>
        <p:xfrm>
          <a:off x="176038" y="4753068"/>
          <a:ext cx="17614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701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880701">
                  <a:extLst>
                    <a:ext uri="{9D8B030D-6E8A-4147-A177-3AD203B41FA5}">
                      <a16:colId xmlns:a16="http://schemas.microsoft.com/office/drawing/2014/main" val="729709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scores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번지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40F093D-B9EB-182C-655A-3DE35A4C7896}"/>
              </a:ext>
            </a:extLst>
          </p:cNvPr>
          <p:cNvCxnSpPr/>
          <p:nvPr/>
        </p:nvCxnSpPr>
        <p:spPr>
          <a:xfrm>
            <a:off x="1937440" y="4938488"/>
            <a:ext cx="901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09E82C6-4FF7-AB1C-6E6C-AE0E5EDD7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307588"/>
              </p:ext>
            </p:extLst>
          </p:nvPr>
        </p:nvGraphicFramePr>
        <p:xfrm>
          <a:off x="2839290" y="4754249"/>
          <a:ext cx="2239705" cy="369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568">
                  <a:extLst>
                    <a:ext uri="{9D8B030D-6E8A-4147-A177-3AD203B41FA5}">
                      <a16:colId xmlns:a16="http://schemas.microsoft.com/office/drawing/2014/main" val="1012617449"/>
                    </a:ext>
                  </a:extLst>
                </a:gridCol>
                <a:gridCol w="746569">
                  <a:extLst>
                    <a:ext uri="{9D8B030D-6E8A-4147-A177-3AD203B41FA5}">
                      <a16:colId xmlns:a16="http://schemas.microsoft.com/office/drawing/2014/main" val="4197867938"/>
                    </a:ext>
                  </a:extLst>
                </a:gridCol>
                <a:gridCol w="746568">
                  <a:extLst>
                    <a:ext uri="{9D8B030D-6E8A-4147-A177-3AD203B41FA5}">
                      <a16:colId xmlns:a16="http://schemas.microsoft.com/office/drawing/2014/main" val="1533238621"/>
                    </a:ext>
                  </a:extLst>
                </a:gridCol>
              </a:tblGrid>
              <a:tr h="3696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45117"/>
                  </a:ext>
                </a:extLst>
              </a:tr>
            </a:tbl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FD71F5E6-BD34-C7DE-AF82-F4E5AA91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32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12C3-D9CD-4E7A-4A64-78FCCE76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2D0176-DA96-0D1D-C5A8-DA16F3154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참조 변수의 </a:t>
            </a:r>
            <a:r>
              <a:rPr lang="en-US" altLang="ko-KR" sz="1400" b="1" dirty="0"/>
              <a:t>==, != </a:t>
            </a:r>
            <a:r>
              <a:rPr lang="ko-KR" altLang="en-US" sz="1400" b="1" dirty="0"/>
              <a:t>연산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기본 타입 변수의 </a:t>
            </a:r>
            <a:r>
              <a:rPr lang="en-US" altLang="ko-KR" sz="1400" dirty="0"/>
              <a:t>==</a:t>
            </a:r>
            <a:r>
              <a:rPr lang="ko-KR" altLang="en-US" sz="1400" dirty="0"/>
              <a:t>와 </a:t>
            </a:r>
            <a:r>
              <a:rPr lang="en-US" altLang="ko-KR" sz="1400" dirty="0"/>
              <a:t>!= </a:t>
            </a:r>
            <a:r>
              <a:rPr lang="ko-KR" altLang="en-US" sz="1400" dirty="0"/>
              <a:t>연산은 변수의 값이 </a:t>
            </a:r>
            <a:r>
              <a:rPr lang="ko-KR" altLang="en-US" sz="1400" dirty="0" err="1"/>
              <a:t>같은지</a:t>
            </a:r>
            <a:r>
              <a:rPr lang="en-US" altLang="ko-KR" sz="1400" dirty="0"/>
              <a:t>,</a:t>
            </a:r>
            <a:r>
              <a:rPr lang="ko-KR" altLang="en-US" sz="1400" dirty="0"/>
              <a:t> 아닌지 조사하지만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참조 타입 </a:t>
            </a:r>
            <a:r>
              <a:rPr lang="ko-KR" altLang="en-US" sz="1400" dirty="0" err="1"/>
              <a:t>변수간의</a:t>
            </a:r>
            <a:r>
              <a:rPr lang="ko-KR" altLang="en-US" sz="1400" dirty="0"/>
              <a:t> </a:t>
            </a:r>
            <a:r>
              <a:rPr lang="en-US" altLang="ko-KR" sz="1400" dirty="0"/>
              <a:t>==, !=</a:t>
            </a:r>
            <a:r>
              <a:rPr lang="ko-KR" altLang="en-US" sz="1400" dirty="0"/>
              <a:t> 연산은 동일한 객체를 참조하는지 아닌지 조사할 때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참조 타입 변수의 값은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영역의 객체 주소이므로 </a:t>
            </a:r>
            <a:r>
              <a:rPr lang="en-US" altLang="ko-KR" sz="1400" dirty="0"/>
              <a:t>==</a:t>
            </a:r>
            <a:r>
              <a:rPr lang="ko-KR" altLang="en-US" sz="1400" dirty="0"/>
              <a:t>와 </a:t>
            </a:r>
            <a:r>
              <a:rPr lang="en-US" altLang="ko-KR" sz="1400" dirty="0"/>
              <a:t>!= </a:t>
            </a:r>
            <a:r>
              <a:rPr lang="ko-KR" altLang="en-US" sz="1400" dirty="0"/>
              <a:t>연산은 결국 번지 값을 비교하는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번지 값이 같다는 것은 동일한 객체를 참조하고 있는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refVar1 == refVar2 //false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refVar1 != refVar2 //true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refVar2 == refVar3 //true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refVar2 != refVar3 //false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D0990E-245A-4EA6-8E86-8980EF4F8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2" y="2469993"/>
            <a:ext cx="3762375" cy="253365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3E41C6-4FA6-B0FC-CACF-057126EC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118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4BA2-78E8-8A62-ECFA-68EE4C14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8DA406-06D2-E6E2-153E-C39489118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null</a:t>
            </a:r>
            <a:r>
              <a:rPr lang="ko-KR" altLang="en-US" sz="1400" b="1" dirty="0"/>
              <a:t>과 </a:t>
            </a:r>
            <a:r>
              <a:rPr lang="en-US" altLang="ko-KR" sz="1400" b="1" dirty="0" err="1"/>
              <a:t>NullPointerException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참조 타입의 변수는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영역의 객체를 참조하지 않는 다는 뜻으로 </a:t>
            </a:r>
            <a:r>
              <a:rPr lang="en-US" altLang="ko-KR" sz="1400" dirty="0"/>
              <a:t>null</a:t>
            </a:r>
            <a:r>
              <a:rPr lang="ko-KR" altLang="en-US" sz="1400" dirty="0"/>
              <a:t>값을 가질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null</a:t>
            </a:r>
            <a:r>
              <a:rPr lang="ko-KR" altLang="en-US" sz="1400" dirty="0"/>
              <a:t>값도 초기값으로 사용할 수 있기 때문에 </a:t>
            </a:r>
            <a:r>
              <a:rPr lang="en-US" altLang="ko-KR" sz="1400" dirty="0"/>
              <a:t>null</a:t>
            </a:r>
            <a:r>
              <a:rPr lang="ko-KR" altLang="en-US" sz="1400" dirty="0"/>
              <a:t>로 초기화된 참조 변수는 스택 영역에 생성된다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refVar1 == null //false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refVar2 != null //true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refVar2 = null //true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refVar2 != null //false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464BFF-7345-9BAA-CD6B-6D26A384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1905000"/>
            <a:ext cx="4019550" cy="15240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899049-93F1-D4CE-5906-96A7527B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6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73AF-C850-2526-7055-551E2ACB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F6B06-AEE0-C5FB-508F-576CFCC5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null</a:t>
            </a:r>
            <a:r>
              <a:rPr lang="ko-KR" altLang="en-US" sz="1400" b="1" dirty="0"/>
              <a:t>과 </a:t>
            </a:r>
            <a:r>
              <a:rPr lang="en-US" altLang="ko-KR" sz="1400" b="1" dirty="0" err="1"/>
              <a:t>NullPointerException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 프로그램 실행 도중에 발생하는 오류를 예외</a:t>
            </a:r>
            <a:r>
              <a:rPr lang="en-US" altLang="ko-KR" sz="1400" dirty="0"/>
              <a:t>(Exception)</a:t>
            </a:r>
            <a:r>
              <a:rPr lang="ko-KR" altLang="en-US" sz="1400" dirty="0"/>
              <a:t>이라고 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예외는 사용자의 잘못된 입력으로 발생할 수도 있고</a:t>
            </a:r>
            <a:r>
              <a:rPr lang="en-US" altLang="ko-KR" sz="1400" dirty="0"/>
              <a:t>, </a:t>
            </a:r>
            <a:r>
              <a:rPr lang="ko-KR" altLang="en-US" sz="1400" dirty="0"/>
              <a:t>프로그래머가 코드를 잘못 작성해서 발생할 수도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참조 변수를 사용하면서 가장 많이 발생하는 </a:t>
            </a:r>
            <a:r>
              <a:rPr lang="ko-KR" altLang="en-US" sz="1400" dirty="0" err="1"/>
              <a:t>예외중</a:t>
            </a:r>
            <a:r>
              <a:rPr lang="ko-KR" altLang="en-US" sz="1400" dirty="0"/>
              <a:t> 하나로 </a:t>
            </a:r>
            <a:r>
              <a:rPr lang="en-US" altLang="ko-KR" sz="1400" dirty="0" err="1"/>
              <a:t>NullPointException</a:t>
            </a:r>
            <a:r>
              <a:rPr lang="ko-KR" altLang="en-US" sz="1400" dirty="0"/>
              <a:t>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 예외는 참조 타입 변수를 잘못 사용하면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참조 변수가 </a:t>
            </a:r>
            <a:r>
              <a:rPr lang="en-US" altLang="ko-KR" sz="1400" dirty="0"/>
              <a:t>null</a:t>
            </a:r>
            <a:r>
              <a:rPr lang="ko-KR" altLang="en-US" sz="1400" dirty="0"/>
              <a:t>을 가지고 있을 경우에는</a:t>
            </a:r>
            <a:r>
              <a:rPr lang="en-US" altLang="ko-KR" sz="1400" dirty="0"/>
              <a:t>, </a:t>
            </a:r>
            <a:r>
              <a:rPr lang="ko-KR" altLang="en-US" sz="1400" dirty="0"/>
              <a:t>참조</a:t>
            </a:r>
            <a:r>
              <a:rPr lang="en-US" altLang="ko-KR" sz="1400" dirty="0"/>
              <a:t> </a:t>
            </a:r>
            <a:r>
              <a:rPr lang="ko-KR" altLang="en-US" sz="1400" dirty="0"/>
              <a:t>객체가 없으므로 변수를 통해 객체를 사용할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이때 발생하는 예외가 </a:t>
            </a:r>
            <a:r>
              <a:rPr lang="en-US" altLang="ko-KR" sz="1400" dirty="0" err="1"/>
              <a:t>NullPointException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int[]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 = null;</a:t>
            </a:r>
          </a:p>
          <a:p>
            <a:pPr marL="0" indent="0">
              <a:buNone/>
            </a:pPr>
            <a:r>
              <a:rPr lang="en-US" altLang="ko-KR" sz="1400" dirty="0"/>
              <a:t>int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[0] = 10; // </a:t>
            </a:r>
            <a:r>
              <a:rPr lang="en-US" altLang="ko-KR" sz="1400" dirty="0" err="1"/>
              <a:t>NullPointException</a:t>
            </a:r>
            <a:r>
              <a:rPr lang="ko-KR" altLang="en-US" sz="1400" dirty="0"/>
              <a:t>발생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 코드에서 </a:t>
            </a:r>
            <a:r>
              <a:rPr lang="en-US" altLang="ko-KR" sz="1400" dirty="0" err="1"/>
              <a:t>arr</a:t>
            </a:r>
            <a:r>
              <a:rPr lang="ko-KR" altLang="en-US" sz="1400" dirty="0"/>
              <a:t>은 배열 변수이므로 참조 변수이다</a:t>
            </a:r>
            <a:r>
              <a:rPr lang="en-US" altLang="ko-KR" sz="1400" dirty="0"/>
              <a:t>. </a:t>
            </a:r>
            <a:r>
              <a:rPr lang="ko-KR" altLang="en-US" sz="1400" dirty="0"/>
              <a:t>그래서 </a:t>
            </a:r>
            <a:r>
              <a:rPr lang="en-US" altLang="ko-KR" sz="1400" dirty="0"/>
              <a:t>null</a:t>
            </a:r>
            <a:r>
              <a:rPr lang="ko-KR" altLang="en-US" sz="1400" dirty="0"/>
              <a:t>로 초기화가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이때 </a:t>
            </a:r>
            <a:r>
              <a:rPr lang="en-US" altLang="ko-KR" sz="1400" dirty="0"/>
              <a:t>0</a:t>
            </a:r>
            <a:r>
              <a:rPr lang="ko-KR" altLang="en-US" sz="1400" dirty="0"/>
              <a:t>번째 인덱스에 </a:t>
            </a:r>
            <a:r>
              <a:rPr lang="en-US" altLang="ko-KR" sz="1400" dirty="0"/>
              <a:t>10</a:t>
            </a:r>
            <a:r>
              <a:rPr lang="ko-KR" altLang="en-US" sz="1400" dirty="0"/>
              <a:t>을 </a:t>
            </a:r>
            <a:r>
              <a:rPr lang="ko-KR" altLang="en-US" sz="1400" dirty="0" err="1"/>
              <a:t>저장하려고하면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arr</a:t>
            </a:r>
            <a:r>
              <a:rPr lang="ko-KR" altLang="en-US" sz="1400" dirty="0"/>
              <a:t>이 참조하는 객체가 없기 때문에 예외가 일어난다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추후 예외를 처리하는 방법을 따로 배운다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DB2A2A-E53E-B8BA-D591-FDB0AA96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913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FAE24-2D7D-F6CE-0206-7DD88469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CD630-F867-4C2D-B3B1-98E1FAC92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String</a:t>
            </a:r>
            <a:r>
              <a:rPr lang="ko-KR" altLang="en-US" sz="1400" b="1" dirty="0"/>
              <a:t>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“</a:t>
            </a:r>
            <a:r>
              <a:rPr lang="ko-KR" altLang="en-US" sz="1400" dirty="0"/>
              <a:t>자바는 문자열을 </a:t>
            </a:r>
            <a:r>
              <a:rPr lang="en-US" altLang="ko-KR" sz="1400" dirty="0"/>
              <a:t>String </a:t>
            </a:r>
            <a:r>
              <a:rPr lang="ko-KR" altLang="en-US" sz="1400" dirty="0"/>
              <a:t>변수에 저장한다</a:t>
            </a:r>
            <a:r>
              <a:rPr lang="en-US" altLang="ko-KR" sz="1400" dirty="0"/>
              <a:t>” </a:t>
            </a:r>
            <a:r>
              <a:rPr lang="ko-KR" altLang="en-US" sz="1400" dirty="0"/>
              <a:t>사실 이 말은 </a:t>
            </a:r>
            <a:r>
              <a:rPr lang="en-US" altLang="ko-KR" sz="1400" dirty="0"/>
              <a:t>100% </a:t>
            </a:r>
            <a:r>
              <a:rPr lang="ko-KR" altLang="en-US" sz="1400" dirty="0"/>
              <a:t>맞는 게 아니다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문자열이 직접 변수에 저장되는 것이 아니라</a:t>
            </a:r>
            <a:r>
              <a:rPr lang="en-US" altLang="ko-KR" sz="1400" dirty="0"/>
              <a:t>, </a:t>
            </a:r>
          </a:p>
          <a:p>
            <a:pPr marL="0" indent="0">
              <a:buNone/>
            </a:pPr>
            <a:r>
              <a:rPr lang="ko-KR" altLang="en-US" sz="1400" dirty="0"/>
              <a:t>문자열은 </a:t>
            </a:r>
            <a:r>
              <a:rPr lang="en-US" altLang="ko-KR" sz="1400" dirty="0"/>
              <a:t>String</a:t>
            </a:r>
            <a:r>
              <a:rPr lang="ko-KR" altLang="en-US" sz="1400" dirty="0"/>
              <a:t>형 객체로 생성되고</a:t>
            </a:r>
            <a:r>
              <a:rPr lang="en-US" altLang="ko-KR" sz="1400" dirty="0"/>
              <a:t>,</a:t>
            </a:r>
            <a:r>
              <a:rPr lang="ko-KR" altLang="en-US" sz="1400" dirty="0"/>
              <a:t> 그 변수는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객체를 참조하기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그림을 보면 </a:t>
            </a:r>
            <a:r>
              <a:rPr lang="en-US" altLang="ko-KR" sz="1400" dirty="0"/>
              <a:t>name</a:t>
            </a:r>
            <a:r>
              <a:rPr lang="ko-KR" altLang="en-US" sz="1400" dirty="0"/>
              <a:t>변수와 </a:t>
            </a:r>
            <a:r>
              <a:rPr lang="en-US" altLang="ko-KR" sz="1400" dirty="0"/>
              <a:t>hobby</a:t>
            </a:r>
            <a:r>
              <a:rPr lang="ko-KR" altLang="en-US" sz="1400" dirty="0"/>
              <a:t>변수는 스택 영역에 생성되고</a:t>
            </a:r>
            <a:r>
              <a:rPr lang="en-US" altLang="ko-KR" sz="1400" dirty="0"/>
              <a:t>, </a:t>
            </a:r>
            <a:r>
              <a:rPr lang="ko-KR" altLang="en-US" sz="1400" dirty="0"/>
              <a:t>문자열 </a:t>
            </a:r>
            <a:r>
              <a:rPr lang="ko-KR" altLang="en-US" sz="1400" dirty="0" err="1"/>
              <a:t>리터럴인</a:t>
            </a:r>
            <a:r>
              <a:rPr lang="ko-KR" altLang="en-US" sz="1400" dirty="0"/>
              <a:t> </a:t>
            </a:r>
            <a:r>
              <a:rPr lang="en-US" altLang="ko-KR" sz="1400" dirty="0"/>
              <a:t>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＂</a:t>
            </a:r>
            <a:r>
              <a:rPr lang="ko-KR" altLang="en-US" sz="1400" dirty="0"/>
              <a:t>과 </a:t>
            </a:r>
            <a:r>
              <a:rPr lang="en-US" altLang="ko-KR" sz="1400" dirty="0"/>
              <a:t>“</a:t>
            </a:r>
            <a:r>
              <a:rPr lang="ko-KR" altLang="en-US" sz="1400" dirty="0"/>
              <a:t>자바</a:t>
            </a:r>
            <a:r>
              <a:rPr lang="en-US" altLang="ko-KR" sz="1400" dirty="0"/>
              <a:t>”</a:t>
            </a:r>
            <a:r>
              <a:rPr lang="ko-KR" altLang="en-US" sz="1400" dirty="0"/>
              <a:t>는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영역에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객체로 생성된다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name </a:t>
            </a:r>
            <a:r>
              <a:rPr lang="ko-KR" altLang="en-US" sz="1400" dirty="0"/>
              <a:t>변수와 </a:t>
            </a:r>
            <a:r>
              <a:rPr lang="en-US" altLang="ko-KR" sz="1400" dirty="0"/>
              <a:t>hobby </a:t>
            </a:r>
            <a:r>
              <a:rPr lang="ko-KR" altLang="en-US" sz="1400" dirty="0"/>
              <a:t>변수에 각각 </a:t>
            </a:r>
            <a:r>
              <a:rPr lang="ko-KR" altLang="en-US" sz="1400" dirty="0" err="1"/>
              <a:t>참조값들이</a:t>
            </a:r>
            <a:r>
              <a:rPr lang="ko-KR" altLang="en-US" sz="1400" dirty="0"/>
              <a:t> 각각의 객체를 참조한다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4173E9-F471-0867-C13F-C01646B62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137" y="1954417"/>
            <a:ext cx="3895725" cy="25146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714748-6735-39F1-5974-434B5201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13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1679-C4EA-6B12-134B-0FECACDB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0CDD99-405D-58BA-4BA1-BA58D1CFD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String</a:t>
            </a:r>
            <a:r>
              <a:rPr lang="ko-KR" altLang="en-US" sz="1400" b="1" dirty="0"/>
              <a:t>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자바는 문자열 </a:t>
            </a:r>
            <a:r>
              <a:rPr lang="ko-KR" altLang="en-US" sz="1400" dirty="0" err="1"/>
              <a:t>리터럴이</a:t>
            </a:r>
            <a:r>
              <a:rPr lang="ko-KR" altLang="en-US" sz="1400" dirty="0"/>
              <a:t> 동일하다면 </a:t>
            </a:r>
            <a:r>
              <a:rPr lang="en-US" altLang="ko-KR" sz="1400" dirty="0"/>
              <a:t>String</a:t>
            </a:r>
            <a:r>
              <a:rPr lang="ko-KR" altLang="en-US" sz="1400" dirty="0"/>
              <a:t>객체를 공유하도록 되어있다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 name1 = 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”;</a:t>
            </a:r>
          </a:p>
          <a:p>
            <a:pPr marL="0" indent="0">
              <a:buNone/>
            </a:pPr>
            <a:r>
              <a:rPr lang="en-US" altLang="ko-KR" sz="1400" dirty="0"/>
              <a:t>String name2 = 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”;</a:t>
            </a:r>
          </a:p>
          <a:p>
            <a:pPr marL="0" indent="0">
              <a:buNone/>
            </a:pPr>
            <a:r>
              <a:rPr lang="ko-KR" altLang="en-US" sz="1400" dirty="0"/>
              <a:t>다음과 같이 </a:t>
            </a:r>
            <a:r>
              <a:rPr lang="en-US" altLang="ko-KR" sz="1400" dirty="0"/>
              <a:t>name1</a:t>
            </a:r>
            <a:r>
              <a:rPr lang="ko-KR" altLang="en-US" sz="1400" dirty="0"/>
              <a:t>과 </a:t>
            </a:r>
            <a:r>
              <a:rPr lang="en-US" altLang="ko-KR" sz="1400" dirty="0"/>
              <a:t>name2</a:t>
            </a:r>
            <a:r>
              <a:rPr lang="ko-KR" altLang="en-US" sz="1400" dirty="0"/>
              <a:t>가 동일한 </a:t>
            </a:r>
            <a:r>
              <a:rPr lang="ko-KR" altLang="en-US" sz="1400" dirty="0" err="1"/>
              <a:t>리터럴인</a:t>
            </a:r>
            <a:r>
              <a:rPr lang="ko-KR" altLang="en-US" sz="1400" dirty="0"/>
              <a:t> </a:t>
            </a:r>
            <a:r>
              <a:rPr lang="en-US" altLang="ko-KR" sz="1400" dirty="0"/>
              <a:t>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”</a:t>
            </a:r>
            <a:r>
              <a:rPr lang="ko-KR" altLang="en-US" sz="1400" dirty="0"/>
              <a:t>을 참조할 경우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name1</a:t>
            </a:r>
            <a:r>
              <a:rPr lang="ko-KR" altLang="en-US" sz="1400" dirty="0"/>
              <a:t>과 </a:t>
            </a:r>
            <a:r>
              <a:rPr lang="en-US" altLang="ko-KR" sz="1400" dirty="0"/>
              <a:t>name2</a:t>
            </a:r>
            <a:r>
              <a:rPr lang="ko-KR" altLang="en-US" sz="1400" dirty="0"/>
              <a:t>는</a:t>
            </a:r>
            <a:r>
              <a:rPr lang="en-US" altLang="ko-KR" sz="1400" dirty="0"/>
              <a:t> </a:t>
            </a:r>
            <a:r>
              <a:rPr lang="ko-KR" altLang="en-US" sz="1400" dirty="0"/>
              <a:t>동일한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객체를 참조한다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</a:t>
            </a:r>
            <a:r>
              <a:rPr lang="en-US" altLang="ko-KR" sz="1400" dirty="0"/>
              <a:t>new </a:t>
            </a:r>
            <a:r>
              <a:rPr lang="ko-KR" altLang="en-US" sz="1400" dirty="0"/>
              <a:t>연산자를 통해 직접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객체를 생성시킬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new</a:t>
            </a:r>
            <a:r>
              <a:rPr lang="ko-KR" altLang="en-US" sz="1400" dirty="0"/>
              <a:t>연산자는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영역에 새로운 객체를 만들 때 사용하는 연산자로 </a:t>
            </a:r>
            <a:r>
              <a:rPr lang="en-US" altLang="ko-KR" sz="1400" dirty="0"/>
              <a:t>“</a:t>
            </a:r>
            <a:r>
              <a:rPr lang="ko-KR" altLang="en-US" sz="1400" dirty="0"/>
              <a:t>객체 생성 연산자</a:t>
            </a:r>
            <a:r>
              <a:rPr lang="en-US" altLang="ko-KR" sz="1400" dirty="0"/>
              <a:t>”</a:t>
            </a:r>
            <a:r>
              <a:rPr lang="ko-KR" altLang="en-US" sz="1400" dirty="0"/>
              <a:t>라고도 부른다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 name1 = new String(“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“);</a:t>
            </a:r>
          </a:p>
          <a:p>
            <a:pPr marL="0" indent="0">
              <a:buNone/>
            </a:pPr>
            <a:r>
              <a:rPr lang="en-US" altLang="ko-KR" sz="1400" dirty="0"/>
              <a:t>String name2 = new String(“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“);</a:t>
            </a:r>
          </a:p>
          <a:p>
            <a:pPr marL="0" indent="0">
              <a:buNone/>
            </a:pPr>
            <a:r>
              <a:rPr lang="ko-KR" altLang="en-US" sz="1400" dirty="0"/>
              <a:t>이 경우 </a:t>
            </a:r>
            <a:r>
              <a:rPr lang="en-US" altLang="ko-KR" sz="1400" dirty="0"/>
              <a:t>name1</a:t>
            </a:r>
            <a:r>
              <a:rPr lang="ko-KR" altLang="en-US" sz="1400" dirty="0"/>
              <a:t>과 </a:t>
            </a:r>
            <a:r>
              <a:rPr lang="en-US" altLang="ko-KR" sz="1400" dirty="0"/>
              <a:t>name2</a:t>
            </a:r>
            <a:r>
              <a:rPr lang="ko-KR" altLang="en-US" sz="1400" dirty="0"/>
              <a:t>는 서로 다른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객체를 참조한다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따라서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name1 == name2</a:t>
            </a:r>
            <a:r>
              <a:rPr lang="ko-KR" altLang="en-US" sz="1400" dirty="0"/>
              <a:t>는 </a:t>
            </a:r>
            <a:r>
              <a:rPr lang="en-US" altLang="ko-KR" sz="1400" dirty="0"/>
              <a:t>false</a:t>
            </a:r>
            <a:r>
              <a:rPr lang="ko-KR" altLang="en-US" sz="1400" dirty="0"/>
              <a:t>를 반환한다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7738E6-314E-6BF9-294B-ED47E3842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852" y="936374"/>
            <a:ext cx="4148537" cy="17887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6C06C9-6AB5-8FA8-5A63-B2B477BE3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522" y="3775578"/>
            <a:ext cx="3819525" cy="245745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68D044-2EB3-28AE-5252-463B800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428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DFF4-BA20-EA04-52C2-0E675E57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6792A-7BFE-58F6-5857-67D9AC675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StringEqualsExample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   </a:t>
            </a:r>
          </a:p>
          <a:p>
            <a:pPr marL="0" indent="0">
              <a:buNone/>
            </a:pPr>
            <a:r>
              <a:rPr lang="en-US" altLang="ko-KR" sz="1400" dirty="0"/>
              <a:t>        String strVar1 = "</a:t>
            </a:r>
            <a:r>
              <a:rPr lang="ko-KR" altLang="en-US" sz="1400" dirty="0"/>
              <a:t>신민철</a:t>
            </a:r>
            <a:r>
              <a:rPr lang="en-US" altLang="ko-KR" sz="1400" dirty="0"/>
              <a:t>"; // </a:t>
            </a:r>
            <a:r>
              <a:rPr lang="ko-KR" altLang="en-US" sz="1400" dirty="0"/>
              <a:t>문자열 </a:t>
            </a:r>
            <a:r>
              <a:rPr lang="ko-KR" altLang="en-US" sz="1400" dirty="0" err="1"/>
              <a:t>리터럴</a:t>
            </a:r>
            <a:r>
              <a:rPr lang="ko-KR" altLang="en-US" sz="1400" dirty="0"/>
              <a:t>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strVar2 = "</a:t>
            </a:r>
            <a:r>
              <a:rPr lang="ko-KR" altLang="en-US" sz="1400" dirty="0"/>
              <a:t>신민철</a:t>
            </a:r>
            <a:r>
              <a:rPr lang="en-US" altLang="ko-KR" sz="1400" dirty="0"/>
              <a:t>"; // </a:t>
            </a:r>
            <a:r>
              <a:rPr lang="ko-KR" altLang="en-US" sz="1400" dirty="0"/>
              <a:t>같은 문자열 </a:t>
            </a:r>
            <a:r>
              <a:rPr lang="ko-KR" altLang="en-US" sz="1400" dirty="0" err="1"/>
              <a:t>리터럴을</a:t>
            </a:r>
            <a:r>
              <a:rPr lang="ko-KR" altLang="en-US" sz="1400" dirty="0"/>
              <a:t> 참조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(strVar1 == strVar2) { // </a:t>
            </a:r>
            <a:r>
              <a:rPr lang="ko-KR" altLang="en-US" sz="1400" dirty="0"/>
              <a:t>참조 비교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("strVar1</a:t>
            </a:r>
            <a:r>
              <a:rPr lang="ko-KR" altLang="en-US" sz="1400" dirty="0"/>
              <a:t>과 </a:t>
            </a:r>
            <a:r>
              <a:rPr lang="en-US" altLang="ko-KR" sz="1400" dirty="0"/>
              <a:t>strVar2</a:t>
            </a:r>
            <a:r>
              <a:rPr lang="ko-KR" altLang="en-US" sz="1400" dirty="0"/>
              <a:t>는 참조가 같음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("strVar1</a:t>
            </a:r>
            <a:r>
              <a:rPr lang="ko-KR" altLang="en-US" sz="1400" dirty="0"/>
              <a:t>과 </a:t>
            </a:r>
            <a:r>
              <a:rPr lang="en-US" altLang="ko-KR" sz="1400" dirty="0"/>
              <a:t>strVar2</a:t>
            </a:r>
            <a:r>
              <a:rPr lang="ko-KR" altLang="en-US" sz="1400" dirty="0"/>
              <a:t>는 참조가 다름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if (strVar1.equals(strVar2)) { // </a:t>
            </a:r>
            <a:r>
              <a:rPr lang="ko-KR" altLang="en-US" sz="1400" dirty="0"/>
              <a:t>문자열 내용 비교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("strVar1</a:t>
            </a:r>
            <a:r>
              <a:rPr lang="ko-KR" altLang="en-US" sz="1400" dirty="0"/>
              <a:t>과 </a:t>
            </a:r>
            <a:r>
              <a:rPr lang="en-US" altLang="ko-KR" sz="1400" dirty="0"/>
              <a:t>strVar2</a:t>
            </a:r>
            <a:r>
              <a:rPr lang="ko-KR" altLang="en-US" sz="1400" dirty="0"/>
              <a:t>는 문자열이 같음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String strVar3 = new String("</a:t>
            </a:r>
            <a:r>
              <a:rPr lang="ko-KR" altLang="en-US" sz="1400" dirty="0"/>
              <a:t>신민철</a:t>
            </a:r>
            <a:r>
              <a:rPr lang="en-US" altLang="ko-KR" sz="1400" dirty="0"/>
              <a:t>"); // </a:t>
            </a:r>
            <a:r>
              <a:rPr lang="ko-KR" altLang="en-US" sz="1400" dirty="0"/>
              <a:t>새 문자열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strVar4 = new String("</a:t>
            </a:r>
            <a:r>
              <a:rPr lang="ko-KR" altLang="en-US" sz="1400" dirty="0"/>
              <a:t>신민철</a:t>
            </a:r>
            <a:r>
              <a:rPr lang="en-US" altLang="ko-KR" sz="1400" dirty="0"/>
              <a:t>"); // </a:t>
            </a:r>
            <a:r>
              <a:rPr lang="ko-KR" altLang="en-US" sz="1400" dirty="0"/>
              <a:t>또 다른 새 문자열 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(strVar3 == strVar4) { // </a:t>
            </a:r>
            <a:r>
              <a:rPr lang="ko-KR" altLang="en-US" sz="1400" dirty="0"/>
              <a:t>참조 비교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("strVar3</a:t>
            </a:r>
            <a:r>
              <a:rPr lang="ko-KR" altLang="en-US" sz="1400" dirty="0"/>
              <a:t>과 </a:t>
            </a:r>
            <a:r>
              <a:rPr lang="en-US" altLang="ko-KR" sz="1400" dirty="0"/>
              <a:t>strVar4</a:t>
            </a:r>
            <a:r>
              <a:rPr lang="ko-KR" altLang="en-US" sz="1400" dirty="0"/>
              <a:t>는 참조가 같음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("strVar3</a:t>
            </a:r>
            <a:r>
              <a:rPr lang="ko-KR" altLang="en-US" sz="1400" dirty="0"/>
              <a:t>과 </a:t>
            </a:r>
            <a:r>
              <a:rPr lang="en-US" altLang="ko-KR" sz="1400" dirty="0"/>
              <a:t>strVar4</a:t>
            </a:r>
            <a:r>
              <a:rPr lang="ko-KR" altLang="en-US" sz="1400" dirty="0"/>
              <a:t>는 참조가 다름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if (strVar3.equals(strVar4)) { // </a:t>
            </a:r>
            <a:r>
              <a:rPr lang="ko-KR" altLang="en-US" sz="1400" dirty="0"/>
              <a:t>문자열 내용 비교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("strVar3</a:t>
            </a:r>
            <a:r>
              <a:rPr lang="ko-KR" altLang="en-US" sz="1400" dirty="0"/>
              <a:t>과 </a:t>
            </a:r>
            <a:r>
              <a:rPr lang="en-US" altLang="ko-KR" sz="1400" dirty="0"/>
              <a:t>strVar4</a:t>
            </a:r>
            <a:r>
              <a:rPr lang="ko-KR" altLang="en-US" sz="1400" dirty="0"/>
              <a:t>는 문자열이 같음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        </a:t>
            </a:r>
          </a:p>
          <a:p>
            <a:pPr marL="0" indent="0">
              <a:buNone/>
            </a:pPr>
            <a:r>
              <a:rPr lang="en-US" altLang="ko-KR" sz="1400" dirty="0"/>
              <a:t>    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CC9D13-9AC7-FE31-3ECC-D7AF56DAD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21" y="2501491"/>
            <a:ext cx="4238697" cy="13281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B3F4997-BF87-D14F-1543-87D671CC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791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740B4-F837-5751-AF92-4CFD0AA0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DBDBAC-BDE0-BFA4-ED7C-A19F41D1C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배열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배열이란 같은 타입의 데이터를 연속된 공간에 내열하고</a:t>
            </a:r>
            <a:r>
              <a:rPr lang="en-US" altLang="ko-KR" sz="1400" dirty="0"/>
              <a:t>, </a:t>
            </a:r>
            <a:r>
              <a:rPr lang="ko-KR" altLang="en-US" sz="1400" dirty="0"/>
              <a:t>각 데이터에 인덱스를 </a:t>
            </a:r>
            <a:r>
              <a:rPr lang="ko-KR" altLang="en-US" sz="1400" dirty="0" err="1"/>
              <a:t>부여해놓은</a:t>
            </a:r>
            <a:r>
              <a:rPr lang="ko-KR" altLang="en-US" sz="1400" dirty="0"/>
              <a:t> 자료구조이다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배열은 같은 타입의 데이터만 저장할 수 있다</a:t>
            </a:r>
            <a:r>
              <a:rPr lang="en-US" altLang="ko-KR" sz="1400" b="1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int</a:t>
            </a:r>
            <a:r>
              <a:rPr lang="ko-KR" altLang="en-US" sz="1400" dirty="0"/>
              <a:t>배열은 </a:t>
            </a:r>
            <a:r>
              <a:rPr lang="en-US" altLang="ko-KR" sz="1400" dirty="0"/>
              <a:t>int </a:t>
            </a:r>
            <a:r>
              <a:rPr lang="ko-KR" altLang="en-US" sz="1400" dirty="0"/>
              <a:t>값만 저장이 가능하고</a:t>
            </a:r>
            <a:r>
              <a:rPr lang="en-US" altLang="ko-KR" sz="1400" dirty="0"/>
              <a:t>, String</a:t>
            </a:r>
            <a:r>
              <a:rPr lang="ko-KR" altLang="en-US" sz="1400" dirty="0"/>
              <a:t>배열은 문자열만 저장한다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한번 생성된 배열은 길이를 늘리거나 줄일 수 없다</a:t>
            </a:r>
            <a:r>
              <a:rPr lang="en-US" altLang="ko-KR" sz="1400" b="1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3</a:t>
            </a:r>
            <a:r>
              <a:rPr lang="ko-KR" altLang="en-US" sz="1400" dirty="0"/>
              <a:t>개의</a:t>
            </a:r>
            <a:r>
              <a:rPr lang="en-US" altLang="ko-KR" sz="1400" dirty="0"/>
              <a:t> </a:t>
            </a:r>
            <a:r>
              <a:rPr lang="ko-KR" altLang="en-US" sz="1400" dirty="0"/>
              <a:t>값을 저장하는 배열을 생성했다고 가정했을 때</a:t>
            </a:r>
            <a:r>
              <a:rPr lang="en-US" altLang="ko-KR" sz="1400" dirty="0"/>
              <a:t>, </a:t>
            </a:r>
          </a:p>
          <a:p>
            <a:pPr marL="0" indent="0">
              <a:buNone/>
            </a:pPr>
            <a:r>
              <a:rPr lang="ko-KR" altLang="en-US" sz="1400" dirty="0"/>
              <a:t>프로그램 실행 중 </a:t>
            </a:r>
            <a:r>
              <a:rPr lang="en-US" altLang="ko-KR" sz="1400" dirty="0"/>
              <a:t>5</a:t>
            </a:r>
            <a:r>
              <a:rPr lang="ko-KR" altLang="en-US" sz="1400" dirty="0"/>
              <a:t>개의 값을 저장하는 배열로 수정할 수 없고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반대로 </a:t>
            </a:r>
            <a:r>
              <a:rPr lang="en-US" altLang="ko-KR" sz="1400" dirty="0"/>
              <a:t>2</a:t>
            </a:r>
            <a:r>
              <a:rPr lang="ko-KR" altLang="en-US" sz="1400" dirty="0"/>
              <a:t>개의 값만 저장하는 배열로 수정할 수도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배열은 고정된 주소를 사용한다</a:t>
            </a:r>
            <a:r>
              <a:rPr lang="en-US" altLang="ko-KR" sz="1400" b="1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배열의 첫 번째 요소는 배열의 베이스 주소</a:t>
            </a:r>
            <a:r>
              <a:rPr lang="en-US" altLang="ko-KR" sz="1400" dirty="0"/>
              <a:t>(</a:t>
            </a:r>
            <a:r>
              <a:rPr lang="ko-KR" altLang="en-US" sz="1400" dirty="0"/>
              <a:t>시작 주소</a:t>
            </a:r>
            <a:r>
              <a:rPr lang="en-US" altLang="ko-KR" sz="1400" dirty="0"/>
              <a:t>)</a:t>
            </a:r>
            <a:r>
              <a:rPr lang="ko-KR" altLang="en-US" sz="1400" dirty="0"/>
              <a:t>를 가진다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배열 요소는 메모리에서 연속적으로 저장되며</a:t>
            </a:r>
            <a:r>
              <a:rPr lang="en-US" altLang="ko-KR" sz="1400" dirty="0"/>
              <a:t>, </a:t>
            </a:r>
            <a:r>
              <a:rPr lang="ko-KR" altLang="en-US" sz="1400" dirty="0"/>
              <a:t>각 요소는 데이터 타입의 크기만큼 떨어져 있다</a:t>
            </a:r>
            <a:r>
              <a:rPr lang="en-US" altLang="ko-KR" sz="1400" dirty="0"/>
              <a:t>.(int</a:t>
            </a:r>
            <a:r>
              <a:rPr lang="ko-KR" altLang="en-US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/>
              <a:t> </a:t>
            </a:r>
            <a:r>
              <a:rPr lang="en-US" altLang="ko-KR" sz="1400" dirty="0"/>
              <a:t>4byte, double </a:t>
            </a:r>
            <a:r>
              <a:rPr lang="en-US" altLang="ko-KR" sz="1400" dirty="0">
                <a:sym typeface="Wingdings" panose="05000000000000000000" pitchFamily="2" charset="2"/>
              </a:rPr>
              <a:t>8byte)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int</a:t>
            </a:r>
            <a:r>
              <a:rPr lang="ko-KR" altLang="en-US" sz="1400" dirty="0"/>
              <a:t> 배열</a:t>
            </a: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1000         1004          1008          1012          1016          1020          1024            ...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F2CC846-000B-517A-68F1-B3EC1D24E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82713"/>
              </p:ext>
            </p:extLst>
          </p:nvPr>
        </p:nvGraphicFramePr>
        <p:xfrm>
          <a:off x="0" y="565380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88811423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05911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430600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313895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62388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8505401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631410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47263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a[1]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a[2]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a[3]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a[4]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a[5]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a[6]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825193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E51A0D-FE4C-8509-C32D-C037AE6D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067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265CB-B208-8EB2-AAFE-CE292363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D9084B-466C-F364-FF55-599F9213B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배열 선언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배열을 사용하기 위해서는 우선 배열 변수를 선언해야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배열 변수 선언은 두 가지 형식으로 작성할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타입</a:t>
            </a:r>
            <a:r>
              <a:rPr lang="en-US" altLang="ko-KR" sz="1400" dirty="0"/>
              <a:t>[] </a:t>
            </a:r>
            <a:r>
              <a:rPr lang="ko-KR" altLang="en-US" sz="1400" dirty="0"/>
              <a:t>변수</a:t>
            </a:r>
            <a:r>
              <a:rPr lang="en-US" altLang="ko-KR" sz="1400" dirty="0"/>
              <a:t>;	</a:t>
            </a:r>
            <a:r>
              <a:rPr lang="ko-KR" altLang="en-US" sz="1400" dirty="0"/>
              <a:t>타입 변수</a:t>
            </a:r>
            <a:r>
              <a:rPr lang="en-US" altLang="ko-KR" sz="1400" dirty="0"/>
              <a:t>[];</a:t>
            </a:r>
          </a:p>
          <a:p>
            <a:pPr marL="0" indent="0">
              <a:buNone/>
            </a:pPr>
            <a:r>
              <a:rPr lang="en-US" altLang="ko-KR" sz="1400" dirty="0"/>
              <a:t>int[]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;		int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[];</a:t>
            </a:r>
          </a:p>
          <a:p>
            <a:pPr marL="0" indent="0">
              <a:buNone/>
            </a:pPr>
            <a:r>
              <a:rPr lang="en-US" altLang="ko-KR" sz="1400" dirty="0"/>
              <a:t>double[] arr2;	double arr2[];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배열 변수는 참조 변수에 속한다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배열도 객체이므로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영역에 생성되고 배열 변수는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영역의 배열 객체를 참조하게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만일 참조할 배열 객체가 없다면 배열 변수는 </a:t>
            </a:r>
            <a:r>
              <a:rPr lang="en-US" altLang="ko-KR" sz="1400" dirty="0"/>
              <a:t>null</a:t>
            </a:r>
            <a:r>
              <a:rPr lang="ko-KR" altLang="en-US" sz="1400" dirty="0"/>
              <a:t>값으로 초기화 될 수 있으며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이때</a:t>
            </a:r>
            <a:r>
              <a:rPr lang="en-US" altLang="ko-KR" sz="1400" dirty="0"/>
              <a:t>, </a:t>
            </a:r>
            <a:r>
              <a:rPr lang="ko-KR" altLang="en-US" sz="1400" dirty="0"/>
              <a:t>이 배열에 접근하면 </a:t>
            </a:r>
            <a:r>
              <a:rPr lang="en-US" altLang="ko-KR" sz="1400" dirty="0" err="1"/>
              <a:t>NullPointerException</a:t>
            </a:r>
            <a:r>
              <a:rPr lang="ko-KR" altLang="en-US" sz="1400" dirty="0"/>
              <a:t>이</a:t>
            </a:r>
            <a:r>
              <a:rPr lang="en-US" altLang="ko-KR" sz="1400" dirty="0"/>
              <a:t> </a:t>
            </a:r>
            <a:r>
              <a:rPr lang="ko-KR" altLang="en-US" sz="1400" dirty="0"/>
              <a:t>발생한다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0497C8-5CB7-92EE-6D1E-C88F7843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75" y="4573084"/>
            <a:ext cx="6038850" cy="18764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BA974B-0BCC-8FA9-0625-601BA6B4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64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09E53-A11F-0D53-220A-6E4B051D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052C04-FEDF-9C08-B3D1-232C19DDC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배열 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배열 객체를 생성하려면 값의 목록을 이용하거나 </a:t>
            </a:r>
            <a:r>
              <a:rPr lang="en-US" altLang="ko-KR" sz="1400" dirty="0"/>
              <a:t>new </a:t>
            </a:r>
            <a:r>
              <a:rPr lang="ko-KR" altLang="en-US" sz="1400" dirty="0"/>
              <a:t>연산자를 이용하면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값의 목록으로 배열 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타입</a:t>
            </a:r>
            <a:r>
              <a:rPr lang="en-US" altLang="ko-KR" sz="1400" dirty="0"/>
              <a:t>[] </a:t>
            </a:r>
            <a:r>
              <a:rPr lang="ko-KR" altLang="en-US" sz="1400" dirty="0"/>
              <a:t>변수 </a:t>
            </a:r>
            <a:r>
              <a:rPr lang="en-US" altLang="ko-KR" sz="1400" dirty="0"/>
              <a:t>= {</a:t>
            </a:r>
            <a:r>
              <a:rPr lang="ko-KR" altLang="en-US" sz="1400" dirty="0"/>
              <a:t>값</a:t>
            </a:r>
            <a:r>
              <a:rPr lang="en-US" altLang="ko-KR" sz="1400" dirty="0"/>
              <a:t>1, </a:t>
            </a:r>
            <a:r>
              <a:rPr lang="ko-KR" altLang="en-US" sz="1400" dirty="0"/>
              <a:t>값</a:t>
            </a:r>
            <a:r>
              <a:rPr lang="en-US" altLang="ko-KR" sz="1400" dirty="0"/>
              <a:t>2, </a:t>
            </a:r>
            <a:r>
              <a:rPr lang="ko-KR" altLang="en-US" sz="1400" dirty="0"/>
              <a:t>값</a:t>
            </a:r>
            <a:r>
              <a:rPr lang="en-US" altLang="ko-KR" sz="1400" dirty="0"/>
              <a:t>3 ...};</a:t>
            </a:r>
          </a:p>
          <a:p>
            <a:pPr marL="0" indent="0">
              <a:buNone/>
            </a:pPr>
            <a:r>
              <a:rPr lang="ko-KR" altLang="en-US" sz="1400" dirty="0"/>
              <a:t>중괄호</a:t>
            </a:r>
            <a:r>
              <a:rPr lang="en-US" altLang="ko-KR" sz="1400" dirty="0"/>
              <a:t>{}</a:t>
            </a:r>
            <a:r>
              <a:rPr lang="ko-KR" altLang="en-US" sz="1400" dirty="0"/>
              <a:t>는 주어진 값들을 항목</a:t>
            </a:r>
            <a:r>
              <a:rPr lang="en-US" altLang="ko-KR" sz="1400" dirty="0"/>
              <a:t>(</a:t>
            </a:r>
            <a:r>
              <a:rPr lang="ko-KR" altLang="en-US" sz="1400" dirty="0"/>
              <a:t>인덱스 값</a:t>
            </a:r>
            <a:r>
              <a:rPr lang="en-US" altLang="ko-KR" sz="1400" dirty="0"/>
              <a:t>)</a:t>
            </a:r>
            <a:r>
              <a:rPr lang="ko-KR" altLang="en-US" sz="1400" dirty="0"/>
              <a:t>으로 갖는 배열 객체를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영역에 생성하고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배열 객체의 번지를 반환한다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하지만</a:t>
            </a:r>
            <a:r>
              <a:rPr lang="en-US" altLang="ko-KR" sz="1400" dirty="0"/>
              <a:t> </a:t>
            </a:r>
            <a:r>
              <a:rPr lang="ko-KR" altLang="en-US" sz="1400" dirty="0"/>
              <a:t>배열 변수를 이미 선언한 후에 다른 실행문에서 중괄호</a:t>
            </a:r>
            <a:r>
              <a:rPr lang="en-US" altLang="ko-KR" sz="1400" dirty="0"/>
              <a:t>{}</a:t>
            </a:r>
            <a:r>
              <a:rPr lang="ko-KR" altLang="en-US" sz="1400" dirty="0"/>
              <a:t>를 사용한 배열 생성이 허용되지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타입</a:t>
            </a:r>
            <a:r>
              <a:rPr lang="en-US" altLang="ko-KR" sz="1400" dirty="0"/>
              <a:t>[] </a:t>
            </a:r>
            <a:r>
              <a:rPr lang="ko-KR" altLang="en-US" sz="1400" dirty="0"/>
              <a:t>변수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ko-KR" altLang="en-US" sz="1400" dirty="0"/>
              <a:t>변수 </a:t>
            </a:r>
            <a:r>
              <a:rPr lang="en-US" altLang="ko-KR" sz="1400" dirty="0"/>
              <a:t>= {</a:t>
            </a:r>
            <a:r>
              <a:rPr lang="ko-KR" altLang="en-US" sz="1400" dirty="0"/>
              <a:t>값</a:t>
            </a:r>
            <a:r>
              <a:rPr lang="en-US" altLang="ko-KR" sz="1400" dirty="0"/>
              <a:t>1, </a:t>
            </a:r>
            <a:r>
              <a:rPr lang="ko-KR" altLang="en-US" sz="1400" dirty="0"/>
              <a:t>값</a:t>
            </a:r>
            <a:r>
              <a:rPr lang="en-US" altLang="ko-KR" sz="1400" dirty="0"/>
              <a:t>2,,,}; //</a:t>
            </a:r>
            <a:r>
              <a:rPr lang="ko-KR" altLang="en-US" sz="1400" dirty="0"/>
              <a:t>에러 발생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String[] names {“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”, “</a:t>
            </a:r>
            <a:r>
              <a:rPr lang="ko-KR" altLang="en-US" sz="1400" dirty="0"/>
              <a:t>홍길동</a:t>
            </a:r>
            <a:r>
              <a:rPr lang="en-US" altLang="ko-KR" sz="1400" dirty="0"/>
              <a:t>”, “</a:t>
            </a:r>
            <a:r>
              <a:rPr lang="ko-KR" altLang="en-US" sz="1400" dirty="0" err="1"/>
              <a:t>김자바</a:t>
            </a:r>
            <a:r>
              <a:rPr lang="en-US" altLang="ko-KR" sz="1400" dirty="0"/>
              <a:t>”};</a:t>
            </a:r>
          </a:p>
          <a:p>
            <a:pPr marL="0" indent="0">
              <a:buNone/>
            </a:pPr>
            <a:r>
              <a:rPr lang="ko-KR" altLang="en-US" sz="1400" dirty="0"/>
              <a:t>이렇게 생성된 배열에서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”</a:t>
            </a:r>
            <a:r>
              <a:rPr lang="ko-KR" altLang="en-US" sz="1400" dirty="0"/>
              <a:t>은 </a:t>
            </a:r>
            <a:r>
              <a:rPr lang="en-US" altLang="ko-KR" sz="1400" dirty="0"/>
              <a:t>names[0]</a:t>
            </a:r>
          </a:p>
          <a:p>
            <a:pPr marL="0" indent="0">
              <a:buNone/>
            </a:pPr>
            <a:r>
              <a:rPr lang="en-US" altLang="ko-KR" sz="1400" dirty="0"/>
              <a:t>“</a:t>
            </a:r>
            <a:r>
              <a:rPr lang="ko-KR" altLang="en-US" sz="1400" dirty="0"/>
              <a:t>홍길동</a:t>
            </a:r>
            <a:r>
              <a:rPr lang="en-US" altLang="ko-KR" sz="1400" dirty="0"/>
              <a:t>”</a:t>
            </a:r>
            <a:r>
              <a:rPr lang="ko-KR" altLang="en-US" sz="1400" dirty="0"/>
              <a:t>은 </a:t>
            </a:r>
            <a:r>
              <a:rPr lang="en-US" altLang="ko-KR" sz="1400" dirty="0"/>
              <a:t>names[1]</a:t>
            </a:r>
          </a:p>
          <a:p>
            <a:pPr marL="0" indent="0">
              <a:buNone/>
            </a:pPr>
            <a:r>
              <a:rPr lang="en-US" altLang="ko-KR" sz="1400" dirty="0"/>
              <a:t>“</a:t>
            </a:r>
            <a:r>
              <a:rPr lang="ko-KR" altLang="en-US" sz="1400" dirty="0" err="1"/>
              <a:t>김자바</a:t>
            </a:r>
            <a:r>
              <a:rPr lang="en-US" altLang="ko-KR" sz="1400" dirty="0"/>
              <a:t>”</a:t>
            </a:r>
            <a:r>
              <a:rPr lang="ko-KR" altLang="en-US" sz="1400" dirty="0"/>
              <a:t>는 </a:t>
            </a:r>
            <a:r>
              <a:rPr lang="en-US" altLang="ko-KR" sz="1400" dirty="0"/>
              <a:t>names[2]</a:t>
            </a:r>
            <a:r>
              <a:rPr lang="ko-KR" altLang="en-US" sz="1400" dirty="0"/>
              <a:t>로 접근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name[1] = “</a:t>
            </a:r>
            <a:r>
              <a:rPr lang="ko-KR" altLang="en-US" sz="1400" dirty="0"/>
              <a:t>고길동</a:t>
            </a:r>
            <a:r>
              <a:rPr lang="en-US" altLang="ko-KR" sz="1400" dirty="0"/>
              <a:t>”; </a:t>
            </a:r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홍길동</a:t>
            </a: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고길동으로 값을 변화시킨다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1E78E9-5CAB-19FD-C5B1-0F316558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093" y="718377"/>
            <a:ext cx="4371409" cy="135830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B8AC71-5754-084D-14DC-1B9887F4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928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96902-A81D-52F4-C30B-E9868AC5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38641-141A-BFE7-079E-97FD91A00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ArrayCreateByValueListExample1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int[] scores = { 83, 90, 87 }; // </a:t>
            </a:r>
            <a:r>
              <a:rPr lang="ko-KR" altLang="en-US" sz="1400" dirty="0"/>
              <a:t>배열 선언 및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("scores[0] : " + scores[0]); // </a:t>
            </a:r>
            <a:r>
              <a:rPr lang="ko-KR" altLang="en-US" sz="1400" dirty="0"/>
              <a:t>첫 번째 요소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("scores[1] : " + scores[1]); // </a:t>
            </a:r>
            <a:r>
              <a:rPr lang="ko-KR" altLang="en-US" sz="1400" dirty="0"/>
              <a:t>두 번째 요소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("scores[2] : " + scores[2]); // </a:t>
            </a:r>
            <a:r>
              <a:rPr lang="ko-KR" altLang="en-US" sz="1400" dirty="0"/>
              <a:t>세 번째 요소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 = 0; // </a:t>
            </a:r>
            <a:r>
              <a:rPr lang="ko-KR" altLang="en-US" sz="1400" dirty="0"/>
              <a:t>합계를 저장할 변수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3;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배열의 모든 요소 순회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sum += scores[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]; // </a:t>
            </a:r>
            <a:r>
              <a:rPr lang="ko-KR" altLang="en-US" sz="1400" dirty="0"/>
              <a:t>각 요소의 값을 </a:t>
            </a:r>
            <a:r>
              <a:rPr lang="en-US" altLang="ko-KR" sz="1400" dirty="0"/>
              <a:t>sum</a:t>
            </a:r>
            <a:r>
              <a:rPr lang="ko-KR" altLang="en-US" sz="1400" dirty="0"/>
              <a:t>에 더함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총합 </a:t>
            </a:r>
            <a:r>
              <a:rPr lang="en-US" altLang="ko-KR" sz="1400" dirty="0"/>
              <a:t>: " + sum); // </a:t>
            </a:r>
            <a:r>
              <a:rPr lang="ko-KR" altLang="en-US" sz="1400" dirty="0"/>
              <a:t>총합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avg = (double) sum / 3; // </a:t>
            </a:r>
            <a:r>
              <a:rPr lang="ko-KR" altLang="en-US" sz="1400" dirty="0"/>
              <a:t>평균 계산 </a:t>
            </a:r>
            <a:r>
              <a:rPr lang="en-US" altLang="ko-KR" sz="1400" dirty="0"/>
              <a:t>(</a:t>
            </a:r>
            <a:r>
              <a:rPr lang="ko-KR" altLang="en-US" sz="1400" dirty="0"/>
              <a:t>합계 </a:t>
            </a:r>
            <a:r>
              <a:rPr lang="en-US" altLang="ko-KR" sz="1400" dirty="0"/>
              <a:t>÷ </a:t>
            </a:r>
            <a:r>
              <a:rPr lang="ko-KR" altLang="en-US" sz="1400" dirty="0"/>
              <a:t>요소 개수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평균 </a:t>
            </a:r>
            <a:r>
              <a:rPr lang="en-US" altLang="ko-KR" sz="1400" dirty="0"/>
              <a:t>: " + avg); // </a:t>
            </a:r>
            <a:r>
              <a:rPr lang="ko-KR" altLang="en-US" sz="1400" dirty="0"/>
              <a:t>평균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349BDC-5AE9-FE76-0804-C4212A74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974" y="2090312"/>
            <a:ext cx="2913490" cy="159444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3E30F40-AC1C-7F86-6807-B1F1FCB0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266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755E8-1CCB-D034-ABEC-300F25E3E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567D45-6238-5E61-246D-AC2E4BA7D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ArrayCreateByValueListExample2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int[] scores; // </a:t>
            </a:r>
            <a:r>
              <a:rPr lang="ko-KR" altLang="en-US" sz="1400" dirty="0"/>
              <a:t>배열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scores = new int[] { 83, 90, 87 }; // </a:t>
            </a:r>
            <a:r>
              <a:rPr lang="ko-KR" altLang="en-US" sz="1400" dirty="0"/>
              <a:t>배열 생성 및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sum1 = 0; // </a:t>
            </a:r>
            <a:r>
              <a:rPr lang="ko-KR" altLang="en-US" sz="1400" dirty="0"/>
              <a:t>첫 번째 총합 변수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3;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배열의 모든 요소 순회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sum1 += scores[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]; // </a:t>
            </a:r>
            <a:r>
              <a:rPr lang="ko-KR" altLang="en-US" sz="1400" dirty="0"/>
              <a:t>각 요소 값을 </a:t>
            </a:r>
            <a:r>
              <a:rPr lang="en-US" altLang="ko-KR" sz="1400" dirty="0"/>
              <a:t>sum1</a:t>
            </a:r>
            <a:r>
              <a:rPr lang="ko-KR" altLang="en-US" sz="1400" dirty="0"/>
              <a:t>에 더함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총합 </a:t>
            </a:r>
            <a:r>
              <a:rPr lang="en-US" altLang="ko-KR" sz="1400" dirty="0"/>
              <a:t>: " + sum1); // </a:t>
            </a:r>
            <a:r>
              <a:rPr lang="ko-KR" altLang="en-US" sz="1400" dirty="0"/>
              <a:t>첫 번째 총합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sum2 = add(new int[] { 83, 90, 87 }); // </a:t>
            </a:r>
            <a:r>
              <a:rPr lang="ko-KR" altLang="en-US" sz="1400" dirty="0"/>
              <a:t>메서드 호출로 총합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총합 </a:t>
            </a:r>
            <a:r>
              <a:rPr lang="en-US" altLang="ko-KR" sz="1400" dirty="0"/>
              <a:t>: " + sum2); // </a:t>
            </a:r>
            <a:r>
              <a:rPr lang="ko-KR" altLang="en-US" sz="1400" dirty="0"/>
              <a:t>두 번째 총합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줄바꿈</a:t>
            </a:r>
            <a:r>
              <a:rPr lang="ko-KR" altLang="en-US" sz="1400" dirty="0"/>
              <a:t>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static int add(int[] scores) { // </a:t>
            </a:r>
            <a:r>
              <a:rPr lang="ko-KR" altLang="en-US" sz="1400" dirty="0"/>
              <a:t>배열을 매개변수로 받는 메서드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 = 0; // </a:t>
            </a:r>
            <a:r>
              <a:rPr lang="ko-KR" altLang="en-US" sz="1400" dirty="0"/>
              <a:t>합계 변수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3;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배열의 모든 요소 순회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sum += scores[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]; // </a:t>
            </a:r>
            <a:r>
              <a:rPr lang="ko-KR" altLang="en-US" sz="1400" dirty="0"/>
              <a:t>각 요소 값을 </a:t>
            </a:r>
            <a:r>
              <a:rPr lang="en-US" altLang="ko-KR" sz="1400" dirty="0"/>
              <a:t>sum</a:t>
            </a:r>
            <a:r>
              <a:rPr lang="ko-KR" altLang="en-US" sz="1400" dirty="0"/>
              <a:t>에 더함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return sum; // </a:t>
            </a:r>
            <a:r>
              <a:rPr lang="ko-KR" altLang="en-US" sz="1400" dirty="0"/>
              <a:t>계산된 합계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6C0A80-B202-E82B-5F07-E6C31E9A3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626" y="2810158"/>
            <a:ext cx="2342759" cy="123768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E4D4302-8525-FE85-239B-8CC9ED16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531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D53A6-B864-2DF9-C0F4-4CECED63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E7E711-022C-AC67-36A7-0E5233EB2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배열 생성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값의 목록을 가지고 있지 않지만</a:t>
            </a:r>
            <a:r>
              <a:rPr lang="en-US" altLang="ko-KR" sz="1400" dirty="0"/>
              <a:t>, </a:t>
            </a:r>
            <a:r>
              <a:rPr lang="ko-KR" altLang="en-US" sz="1400" dirty="0"/>
              <a:t>향후 값들을 저장할 배열을 미리 만들고 싶다면 </a:t>
            </a:r>
            <a:r>
              <a:rPr lang="en-US" altLang="ko-KR" sz="1400" dirty="0"/>
              <a:t>new </a:t>
            </a:r>
            <a:r>
              <a:rPr lang="ko-KR" altLang="en-US" sz="1400" dirty="0"/>
              <a:t>연산자로 배열을 생성할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타입</a:t>
            </a:r>
            <a:r>
              <a:rPr lang="en-US" altLang="ko-KR" sz="1400" dirty="0"/>
              <a:t>[] </a:t>
            </a:r>
            <a:r>
              <a:rPr lang="ko-KR" altLang="en-US" sz="1400" dirty="0"/>
              <a:t>변수 </a:t>
            </a:r>
            <a:r>
              <a:rPr lang="en-US" altLang="ko-KR" sz="1400" dirty="0"/>
              <a:t>= new</a:t>
            </a:r>
            <a:r>
              <a:rPr lang="ko-KR" altLang="en-US" sz="1400" dirty="0"/>
              <a:t>타입</a:t>
            </a:r>
            <a:r>
              <a:rPr lang="en-US" altLang="ko-KR" sz="1400" dirty="0"/>
              <a:t>[</a:t>
            </a:r>
            <a:r>
              <a:rPr lang="ko-KR" altLang="en-US" sz="1400" dirty="0"/>
              <a:t>길이</a:t>
            </a:r>
            <a:r>
              <a:rPr lang="en-US" altLang="ko-KR" sz="1400" dirty="0"/>
              <a:t>];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int[] scores = new int[30];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scores</a:t>
            </a:r>
            <a:r>
              <a:rPr lang="ko-KR" altLang="en-US" sz="1400" dirty="0"/>
              <a:t> 배열은 </a:t>
            </a:r>
            <a:r>
              <a:rPr lang="en-US" altLang="ko-KR" sz="1400" dirty="0"/>
              <a:t>int </a:t>
            </a:r>
            <a:r>
              <a:rPr lang="ko-KR" altLang="en-US" sz="1400" dirty="0"/>
              <a:t>배열이므로 다음과같이 기본값이 모두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초기화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String[] names = new String[30];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names </a:t>
            </a:r>
            <a:r>
              <a:rPr lang="ko-KR" altLang="en-US" sz="1400" dirty="0"/>
              <a:t>배열은 </a:t>
            </a:r>
            <a:r>
              <a:rPr lang="en-US" altLang="ko-KR" sz="1400" dirty="0"/>
              <a:t>String</a:t>
            </a:r>
            <a:r>
              <a:rPr lang="ko-KR" altLang="en-US" sz="1400" dirty="0"/>
              <a:t>배열이므로 기본값이 모두 </a:t>
            </a:r>
            <a:r>
              <a:rPr lang="en-US" altLang="ko-KR" sz="1400" dirty="0"/>
              <a:t>null</a:t>
            </a:r>
            <a:r>
              <a:rPr lang="ko-KR" altLang="en-US" sz="1400" dirty="0"/>
              <a:t>로 초기화된다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DB0C3C-4251-25F7-7468-2BE1B92DE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7850"/>
            <a:ext cx="7352057" cy="12642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73B026-2948-E1EE-ECEA-14FC7C903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0880"/>
            <a:ext cx="7297701" cy="112593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C21328B-2FF1-3F2C-14A2-4D31C3F6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956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D94CF-E4A4-4034-E626-FAAC31A9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1C3754-547A-9B83-75A7-227E853ED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/>
              <a:t>public class </a:t>
            </a:r>
            <a:r>
              <a:rPr lang="en-US" altLang="ko-KR" sz="1200" dirty="0" err="1"/>
              <a:t>ArrayCreateByNewExample</a:t>
            </a:r>
            <a:r>
              <a:rPr lang="en-US" altLang="ko-KR" sz="1200" dirty="0"/>
              <a:t> {</a:t>
            </a:r>
          </a:p>
          <a:p>
            <a:pPr marL="0" indent="0">
              <a:buNone/>
            </a:pPr>
            <a:r>
              <a:rPr lang="en-US" altLang="ko-KR" sz="1200" dirty="0"/>
              <a:t>    public static void main(String[] </a:t>
            </a:r>
            <a:r>
              <a:rPr lang="en-US" altLang="ko-KR" sz="1200" dirty="0" err="1"/>
              <a:t>args</a:t>
            </a:r>
            <a:r>
              <a:rPr lang="en-US" altLang="ko-KR" sz="1200" dirty="0"/>
              <a:t>) {</a:t>
            </a:r>
          </a:p>
          <a:p>
            <a:pPr marL="0" indent="0">
              <a:buNone/>
            </a:pPr>
            <a:r>
              <a:rPr lang="en-US" altLang="ko-KR" sz="1200" dirty="0"/>
              <a:t>        int[] arr1 = new int[3]; // </a:t>
            </a:r>
            <a:r>
              <a:rPr lang="ko-KR" altLang="en-US" sz="1200" dirty="0"/>
              <a:t>크기가 </a:t>
            </a:r>
            <a:r>
              <a:rPr lang="en-US" altLang="ko-KR" sz="1200" dirty="0"/>
              <a:t>3</a:t>
            </a:r>
            <a:r>
              <a:rPr lang="ko-KR" altLang="en-US" sz="1200" dirty="0"/>
              <a:t>인 정수 배열 생성 </a:t>
            </a:r>
            <a:r>
              <a:rPr lang="en-US" altLang="ko-KR" sz="1200" dirty="0"/>
              <a:t>(</a:t>
            </a:r>
            <a:r>
              <a:rPr lang="ko-KR" altLang="en-US" sz="1200" dirty="0"/>
              <a:t>기본값 </a:t>
            </a:r>
            <a:r>
              <a:rPr lang="en-US" altLang="ko-KR" sz="1200" dirty="0"/>
              <a:t>0</a:t>
            </a:r>
            <a:r>
              <a:rPr lang="ko-KR" altLang="en-US" sz="1200" dirty="0"/>
              <a:t>으로 초기화</a:t>
            </a:r>
            <a:r>
              <a:rPr lang="en-US" altLang="ko-KR" sz="1200" dirty="0"/>
              <a:t>)</a:t>
            </a:r>
          </a:p>
          <a:p>
            <a:pPr marL="0" indent="0">
              <a:buNone/>
            </a:pPr>
            <a:r>
              <a:rPr lang="en-US" altLang="ko-KR" sz="1200" dirty="0"/>
              <a:t>        for (int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= 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&lt; 3;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pPr marL="0" indent="0">
              <a:buNone/>
            </a:pPr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("arr1[" +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+ "] : " + arr1[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]); // </a:t>
            </a:r>
            <a:r>
              <a:rPr lang="ko-KR" altLang="en-US" sz="1200" dirty="0"/>
              <a:t>배열의 초기값 출력</a:t>
            </a:r>
          </a:p>
          <a:p>
            <a:pPr marL="0" indent="0"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}</a:t>
            </a:r>
          </a:p>
          <a:p>
            <a:pPr marL="0" indent="0">
              <a:buNone/>
            </a:pPr>
            <a:r>
              <a:rPr lang="en-US" altLang="ko-KR" sz="1200" dirty="0"/>
              <a:t>        arr1[0] = 10; // </a:t>
            </a:r>
            <a:r>
              <a:rPr lang="ko-KR" altLang="en-US" sz="1200" dirty="0"/>
              <a:t>첫 번째 요소 값 변경</a:t>
            </a:r>
          </a:p>
          <a:p>
            <a:pPr marL="0" indent="0"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arr1[1] = 20; // </a:t>
            </a:r>
            <a:r>
              <a:rPr lang="ko-KR" altLang="en-US" sz="1200" dirty="0"/>
              <a:t>두 번째 요소 값 변경</a:t>
            </a:r>
          </a:p>
          <a:p>
            <a:pPr marL="0" indent="0"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arr1[2] = 30; // </a:t>
            </a:r>
            <a:r>
              <a:rPr lang="ko-KR" altLang="en-US" sz="1200" dirty="0"/>
              <a:t>세 번째 요소 값 변경</a:t>
            </a:r>
          </a:p>
          <a:p>
            <a:pPr marL="0" indent="0"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for (int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= 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&lt; 3;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pPr marL="0" indent="0">
              <a:buNone/>
            </a:pPr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("arr1[" +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+ "] : " + arr1[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]); // </a:t>
            </a:r>
            <a:r>
              <a:rPr lang="ko-KR" altLang="en-US" sz="1200" dirty="0"/>
              <a:t>변경된 값 출력</a:t>
            </a:r>
          </a:p>
          <a:p>
            <a:pPr marL="0" indent="0"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}</a:t>
            </a:r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        double[] arr2 = new double[3]; // </a:t>
            </a:r>
            <a:r>
              <a:rPr lang="ko-KR" altLang="en-US" sz="1200" dirty="0"/>
              <a:t>크기가 </a:t>
            </a:r>
            <a:r>
              <a:rPr lang="en-US" altLang="ko-KR" sz="1200" dirty="0"/>
              <a:t>3</a:t>
            </a:r>
            <a:r>
              <a:rPr lang="ko-KR" altLang="en-US" sz="1200" dirty="0"/>
              <a:t>인 실수 배열 생성 </a:t>
            </a:r>
            <a:r>
              <a:rPr lang="en-US" altLang="ko-KR" sz="1200" dirty="0"/>
              <a:t>(</a:t>
            </a:r>
            <a:r>
              <a:rPr lang="ko-KR" altLang="en-US" sz="1200" dirty="0"/>
              <a:t>기본값 </a:t>
            </a:r>
            <a:r>
              <a:rPr lang="en-US" altLang="ko-KR" sz="1200" dirty="0"/>
              <a:t>0.0</a:t>
            </a:r>
            <a:r>
              <a:rPr lang="ko-KR" altLang="en-US" sz="1200" dirty="0"/>
              <a:t>으로 초기화</a:t>
            </a:r>
            <a:r>
              <a:rPr lang="en-US" altLang="ko-KR" sz="1200" dirty="0"/>
              <a:t>)</a:t>
            </a:r>
          </a:p>
          <a:p>
            <a:pPr marL="0" indent="0">
              <a:buNone/>
            </a:pPr>
            <a:r>
              <a:rPr lang="en-US" altLang="ko-KR" sz="1200" dirty="0"/>
              <a:t>        for (int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= 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&lt; 3;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pPr marL="0" indent="0">
              <a:buNone/>
            </a:pPr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("arr2[" +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+ "] : " + arr2[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]); // </a:t>
            </a:r>
            <a:r>
              <a:rPr lang="ko-KR" altLang="en-US" sz="1200" dirty="0"/>
              <a:t>배열의 초기값 출력</a:t>
            </a:r>
          </a:p>
          <a:p>
            <a:pPr marL="0" indent="0"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}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A3F4288-EDC5-5836-8678-48D499102921}"/>
              </a:ext>
            </a:extLst>
          </p:cNvPr>
          <p:cNvSpPr txBox="1">
            <a:spLocks/>
          </p:cNvSpPr>
          <p:nvPr/>
        </p:nvSpPr>
        <p:spPr>
          <a:xfrm>
            <a:off x="5875699" y="0"/>
            <a:ext cx="6482281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arr2[0] = 0.1; // </a:t>
            </a:r>
            <a:r>
              <a:rPr lang="ko-KR" altLang="en-US" sz="1200" dirty="0"/>
              <a:t>첫 번째 요소 값 변경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arr2[1] = 0.2; // </a:t>
            </a:r>
            <a:r>
              <a:rPr lang="ko-KR" altLang="en-US" sz="1200" dirty="0"/>
              <a:t>두 번째 요소 값 변경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arr2[2] = 0.3; // </a:t>
            </a:r>
            <a:r>
              <a:rPr lang="ko-KR" altLang="en-US" sz="1200" dirty="0"/>
              <a:t>세 번째 요소 값 변경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for (int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= 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&lt; 3;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("arr2[" +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+ "] : " + arr2[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]); // </a:t>
            </a:r>
            <a:r>
              <a:rPr lang="ko-KR" altLang="en-US" sz="1200" dirty="0"/>
              <a:t>변경된 값 출력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       String[] arr3 = new String[3]; // </a:t>
            </a:r>
            <a:r>
              <a:rPr lang="ko-KR" altLang="en-US" sz="1200" dirty="0"/>
              <a:t>크기가 </a:t>
            </a:r>
            <a:r>
              <a:rPr lang="en-US" altLang="ko-KR" sz="1200" dirty="0"/>
              <a:t>3</a:t>
            </a:r>
            <a:r>
              <a:rPr lang="ko-KR" altLang="en-US" sz="1200" dirty="0"/>
              <a:t>인 문자열 배열 생성 </a:t>
            </a:r>
            <a:r>
              <a:rPr lang="en-US" altLang="ko-KR" sz="1200" dirty="0"/>
              <a:t>(</a:t>
            </a:r>
            <a:r>
              <a:rPr lang="ko-KR" altLang="en-US" sz="1200" dirty="0"/>
              <a:t>기본값 </a:t>
            </a:r>
            <a:r>
              <a:rPr lang="en-US" altLang="ko-KR" sz="1200" dirty="0"/>
              <a:t>null</a:t>
            </a:r>
            <a:r>
              <a:rPr lang="ko-KR" altLang="en-US" sz="1200" dirty="0"/>
              <a:t>로 초기화</a:t>
            </a:r>
            <a:r>
              <a:rPr lang="en-US" altLang="ko-KR" sz="12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       for (int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= 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&lt; 3;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("arr3[" +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+ "] : " + arr3[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]); // </a:t>
            </a:r>
            <a:r>
              <a:rPr lang="ko-KR" altLang="en-US" sz="1200" dirty="0"/>
              <a:t>배열의 초기값 출력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       arr3[0] = "1</a:t>
            </a:r>
            <a:r>
              <a:rPr lang="ko-KR" altLang="en-US" sz="1200" dirty="0"/>
              <a:t>월</a:t>
            </a:r>
            <a:r>
              <a:rPr lang="en-US" altLang="ko-KR" sz="1200" dirty="0"/>
              <a:t>"; // </a:t>
            </a:r>
            <a:r>
              <a:rPr lang="ko-KR" altLang="en-US" sz="1200" dirty="0"/>
              <a:t>첫 번째 요소 값 변경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arr3[1] = "2</a:t>
            </a:r>
            <a:r>
              <a:rPr lang="ko-KR" altLang="en-US" sz="1200" dirty="0"/>
              <a:t>월</a:t>
            </a:r>
            <a:r>
              <a:rPr lang="en-US" altLang="ko-KR" sz="1200" dirty="0"/>
              <a:t>"; // </a:t>
            </a:r>
            <a:r>
              <a:rPr lang="ko-KR" altLang="en-US" sz="1200" dirty="0"/>
              <a:t>두 번째 요소 값 변경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arr3[2] = "3</a:t>
            </a:r>
            <a:r>
              <a:rPr lang="ko-KR" altLang="en-US" sz="1200" dirty="0"/>
              <a:t>월</a:t>
            </a:r>
            <a:r>
              <a:rPr lang="en-US" altLang="ko-KR" sz="1200" dirty="0"/>
              <a:t>"; // </a:t>
            </a:r>
            <a:r>
              <a:rPr lang="ko-KR" altLang="en-US" sz="1200" dirty="0"/>
              <a:t>세 번째 요소 값 변경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for (int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= 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&lt; 3;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("arr3[" +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+ "] : " + arr3[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]); // </a:t>
            </a:r>
            <a:r>
              <a:rPr lang="ko-KR" altLang="en-US" sz="1200" dirty="0"/>
              <a:t>변경된 값 출력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200" dirty="0"/>
              <a:t>        </a:t>
            </a:r>
            <a:r>
              <a:rPr lang="en-US" altLang="ko-KR" sz="12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7A9014-5E34-7FF0-BF67-EC4AD236E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03" y="4831014"/>
            <a:ext cx="977723" cy="20269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526702-29BB-1038-E70E-D830EDA28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277" y="5155666"/>
            <a:ext cx="1247775" cy="12001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BB56C-567A-57B4-AA90-35C3E9BD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170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008E-3639-5F82-5128-B980C4DB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91A10-D58E-FBEA-9A3C-99830C200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배열 길이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배열의 길이란 배열에 저장할 수 있는 전체 항목의 개수를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코드에서 배열의 길이를 얻으려면 배열 변수에 도트 연산자</a:t>
            </a:r>
            <a:r>
              <a:rPr lang="en-US" altLang="ko-KR" sz="1400" dirty="0"/>
              <a:t>(.)</a:t>
            </a:r>
            <a:r>
              <a:rPr lang="ko-KR" altLang="en-US" sz="1400" dirty="0"/>
              <a:t>를 붙이고 </a:t>
            </a:r>
            <a:r>
              <a:rPr lang="en-US" altLang="ko-KR" sz="1400" dirty="0"/>
              <a:t>length</a:t>
            </a:r>
            <a:r>
              <a:rPr lang="ko-KR" altLang="en-US" sz="1400" dirty="0"/>
              <a:t>를 적어주면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배열 변수</a:t>
            </a:r>
            <a:r>
              <a:rPr lang="en-US" altLang="ko-KR" sz="1400" dirty="0"/>
              <a:t>. length;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int[]</a:t>
            </a:r>
            <a:r>
              <a:rPr lang="ko-KR" altLang="en-US" sz="1400" dirty="0"/>
              <a:t> </a:t>
            </a:r>
            <a:r>
              <a:rPr lang="en-US" altLang="ko-KR" sz="1400" dirty="0" err="1"/>
              <a:t>arr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</a:t>
            </a:r>
            <a:r>
              <a:rPr lang="en-US" altLang="ko-KR" sz="1400" dirty="0"/>
              <a:t>{10,20,30};</a:t>
            </a:r>
          </a:p>
          <a:p>
            <a:pPr marL="0" indent="0">
              <a:buNone/>
            </a:pPr>
            <a:r>
              <a:rPr lang="en-US" altLang="ko-KR" sz="1400" dirty="0"/>
              <a:t>int num = </a:t>
            </a:r>
            <a:r>
              <a:rPr lang="en-US" altLang="ko-KR" sz="1400" dirty="0" err="1"/>
              <a:t>arr.length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 배열은 </a:t>
            </a:r>
            <a:r>
              <a:rPr lang="en-US" altLang="ko-KR" sz="1400" dirty="0" err="1"/>
              <a:t>arr</a:t>
            </a:r>
            <a:r>
              <a:rPr lang="ko-KR" altLang="en-US" sz="1400" dirty="0"/>
              <a:t>배열의 길이를 알아보는 코드이다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배열 </a:t>
            </a:r>
            <a:r>
              <a:rPr lang="en-US" altLang="ko-KR" sz="1400" dirty="0" err="1"/>
              <a:t>arr</a:t>
            </a:r>
            <a:r>
              <a:rPr lang="ko-KR" altLang="en-US" sz="1400" dirty="0"/>
              <a:t>이 </a:t>
            </a:r>
            <a:r>
              <a:rPr lang="en-US" altLang="ko-KR" sz="1400" dirty="0"/>
              <a:t>3</a:t>
            </a:r>
            <a:r>
              <a:rPr lang="ko-KR" altLang="en-US" sz="1400" dirty="0"/>
              <a:t>개의 값을 가지고 있기 때문에 변수 </a:t>
            </a:r>
            <a:r>
              <a:rPr lang="en-US" altLang="ko-KR" sz="1400" dirty="0"/>
              <a:t>num</a:t>
            </a:r>
            <a:r>
              <a:rPr lang="ko-KR" altLang="en-US" sz="1400" dirty="0"/>
              <a:t>에는 </a:t>
            </a:r>
            <a:r>
              <a:rPr lang="en-US" altLang="ko-KR" sz="1400" dirty="0"/>
              <a:t>3</a:t>
            </a:r>
            <a:r>
              <a:rPr lang="ko-KR" altLang="en-US" sz="1400" dirty="0"/>
              <a:t>이 저장된다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1F59E8-64CD-6C94-98BB-255112D7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445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4435-2EA7-54CB-2140-D6B2BFD6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CBD374-17C8-96FD-2DC4-3F3A9CF15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ArrayLengthExample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int[] scores = { 83, 90, 87 }; // </a:t>
            </a:r>
            <a:r>
              <a:rPr lang="ko-KR" altLang="en-US" sz="1400" dirty="0"/>
              <a:t>크기가 </a:t>
            </a:r>
            <a:r>
              <a:rPr lang="en-US" altLang="ko-KR" sz="1400" dirty="0"/>
              <a:t>3</a:t>
            </a:r>
            <a:r>
              <a:rPr lang="ko-KR" altLang="en-US" sz="1400" dirty="0"/>
              <a:t>인 정수 배열 선언 및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 = 0; // </a:t>
            </a:r>
            <a:r>
              <a:rPr lang="ko-KR" altLang="en-US" sz="1400" dirty="0"/>
              <a:t>합계를 저장할 변수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scores.length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배열의 길이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scores.length</a:t>
            </a:r>
            <a:r>
              <a:rPr lang="en-US" altLang="ko-KR" sz="1400" dirty="0"/>
              <a:t>)</a:t>
            </a:r>
            <a:r>
              <a:rPr lang="ko-KR" altLang="en-US" sz="1400" dirty="0"/>
              <a:t>만큼 반복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sum += scores[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]; // </a:t>
            </a:r>
            <a:r>
              <a:rPr lang="ko-KR" altLang="en-US" sz="1400" dirty="0"/>
              <a:t>배열 요소를 순회하며 합계를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총합 </a:t>
            </a:r>
            <a:r>
              <a:rPr lang="en-US" altLang="ko-KR" sz="1400" dirty="0"/>
              <a:t>: " + sum); // </a:t>
            </a:r>
            <a:r>
              <a:rPr lang="ko-KR" altLang="en-US" sz="1400" dirty="0"/>
              <a:t>계산된 총합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avg = (double) sum / </a:t>
            </a:r>
            <a:r>
              <a:rPr lang="en-US" altLang="ko-KR" sz="1400" dirty="0" err="1"/>
              <a:t>scores.length</a:t>
            </a:r>
            <a:r>
              <a:rPr lang="en-US" altLang="ko-KR" sz="1400" dirty="0"/>
              <a:t>; // </a:t>
            </a:r>
            <a:r>
              <a:rPr lang="ko-KR" altLang="en-US" sz="1400" dirty="0"/>
              <a:t>평균 계산 </a:t>
            </a:r>
            <a:r>
              <a:rPr lang="en-US" altLang="ko-KR" sz="1400" dirty="0"/>
              <a:t>(</a:t>
            </a:r>
            <a:r>
              <a:rPr lang="ko-KR" altLang="en-US" sz="1400" dirty="0"/>
              <a:t>총합 </a:t>
            </a:r>
            <a:r>
              <a:rPr lang="en-US" altLang="ko-KR" sz="1400" dirty="0"/>
              <a:t>÷ </a:t>
            </a:r>
            <a:r>
              <a:rPr lang="ko-KR" altLang="en-US" sz="1400" dirty="0"/>
              <a:t>배열 길이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평균 </a:t>
            </a:r>
            <a:r>
              <a:rPr lang="en-US" altLang="ko-KR" sz="1400" dirty="0"/>
              <a:t>: " + avg); // </a:t>
            </a:r>
            <a:r>
              <a:rPr lang="ko-KR" altLang="en-US" sz="1400" dirty="0"/>
              <a:t>계산된 평균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41B863-160E-33C5-6E4C-71B920187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015" y="2995046"/>
            <a:ext cx="3303646" cy="86790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3877A55-E535-1301-6478-07D5D0CC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919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EFB-1D93-BB6E-C2DF-2379F6CE9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F698C-6717-085C-ED10-DFDD7372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다차원 배열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지금까지 살펴본 배열은 모두 </a:t>
            </a:r>
            <a:r>
              <a:rPr lang="en-US" altLang="ko-KR" sz="1400" dirty="0"/>
              <a:t>1</a:t>
            </a:r>
            <a:r>
              <a:rPr lang="ko-KR" altLang="en-US" sz="1400" dirty="0"/>
              <a:t>차원 배열이다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이와 달리 값들을 행과 열로 구성하는 배열을 다차원 배열이라고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2</a:t>
            </a:r>
            <a:r>
              <a:rPr lang="ko-KR" altLang="en-US" sz="1400" dirty="0"/>
              <a:t>차원 배열의 선언 예시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int[][] scores = new int[2][3]				</a:t>
            </a:r>
          </a:p>
          <a:p>
            <a:pPr marL="0" indent="0">
              <a:buNone/>
            </a:pPr>
            <a:r>
              <a:rPr lang="en-US" altLang="ko-KR" sz="1400" dirty="0"/>
              <a:t>						      </a:t>
            </a:r>
            <a:r>
              <a:rPr lang="ko-KR" altLang="en-US" sz="1400" dirty="0"/>
              <a:t>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               </a:t>
            </a:r>
            <a:r>
              <a:rPr lang="ko-KR" altLang="en-US" sz="1400" dirty="0"/>
              <a:t>행</a:t>
            </a: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CE13EFA-DAF0-25A1-0A35-60E365853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615612"/>
              </p:ext>
            </p:extLst>
          </p:nvPr>
        </p:nvGraphicFramePr>
        <p:xfrm>
          <a:off x="2032000" y="2687320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8482048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0487508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62037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(0,0)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(0,1)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(0,2)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23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(1,0)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(1,0)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(1,2)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47821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F1B66E1-A0C4-5099-AA9E-F3186B575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925" y="3699637"/>
            <a:ext cx="5785877" cy="288772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2EAAD0-F39E-6072-9F14-F28C79BA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113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A11F9-6683-1D6B-264C-57BF7F4A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247C2E-F6CD-0360-2BAF-8F3A4AF6C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다차원 배열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 err="1"/>
              <a:t>예를들어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int[][] scores = {  {95,80}  ,  {92,96}  };</a:t>
            </a:r>
            <a:r>
              <a:rPr lang="ko-KR" altLang="en-US" sz="1400" dirty="0"/>
              <a:t>의 </a:t>
            </a:r>
            <a:r>
              <a:rPr lang="en-US" altLang="ko-KR" sz="1400" dirty="0"/>
              <a:t>2x2</a:t>
            </a:r>
            <a:r>
              <a:rPr lang="ko-KR" altLang="en-US" sz="1400" dirty="0"/>
              <a:t>배열이 있을 때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score[0]</a:t>
            </a:r>
            <a:r>
              <a:rPr lang="ko-KR" altLang="en-US" sz="1400" dirty="0"/>
              <a:t>은 </a:t>
            </a:r>
            <a:r>
              <a:rPr lang="en-US" altLang="ko-KR" sz="1400" dirty="0"/>
              <a:t>{95,80}</a:t>
            </a:r>
            <a:r>
              <a:rPr lang="ko-KR" altLang="en-US" sz="1400" dirty="0"/>
              <a:t>배열을 참조하고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score[1]</a:t>
            </a:r>
            <a:r>
              <a:rPr lang="ko-KR" altLang="en-US" sz="1400" dirty="0"/>
              <a:t>은 </a:t>
            </a:r>
            <a:r>
              <a:rPr lang="en-US" altLang="ko-KR" sz="1400" dirty="0"/>
              <a:t>{92,96}</a:t>
            </a:r>
            <a:r>
              <a:rPr lang="ko-KR" altLang="en-US" sz="1400" dirty="0"/>
              <a:t>배열을 참조한다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score[0][0] </a:t>
            </a:r>
            <a:r>
              <a:rPr lang="en-US" altLang="ko-KR" sz="1400" dirty="0">
                <a:sym typeface="Wingdings" panose="05000000000000000000" pitchFamily="2" charset="2"/>
              </a:rPr>
              <a:t> 95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score[0][1] </a:t>
            </a:r>
            <a:r>
              <a:rPr lang="en-US" altLang="ko-KR" sz="1400" dirty="0">
                <a:sym typeface="Wingdings" panose="05000000000000000000" pitchFamily="2" charset="2"/>
              </a:rPr>
              <a:t> 80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score[1][0] </a:t>
            </a:r>
            <a:r>
              <a:rPr lang="en-US" altLang="ko-KR" sz="1400" dirty="0">
                <a:sym typeface="Wingdings" panose="05000000000000000000" pitchFamily="2" charset="2"/>
              </a:rPr>
              <a:t> 92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score[1][1] </a:t>
            </a:r>
            <a:r>
              <a:rPr lang="en-US" altLang="ko-KR" sz="1400" dirty="0">
                <a:sym typeface="Wingdings" panose="05000000000000000000" pitchFamily="2" charset="2"/>
              </a:rPr>
              <a:t> 96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FAEE09B-1208-6B07-5741-A2B0CBF26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05239"/>
              </p:ext>
            </p:extLst>
          </p:nvPr>
        </p:nvGraphicFramePr>
        <p:xfrm>
          <a:off x="7636096" y="2055136"/>
          <a:ext cx="3336706" cy="1953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353">
                  <a:extLst>
                    <a:ext uri="{9D8B030D-6E8A-4147-A177-3AD203B41FA5}">
                      <a16:colId xmlns:a16="http://schemas.microsoft.com/office/drawing/2014/main" val="123028608"/>
                    </a:ext>
                  </a:extLst>
                </a:gridCol>
                <a:gridCol w="1668353">
                  <a:extLst>
                    <a:ext uri="{9D8B030D-6E8A-4147-A177-3AD203B41FA5}">
                      <a16:colId xmlns:a16="http://schemas.microsoft.com/office/drawing/2014/main" val="2317030844"/>
                    </a:ext>
                  </a:extLst>
                </a:gridCol>
              </a:tblGrid>
              <a:tr h="9766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(0,0)</a:t>
                      </a:r>
                    </a:p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(0,1)</a:t>
                      </a:r>
                    </a:p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50202"/>
                  </a:ext>
                </a:extLst>
              </a:tr>
              <a:tr h="9766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(1,0)</a:t>
                      </a:r>
                    </a:p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(1,1)</a:t>
                      </a:r>
                    </a:p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6594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A5FC18E-4404-F081-5138-68D4EEB18578}"/>
              </a:ext>
            </a:extLst>
          </p:cNvPr>
          <p:cNvSpPr txBox="1"/>
          <p:nvPr/>
        </p:nvSpPr>
        <p:spPr>
          <a:xfrm>
            <a:off x="6416898" y="2426328"/>
            <a:ext cx="94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score[0]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FEF06-CAED-3894-9CA6-BC48DFF7A8E5}"/>
              </a:ext>
            </a:extLst>
          </p:cNvPr>
          <p:cNvSpPr txBox="1"/>
          <p:nvPr/>
        </p:nvSpPr>
        <p:spPr>
          <a:xfrm>
            <a:off x="6407845" y="3429000"/>
            <a:ext cx="94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score[1]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A4298E-55F6-02E2-182E-DAE1D4D1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992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F429-1351-A6B5-12E8-E2645A4C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93803-40F0-F8E3-E3C8-9DBC66B45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ArrayInArrayExample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   </a:t>
            </a:r>
          </a:p>
          <a:p>
            <a:pPr marL="0" indent="0">
              <a:buNone/>
            </a:pPr>
            <a:r>
              <a:rPr lang="en-US" altLang="ko-KR" sz="1400" dirty="0"/>
              <a:t>        // 2x3 </a:t>
            </a:r>
            <a:r>
              <a:rPr lang="ko-KR" altLang="en-US" sz="1400" dirty="0"/>
              <a:t>크기의 </a:t>
            </a:r>
            <a:r>
              <a:rPr lang="en-US" altLang="ko-KR" sz="1400" dirty="0"/>
              <a:t>2</a:t>
            </a:r>
            <a:r>
              <a:rPr lang="ko-KR" altLang="en-US" sz="1400" dirty="0"/>
              <a:t>차원 배열 생성 </a:t>
            </a:r>
            <a:r>
              <a:rPr lang="en-US" altLang="ko-KR" sz="1400" dirty="0"/>
              <a:t>(</a:t>
            </a:r>
            <a:r>
              <a:rPr lang="ko-KR" altLang="en-US" sz="1400" dirty="0"/>
              <a:t>모든 값은 기본값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초기화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int[][] </a:t>
            </a:r>
            <a:r>
              <a:rPr lang="en-US" altLang="ko-KR" sz="1400" dirty="0" err="1"/>
              <a:t>mathScores</a:t>
            </a:r>
            <a:r>
              <a:rPr lang="en-US" altLang="ko-KR" sz="1400" dirty="0"/>
              <a:t> = new int[2][3];</a:t>
            </a:r>
          </a:p>
          <a:p>
            <a:pPr marL="0" indent="0">
              <a:buNone/>
            </a:pPr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mathScores.length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행 순회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for (int k = 0; k &lt; </a:t>
            </a:r>
            <a:r>
              <a:rPr lang="en-US" altLang="ko-KR" sz="1400" dirty="0" err="1"/>
              <a:t>mathScores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].length; k++) { // </a:t>
            </a:r>
            <a:r>
              <a:rPr lang="ko-KR" altLang="en-US" sz="1400" dirty="0"/>
              <a:t>열 순회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mathScores</a:t>
            </a:r>
            <a:r>
              <a:rPr lang="en-US" altLang="ko-KR" sz="1400" dirty="0"/>
              <a:t>[" +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 "][" + k + "]=" + </a:t>
            </a:r>
            <a:r>
              <a:rPr lang="en-US" altLang="ko-KR" sz="1400" dirty="0" err="1"/>
              <a:t>mathScores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][k]); // </a:t>
            </a:r>
            <a:r>
              <a:rPr lang="ko-KR" altLang="en-US" sz="1400" dirty="0"/>
              <a:t>초기값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가변 크기 배열 생성 </a:t>
            </a:r>
            <a:r>
              <a:rPr lang="en-US" altLang="ko-KR" sz="1400" dirty="0"/>
              <a:t>(</a:t>
            </a:r>
            <a:r>
              <a:rPr lang="ko-KR" altLang="en-US" sz="1400" dirty="0"/>
              <a:t>각 행의 열 크기가 다름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int[][] </a:t>
            </a:r>
            <a:r>
              <a:rPr lang="en-US" altLang="ko-KR" sz="1400" dirty="0" err="1"/>
              <a:t>englishScores</a:t>
            </a:r>
            <a:r>
              <a:rPr lang="en-US" altLang="ko-KR" sz="1400" dirty="0"/>
              <a:t> = new int[2][];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englishScores</a:t>
            </a:r>
            <a:r>
              <a:rPr lang="en-US" altLang="ko-KR" sz="1400" dirty="0"/>
              <a:t>[0] = new int[2]; // </a:t>
            </a:r>
            <a:r>
              <a:rPr lang="ko-KR" altLang="en-US" sz="1400" dirty="0"/>
              <a:t>첫 번째 행의 열 크기 </a:t>
            </a:r>
            <a:r>
              <a:rPr lang="en-US" altLang="ko-KR" sz="1400" dirty="0"/>
              <a:t>2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englishScores</a:t>
            </a:r>
            <a:r>
              <a:rPr lang="en-US" altLang="ko-KR" sz="1400" dirty="0"/>
              <a:t>[1] = new int[3]; // </a:t>
            </a:r>
            <a:r>
              <a:rPr lang="ko-KR" altLang="en-US" sz="1400" dirty="0"/>
              <a:t>두 번째 행의 열 크기 </a:t>
            </a:r>
            <a:r>
              <a:rPr lang="en-US" altLang="ko-KR" sz="1400" dirty="0"/>
              <a:t>3</a:t>
            </a:r>
          </a:p>
          <a:p>
            <a:pPr marL="0" indent="0">
              <a:buNone/>
            </a:pPr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englishScores.length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행 순회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for (int k = 0; k &lt; </a:t>
            </a:r>
            <a:r>
              <a:rPr lang="en-US" altLang="ko-KR" sz="1400" dirty="0" err="1"/>
              <a:t>englishScores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].length; k++) { // </a:t>
            </a:r>
            <a:r>
              <a:rPr lang="ko-KR" altLang="en-US" sz="1400" dirty="0"/>
              <a:t>열 순회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englishScores</a:t>
            </a:r>
            <a:r>
              <a:rPr lang="en-US" altLang="ko-KR" sz="1400" dirty="0"/>
              <a:t>[" +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 "][" + k + "]=" + </a:t>
            </a:r>
            <a:r>
              <a:rPr lang="en-US" altLang="ko-KR" sz="1400" dirty="0" err="1"/>
              <a:t>englishScores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][k]); // </a:t>
            </a:r>
            <a:r>
              <a:rPr lang="ko-KR" altLang="en-US" sz="1400" dirty="0"/>
              <a:t>초기값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        </a:t>
            </a:r>
          </a:p>
          <a:p>
            <a:pPr marL="0" indent="0">
              <a:buNone/>
            </a:pPr>
            <a:r>
              <a:rPr lang="en-US" altLang="ko-KR" sz="1400" dirty="0"/>
              <a:t>        // 2</a:t>
            </a:r>
            <a:r>
              <a:rPr lang="ko-KR" altLang="en-US" sz="1400" dirty="0"/>
              <a:t>차원 배열 선언 및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int[][] </a:t>
            </a:r>
            <a:r>
              <a:rPr lang="en-US" altLang="ko-KR" sz="1400" dirty="0" err="1"/>
              <a:t>javaScores</a:t>
            </a:r>
            <a:r>
              <a:rPr lang="en-US" altLang="ko-KR" sz="1400" dirty="0"/>
              <a:t> = { {95, 80}, {92, 96, 80} }; </a:t>
            </a:r>
          </a:p>
          <a:p>
            <a:pPr marL="0" indent="0">
              <a:buNone/>
            </a:pPr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javaScores.length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행 순회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for (int k = 0; k &lt; </a:t>
            </a:r>
            <a:r>
              <a:rPr lang="en-US" altLang="ko-KR" sz="1400" dirty="0" err="1"/>
              <a:t>javaScores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].length; k++) { // </a:t>
            </a:r>
            <a:r>
              <a:rPr lang="ko-KR" altLang="en-US" sz="1400" dirty="0"/>
              <a:t>열 순회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javaScores</a:t>
            </a:r>
            <a:r>
              <a:rPr lang="en-US" altLang="ko-KR" sz="1400" dirty="0"/>
              <a:t>[" +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 "][" + k + "]=" + </a:t>
            </a:r>
            <a:r>
              <a:rPr lang="en-US" altLang="ko-KR" sz="1400" dirty="0" err="1"/>
              <a:t>javaScores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][k]); // </a:t>
            </a:r>
            <a:r>
              <a:rPr lang="ko-KR" altLang="en-US" sz="1400" dirty="0"/>
              <a:t>값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8C88A15-786F-EACC-239A-14B053776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247042"/>
              </p:ext>
            </p:extLst>
          </p:nvPr>
        </p:nvGraphicFramePr>
        <p:xfrm>
          <a:off x="7491240" y="348474"/>
          <a:ext cx="3635469" cy="1353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823">
                  <a:extLst>
                    <a:ext uri="{9D8B030D-6E8A-4147-A177-3AD203B41FA5}">
                      <a16:colId xmlns:a16="http://schemas.microsoft.com/office/drawing/2014/main" val="1425532012"/>
                    </a:ext>
                  </a:extLst>
                </a:gridCol>
                <a:gridCol w="1211823">
                  <a:extLst>
                    <a:ext uri="{9D8B030D-6E8A-4147-A177-3AD203B41FA5}">
                      <a16:colId xmlns:a16="http://schemas.microsoft.com/office/drawing/2014/main" val="761226231"/>
                    </a:ext>
                  </a:extLst>
                </a:gridCol>
                <a:gridCol w="1211823">
                  <a:extLst>
                    <a:ext uri="{9D8B030D-6E8A-4147-A177-3AD203B41FA5}">
                      <a16:colId xmlns:a16="http://schemas.microsoft.com/office/drawing/2014/main" val="955263157"/>
                    </a:ext>
                  </a:extLst>
                </a:gridCol>
              </a:tblGrid>
              <a:tr h="6767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86192"/>
                  </a:ext>
                </a:extLst>
              </a:tr>
              <a:tr h="6767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83066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71769FB-FD1B-6E20-B76B-22F5B9918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228111"/>
              </p:ext>
            </p:extLst>
          </p:nvPr>
        </p:nvGraphicFramePr>
        <p:xfrm>
          <a:off x="7491239" y="2999630"/>
          <a:ext cx="3635469" cy="1353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823">
                  <a:extLst>
                    <a:ext uri="{9D8B030D-6E8A-4147-A177-3AD203B41FA5}">
                      <a16:colId xmlns:a16="http://schemas.microsoft.com/office/drawing/2014/main" val="1425532012"/>
                    </a:ext>
                  </a:extLst>
                </a:gridCol>
                <a:gridCol w="1211823">
                  <a:extLst>
                    <a:ext uri="{9D8B030D-6E8A-4147-A177-3AD203B41FA5}">
                      <a16:colId xmlns:a16="http://schemas.microsoft.com/office/drawing/2014/main" val="761226231"/>
                    </a:ext>
                  </a:extLst>
                </a:gridCol>
                <a:gridCol w="1211823">
                  <a:extLst>
                    <a:ext uri="{9D8B030D-6E8A-4147-A177-3AD203B41FA5}">
                      <a16:colId xmlns:a16="http://schemas.microsoft.com/office/drawing/2014/main" val="955263157"/>
                    </a:ext>
                  </a:extLst>
                </a:gridCol>
              </a:tblGrid>
              <a:tr h="6767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86192"/>
                  </a:ext>
                </a:extLst>
              </a:tr>
              <a:tr h="6767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83066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BF5F1E2-A691-2CA7-F93B-A22363E7E849}"/>
              </a:ext>
            </a:extLst>
          </p:cNvPr>
          <p:cNvSpPr/>
          <p:nvPr/>
        </p:nvSpPr>
        <p:spPr>
          <a:xfrm>
            <a:off x="9913545" y="2574160"/>
            <a:ext cx="1846906" cy="1102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6563E7-0801-6F27-4409-CD8D1C9B3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11926"/>
              </p:ext>
            </p:extLst>
          </p:nvPr>
        </p:nvGraphicFramePr>
        <p:xfrm>
          <a:off x="7491239" y="4989421"/>
          <a:ext cx="3635469" cy="1353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823">
                  <a:extLst>
                    <a:ext uri="{9D8B030D-6E8A-4147-A177-3AD203B41FA5}">
                      <a16:colId xmlns:a16="http://schemas.microsoft.com/office/drawing/2014/main" val="1425532012"/>
                    </a:ext>
                  </a:extLst>
                </a:gridCol>
                <a:gridCol w="1211823">
                  <a:extLst>
                    <a:ext uri="{9D8B030D-6E8A-4147-A177-3AD203B41FA5}">
                      <a16:colId xmlns:a16="http://schemas.microsoft.com/office/drawing/2014/main" val="761226231"/>
                    </a:ext>
                  </a:extLst>
                </a:gridCol>
                <a:gridCol w="1211823">
                  <a:extLst>
                    <a:ext uri="{9D8B030D-6E8A-4147-A177-3AD203B41FA5}">
                      <a16:colId xmlns:a16="http://schemas.microsoft.com/office/drawing/2014/main" val="955263157"/>
                    </a:ext>
                  </a:extLst>
                </a:gridCol>
              </a:tblGrid>
              <a:tr h="6767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86192"/>
                  </a:ext>
                </a:extLst>
              </a:tr>
              <a:tr h="6767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83066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3151E23E-81EA-8F4D-84DE-182E0A7AB270}"/>
              </a:ext>
            </a:extLst>
          </p:cNvPr>
          <p:cNvSpPr/>
          <p:nvPr/>
        </p:nvSpPr>
        <p:spPr>
          <a:xfrm>
            <a:off x="9913545" y="4563951"/>
            <a:ext cx="1846906" cy="1102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21C19-A85A-D664-0892-5A351A70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660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29B4-E4C1-1587-D8F8-1B49D3974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3D4DD-A1AC-60C5-ED96-609E3B37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객체를 참조하는 배열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ArrayReferenceObjectExample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       </a:t>
            </a:r>
          </a:p>
          <a:p>
            <a:pPr marL="0" indent="0">
              <a:buNone/>
            </a:pPr>
            <a:r>
              <a:rPr lang="en-US" altLang="ko-KR" sz="1400" dirty="0"/>
              <a:t>        String[]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 = new String[3]; // </a:t>
            </a:r>
            <a:r>
              <a:rPr lang="ko-KR" altLang="en-US" sz="1400" dirty="0"/>
              <a:t>크기가 </a:t>
            </a:r>
            <a:r>
              <a:rPr lang="en-US" altLang="ko-KR" sz="1400" dirty="0"/>
              <a:t>3</a:t>
            </a:r>
            <a:r>
              <a:rPr lang="ko-KR" altLang="en-US" sz="1400" dirty="0"/>
              <a:t>인 </a:t>
            </a:r>
            <a:r>
              <a:rPr lang="en-US" altLang="ko-KR" sz="1400" dirty="0"/>
              <a:t>String </a:t>
            </a:r>
            <a:r>
              <a:rPr lang="ko-KR" altLang="en-US" sz="1400" dirty="0"/>
              <a:t>배열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[0] = "Java"; // </a:t>
            </a:r>
            <a:r>
              <a:rPr lang="ko-KR" altLang="en-US" sz="1400" dirty="0"/>
              <a:t>첫 번째 요소에 문자열 </a:t>
            </a:r>
            <a:r>
              <a:rPr lang="ko-KR" altLang="en-US" sz="1400" dirty="0" err="1"/>
              <a:t>리터럴</a:t>
            </a:r>
            <a:r>
              <a:rPr lang="ko-KR" altLang="en-US" sz="1400" dirty="0"/>
              <a:t> </a:t>
            </a:r>
            <a:r>
              <a:rPr lang="en-US" altLang="ko-KR" sz="1400" dirty="0"/>
              <a:t>"Java" </a:t>
            </a:r>
            <a:r>
              <a:rPr lang="ko-KR" altLang="en-US" sz="1400" dirty="0"/>
              <a:t>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[1] = "Java"; // </a:t>
            </a:r>
            <a:r>
              <a:rPr lang="ko-KR" altLang="en-US" sz="1400" dirty="0"/>
              <a:t>두 번째 요소에도 동일한 </a:t>
            </a:r>
            <a:r>
              <a:rPr lang="ko-KR" altLang="en-US" sz="1400" dirty="0" err="1"/>
              <a:t>리터럴</a:t>
            </a:r>
            <a:r>
              <a:rPr lang="ko-KR" altLang="en-US" sz="1400" dirty="0"/>
              <a:t> </a:t>
            </a:r>
            <a:r>
              <a:rPr lang="en-US" altLang="ko-KR" sz="1400" dirty="0"/>
              <a:t>"Java" </a:t>
            </a:r>
            <a:r>
              <a:rPr lang="ko-KR" altLang="en-US" sz="1400" dirty="0"/>
              <a:t>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[2] = new String("Java"); // </a:t>
            </a:r>
            <a:r>
              <a:rPr lang="ko-KR" altLang="en-US" sz="1400" dirty="0"/>
              <a:t>세 번째 요소는 새로운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참조 비교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[0]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[1]</a:t>
            </a:r>
            <a:r>
              <a:rPr lang="ko-KR" altLang="en-US" sz="1400" dirty="0"/>
              <a:t>은 동일한 </a:t>
            </a:r>
            <a:r>
              <a:rPr lang="ko-KR" altLang="en-US" sz="1400" dirty="0" err="1"/>
              <a:t>리터럴을</a:t>
            </a:r>
            <a:r>
              <a:rPr lang="ko-KR" altLang="en-US" sz="1400" dirty="0"/>
              <a:t> 참조하므로 </a:t>
            </a:r>
            <a:r>
              <a:rPr lang="en-US" altLang="ko-KR" sz="1400" dirty="0"/>
              <a:t>true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[0] ==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[1]);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참조 비교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[0]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[2]</a:t>
            </a:r>
            <a:r>
              <a:rPr lang="ko-KR" altLang="en-US" sz="1400" dirty="0"/>
              <a:t>는 다른 객체를 참조하므로 </a:t>
            </a:r>
            <a:r>
              <a:rPr lang="en-US" altLang="ko-KR" sz="1400" dirty="0"/>
              <a:t>false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[0] ==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[2]);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문자열 내용 비교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[0]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[2]</a:t>
            </a:r>
            <a:r>
              <a:rPr lang="ko-KR" altLang="en-US" sz="1400" dirty="0"/>
              <a:t>는 같은 내용을 가지므로 </a:t>
            </a:r>
            <a:r>
              <a:rPr lang="en-US" altLang="ko-KR" sz="1400" dirty="0"/>
              <a:t>true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[0].equals(</a:t>
            </a:r>
            <a:r>
              <a:rPr lang="en-US" altLang="ko-KR" sz="1400" dirty="0" err="1"/>
              <a:t>strArray</a:t>
            </a:r>
            <a:r>
              <a:rPr lang="en-US" altLang="ko-KR" sz="1400" dirty="0"/>
              <a:t>[2]));</a:t>
            </a:r>
          </a:p>
          <a:p>
            <a:pPr marL="0" indent="0">
              <a:buNone/>
            </a:pPr>
            <a:r>
              <a:rPr lang="en-US" altLang="ko-KR" sz="1400" dirty="0"/>
              <a:t>    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BB2990-1089-E9BD-788B-2FF657635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320030"/>
            <a:ext cx="5143500" cy="25241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D8EE82D-D282-222F-E8C8-C6EED5C30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739" y="4100088"/>
            <a:ext cx="1266825" cy="138199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0C3EBD-7088-672D-4B2A-35C07C86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362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D0A8B-300C-3EAB-692A-CDE0822B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F6E59C-3AC4-D4DC-F9F9-1684DE881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배열 복사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배열은 한번 생성하면 크기를 변경할 수 없기 때문에 더 많은 저장공간이 필요하다면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더 큰 배열을 새로 만들고 이전 배열로부터 값들을 </a:t>
            </a:r>
            <a:r>
              <a:rPr lang="ko-KR" altLang="en-US" sz="1400" dirty="0" err="1"/>
              <a:t>복사해야한다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배열의 값들을 다른 배열로 복사하려면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문을 사용하거나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System.arraycopy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메소드를 사용한다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CC5D41-EC2F-B741-5367-1F1B9FD8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923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B4E9B-11E7-EB02-3085-6A57D1B2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ED17C2-4CEC-3840-8E7B-6D05851C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ArrayCopyByForExample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int[] </a:t>
            </a:r>
            <a:r>
              <a:rPr lang="en-US" altLang="ko-KR" sz="1400" dirty="0" err="1"/>
              <a:t>oldIntArray</a:t>
            </a:r>
            <a:r>
              <a:rPr lang="en-US" altLang="ko-KR" sz="1400" dirty="0"/>
              <a:t> = { 1, 2, 3 }; // </a:t>
            </a:r>
            <a:r>
              <a:rPr lang="ko-KR" altLang="en-US" sz="1400" dirty="0"/>
              <a:t>원본 배열 생성 및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int[] </a:t>
            </a:r>
            <a:r>
              <a:rPr lang="en-US" altLang="ko-KR" sz="1400" dirty="0" err="1"/>
              <a:t>newIntArray</a:t>
            </a:r>
            <a:r>
              <a:rPr lang="en-US" altLang="ko-KR" sz="1400" dirty="0"/>
              <a:t> = new int[5]; // </a:t>
            </a:r>
            <a:r>
              <a:rPr lang="ko-KR" altLang="en-US" sz="1400" dirty="0"/>
              <a:t>크기가 </a:t>
            </a:r>
            <a:r>
              <a:rPr lang="en-US" altLang="ko-KR" sz="1400" dirty="0"/>
              <a:t>5</a:t>
            </a:r>
            <a:r>
              <a:rPr lang="ko-KR" altLang="en-US" sz="1400" dirty="0"/>
              <a:t>인 새로운 배열 생성 </a:t>
            </a:r>
            <a:r>
              <a:rPr lang="en-US" altLang="ko-KR" sz="1400" dirty="0"/>
              <a:t>(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0)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for</a:t>
            </a:r>
            <a:r>
              <a:rPr lang="ko-KR" altLang="en-US" sz="1400" dirty="0"/>
              <a:t>문을 사용하여 </a:t>
            </a:r>
            <a:r>
              <a:rPr lang="en-US" altLang="ko-KR" sz="1400" dirty="0" err="1"/>
              <a:t>oldIntArray</a:t>
            </a:r>
            <a:r>
              <a:rPr lang="ko-KR" altLang="en-US" sz="1400" dirty="0"/>
              <a:t>의 값을 </a:t>
            </a:r>
            <a:r>
              <a:rPr lang="en-US" altLang="ko-KR" sz="1400" dirty="0" err="1"/>
              <a:t>newIntArray</a:t>
            </a:r>
            <a:r>
              <a:rPr lang="ko-KR" altLang="en-US" sz="1400" dirty="0"/>
              <a:t>로 복사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oldIntArray.length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newIntArray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= </a:t>
            </a:r>
            <a:r>
              <a:rPr lang="en-US" altLang="ko-KR" sz="1400" dirty="0" err="1"/>
              <a:t>oldIntArray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]; // </a:t>
            </a:r>
            <a:r>
              <a:rPr lang="en-US" altLang="ko-KR" sz="1400" dirty="0" err="1"/>
              <a:t>oldIntArray</a:t>
            </a:r>
            <a:r>
              <a:rPr lang="ko-KR" altLang="en-US" sz="1400" dirty="0"/>
              <a:t>의 값을 복사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새로운 배열의 모든 요소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newIntArray.length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newIntArray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+ ", "); // </a:t>
            </a:r>
            <a:r>
              <a:rPr lang="ko-KR" altLang="en-US" sz="1400" dirty="0"/>
              <a:t>출력 형식</a:t>
            </a:r>
            <a:r>
              <a:rPr lang="en-US" altLang="ko-KR" sz="1400" dirty="0"/>
              <a:t>: </a:t>
            </a:r>
            <a:r>
              <a:rPr lang="ko-KR" altLang="en-US" sz="1400" dirty="0"/>
              <a:t>값 </a:t>
            </a:r>
            <a:r>
              <a:rPr lang="en-US" altLang="ko-KR" sz="1400" dirty="0"/>
              <a:t>+ ", "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281ECE-E4F3-A27B-AB0F-8359E48C5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842" y="1481137"/>
            <a:ext cx="2896119" cy="50631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121078D-DC10-E7F9-F17B-81E8BA3F8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628012"/>
              </p:ext>
            </p:extLst>
          </p:nvPr>
        </p:nvGraphicFramePr>
        <p:xfrm>
          <a:off x="4362767" y="4870549"/>
          <a:ext cx="488987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959">
                  <a:extLst>
                    <a:ext uri="{9D8B030D-6E8A-4147-A177-3AD203B41FA5}">
                      <a16:colId xmlns:a16="http://schemas.microsoft.com/office/drawing/2014/main" val="462056307"/>
                    </a:ext>
                  </a:extLst>
                </a:gridCol>
                <a:gridCol w="1629959">
                  <a:extLst>
                    <a:ext uri="{9D8B030D-6E8A-4147-A177-3AD203B41FA5}">
                      <a16:colId xmlns:a16="http://schemas.microsoft.com/office/drawing/2014/main" val="2188655480"/>
                    </a:ext>
                  </a:extLst>
                </a:gridCol>
                <a:gridCol w="1629959">
                  <a:extLst>
                    <a:ext uri="{9D8B030D-6E8A-4147-A177-3AD203B41FA5}">
                      <a16:colId xmlns:a16="http://schemas.microsoft.com/office/drawing/2014/main" val="178867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3754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736D905-7CB6-2913-9BDB-E4801AD70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511246"/>
              </p:ext>
            </p:extLst>
          </p:nvPr>
        </p:nvGraphicFramePr>
        <p:xfrm>
          <a:off x="2871961" y="600689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372220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066073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243540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943458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70478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217629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272D56-BE84-643D-44A1-0089BB82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92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C545-4935-E45A-59F8-DBC13396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9FE9F-2087-C71E-3C2A-CE479685B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ArrayCopyExample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String[] </a:t>
            </a:r>
            <a:r>
              <a:rPr lang="en-US" altLang="ko-KR" sz="1400" dirty="0" err="1"/>
              <a:t>oldStrArray</a:t>
            </a:r>
            <a:r>
              <a:rPr lang="en-US" altLang="ko-KR" sz="1400" dirty="0"/>
              <a:t> = { "java", "array", "copy" }; // </a:t>
            </a:r>
            <a:r>
              <a:rPr lang="ko-KR" altLang="en-US" sz="1400" dirty="0"/>
              <a:t>원본 배열 생성 및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String[] </a:t>
            </a:r>
            <a:r>
              <a:rPr lang="en-US" altLang="ko-KR" sz="1400" dirty="0" err="1"/>
              <a:t>newStrArray</a:t>
            </a:r>
            <a:r>
              <a:rPr lang="en-US" altLang="ko-KR" sz="1400" dirty="0"/>
              <a:t> = new String[5]; // </a:t>
            </a:r>
            <a:r>
              <a:rPr lang="ko-KR" altLang="en-US" sz="1400" dirty="0"/>
              <a:t>크기가 </a:t>
            </a:r>
            <a:r>
              <a:rPr lang="en-US" altLang="ko-KR" sz="1400" dirty="0"/>
              <a:t>5</a:t>
            </a:r>
            <a:r>
              <a:rPr lang="ko-KR" altLang="en-US" sz="1400" dirty="0"/>
              <a:t>인 새 배열 생성 </a:t>
            </a:r>
            <a:r>
              <a:rPr lang="en-US" altLang="ko-KR" sz="1400" dirty="0"/>
              <a:t>(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null)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System.arraycopy</a:t>
            </a:r>
            <a:r>
              <a:rPr lang="ko-KR" altLang="en-US" sz="1400" dirty="0"/>
              <a:t>를 사용하여 배열 복사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oldStrArray</a:t>
            </a:r>
            <a:r>
              <a:rPr lang="ko-KR" altLang="en-US" sz="1400" dirty="0"/>
              <a:t>의 모든 요소를 </a:t>
            </a:r>
            <a:r>
              <a:rPr lang="en-US" altLang="ko-KR" sz="1400" dirty="0" err="1"/>
              <a:t>newStrArray</a:t>
            </a:r>
            <a:r>
              <a:rPr lang="ko-KR" altLang="en-US" sz="1400" dirty="0"/>
              <a:t>의 앞부분에 복사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System.arraycopy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oldStrArray</a:t>
            </a:r>
            <a:r>
              <a:rPr lang="en-US" altLang="ko-KR" sz="1400" dirty="0"/>
              <a:t>, 0, </a:t>
            </a:r>
            <a:r>
              <a:rPr lang="en-US" altLang="ko-KR" sz="1400" dirty="0" err="1"/>
              <a:t>newStrArray</a:t>
            </a:r>
            <a:r>
              <a:rPr lang="en-US" altLang="ko-KR" sz="1400" dirty="0"/>
              <a:t>, 0, </a:t>
            </a:r>
            <a:r>
              <a:rPr lang="en-US" altLang="ko-KR" sz="1400" dirty="0" err="1"/>
              <a:t>oldStrArray.length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newStrArray</a:t>
            </a:r>
            <a:r>
              <a:rPr lang="ko-KR" altLang="en-US" sz="1400" dirty="0"/>
              <a:t>의 모든 요소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newStrArray.length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newStrArray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+ ", "); // </a:t>
            </a:r>
            <a:r>
              <a:rPr lang="ko-KR" altLang="en-US" sz="1400" dirty="0"/>
              <a:t>출력 형식</a:t>
            </a:r>
            <a:r>
              <a:rPr lang="en-US" altLang="ko-KR" sz="1400" dirty="0"/>
              <a:t>: </a:t>
            </a:r>
            <a:r>
              <a:rPr lang="ko-KR" altLang="en-US" sz="1400" dirty="0"/>
              <a:t>값 </a:t>
            </a:r>
            <a:r>
              <a:rPr lang="en-US" altLang="ko-KR" sz="1400" dirty="0"/>
              <a:t>+ ", "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8264C5-BFEA-76E5-70B9-EA13D79FA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82119"/>
              </p:ext>
            </p:extLst>
          </p:nvPr>
        </p:nvGraphicFramePr>
        <p:xfrm>
          <a:off x="4362767" y="4870549"/>
          <a:ext cx="488987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959">
                  <a:extLst>
                    <a:ext uri="{9D8B030D-6E8A-4147-A177-3AD203B41FA5}">
                      <a16:colId xmlns:a16="http://schemas.microsoft.com/office/drawing/2014/main" val="462056307"/>
                    </a:ext>
                  </a:extLst>
                </a:gridCol>
                <a:gridCol w="1629959">
                  <a:extLst>
                    <a:ext uri="{9D8B030D-6E8A-4147-A177-3AD203B41FA5}">
                      <a16:colId xmlns:a16="http://schemas.microsoft.com/office/drawing/2014/main" val="2188655480"/>
                    </a:ext>
                  </a:extLst>
                </a:gridCol>
                <a:gridCol w="1629959">
                  <a:extLst>
                    <a:ext uri="{9D8B030D-6E8A-4147-A177-3AD203B41FA5}">
                      <a16:colId xmlns:a16="http://schemas.microsoft.com/office/drawing/2014/main" val="178867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array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copy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375464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00B83CF-5CCC-BA81-744E-B700412A5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724328"/>
              </p:ext>
            </p:extLst>
          </p:nvPr>
        </p:nvGraphicFramePr>
        <p:xfrm>
          <a:off x="2871961" y="600689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372220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066073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243540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943458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70478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array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copy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21762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7676F2D1-8234-2D5F-AEFD-E828E6C9E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125" y="2179080"/>
            <a:ext cx="4169422" cy="562541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C5C60A-7191-01E6-EB61-C016EBC7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2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8F25B-6B95-2955-2A33-53974218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36AA0-724C-33D1-BD2C-C0F9639B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향상된 </a:t>
            </a:r>
            <a:r>
              <a:rPr lang="en-US" altLang="ko-KR" sz="1400" b="1" dirty="0"/>
              <a:t>for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자바는 배열을 좀 더 쉽게 처리하기 위하여 향상된 </a:t>
            </a:r>
            <a:r>
              <a:rPr lang="en-US" altLang="ko-KR" sz="1400" dirty="0"/>
              <a:t>for</a:t>
            </a:r>
            <a:r>
              <a:rPr lang="ko-KR" altLang="en-US" sz="1400" dirty="0"/>
              <a:t>문을 제공한다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향상된 </a:t>
            </a:r>
            <a:r>
              <a:rPr lang="en-US" altLang="ko-KR" sz="1400" dirty="0"/>
              <a:t>for</a:t>
            </a:r>
            <a:r>
              <a:rPr lang="ko-KR" altLang="en-US" sz="1400" dirty="0"/>
              <a:t>문은 반복 실행을 하기 위해 루프 카운터 변수와 증감식을 사용하지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향상된 </a:t>
            </a:r>
            <a:r>
              <a:rPr lang="en-US" altLang="ko-KR" sz="1400" dirty="0"/>
              <a:t>for</a:t>
            </a:r>
            <a:r>
              <a:rPr lang="ko-KR" altLang="en-US" sz="1400" dirty="0"/>
              <a:t>문의 형식과 실행 흐름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for(</a:t>
            </a:r>
            <a:r>
              <a:rPr lang="ko-KR" altLang="en-US" sz="1400" b="1" dirty="0"/>
              <a:t>타입 변수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배열</a:t>
            </a:r>
            <a:r>
              <a:rPr lang="en-US" altLang="ko-KR" sz="1400" b="1" dirty="0"/>
              <a:t>){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}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처음 </a:t>
            </a:r>
            <a:r>
              <a:rPr lang="en-US" altLang="ko-KR" sz="1400" dirty="0"/>
              <a:t>for</a:t>
            </a:r>
            <a:r>
              <a:rPr lang="ko-KR" altLang="en-US" sz="1400" dirty="0"/>
              <a:t>문이 실행될 때 배열에서 가져올 값이 있는 지 확인한다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가져올 값이 존재하면 변수에 해당 값을 저장한다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실행문을 실행한다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다시 배열에서 가져올 값이 있는지 확인하고 가져올 값이 있다면 위의 과정을 반복한다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배열에서 가져올 값이 없다면 </a:t>
            </a:r>
            <a:r>
              <a:rPr lang="en-US" altLang="ko-KR" sz="1400" dirty="0"/>
              <a:t>for</a:t>
            </a:r>
            <a:r>
              <a:rPr lang="ko-KR" altLang="en-US" sz="1400" dirty="0"/>
              <a:t>문이 종료된다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7BC4F1-7727-F39D-100C-F625E806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093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FDE6-6256-B51A-3EAA-4D27FB54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891DD-DBAC-EFA2-60A6-C0FDC4B9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AdvancedForExample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int[] scores = { 95, 71, 84, 93, 87 }; // </a:t>
            </a:r>
            <a:r>
              <a:rPr lang="ko-KR" altLang="en-US" sz="1400" dirty="0"/>
              <a:t>정수형 배열 선언 및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 = 0; // </a:t>
            </a:r>
            <a:r>
              <a:rPr lang="ko-KR" altLang="en-US" sz="1400" dirty="0"/>
              <a:t>점수 총합을 저장할 변수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score : scores) { // </a:t>
            </a:r>
            <a:r>
              <a:rPr lang="ko-KR" altLang="en-US" sz="1400" dirty="0"/>
              <a:t>향상된 </a:t>
            </a:r>
            <a:r>
              <a:rPr lang="en-US" altLang="ko-KR" sz="1400" dirty="0"/>
              <a:t>for</a:t>
            </a:r>
            <a:r>
              <a:rPr lang="ko-KR" altLang="en-US" sz="1400" dirty="0"/>
              <a:t>문으로 배열의 모든 요소 순회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sum = sum + score; // </a:t>
            </a:r>
            <a:r>
              <a:rPr lang="ko-KR" altLang="en-US" sz="1400" dirty="0"/>
              <a:t>각 요소를 총합에 더함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 총합 </a:t>
            </a:r>
            <a:r>
              <a:rPr lang="en-US" altLang="ko-KR" sz="1400" dirty="0"/>
              <a:t>= " + sum); // </a:t>
            </a:r>
            <a:r>
              <a:rPr lang="ko-KR" altLang="en-US" sz="1400" dirty="0"/>
              <a:t>총합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avg = (double) sum / </a:t>
            </a:r>
            <a:r>
              <a:rPr lang="en-US" altLang="ko-KR" sz="1400" dirty="0" err="1"/>
              <a:t>scores.length</a:t>
            </a:r>
            <a:r>
              <a:rPr lang="en-US" altLang="ko-KR" sz="1400" dirty="0"/>
              <a:t>; // </a:t>
            </a:r>
            <a:r>
              <a:rPr lang="ko-KR" altLang="en-US" sz="1400" dirty="0"/>
              <a:t>평균 계산 </a:t>
            </a:r>
            <a:r>
              <a:rPr lang="en-US" altLang="ko-KR" sz="1400" dirty="0"/>
              <a:t>(</a:t>
            </a:r>
            <a:r>
              <a:rPr lang="ko-KR" altLang="en-US" sz="1400" dirty="0"/>
              <a:t>총합 </a:t>
            </a:r>
            <a:r>
              <a:rPr lang="en-US" altLang="ko-KR" sz="1400" dirty="0"/>
              <a:t>÷ </a:t>
            </a:r>
            <a:r>
              <a:rPr lang="ko-KR" altLang="en-US" sz="1400" dirty="0"/>
              <a:t>배열 길이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 평균 </a:t>
            </a:r>
            <a:r>
              <a:rPr lang="en-US" altLang="ko-KR" sz="1400" dirty="0"/>
              <a:t>= " + avg); // </a:t>
            </a:r>
            <a:r>
              <a:rPr lang="ko-KR" altLang="en-US" sz="1400" dirty="0"/>
              <a:t>평균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FC7A6E-590C-1742-8B7D-CFE3461B1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738" y="2887112"/>
            <a:ext cx="3038441" cy="108377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B3565B-4A50-A017-75D1-033DF96C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224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CC7CF-C6A1-6CAD-B4DC-1DE3225F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D11DD-CDCE-FDA9-A3F4-63EDC0D57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열거 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열거 타입을 선언하기 위해서는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먼저 열거 타입의 이름을 정하고 해당 이름으로 소스 파일을 생성하여야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Week.java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열거 타입을 선언하기 위한 키워드는 </a:t>
            </a:r>
            <a:r>
              <a:rPr lang="en-US" altLang="ko-KR" sz="1400" dirty="0" err="1"/>
              <a:t>enum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en-US" altLang="ko-KR" sz="1400" dirty="0" err="1"/>
              <a:t>enum</a:t>
            </a:r>
            <a:r>
              <a:rPr lang="en-US" altLang="ko-KR" sz="1400" dirty="0"/>
              <a:t> Week{...}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열거 타입을 선언했다면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열거 타입의 값으로 사용되는 열거 상수를 선언한다</a:t>
            </a:r>
            <a:r>
              <a:rPr lang="en-US" altLang="ko-KR" sz="1400" dirty="0"/>
              <a:t>. </a:t>
            </a:r>
            <a:r>
              <a:rPr lang="ko-KR" altLang="en-US" sz="1400" dirty="0"/>
              <a:t>열거 상수는 대문자로 작성하는 것이 관례이다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en-US" altLang="ko-KR" sz="1400" dirty="0" err="1"/>
              <a:t>enum</a:t>
            </a:r>
            <a:r>
              <a:rPr lang="en-US" altLang="ko-KR" sz="1400" dirty="0"/>
              <a:t> week{</a:t>
            </a:r>
          </a:p>
          <a:p>
            <a:pPr marL="0" indent="0">
              <a:buNone/>
            </a:pPr>
            <a:r>
              <a:rPr lang="en-US" altLang="ko-KR" sz="1400" dirty="0"/>
              <a:t>MONDAY,</a:t>
            </a:r>
          </a:p>
          <a:p>
            <a:pPr marL="0" indent="0">
              <a:buNone/>
            </a:pPr>
            <a:r>
              <a:rPr lang="en-US" altLang="ko-KR" sz="1400" dirty="0"/>
              <a:t>TUESDAY.</a:t>
            </a:r>
          </a:p>
          <a:p>
            <a:pPr marL="0" indent="0">
              <a:buNone/>
            </a:pPr>
            <a:r>
              <a:rPr lang="en-US" altLang="ko-KR" sz="1400" dirty="0"/>
              <a:t>...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이처럼 열거 타입은 요일처럼 한정된 값만 가지는 데이터를 표현할 때 코드의 의미를 명확히 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97B5B70-7CA2-B3B7-6F26-B204FDA22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601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7EAC3-8417-C2BC-813C-6568FF95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8319E-C102-1F33-D149-D8941D5EA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열거 타입 변수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열거 타입을 선언했다면 열거 타입을 사용할 수 있는데</a:t>
            </a:r>
            <a:r>
              <a:rPr lang="en-US" altLang="ko-KR" sz="1400" dirty="0"/>
              <a:t>, </a:t>
            </a:r>
          </a:p>
          <a:p>
            <a:pPr marL="0" indent="0">
              <a:buNone/>
            </a:pPr>
            <a:r>
              <a:rPr lang="ko-KR" altLang="en-US" sz="1400" dirty="0"/>
              <a:t>열거 타입도 하나의 변수이므로 변수를 선언하고 사용하여야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Week today;	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열거 타입을 선언했다면 열거 상수를 사용할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단</a:t>
            </a:r>
            <a:r>
              <a:rPr lang="en-US" altLang="ko-KR" sz="1400" dirty="0"/>
              <a:t>, </a:t>
            </a:r>
            <a:r>
              <a:rPr lang="ko-KR" altLang="en-US" sz="1400" dirty="0"/>
              <a:t>반드시 </a:t>
            </a:r>
            <a:r>
              <a:rPr lang="en-US" altLang="ko-KR" sz="1400" dirty="0"/>
              <a:t>‘</a:t>
            </a:r>
            <a:r>
              <a:rPr lang="ko-KR" altLang="en-US" sz="1400" dirty="0"/>
              <a:t>열거 타입 변수 </a:t>
            </a:r>
            <a:r>
              <a:rPr lang="en-US" altLang="ko-KR" sz="1400" dirty="0"/>
              <a:t>= </a:t>
            </a:r>
            <a:r>
              <a:rPr lang="ko-KR" altLang="en-US" sz="1400" dirty="0"/>
              <a:t>열거타입</a:t>
            </a:r>
            <a:r>
              <a:rPr lang="en-US" altLang="ko-KR" sz="1400" dirty="0"/>
              <a:t>.</a:t>
            </a:r>
            <a:r>
              <a:rPr lang="ko-KR" altLang="en-US" sz="1400" dirty="0"/>
              <a:t>열거상수</a:t>
            </a:r>
            <a:r>
              <a:rPr lang="en-US" altLang="ko-KR" sz="1400" dirty="0"/>
              <a:t>’ </a:t>
            </a:r>
            <a:r>
              <a:rPr lang="ko-KR" altLang="en-US" sz="1400" dirty="0"/>
              <a:t>형태로 사용하여야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Week today = </a:t>
            </a:r>
            <a:r>
              <a:rPr lang="en-US" altLang="ko-KR" sz="1400" dirty="0" err="1"/>
              <a:t>Week.MONDAY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또한 열거 타입도 참조 타입 변수이므로 앞서 선언한 </a:t>
            </a:r>
            <a:r>
              <a:rPr lang="en-US" altLang="ko-KR" sz="1400" dirty="0"/>
              <a:t>Week.java</a:t>
            </a:r>
            <a:r>
              <a:rPr lang="ko-KR" altLang="en-US" sz="1400" dirty="0"/>
              <a:t>는 총 </a:t>
            </a:r>
            <a:r>
              <a:rPr lang="en-US" altLang="ko-KR" sz="1400" dirty="0"/>
              <a:t>7</a:t>
            </a:r>
            <a:r>
              <a:rPr lang="ko-KR" altLang="en-US" sz="1400" dirty="0"/>
              <a:t>개의 </a:t>
            </a:r>
            <a:r>
              <a:rPr lang="en-US" altLang="ko-KR" sz="1400" dirty="0"/>
              <a:t>Week </a:t>
            </a:r>
            <a:r>
              <a:rPr lang="ko-KR" altLang="en-US" sz="1400" dirty="0"/>
              <a:t>객체로 생성된다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880012-906B-1E93-DA25-1D67EE437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98" y="3855841"/>
            <a:ext cx="3918406" cy="275252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CCCF9A-10B0-96EB-ECA5-C6D7F2B0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619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B864-8DD9-60B2-D0CE-1CD6079D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8D21B-1777-9F74-714E-0C28594E4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java.util.Calendar</a:t>
            </a:r>
            <a:r>
              <a:rPr lang="en-US" altLang="ko-KR" sz="1400" dirty="0"/>
              <a:t>; // </a:t>
            </a:r>
            <a:r>
              <a:rPr lang="ko-KR" altLang="en-US" sz="1400" dirty="0"/>
              <a:t>날짜와 시간을 관리하는 클래스 가져오기</a:t>
            </a:r>
          </a:p>
          <a:p>
            <a:pPr marL="0" indent="0">
              <a:buNone/>
            </a:pPr>
            <a:r>
              <a:rPr lang="en-US" altLang="ko-KR" sz="1400" dirty="0"/>
              <a:t>import sec03.exam01.Week;  // Week </a:t>
            </a:r>
            <a:r>
              <a:rPr lang="ko-KR" altLang="en-US" sz="1400" dirty="0"/>
              <a:t>열거형을 가져오기 </a:t>
            </a:r>
            <a:r>
              <a:rPr lang="en-US" altLang="ko-KR" sz="1400" dirty="0"/>
              <a:t>(</a:t>
            </a:r>
            <a:r>
              <a:rPr lang="ko-KR" altLang="en-US" sz="1400" dirty="0"/>
              <a:t>열거형은 따로 정의된 상태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EnumWeekExample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Week today = null; // Week </a:t>
            </a:r>
            <a:r>
              <a:rPr lang="ko-KR" altLang="en-US" sz="1400" dirty="0"/>
              <a:t>타입 변수를 선언하고 초기값은 </a:t>
            </a:r>
            <a:r>
              <a:rPr lang="en-US" altLang="ko-KR" sz="1400" dirty="0"/>
              <a:t>null</a:t>
            </a:r>
            <a:r>
              <a:rPr lang="ko-KR" altLang="en-US" sz="1400" dirty="0"/>
              <a:t>로 설정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Calendar </a:t>
            </a:r>
            <a:r>
              <a:rPr lang="en-US" altLang="ko-KR" sz="1400" dirty="0" err="1"/>
              <a:t>cal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Calendar.getInstance</a:t>
            </a:r>
            <a:r>
              <a:rPr lang="en-US" altLang="ko-KR" sz="1400" dirty="0"/>
              <a:t>(); // </a:t>
            </a:r>
            <a:r>
              <a:rPr lang="ko-KR" altLang="en-US" sz="1400" dirty="0"/>
              <a:t>현재 날짜와 시간을 가져오는 </a:t>
            </a:r>
            <a:r>
              <a:rPr lang="en-US" altLang="ko-KR" sz="1400" dirty="0"/>
              <a:t>Calendar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week = </a:t>
            </a:r>
            <a:r>
              <a:rPr lang="en-US" altLang="ko-KR" sz="1400" dirty="0" err="1"/>
              <a:t>cal.get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Calendar.DAY_OF_WEEK</a:t>
            </a:r>
            <a:r>
              <a:rPr lang="en-US" altLang="ko-KR" sz="1400" dirty="0"/>
              <a:t>); // </a:t>
            </a:r>
            <a:r>
              <a:rPr lang="ko-KR" altLang="en-US" sz="1400" dirty="0"/>
              <a:t>요일 정보를 숫자로 반환 </a:t>
            </a:r>
            <a:r>
              <a:rPr lang="en-US" altLang="ko-KR" sz="1400" dirty="0"/>
              <a:t>(1: </a:t>
            </a:r>
            <a:r>
              <a:rPr lang="ko-KR" altLang="en-US" sz="1400" dirty="0"/>
              <a:t>일요일</a:t>
            </a:r>
            <a:r>
              <a:rPr lang="en-US" altLang="ko-KR" sz="1400" dirty="0"/>
              <a:t>, 2: </a:t>
            </a:r>
            <a:r>
              <a:rPr lang="ko-KR" altLang="en-US" sz="1400" dirty="0"/>
              <a:t>월요일</a:t>
            </a:r>
            <a:r>
              <a:rPr lang="en-US" altLang="ko-KR" sz="1400" dirty="0"/>
              <a:t>, ...)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숫자 요일 정보를 </a:t>
            </a:r>
            <a:r>
              <a:rPr lang="en-US" altLang="ko-KR" sz="1400" dirty="0"/>
              <a:t>Week </a:t>
            </a:r>
            <a:r>
              <a:rPr lang="ko-KR" altLang="en-US" sz="1400" dirty="0"/>
              <a:t>열거형 값으로 매핑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switch (week) {</a:t>
            </a:r>
          </a:p>
          <a:p>
            <a:pPr marL="0" indent="0">
              <a:buNone/>
            </a:pPr>
            <a:r>
              <a:rPr lang="en-US" altLang="ko-KR" sz="1400" dirty="0"/>
              <a:t>            case 1:</a:t>
            </a:r>
          </a:p>
          <a:p>
            <a:pPr marL="0" indent="0">
              <a:buNone/>
            </a:pPr>
            <a:r>
              <a:rPr lang="en-US" altLang="ko-KR" sz="1400" dirty="0"/>
              <a:t>                today = </a:t>
            </a:r>
            <a:r>
              <a:rPr lang="en-US" altLang="ko-KR" sz="1400" dirty="0" err="1"/>
              <a:t>Week.SUNDAY</a:t>
            </a:r>
            <a:r>
              <a:rPr lang="en-US" altLang="ko-KR" sz="1400" dirty="0"/>
              <a:t>; break; // 1: </a:t>
            </a:r>
            <a:r>
              <a:rPr lang="ko-KR" altLang="en-US" sz="1400" dirty="0"/>
              <a:t>일요일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2:</a:t>
            </a:r>
          </a:p>
          <a:p>
            <a:pPr marL="0" indent="0">
              <a:buNone/>
            </a:pPr>
            <a:r>
              <a:rPr lang="en-US" altLang="ko-KR" sz="1400" dirty="0"/>
              <a:t>                today = </a:t>
            </a:r>
            <a:r>
              <a:rPr lang="en-US" altLang="ko-KR" sz="1400" dirty="0" err="1"/>
              <a:t>Week.MONDAY</a:t>
            </a:r>
            <a:r>
              <a:rPr lang="en-US" altLang="ko-KR" sz="1400" dirty="0"/>
              <a:t>; break; // 2: </a:t>
            </a:r>
            <a:r>
              <a:rPr lang="ko-KR" altLang="en-US" sz="1400" dirty="0"/>
              <a:t>월요일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3:</a:t>
            </a:r>
          </a:p>
          <a:p>
            <a:pPr marL="0" indent="0">
              <a:buNone/>
            </a:pPr>
            <a:r>
              <a:rPr lang="en-US" altLang="ko-KR" sz="1400" dirty="0"/>
              <a:t>                today = </a:t>
            </a:r>
            <a:r>
              <a:rPr lang="en-US" altLang="ko-KR" sz="1400" dirty="0" err="1"/>
              <a:t>Week.TUESDAY</a:t>
            </a:r>
            <a:r>
              <a:rPr lang="en-US" altLang="ko-KR" sz="1400" dirty="0"/>
              <a:t>; break; // 3: </a:t>
            </a:r>
            <a:r>
              <a:rPr lang="ko-KR" altLang="en-US" sz="1400" dirty="0"/>
              <a:t>화요일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4:</a:t>
            </a:r>
          </a:p>
          <a:p>
            <a:pPr marL="0" indent="0">
              <a:buNone/>
            </a:pPr>
            <a:r>
              <a:rPr lang="en-US" altLang="ko-KR" sz="1400" dirty="0"/>
              <a:t>                today = </a:t>
            </a:r>
            <a:r>
              <a:rPr lang="en-US" altLang="ko-KR" sz="1400" dirty="0" err="1"/>
              <a:t>Week.WEDNESDAY</a:t>
            </a:r>
            <a:r>
              <a:rPr lang="en-US" altLang="ko-KR" sz="1400" dirty="0"/>
              <a:t>; break; // 4: </a:t>
            </a:r>
            <a:r>
              <a:rPr lang="ko-KR" altLang="en-US" sz="1400" dirty="0"/>
              <a:t>수요일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5:</a:t>
            </a:r>
          </a:p>
          <a:p>
            <a:pPr marL="0" indent="0">
              <a:buNone/>
            </a:pPr>
            <a:r>
              <a:rPr lang="en-US" altLang="ko-KR" sz="1400" dirty="0"/>
              <a:t>                today = </a:t>
            </a:r>
            <a:r>
              <a:rPr lang="en-US" altLang="ko-KR" sz="1400" dirty="0" err="1"/>
              <a:t>Week.THURSDAY</a:t>
            </a:r>
            <a:r>
              <a:rPr lang="en-US" altLang="ko-KR" sz="1400" dirty="0"/>
              <a:t>; break; // 5: </a:t>
            </a:r>
            <a:r>
              <a:rPr lang="ko-KR" altLang="en-US" sz="1400" dirty="0"/>
              <a:t>목요일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6:</a:t>
            </a:r>
          </a:p>
          <a:p>
            <a:pPr marL="0" indent="0">
              <a:buNone/>
            </a:pPr>
            <a:r>
              <a:rPr lang="en-US" altLang="ko-KR" sz="1400" dirty="0"/>
              <a:t>                today = </a:t>
            </a:r>
            <a:r>
              <a:rPr lang="en-US" altLang="ko-KR" sz="1400" dirty="0" err="1"/>
              <a:t>Week.FRIDAY</a:t>
            </a:r>
            <a:r>
              <a:rPr lang="en-US" altLang="ko-KR" sz="1400" dirty="0"/>
              <a:t>; break; // 6: </a:t>
            </a:r>
            <a:r>
              <a:rPr lang="ko-KR" altLang="en-US" sz="1400" dirty="0"/>
              <a:t>금요일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7:</a:t>
            </a:r>
          </a:p>
          <a:p>
            <a:pPr marL="0" indent="0">
              <a:buNone/>
            </a:pPr>
            <a:r>
              <a:rPr lang="en-US" altLang="ko-KR" sz="1400" dirty="0"/>
              <a:t>                today = </a:t>
            </a:r>
            <a:r>
              <a:rPr lang="en-US" altLang="ko-KR" sz="1400" dirty="0" err="1"/>
              <a:t>Week.SATURDAY</a:t>
            </a:r>
            <a:r>
              <a:rPr lang="en-US" altLang="ko-KR" sz="1400" dirty="0"/>
              <a:t>; break; // 7: </a:t>
            </a:r>
            <a:r>
              <a:rPr lang="ko-KR" altLang="en-US" sz="1400" dirty="0"/>
              <a:t>토요일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33D5E14B-AD30-472F-DBE3-B0E65A3A1D34}"/>
              </a:ext>
            </a:extLst>
          </p:cNvPr>
          <p:cNvSpPr txBox="1">
            <a:spLocks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</a:t>
            </a:r>
            <a:r>
              <a:rPr lang="en-US" altLang="ko-KR" sz="1400" dirty="0"/>
              <a:t>// </a:t>
            </a:r>
            <a:r>
              <a:rPr lang="ko-KR" altLang="en-US" sz="1400" dirty="0"/>
              <a:t>현재 요일 출력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오늘 요일</a:t>
            </a:r>
            <a:r>
              <a:rPr lang="en-US" altLang="ko-KR" sz="1400" dirty="0"/>
              <a:t>: " + today);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오늘이 일요일인지 확인하고 메시지 출력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(today == </a:t>
            </a:r>
            <a:r>
              <a:rPr lang="en-US" altLang="ko-KR" sz="1400" dirty="0" err="1"/>
              <a:t>Week.SUNDAY</a:t>
            </a:r>
            <a:r>
              <a:rPr lang="en-US" altLang="ko-KR" sz="1400" dirty="0"/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일요일에는 축구를 합니다</a:t>
            </a:r>
            <a:r>
              <a:rPr lang="en-US" altLang="ko-KR" sz="1400" dirty="0"/>
              <a:t>.");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} else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열심히 자바 공부합니다</a:t>
            </a:r>
            <a:r>
              <a:rPr lang="en-US" altLang="ko-KR" sz="1400" dirty="0"/>
              <a:t>.");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D4E2AA-A0C0-9636-F3F7-190016D19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705" y="4458830"/>
            <a:ext cx="3148813" cy="873659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6EA5AD-EBEC-1915-2328-A4EF95F3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95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4607</Words>
  <Application>Microsoft Office PowerPoint</Application>
  <PresentationFormat>와이드스크린</PresentationFormat>
  <Paragraphs>747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Arial</vt:lpstr>
      <vt:lpstr>Wingdings</vt:lpstr>
      <vt:lpstr>Office 테마</vt:lpstr>
      <vt:lpstr>참조 타입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12</cp:revision>
  <dcterms:created xsi:type="dcterms:W3CDTF">2024-11-16T10:25:19Z</dcterms:created>
  <dcterms:modified xsi:type="dcterms:W3CDTF">2024-11-26T10:03:27Z</dcterms:modified>
</cp:coreProperties>
</file>