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83" r:id="rId35"/>
    <p:sldId id="284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3" r:id="rId77"/>
    <p:sldId id="334" r:id="rId7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AADC3-586A-4BDC-B7C6-C70518CBE94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E0BA1-6A39-40DB-9BAD-37EBD16636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15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8716C-CD69-4954-B9AC-6AE627F83DF7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28FF-E57B-4372-A639-426238715192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6DCB-1839-4C0B-AE5F-82A1242F59DC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3623-18ED-46FA-8459-99C64C9990F0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BB99-6FCA-45A9-A995-24789E8FDA6C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FDAB-538C-4761-A41C-132B1D46D02A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1520-4B08-4A19-8441-116FAACB61E7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E6CE4-DE53-445F-BDE7-1089DBC68C21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57568-F1D9-48E5-B21B-B3A6212C3F25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AC985-73BD-4D79-9F11-CE2ECE83B8EF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B600-CE33-4391-A682-B7234D6FAA29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BA2EB-787B-404D-8D1A-F1DD8B4DB20B}" type="datetime1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DBA86A-66BD-3789-6AE7-F4E2D0FA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객체 지향 프로그래밍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현실 세계에서 어떤 제품을 만들 때 부품을 먼저 개발하고 이 부품들을 하나씩 조립해서 제품을 완성하듯이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소프트웨어를 개발할 때에도 부품을 먼저 만드는데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이것을 객체라고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이러한 객체를 하나씩 조립해서 완성된 프로그램을 만드는 기법을 객체 지향 프로그래밍</a:t>
            </a:r>
            <a:r>
              <a:rPr lang="en-US" altLang="ko-KR" sz="1400" dirty="0"/>
              <a:t>(OOP: Object-Oriented Programming)</a:t>
            </a:r>
            <a:r>
              <a:rPr lang="ko-KR" altLang="en-US" sz="1400" dirty="0"/>
              <a:t>라고</a:t>
            </a:r>
            <a:r>
              <a:rPr lang="en-US" altLang="ko-KR" sz="1400" dirty="0"/>
              <a:t> </a:t>
            </a:r>
            <a:r>
              <a:rPr lang="ko-KR" altLang="en-US" sz="1400" dirty="0"/>
              <a:t>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</a:t>
            </a:r>
            <a:r>
              <a:rPr lang="en-US" altLang="ko-KR" sz="1400" dirty="0"/>
              <a:t>(object)</a:t>
            </a:r>
            <a:r>
              <a:rPr lang="ko-KR" altLang="en-US" sz="1400" dirty="0"/>
              <a:t>란 물리적으로 존재하거나 추상적으로 생각할 수 있는 것으로 속성과 동작으로 구성된다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ko-KR" altLang="en-US" sz="1400" dirty="0"/>
              <a:t>사람이라는 객체는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[</a:t>
            </a:r>
            <a:r>
              <a:rPr lang="ko-KR" altLang="en-US" sz="1400" dirty="0"/>
              <a:t>이름</a:t>
            </a:r>
            <a:r>
              <a:rPr lang="en-US" altLang="ko-KR" sz="1400" dirty="0"/>
              <a:t>, </a:t>
            </a:r>
            <a:r>
              <a:rPr lang="ko-KR" altLang="en-US" sz="1400" dirty="0"/>
              <a:t>나이</a:t>
            </a:r>
            <a:r>
              <a:rPr lang="en-US" altLang="ko-KR" sz="1400" dirty="0"/>
              <a:t>, ...]</a:t>
            </a:r>
            <a:r>
              <a:rPr lang="ko-KR" altLang="en-US" sz="1400" dirty="0"/>
              <a:t>등의 속성을 갖고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[</a:t>
            </a:r>
            <a:r>
              <a:rPr lang="ko-KR" altLang="en-US" sz="1400" dirty="0"/>
              <a:t>웃다</a:t>
            </a:r>
            <a:r>
              <a:rPr lang="en-US" altLang="ko-KR" sz="1400" dirty="0"/>
              <a:t>, </a:t>
            </a:r>
            <a:r>
              <a:rPr lang="ko-KR" altLang="en-US" sz="1400" dirty="0"/>
              <a:t>먹다</a:t>
            </a:r>
            <a:r>
              <a:rPr lang="en-US" altLang="ko-KR" sz="1400" dirty="0"/>
              <a:t>, ...]</a:t>
            </a:r>
            <a:r>
              <a:rPr lang="ko-KR" altLang="en-US" sz="1400" dirty="0"/>
              <a:t>등의 동작을 갖는다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자바는 이러한 속성과 동작을 각각 필드와 메소드라고 부른다</a:t>
            </a:r>
            <a:r>
              <a:rPr lang="en-US" altLang="ko-KR" sz="14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E22FB5-837B-FD28-7ADA-875598C2D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707" y="4526780"/>
            <a:ext cx="2139594" cy="14032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DCC0CB-EFDF-701C-4BC2-7FF164BBD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301" y="4526780"/>
            <a:ext cx="2307022" cy="140324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3454CA-27B8-8861-4B30-DB8F54A2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4A8C8-256C-57C9-1CEB-D9C8A15F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DFACA5-E0FB-66C8-C63B-E3F4E5165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객체의 상호작용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 지향 프로그래밍 소프트웨어에서 대부분의 현상은 객체와 객체 간의 상호작용으로 이루어진다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객체들은 각각 독립적으로 존재하고</a:t>
            </a:r>
            <a:r>
              <a:rPr lang="en-US" altLang="ko-KR" sz="1400" dirty="0"/>
              <a:t>, </a:t>
            </a:r>
            <a:r>
              <a:rPr lang="ko-KR" altLang="en-US" sz="1400" dirty="0"/>
              <a:t>다른 객체와 서로 상호작용 하면서 작동한다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			      </a:t>
            </a: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사람과 전자계산기 객체가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두 객체는 메소드라는 기능을 통해 서로 상호작용 하고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 호출은 객체에 </a:t>
            </a:r>
            <a:r>
              <a:rPr lang="en-US" altLang="ko-KR" sz="1400" dirty="0"/>
              <a:t>.(</a:t>
            </a:r>
            <a:r>
              <a:rPr lang="ko-KR" altLang="en-US" sz="1400" dirty="0"/>
              <a:t>도트 연산자</a:t>
            </a:r>
            <a:r>
              <a:rPr lang="en-US" altLang="ko-KR" sz="1400" dirty="0"/>
              <a:t>)</a:t>
            </a:r>
            <a:r>
              <a:rPr lang="ko-KR" altLang="en-US" sz="1400" dirty="0"/>
              <a:t>를 붙이고 메소드 이름을 붙이면 된다</a:t>
            </a:r>
            <a:r>
              <a:rPr lang="en-US" altLang="ko-KR" sz="1400" dirty="0"/>
              <a:t>.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전자계산기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r>
              <a:rPr lang="ko-KR" altLang="en-US" sz="1400" dirty="0">
                <a:sym typeface="Wingdings" panose="05000000000000000000" pitchFamily="2" charset="2"/>
              </a:rPr>
              <a:t>더하기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매개변수</a:t>
            </a:r>
            <a:r>
              <a:rPr lang="en-US" altLang="ko-KR" sz="1400" dirty="0">
                <a:sym typeface="Wingdings" panose="05000000000000000000" pitchFamily="2" charset="2"/>
              </a:rPr>
              <a:t>1, </a:t>
            </a:r>
            <a:r>
              <a:rPr lang="ko-KR" altLang="en-US" sz="1400" dirty="0">
                <a:sym typeface="Wingdings" panose="05000000000000000000" pitchFamily="2" charset="2"/>
              </a:rPr>
              <a:t>매개변수</a:t>
            </a:r>
            <a:r>
              <a:rPr lang="en-US" altLang="ko-KR" sz="1400" dirty="0">
                <a:sym typeface="Wingdings" panose="05000000000000000000" pitchFamily="2" charset="2"/>
              </a:rPr>
              <a:t>2)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매개변수란 메소드를 실행하기 위해 필요한 데이터이다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64C149-0F53-27E7-DAC3-A965BD7F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2600"/>
            <a:ext cx="5336151" cy="20136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274BC09-6DF3-5FEF-14E8-8D20CD78B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225" y="1571025"/>
            <a:ext cx="4866757" cy="198817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3DB527-D92C-51E1-BFFD-E6656493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06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7A9D-8F89-589B-4B39-7EDD0025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502A0D-D071-CE28-9AA5-B272C678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객체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간의 관계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객체는 개별적으로 사용될 수 있지만</a:t>
            </a:r>
            <a:r>
              <a:rPr lang="en-US" altLang="ko-KR" sz="1400" dirty="0"/>
              <a:t>, </a:t>
            </a:r>
            <a:r>
              <a:rPr lang="ko-KR" altLang="en-US" sz="1400" dirty="0"/>
              <a:t>대부분 다른 객체와 관계를 맺고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집합 관계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집합 관계에 있는 객체는 하나의 부품이고</a:t>
            </a:r>
            <a:r>
              <a:rPr lang="en-US" altLang="ko-KR" sz="1400" dirty="0"/>
              <a:t>, </a:t>
            </a:r>
            <a:r>
              <a:rPr lang="ko-KR" altLang="en-US" sz="1400" dirty="0"/>
              <a:t>이것들이 모여 완성품을 이룬다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ko-KR" altLang="en-US" sz="1400" dirty="0"/>
              <a:t>엔진 </a:t>
            </a:r>
            <a:r>
              <a:rPr lang="en-US" altLang="ko-KR" sz="1400" dirty="0"/>
              <a:t>+ </a:t>
            </a:r>
            <a:r>
              <a:rPr lang="ko-KR" altLang="en-US" sz="1400" dirty="0"/>
              <a:t>타이어 </a:t>
            </a:r>
            <a:r>
              <a:rPr lang="en-US" altLang="ko-KR" sz="1400" dirty="0"/>
              <a:t>+ ... + = </a:t>
            </a:r>
            <a:r>
              <a:rPr lang="ko-KR" altLang="en-US" sz="1400" dirty="0"/>
              <a:t>자동차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사용 관계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객체는 다른 객체의 메소드를 호출하여 원하는 결과를 얻어낸다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ko-KR" altLang="en-US" sz="1400" dirty="0"/>
              <a:t>사람은 자동차의 엑셀</a:t>
            </a:r>
            <a:r>
              <a:rPr lang="en-US" altLang="ko-KR" sz="1400" dirty="0"/>
              <a:t>/</a:t>
            </a:r>
            <a:r>
              <a:rPr lang="ko-KR" altLang="en-US" sz="1400" dirty="0"/>
              <a:t>브레이크를 사용하여 이동한다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상속 관계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상위</a:t>
            </a:r>
            <a:r>
              <a:rPr lang="en-US" altLang="ko-KR" sz="1400" dirty="0"/>
              <a:t>(</a:t>
            </a:r>
            <a:r>
              <a:rPr lang="ko-KR" altLang="en-US" sz="1400" dirty="0"/>
              <a:t>부모</a:t>
            </a:r>
            <a:r>
              <a:rPr lang="en-US" altLang="ko-KR" sz="1400" dirty="0"/>
              <a:t>)</a:t>
            </a:r>
            <a:r>
              <a:rPr lang="ko-KR" altLang="en-US" sz="1400" dirty="0"/>
              <a:t>객체를 기반으로 하위</a:t>
            </a:r>
            <a:r>
              <a:rPr lang="en-US" altLang="ko-KR" sz="1400" dirty="0"/>
              <a:t>(</a:t>
            </a:r>
            <a:r>
              <a:rPr lang="ko-KR" altLang="en-US" sz="1400" dirty="0"/>
              <a:t>자식</a:t>
            </a:r>
            <a:r>
              <a:rPr lang="en-US" altLang="ko-KR" sz="1400" dirty="0"/>
              <a:t>)</a:t>
            </a:r>
            <a:r>
              <a:rPr lang="ko-KR" altLang="en-US" sz="1400" dirty="0"/>
              <a:t>각체를 생성하는 관계이다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ko-KR" altLang="en-US" sz="1400" dirty="0"/>
              <a:t>자동차는 기계의 한 종류이다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기계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상위 클래스</a:t>
            </a:r>
            <a:r>
              <a:rPr lang="en-US" altLang="ko-KR" sz="1400" dirty="0">
                <a:sym typeface="Wingdings" panose="05000000000000000000" pitchFamily="2" charset="2"/>
              </a:rPr>
              <a:t>), </a:t>
            </a:r>
            <a:r>
              <a:rPr lang="ko-KR" altLang="en-US" sz="1400" dirty="0">
                <a:sym typeface="Wingdings" panose="05000000000000000000" pitchFamily="2" charset="2"/>
              </a:rPr>
              <a:t>자동차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하위클래스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36F1D7-753C-A48E-03D6-231B0CF7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927" y="1629624"/>
            <a:ext cx="5392184" cy="417227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D29694-039F-B5DC-A944-B27C06F21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37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50F83-063F-C0A3-8092-A572AB11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35B838-AB95-B8E7-FA17-498232262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객체와 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현실에서는 설계도를 바탕으로 객체를 만든다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자동차를 만들려면 공장에서 설계도를 바탕으로 만들고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/>
              <a:t>붕어빵을 만들려면 </a:t>
            </a:r>
            <a:r>
              <a:rPr lang="ko-KR" altLang="en-US" sz="1400" dirty="0" err="1"/>
              <a:t>붕어빵틀을</a:t>
            </a:r>
            <a:r>
              <a:rPr lang="ko-KR" altLang="en-US" sz="1400" dirty="0"/>
              <a:t> 이용해서 붕어빵을 만들어야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지향 프로그래밍에서도 마찬가지이다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메모리에서 사용하고 싶은 객체가 있다면 우선 설계도로 해당 객체를 만드는 작업이 필요하다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자바에서는 설계도가 클래스에 해당한다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클래스는 객체를 구성하기 위한 필드와 메소드로 구성된다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클래스로부터 만들어진 객체를 해당 클래스의 객체라고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또한 하나의 클래스로부터 여러 개의 객체를 생성할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클래스로부터 객체를 만드는 과정을 </a:t>
            </a:r>
            <a:r>
              <a:rPr lang="ko-KR" altLang="en-US" sz="1400" dirty="0" err="1"/>
              <a:t>인스턴스화라고</a:t>
            </a:r>
            <a:r>
              <a:rPr lang="ko-KR" altLang="en-US" sz="1400" dirty="0"/>
              <a:t>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1026" name="Picture 2" descr="자바(Java) 클래스(Class)와 인스턴스(Instance) :: Moomin's Devlog">
            <a:extLst>
              <a:ext uri="{FF2B5EF4-FFF2-40B4-BE49-F238E27FC236}">
                <a16:creationId xmlns:a16="http://schemas.microsoft.com/office/drawing/2014/main" id="{ACFE1F14-0756-F2F5-563B-3D22241E6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337" y="3138718"/>
            <a:ext cx="5181458" cy="2750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4153A51-55E1-7770-7F87-199C34B7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758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DDCC9-43FA-C98A-5753-3AF65D38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EC28CC-23E7-6741-6B39-5C6899F1D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클래스 선언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하나 이상의 문자로 이루어져야 한다</a:t>
            </a:r>
            <a:r>
              <a:rPr lang="en-US" altLang="ko-KR" sz="1400" dirty="0"/>
              <a:t>. ex) Person, Car</a:t>
            </a:r>
          </a:p>
          <a:p>
            <a:pPr marL="0" indent="0">
              <a:buNone/>
            </a:pPr>
            <a:r>
              <a:rPr lang="ko-KR" altLang="en-US" sz="1400" dirty="0"/>
              <a:t>첫 글자에는 숫자가 올 수 없다</a:t>
            </a:r>
            <a:r>
              <a:rPr lang="en-US" altLang="ko-KR" sz="1400" dirty="0"/>
              <a:t>. ex)Car, 3Car(x)</a:t>
            </a:r>
          </a:p>
          <a:p>
            <a:pPr marL="0" indent="0">
              <a:buNone/>
            </a:pPr>
            <a:r>
              <a:rPr lang="en-US" altLang="ko-KR" sz="1400" dirty="0"/>
              <a:t>$, _</a:t>
            </a:r>
            <a:r>
              <a:rPr lang="ko-KR" altLang="en-US" sz="1400" dirty="0"/>
              <a:t>외의 특수문자는 사용할 수 없다</a:t>
            </a:r>
            <a:r>
              <a:rPr lang="en-US" altLang="ko-KR" sz="1400" dirty="0"/>
              <a:t>. ex) $Car, _Car, @Car(x)</a:t>
            </a:r>
          </a:p>
          <a:p>
            <a:pPr marL="0" indent="0">
              <a:buNone/>
            </a:pPr>
            <a:r>
              <a:rPr lang="ko-KR" altLang="en-US" sz="1400" dirty="0"/>
              <a:t>자바 키워드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예약어</a:t>
            </a:r>
            <a:r>
              <a:rPr lang="en-US" altLang="ko-KR" sz="1400" dirty="0"/>
              <a:t>)</a:t>
            </a:r>
            <a:r>
              <a:rPr lang="ko-KR" altLang="en-US" sz="1400" dirty="0"/>
              <a:t>는 사용할 수 없다</a:t>
            </a:r>
            <a:r>
              <a:rPr lang="en-US" altLang="ko-KR" sz="1400" dirty="0"/>
              <a:t>. ex) int(x), if(x)</a:t>
            </a:r>
          </a:p>
          <a:p>
            <a:pPr marL="0" indent="0">
              <a:buNone/>
            </a:pPr>
            <a:r>
              <a:rPr lang="ko-KR" altLang="en-US" sz="1400" dirty="0"/>
              <a:t>클래스 이름이 단일 단어라면 첫 글자를 대문자로 작성한다</a:t>
            </a:r>
            <a:r>
              <a:rPr lang="en-US" altLang="ko-KR" sz="1400" dirty="0"/>
              <a:t>. ex)</a:t>
            </a:r>
            <a:r>
              <a:rPr lang="ko-KR" altLang="en-US" sz="1400" dirty="0"/>
              <a:t> </a:t>
            </a:r>
            <a:r>
              <a:rPr lang="en-US" altLang="ko-KR" sz="1400" dirty="0"/>
              <a:t>Member</a:t>
            </a:r>
          </a:p>
          <a:p>
            <a:pPr marL="0" indent="0">
              <a:buNone/>
            </a:pPr>
            <a:r>
              <a:rPr lang="ko-KR" altLang="en-US" sz="1400" dirty="0"/>
              <a:t>서로 단은 단어가 혼합된 이름을 사용한다면 각 단어의 첫 글자는 대문자로 한다</a:t>
            </a:r>
            <a:r>
              <a:rPr lang="en-US" altLang="ko-KR" sz="1400" dirty="0"/>
              <a:t>. ex)</a:t>
            </a:r>
            <a:r>
              <a:rPr lang="en-US" altLang="ko-KR" sz="1400" dirty="0" err="1"/>
              <a:t>MemberList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 이름에서 영어 대소문자를 구분한다</a:t>
            </a:r>
            <a:r>
              <a:rPr lang="en-US" altLang="ko-KR" sz="1400" dirty="0"/>
              <a:t>. ex)Member, MEMBER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위와 같은 규칙으로 클래스 이름을 정했다면</a:t>
            </a:r>
            <a:r>
              <a:rPr lang="en-US" altLang="ko-KR" sz="1400" dirty="0"/>
              <a:t>, ‘</a:t>
            </a:r>
            <a:r>
              <a:rPr lang="ko-KR" altLang="en-US" sz="1400" dirty="0"/>
              <a:t>클래스 이름</a:t>
            </a:r>
            <a:r>
              <a:rPr lang="en-US" altLang="ko-KR" sz="1400" dirty="0"/>
              <a:t>.java’</a:t>
            </a:r>
            <a:r>
              <a:rPr lang="ko-KR" altLang="en-US" sz="1400" dirty="0"/>
              <a:t>로 소스 파일을 생성해야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이때</a:t>
            </a:r>
            <a:r>
              <a:rPr lang="en-US" altLang="ko-KR" sz="1400" dirty="0"/>
              <a:t> </a:t>
            </a:r>
            <a:r>
              <a:rPr lang="ko-KR" altLang="en-US" sz="1400" dirty="0"/>
              <a:t>반드시 클래스 이름과 파일명</a:t>
            </a:r>
            <a:r>
              <a:rPr lang="en-US" altLang="ko-KR" sz="1400" dirty="0"/>
              <a:t>(</a:t>
            </a:r>
            <a:r>
              <a:rPr lang="ko-KR" altLang="en-US" sz="1400" dirty="0"/>
              <a:t>클래스 이름</a:t>
            </a:r>
            <a:r>
              <a:rPr lang="en-US" altLang="ko-KR" sz="1400" dirty="0"/>
              <a:t>.java)</a:t>
            </a:r>
            <a:r>
              <a:rPr lang="ko-KR" altLang="en-US" sz="1400" dirty="0"/>
              <a:t>가 </a:t>
            </a:r>
            <a:r>
              <a:rPr lang="ko-KR" altLang="en-US" sz="1400" dirty="0" err="1"/>
              <a:t>같아야한다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ko-KR" altLang="en-US" sz="1400" dirty="0"/>
              <a:t>클래스이름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</a:t>
            </a:r>
            <a:r>
              <a:rPr lang="ko-KR" altLang="en-US" sz="1400" dirty="0"/>
              <a:t>은 파일 이름과 동일한 이름의 클래스에서 붙일 수 있는 </a:t>
            </a:r>
            <a:r>
              <a:rPr lang="ko-KR" altLang="en-US" sz="1400" dirty="0" err="1"/>
              <a:t>접근제한자이다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접근 제한자는 객체의 필드나 메소드의 접근을 다룰 때 쓰는 것으로 </a:t>
            </a:r>
            <a:r>
              <a:rPr lang="ko-KR" altLang="en-US" sz="1400" dirty="0" err="1"/>
              <a:t>뒷</a:t>
            </a:r>
            <a:r>
              <a:rPr lang="ko-KR" altLang="en-US" sz="1400" dirty="0"/>
              <a:t> 슬라이드에서 배운다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4FE3BD-1FE6-E9F6-231D-B3F0F860C1B1}"/>
              </a:ext>
            </a:extLst>
          </p:cNvPr>
          <p:cNvSpPr txBox="1"/>
          <p:nvPr/>
        </p:nvSpPr>
        <p:spPr>
          <a:xfrm>
            <a:off x="6851964" y="4101220"/>
            <a:ext cx="48798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Car{</a:t>
            </a:r>
          </a:p>
          <a:p>
            <a:r>
              <a:rPr lang="en-US" altLang="ko-KR" sz="1400" dirty="0"/>
              <a:t>	...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3844FC-7387-4E86-6589-F9C69F1A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8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BF44-CD56-4511-58E4-012B1256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933AE8-349E-B176-36CF-5C03BF90C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객체 생성과 클래스 변수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클래스로부터 객체를 생성하려면 </a:t>
            </a:r>
            <a:r>
              <a:rPr lang="en-US" altLang="ko-KR" sz="1400" dirty="0"/>
              <a:t>new</a:t>
            </a:r>
            <a:r>
              <a:rPr lang="ko-KR" altLang="en-US" sz="1400" dirty="0"/>
              <a:t>연산자를 사용하면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new</a:t>
            </a:r>
            <a:r>
              <a:rPr lang="ko-KR" altLang="en-US" sz="1400" dirty="0"/>
              <a:t>는 클래스로부터 객체를 생성시킨다</a:t>
            </a:r>
            <a:r>
              <a:rPr lang="en-US" altLang="ko-KR" sz="1400" dirty="0"/>
              <a:t>. new </a:t>
            </a:r>
            <a:r>
              <a:rPr lang="ko-KR" altLang="en-US" sz="1400" dirty="0"/>
              <a:t>연산자 뒤에는 생성자가 오는데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/>
              <a:t>생성자는 클래스이름</a:t>
            </a:r>
            <a:r>
              <a:rPr lang="en-US" altLang="ko-KR" sz="1400" dirty="0"/>
              <a:t>()</a:t>
            </a:r>
            <a:r>
              <a:rPr lang="ko-KR" altLang="en-US" sz="1400" dirty="0"/>
              <a:t>의 형태를 가지며 생성자는 </a:t>
            </a:r>
            <a:r>
              <a:rPr lang="ko-KR" altLang="en-US" sz="1400" dirty="0" err="1"/>
              <a:t>뒷</a:t>
            </a:r>
            <a:r>
              <a:rPr lang="ko-KR" altLang="en-US" sz="1400" dirty="0"/>
              <a:t> 슬라이드에서 자세히 배운다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new</a:t>
            </a:r>
            <a:r>
              <a:rPr lang="ko-KR" altLang="en-US" sz="1400" dirty="0"/>
              <a:t>연산자로 생성된 객체는 </a:t>
            </a:r>
            <a:r>
              <a:rPr lang="en-US" altLang="ko-KR" sz="1400" dirty="0"/>
              <a:t>JVM </a:t>
            </a:r>
            <a:r>
              <a:rPr lang="ko-KR" altLang="en-US" sz="1400" dirty="0"/>
              <a:t>메모리 영역</a:t>
            </a:r>
            <a:r>
              <a:rPr lang="en-US" altLang="ko-KR" sz="1400" dirty="0"/>
              <a:t>(</a:t>
            </a:r>
            <a:r>
              <a:rPr lang="ko-KR" altLang="en-US" sz="1400" dirty="0"/>
              <a:t>메소드 영역</a:t>
            </a:r>
            <a:r>
              <a:rPr lang="en-US" altLang="ko-KR" sz="1400" dirty="0"/>
              <a:t>, </a:t>
            </a:r>
            <a:r>
              <a:rPr lang="ko-KR" altLang="en-US" sz="1400" dirty="0"/>
              <a:t>스택 영역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</a:t>
            </a:r>
            <a:r>
              <a:rPr lang="en-US" altLang="ko-KR" sz="1400" dirty="0"/>
              <a:t>)</a:t>
            </a:r>
            <a:r>
              <a:rPr lang="ko-KR" altLang="en-US" sz="1400" dirty="0"/>
              <a:t>중에서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영역에 생성된다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또한 </a:t>
            </a:r>
            <a:r>
              <a:rPr lang="en-US" altLang="ko-KR" sz="1400" dirty="0"/>
              <a:t>new</a:t>
            </a:r>
            <a:r>
              <a:rPr lang="ko-KR" altLang="en-US" sz="1400" dirty="0"/>
              <a:t>연산자는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영역에 저장된 객체의 </a:t>
            </a:r>
            <a:r>
              <a:rPr lang="ko-KR" altLang="en-US" sz="1400" dirty="0" err="1"/>
              <a:t>주소값을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리턴하도록</a:t>
            </a:r>
            <a:r>
              <a:rPr lang="ko-KR" altLang="en-US" sz="1400" dirty="0"/>
              <a:t> 되어있다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따라서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 변수 </a:t>
            </a:r>
            <a:r>
              <a:rPr lang="en-US" altLang="ko-KR" sz="1400" dirty="0"/>
              <a:t>= new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 실행문은 </a:t>
            </a:r>
            <a:r>
              <a:rPr lang="en-US" altLang="ko-KR" sz="1400" dirty="0"/>
              <a:t>new </a:t>
            </a:r>
            <a:r>
              <a:rPr lang="ko-KR" altLang="en-US" sz="1400" dirty="0"/>
              <a:t>연산자로 객체를 생성하고 반환된 인스턴스의 </a:t>
            </a:r>
            <a:r>
              <a:rPr lang="ko-KR" altLang="en-US" sz="1400" dirty="0" err="1"/>
              <a:t>주소값을</a:t>
            </a:r>
            <a:r>
              <a:rPr lang="ko-KR" altLang="en-US" sz="1400" dirty="0"/>
              <a:t> 변수로 저장해서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변수가 객체를 참조하게 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2" name="Picture 2" descr="자바(Java) 클래스(Class)와 인스턴스(Instance) :: Moomin's Devlog">
            <a:extLst>
              <a:ext uri="{FF2B5EF4-FFF2-40B4-BE49-F238E27FC236}">
                <a16:creationId xmlns:a16="http://schemas.microsoft.com/office/drawing/2014/main" id="{237C89F6-E920-D3E5-42D1-83D35A3C2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949" y="0"/>
            <a:ext cx="3752051" cy="199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1CBB9CE-C3B0-3289-2477-C6C800356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186" y="2176462"/>
            <a:ext cx="2695575" cy="2505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1E6A0A5-F9E5-3BD1-C1DB-B5A2AD950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562" y="4861333"/>
            <a:ext cx="3952875" cy="17526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18215-3877-03E9-AA92-93EDA9FD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310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11576-63FC-7F71-D36B-1E1AC58F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FD67C-2127-8B3B-03A4-165027198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Student { // Student </a:t>
            </a:r>
            <a:r>
              <a:rPr lang="ko-KR" altLang="en-US" sz="1400" dirty="0"/>
              <a:t>클래스 선언 </a:t>
            </a:r>
            <a:r>
              <a:rPr lang="en-US" altLang="ko-KR" sz="1400" dirty="0"/>
              <a:t>(</a:t>
            </a:r>
            <a:r>
              <a:rPr lang="ko-KR" altLang="en-US" sz="1400" dirty="0"/>
              <a:t>필드와 메서드는 아직 정의되지 않음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StudentExample</a:t>
            </a:r>
            <a:r>
              <a:rPr lang="en-US" altLang="ko-KR" sz="1400" dirty="0"/>
              <a:t> { // </a:t>
            </a:r>
            <a:r>
              <a:rPr lang="en-US" altLang="ko-KR" sz="1400" dirty="0" err="1"/>
              <a:t>StudentExample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 선언 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 // </a:t>
            </a:r>
            <a:r>
              <a:rPr lang="ko-KR" altLang="en-US" sz="1400" dirty="0"/>
              <a:t>프로그램의 시작점인 메인 메서드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Student s1 = new Student();  // Student </a:t>
            </a:r>
            <a:r>
              <a:rPr lang="ko-KR" altLang="en-US" sz="1400" dirty="0"/>
              <a:t>타입의 변수 </a:t>
            </a:r>
            <a:r>
              <a:rPr lang="en-US" altLang="ko-KR" sz="1400" dirty="0"/>
              <a:t>s1 </a:t>
            </a:r>
            <a:r>
              <a:rPr lang="ko-KR" altLang="en-US" sz="1400" dirty="0"/>
              <a:t>선언 및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("s1 </a:t>
            </a:r>
            <a:r>
              <a:rPr lang="ko-KR" altLang="en-US" sz="1400" dirty="0"/>
              <a:t>변수가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객체를 참조합니다</a:t>
            </a:r>
            <a:r>
              <a:rPr lang="en-US" altLang="ko-KR" sz="1400" dirty="0"/>
              <a:t>."); // s1 </a:t>
            </a:r>
            <a:r>
              <a:rPr lang="ko-KR" altLang="en-US" sz="1400" dirty="0"/>
              <a:t>변수가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객체를 참조함을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Student s2 = new Student();  // Student </a:t>
            </a:r>
            <a:r>
              <a:rPr lang="ko-KR" altLang="en-US" sz="1400" dirty="0"/>
              <a:t>타입의 변수 </a:t>
            </a:r>
            <a:r>
              <a:rPr lang="en-US" altLang="ko-KR" sz="1400" dirty="0"/>
              <a:t>s2 </a:t>
            </a:r>
            <a:r>
              <a:rPr lang="ko-KR" altLang="en-US" sz="1400" dirty="0"/>
              <a:t>선언 및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("s2 </a:t>
            </a:r>
            <a:r>
              <a:rPr lang="ko-KR" altLang="en-US" sz="1400" dirty="0"/>
              <a:t>변수가 또 다른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객체를 참조합니다</a:t>
            </a:r>
            <a:r>
              <a:rPr lang="en-US" altLang="ko-KR" sz="1400" dirty="0"/>
              <a:t>."); // s2 </a:t>
            </a:r>
            <a:r>
              <a:rPr lang="ko-KR" altLang="en-US" sz="1400" dirty="0"/>
              <a:t>변수가 다른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객체를 참조함을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StudentExample</a:t>
            </a:r>
            <a:r>
              <a:rPr lang="ko-KR" altLang="en-US" sz="1400" dirty="0"/>
              <a:t>을 실행하면 메모리에 클래스 변수와 객체가 생성된다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위 코드에서는 </a:t>
            </a:r>
            <a:r>
              <a:rPr lang="en-US" altLang="ko-KR" sz="1400" dirty="0"/>
              <a:t>s1</a:t>
            </a:r>
            <a:r>
              <a:rPr lang="ko-KR" altLang="en-US" sz="1400" dirty="0"/>
              <a:t>과 </a:t>
            </a:r>
            <a:r>
              <a:rPr lang="en-US" altLang="ko-KR" sz="1400" dirty="0"/>
              <a:t>s2</a:t>
            </a:r>
            <a:r>
              <a:rPr lang="ko-KR" altLang="en-US" sz="1400" dirty="0"/>
              <a:t>가 서로 다른 </a:t>
            </a:r>
            <a:r>
              <a:rPr lang="en-US" altLang="ko-KR" sz="1400" dirty="0"/>
              <a:t>Student</a:t>
            </a:r>
            <a:r>
              <a:rPr lang="ko-KR" altLang="en-US" sz="1400" dirty="0"/>
              <a:t>클래스의 객체를 참조한다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비록 같은 클래스에서 생성되었지만 각각의 인스턴스는 자신만의 고유 데이터를 가진다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s1</a:t>
            </a:r>
            <a:r>
              <a:rPr lang="ko-KR" altLang="en-US" sz="1400" dirty="0"/>
              <a:t>가 참조하는 객체와 </a:t>
            </a:r>
            <a:r>
              <a:rPr lang="en-US" altLang="ko-KR" sz="1400" dirty="0"/>
              <a:t>s2</a:t>
            </a:r>
            <a:r>
              <a:rPr lang="ko-KR" altLang="en-US" sz="1400" dirty="0"/>
              <a:t>가 참조하는 완전히 독립된 서로 다른 객체이다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309BBE-A548-9468-4C8A-7551CCE4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238" y="3856540"/>
            <a:ext cx="3590925" cy="229552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5704D1-EE9E-F3F8-9B0A-30DF0856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23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88142-A38D-82FD-9FC8-C300B34C7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67171E-A928-7D28-7FE2-5D488BE3C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클래스의 용도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클래스는 크게 두 가지 용도로 나뉜다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라이브러리 클래스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라이브러리 클래스란 다른 클래스에서 이용할 목적으로 설계된다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프로그램 전체에서 사용되는 클래스가 </a:t>
            </a:r>
            <a:r>
              <a:rPr lang="en-US" altLang="ko-KR" sz="1400" dirty="0"/>
              <a:t>100</a:t>
            </a:r>
            <a:r>
              <a:rPr lang="ko-KR" altLang="en-US" sz="1400" dirty="0"/>
              <a:t>개라면 </a:t>
            </a:r>
            <a:r>
              <a:rPr lang="en-US" altLang="ko-KR" sz="1400" dirty="0"/>
              <a:t>99</a:t>
            </a:r>
            <a:r>
              <a:rPr lang="ko-KR" altLang="en-US" sz="1400" dirty="0"/>
              <a:t>개는 라이브러리 클래스이고 단 하나가 실행 클래스</a:t>
            </a:r>
            <a:r>
              <a:rPr lang="en-US" altLang="ko-KR" sz="1400" dirty="0"/>
              <a:t>(main())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실행 클래스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실행 클래스는 프로그램의 실행 진입점인 </a:t>
            </a:r>
            <a:r>
              <a:rPr lang="en-US" altLang="ko-KR" sz="1400" dirty="0"/>
              <a:t>main()</a:t>
            </a:r>
            <a:r>
              <a:rPr lang="ko-KR" altLang="en-US" sz="1400" dirty="0"/>
              <a:t>메소드를 제공하는 역할을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Student { // Student </a:t>
            </a:r>
            <a:r>
              <a:rPr lang="ko-KR" altLang="en-US" sz="1400" dirty="0"/>
              <a:t>클래스 선언 </a:t>
            </a:r>
            <a:r>
              <a:rPr lang="en-US" altLang="ko-KR" sz="1400" dirty="0"/>
              <a:t>– </a:t>
            </a:r>
            <a:r>
              <a:rPr lang="ko-KR" altLang="en-US" sz="1400" dirty="0"/>
              <a:t>라이브러리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StudentExample</a:t>
            </a:r>
            <a:r>
              <a:rPr lang="en-US" altLang="ko-KR" sz="1400" dirty="0"/>
              <a:t> { // </a:t>
            </a:r>
            <a:r>
              <a:rPr lang="en-US" altLang="ko-KR" sz="1400" dirty="0" err="1"/>
              <a:t>StudentExample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 선언 </a:t>
            </a:r>
            <a:r>
              <a:rPr lang="en-US" altLang="ko-KR" sz="1400" dirty="0"/>
              <a:t> - </a:t>
            </a:r>
            <a:r>
              <a:rPr lang="ko-KR" altLang="en-US" sz="1400" dirty="0"/>
              <a:t>실행 클래스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 // </a:t>
            </a:r>
            <a:r>
              <a:rPr lang="ko-KR" altLang="en-US" sz="1400" dirty="0"/>
              <a:t>프로그램의 시작점인 메인 메서드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Student s1 = new Student();  // Student </a:t>
            </a:r>
            <a:r>
              <a:rPr lang="ko-KR" altLang="en-US" sz="1400" dirty="0"/>
              <a:t>타입의 변수 </a:t>
            </a:r>
            <a:r>
              <a:rPr lang="en-US" altLang="ko-KR" sz="1400" dirty="0"/>
              <a:t>s1 </a:t>
            </a:r>
            <a:r>
              <a:rPr lang="ko-KR" altLang="en-US" sz="1400" dirty="0"/>
              <a:t>선언 및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("s1 </a:t>
            </a:r>
            <a:r>
              <a:rPr lang="ko-KR" altLang="en-US" sz="1400" dirty="0"/>
              <a:t>변수가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객체를 참조합니다</a:t>
            </a:r>
            <a:r>
              <a:rPr lang="en-US" altLang="ko-KR" sz="1400" dirty="0"/>
              <a:t>."); // s1 </a:t>
            </a:r>
            <a:r>
              <a:rPr lang="ko-KR" altLang="en-US" sz="1400" dirty="0"/>
              <a:t>변수가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객체를 참조함을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Student s2 = new Student();  // Student </a:t>
            </a:r>
            <a:r>
              <a:rPr lang="ko-KR" altLang="en-US" sz="1400" dirty="0"/>
              <a:t>타입의 변수 </a:t>
            </a:r>
            <a:r>
              <a:rPr lang="en-US" altLang="ko-KR" sz="1400" dirty="0"/>
              <a:t>s2 </a:t>
            </a:r>
            <a:r>
              <a:rPr lang="ko-KR" altLang="en-US" sz="1400" dirty="0"/>
              <a:t>선언 및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("s2 </a:t>
            </a:r>
            <a:r>
              <a:rPr lang="ko-KR" altLang="en-US" sz="1400" dirty="0"/>
              <a:t>변수가 또 다른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객체를 참조합니다</a:t>
            </a:r>
            <a:r>
              <a:rPr lang="en-US" altLang="ko-KR" sz="1400" dirty="0"/>
              <a:t>."); // s2 </a:t>
            </a:r>
            <a:r>
              <a:rPr lang="ko-KR" altLang="en-US" sz="1400" dirty="0"/>
              <a:t>변수가 다른 </a:t>
            </a:r>
            <a:r>
              <a:rPr lang="en-US" altLang="ko-KR" sz="1400" dirty="0"/>
              <a:t>Student </a:t>
            </a:r>
            <a:r>
              <a:rPr lang="ko-KR" altLang="en-US" sz="1400" dirty="0"/>
              <a:t>객체를 참조함을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15767A-0966-BEF2-E571-2C64E0F1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54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D2D66-C1B4-8467-330C-953D1CBF5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265EA9-6D2A-4CB7-2B4B-368D4EAF3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클래스의 구성 멤버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클래스에는 객체가 가져야 할 구성 멤버가 선언된다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구성 멤버로는 필드</a:t>
            </a:r>
            <a:r>
              <a:rPr lang="en-US" altLang="ko-KR" sz="1400" dirty="0"/>
              <a:t>, </a:t>
            </a:r>
            <a:r>
              <a:rPr lang="ko-KR" altLang="en-US" sz="1400" dirty="0"/>
              <a:t>생성자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메소드가 있다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이 구성 멤버들은 생략되거나 여러 개로 작성될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int fieldname;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생성자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(){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void </a:t>
            </a:r>
            <a:r>
              <a:rPr lang="en-US" altLang="ko-KR" sz="1400" dirty="0" err="1"/>
              <a:t>methodName</a:t>
            </a:r>
            <a:r>
              <a:rPr lang="en-US" altLang="ko-KR" sz="1400" dirty="0"/>
              <a:t>(){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클래스의 구성 멤버인 필드</a:t>
            </a:r>
            <a:r>
              <a:rPr lang="en-US" altLang="ko-KR" sz="1400" dirty="0"/>
              <a:t>, </a:t>
            </a:r>
            <a:r>
              <a:rPr lang="ko-KR" altLang="en-US" sz="1400" dirty="0"/>
              <a:t>생성자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메소드를 자세히 다뤄본다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71B00-C35A-E31C-B4DB-FF23DCFD2887}"/>
              </a:ext>
            </a:extLst>
          </p:cNvPr>
          <p:cNvSpPr txBox="1"/>
          <p:nvPr/>
        </p:nvSpPr>
        <p:spPr>
          <a:xfrm>
            <a:off x="5127279" y="2716040"/>
            <a:ext cx="6485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필드는 객체 고유 데이터</a:t>
            </a:r>
            <a:r>
              <a:rPr lang="en-US" altLang="ko-KR" sz="1400" dirty="0"/>
              <a:t>, </a:t>
            </a:r>
            <a:r>
              <a:rPr lang="ko-KR" altLang="en-US" sz="1400" dirty="0"/>
              <a:t>상태 정보를 저장하는 곳이다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클래스로부터 생성된 인스턴스에서의 각각 필드는 고유한 값을 가질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429F1-B99B-8ECF-4B89-F1467B9A5A6C}"/>
              </a:ext>
            </a:extLst>
          </p:cNvPr>
          <p:cNvSpPr txBox="1"/>
          <p:nvPr/>
        </p:nvSpPr>
        <p:spPr>
          <a:xfrm>
            <a:off x="5127279" y="3745491"/>
            <a:ext cx="6485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생성자는 </a:t>
            </a:r>
            <a:r>
              <a:rPr lang="en-US" altLang="ko-KR" sz="1400" dirty="0"/>
              <a:t>new</a:t>
            </a:r>
            <a:r>
              <a:rPr lang="ko-KR" altLang="en-US" sz="1400" dirty="0"/>
              <a:t>연산자로 호출된다</a:t>
            </a:r>
            <a:r>
              <a:rPr lang="en-US" altLang="ko-KR" sz="1400" dirty="0"/>
              <a:t>. </a:t>
            </a:r>
            <a:r>
              <a:rPr lang="ko-KR" altLang="en-US" sz="1400" dirty="0"/>
              <a:t>생성자는 객체 생성하여 사용할 준비를 하거나 필드를 초기화하는 역할을 한다</a:t>
            </a:r>
            <a:r>
              <a:rPr lang="en-US" altLang="ko-KR" sz="1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A1AA3-E1D3-17FD-66CB-50670E428A4C}"/>
              </a:ext>
            </a:extLst>
          </p:cNvPr>
          <p:cNvSpPr txBox="1"/>
          <p:nvPr/>
        </p:nvSpPr>
        <p:spPr>
          <a:xfrm>
            <a:off x="5127278" y="4774942"/>
            <a:ext cx="6485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메소드는 객체의 동작에 해당한다</a:t>
            </a:r>
            <a:r>
              <a:rPr lang="en-US" altLang="ko-KR" sz="1400" dirty="0"/>
              <a:t>. </a:t>
            </a:r>
            <a:r>
              <a:rPr lang="ko-KR" altLang="en-US" sz="1400" dirty="0"/>
              <a:t>메소드를 호출하게 되면 중괄호 블록에 있는 코드들이 일괄적으로 실행된다</a:t>
            </a:r>
            <a:r>
              <a:rPr lang="en-US" altLang="ko-KR" sz="1400" dirty="0"/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6D53F1-DE2C-5A3C-0377-2B293947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139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73D73-3592-35E2-66F1-29FB4A560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C08A52-3881-4D76-7832-D53F8026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필드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필드는 객체의 고유 데이터</a:t>
            </a:r>
            <a:r>
              <a:rPr lang="en-US" altLang="ko-KR" sz="1400" dirty="0"/>
              <a:t>, </a:t>
            </a:r>
            <a:r>
              <a:rPr lang="ko-KR" altLang="en-US" sz="1400" dirty="0"/>
              <a:t>객체가 가져야 할 상태</a:t>
            </a:r>
            <a:r>
              <a:rPr lang="en-US" altLang="ko-KR" sz="1400" dirty="0"/>
              <a:t> </a:t>
            </a:r>
            <a:r>
              <a:rPr lang="ko-KR" altLang="en-US" sz="1400" dirty="0"/>
              <a:t>등을 저장하는 곳이다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자동차 객체를 예시로 든다면</a:t>
            </a:r>
            <a:r>
              <a:rPr lang="en-US" altLang="ko-KR" sz="1400" dirty="0"/>
              <a:t>, </a:t>
            </a:r>
            <a:r>
              <a:rPr lang="ko-KR" altLang="en-US" sz="1400" dirty="0"/>
              <a:t>제작회사</a:t>
            </a:r>
            <a:r>
              <a:rPr lang="en-US" altLang="ko-KR" sz="1400" dirty="0"/>
              <a:t>, </a:t>
            </a:r>
            <a:r>
              <a:rPr lang="ko-KR" altLang="en-US" sz="1400" dirty="0"/>
              <a:t>모델</a:t>
            </a:r>
            <a:r>
              <a:rPr lang="en-US" altLang="ko-KR" sz="1400" dirty="0"/>
              <a:t>, </a:t>
            </a:r>
            <a:r>
              <a:rPr lang="ko-KR" altLang="en-US" sz="1400" dirty="0"/>
              <a:t>색깔</a:t>
            </a:r>
            <a:r>
              <a:rPr lang="en-US" altLang="ko-KR" sz="1400" dirty="0"/>
              <a:t>, </a:t>
            </a:r>
            <a:r>
              <a:rPr lang="ko-KR" altLang="en-US" sz="1400" dirty="0"/>
              <a:t>최고 속도는 고유 데이터에 해당한다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현재 속도</a:t>
            </a:r>
            <a:r>
              <a:rPr lang="en-US" altLang="ko-KR" sz="1400" dirty="0"/>
              <a:t>, </a:t>
            </a:r>
            <a:r>
              <a:rPr lang="ko-KR" altLang="en-US" sz="1400" dirty="0"/>
              <a:t>엔진 회전 수는 상태 데이터에 해당한다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차체</a:t>
            </a:r>
            <a:r>
              <a:rPr lang="en-US" altLang="ko-KR" sz="1400" dirty="0"/>
              <a:t>, </a:t>
            </a:r>
            <a:r>
              <a:rPr lang="ko-KR" altLang="en-US" sz="1400" dirty="0"/>
              <a:t>엔진</a:t>
            </a:r>
            <a:r>
              <a:rPr lang="en-US" altLang="ko-KR" sz="1400" dirty="0"/>
              <a:t>, </a:t>
            </a:r>
            <a:r>
              <a:rPr lang="ko-KR" altLang="en-US" sz="1400" dirty="0"/>
              <a:t>타이어는 부품에 해당한다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따라서 자동차 클래스를 만든다면 다음과 같이 설계할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C0D327-94CA-3D1E-A582-CCBB45BB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86113"/>
            <a:ext cx="5274964" cy="506855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D3AA98A-9FC0-57A0-3C97-7F911073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846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03EF-A2B4-6D57-DDDD-85B8BDEC5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C48B01-6C43-0418-4A2C-03878FFC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필드 선언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필드 선언은 클래스 중괄호 </a:t>
            </a:r>
            <a:r>
              <a:rPr lang="en-US" altLang="ko-KR" sz="1400" dirty="0"/>
              <a:t>{} </a:t>
            </a:r>
            <a:r>
              <a:rPr lang="ko-KR" altLang="en-US" sz="1400" dirty="0"/>
              <a:t>블록 어디서든 존재할 수 있지만</a:t>
            </a:r>
            <a:r>
              <a:rPr lang="en-US" altLang="ko-KR" sz="1400" dirty="0"/>
              <a:t>, </a:t>
            </a:r>
            <a:r>
              <a:rPr lang="ko-KR" altLang="en-US" sz="1400" dirty="0"/>
              <a:t>보통 제일 상단에 쓰는 것이 관례이다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타입 필드 </a:t>
            </a:r>
            <a:r>
              <a:rPr lang="en-US" altLang="ko-KR" sz="1400" dirty="0"/>
              <a:t>= </a:t>
            </a:r>
            <a:r>
              <a:rPr lang="ko-KR" altLang="en-US" sz="1400" dirty="0"/>
              <a:t>초기값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위와 같은 형식으로 필드를 선언할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초기값은 추후 초기화될 수 있으므로 생략할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타입은 필드에 저장할 데이터의 종류를 뜻하며 모든 자료형이 올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 Car{</a:t>
            </a:r>
          </a:p>
          <a:p>
            <a:pPr marL="0" indent="0">
              <a:buNone/>
            </a:pPr>
            <a:r>
              <a:rPr lang="en-US" altLang="ko-KR" sz="1400" dirty="0"/>
              <a:t>	String company = “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”;</a:t>
            </a:r>
          </a:p>
          <a:p>
            <a:pPr marL="0" indent="0">
              <a:buNone/>
            </a:pPr>
            <a:r>
              <a:rPr lang="en-US" altLang="ko-KR" sz="1400" dirty="0"/>
              <a:t>	String model = "</a:t>
            </a:r>
            <a:r>
              <a:rPr lang="ko-KR" altLang="en-US" sz="1400" dirty="0"/>
              <a:t>그랜저</a:t>
            </a:r>
            <a:r>
              <a:rPr lang="en-US" altLang="ko-KR" sz="1400" dirty="0"/>
              <a:t>";</a:t>
            </a:r>
          </a:p>
          <a:p>
            <a:pPr marL="0" indent="0">
              <a:buNone/>
            </a:pPr>
            <a:r>
              <a:rPr lang="en-US" altLang="ko-KR" sz="1400" dirty="0"/>
              <a:t>	int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 = 300;</a:t>
            </a:r>
          </a:p>
          <a:p>
            <a:pPr marL="0" indent="0">
              <a:buNone/>
            </a:pPr>
            <a:r>
              <a:rPr lang="en-US" altLang="ko-KR" sz="1400" dirty="0"/>
              <a:t>	int </a:t>
            </a:r>
            <a:r>
              <a:rPr lang="en-US" altLang="ko-KR" sz="1400" dirty="0" err="1"/>
              <a:t>productionYear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int </a:t>
            </a:r>
            <a:r>
              <a:rPr lang="en-US" altLang="ko-KR" sz="1400" dirty="0" err="1"/>
              <a:t>currentSpeed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engineStart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...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9295CFE-B71E-8A92-1986-8CD81B8A3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412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1F42-4170-E7A5-26A1-0D72EF3A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D12C57-D913-C45A-3002-3CBB4131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필드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사용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필드를 사용한다는 것은 필드 값을 읽고 변경하는 작업을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필드를 사용할 경우 해당 클래스로부터 객체를 생성한 뒤 필드를 사용해야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필드는 객체에 소속된 데이터이므로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우선 객체가 생성되어야 필드가 메모리에 할당되기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company = 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"; // </a:t>
            </a:r>
            <a:r>
              <a:rPr lang="ko-KR" altLang="en-US" sz="1400" dirty="0"/>
              <a:t>제작 회사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model = "</a:t>
            </a:r>
            <a:r>
              <a:rPr lang="ko-KR" altLang="en-US" sz="1400" dirty="0"/>
              <a:t>그랜저</a:t>
            </a:r>
            <a:r>
              <a:rPr lang="en-US" altLang="ko-KR" sz="1400" dirty="0"/>
              <a:t>";      // </a:t>
            </a:r>
            <a:r>
              <a:rPr lang="ko-KR" altLang="en-US" sz="1400" dirty="0"/>
              <a:t>모델명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color = "</a:t>
            </a:r>
            <a:r>
              <a:rPr lang="ko-KR" altLang="en-US" sz="1400" dirty="0"/>
              <a:t>검정</a:t>
            </a:r>
            <a:r>
              <a:rPr lang="en-US" altLang="ko-KR" sz="1400" dirty="0"/>
              <a:t>";       // </a:t>
            </a:r>
            <a:r>
              <a:rPr lang="ko-KR" altLang="en-US" sz="1400" dirty="0"/>
              <a:t>색깔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 = 350;          // </a:t>
            </a:r>
            <a:r>
              <a:rPr lang="ko-KR" altLang="en-US" sz="1400" dirty="0"/>
              <a:t>최고 속도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speed;                   // </a:t>
            </a:r>
            <a:r>
              <a:rPr lang="ko-KR" altLang="en-US" sz="1400" dirty="0"/>
              <a:t>현재 속도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C48F6-FCB8-C83B-7DDA-D88D4135FBDE}"/>
              </a:ext>
            </a:extLst>
          </p:cNvPr>
          <p:cNvSpPr txBox="1"/>
          <p:nvPr/>
        </p:nvSpPr>
        <p:spPr>
          <a:xfrm rot="10800000" flipV="1">
            <a:off x="5260061" y="2164934"/>
            <a:ext cx="693193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 // Car </a:t>
            </a:r>
            <a:r>
              <a:rPr lang="ko-KR" altLang="en-US" sz="1400" dirty="0"/>
              <a:t>클래스의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필드 값 읽기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제작회사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myCar.company</a:t>
            </a:r>
            <a:r>
              <a:rPr lang="en-US" altLang="ko-KR" sz="1400" dirty="0"/>
              <a:t>); // company </a:t>
            </a:r>
            <a:r>
              <a:rPr lang="ko-KR" altLang="en-US" sz="1400" dirty="0"/>
              <a:t>필드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모델명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myCar.model</a:t>
            </a:r>
            <a:r>
              <a:rPr lang="en-US" altLang="ko-KR" sz="1400" dirty="0"/>
              <a:t>);     // model </a:t>
            </a:r>
            <a:r>
              <a:rPr lang="ko-KR" altLang="en-US" sz="1400" dirty="0"/>
              <a:t>필드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색깔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myCar.color</a:t>
            </a:r>
            <a:r>
              <a:rPr lang="en-US" altLang="ko-KR" sz="1400" dirty="0"/>
              <a:t>);       // color </a:t>
            </a:r>
            <a:r>
              <a:rPr lang="ko-KR" altLang="en-US" sz="1400" dirty="0"/>
              <a:t>필드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최고속도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myCar.maxSpeed</a:t>
            </a:r>
            <a:r>
              <a:rPr lang="en-US" altLang="ko-KR" sz="1400" dirty="0"/>
              <a:t>); //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 </a:t>
            </a:r>
            <a:r>
              <a:rPr lang="ko-KR" altLang="en-US" sz="1400" dirty="0"/>
              <a:t>필드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현재속도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myCar.speed</a:t>
            </a:r>
            <a:r>
              <a:rPr lang="en-US" altLang="ko-KR" sz="1400" dirty="0"/>
              <a:t>);   // speed </a:t>
            </a:r>
            <a:r>
              <a:rPr lang="ko-KR" altLang="en-US" sz="1400" dirty="0"/>
              <a:t>필드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필드 값 변경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myCar.speed</a:t>
            </a:r>
            <a:r>
              <a:rPr lang="en-US" altLang="ko-KR" sz="1400" dirty="0"/>
              <a:t> = 60; // speed </a:t>
            </a:r>
            <a:r>
              <a:rPr lang="ko-KR" altLang="en-US" sz="1400" dirty="0"/>
              <a:t>필드 값 변경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수정된 속도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myCar.speed</a:t>
            </a:r>
            <a:r>
              <a:rPr lang="en-US" altLang="ko-KR" sz="1400" dirty="0"/>
              <a:t>); // </a:t>
            </a:r>
            <a:r>
              <a:rPr lang="ko-KR" altLang="en-US" sz="1400" dirty="0"/>
              <a:t>변경된 </a:t>
            </a:r>
            <a:r>
              <a:rPr lang="en-US" altLang="ko-KR" sz="1400" dirty="0"/>
              <a:t>speed </a:t>
            </a:r>
            <a:r>
              <a:rPr lang="ko-KR" altLang="en-US" sz="1400" dirty="0"/>
              <a:t>필드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6420D8-839C-91A9-223C-8C2618FE6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112" y="4780229"/>
            <a:ext cx="1723613" cy="164773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00E4F0-4508-6E15-0436-8C7D225F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677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359DB-7FBF-2B7F-9837-0DC6BD2D9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70FF1-775B-E71A-0D42-133C9B01E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FieldInitValue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byte </a:t>
            </a:r>
            <a:r>
              <a:rPr lang="en-US" altLang="ko-KR" sz="1400" dirty="0" err="1"/>
              <a:t>byteField</a:t>
            </a:r>
            <a:r>
              <a:rPr lang="en-US" altLang="ko-KR" sz="1400" dirty="0"/>
              <a:t>;            // byte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0</a:t>
            </a:r>
          </a:p>
          <a:p>
            <a:pPr marL="0" indent="0">
              <a:buNone/>
            </a:pPr>
            <a:r>
              <a:rPr lang="en-US" altLang="ko-KR" sz="1400" dirty="0"/>
              <a:t>    short </a:t>
            </a:r>
            <a:r>
              <a:rPr lang="en-US" altLang="ko-KR" sz="1400" dirty="0" err="1"/>
              <a:t>shortField</a:t>
            </a:r>
            <a:r>
              <a:rPr lang="en-US" altLang="ko-KR" sz="1400" dirty="0"/>
              <a:t>;          // short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0</a:t>
            </a:r>
          </a:p>
          <a:p>
            <a:pPr marL="0" indent="0">
              <a:buNone/>
            </a:pPr>
            <a:r>
              <a:rPr lang="en-US" altLang="ko-KR" sz="1400" dirty="0"/>
              <a:t>    int </a:t>
            </a:r>
            <a:r>
              <a:rPr lang="en-US" altLang="ko-KR" sz="1400" dirty="0" err="1"/>
              <a:t>intField</a:t>
            </a:r>
            <a:r>
              <a:rPr lang="en-US" altLang="ko-KR" sz="1400" dirty="0"/>
              <a:t>;              // int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0</a:t>
            </a:r>
          </a:p>
          <a:p>
            <a:pPr marL="0" indent="0">
              <a:buNone/>
            </a:pPr>
            <a:r>
              <a:rPr lang="en-US" altLang="ko-KR" sz="1400" dirty="0"/>
              <a:t>    long </a:t>
            </a:r>
            <a:r>
              <a:rPr lang="en-US" altLang="ko-KR" sz="1400" dirty="0" err="1"/>
              <a:t>longField</a:t>
            </a:r>
            <a:r>
              <a:rPr lang="en-US" altLang="ko-KR" sz="1400" dirty="0"/>
              <a:t>;            // long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0L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booleanField</a:t>
            </a:r>
            <a:r>
              <a:rPr lang="en-US" altLang="ko-KR" sz="1400" dirty="0"/>
              <a:t>;      //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false</a:t>
            </a:r>
          </a:p>
          <a:p>
            <a:pPr marL="0" indent="0">
              <a:buNone/>
            </a:pPr>
            <a:r>
              <a:rPr lang="en-US" altLang="ko-KR" sz="1400" dirty="0"/>
              <a:t>    char </a:t>
            </a:r>
            <a:r>
              <a:rPr lang="en-US" altLang="ko-KR" sz="1400" dirty="0" err="1"/>
              <a:t>charField</a:t>
            </a:r>
            <a:r>
              <a:rPr lang="en-US" altLang="ko-KR" sz="1400" dirty="0"/>
              <a:t>;            // char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'\u0000'    </a:t>
            </a:r>
          </a:p>
          <a:p>
            <a:pPr marL="0" indent="0">
              <a:buNone/>
            </a:pPr>
            <a:r>
              <a:rPr lang="en-US" altLang="ko-KR" sz="1400" dirty="0"/>
              <a:t>    float </a:t>
            </a:r>
            <a:r>
              <a:rPr lang="en-US" altLang="ko-KR" sz="1400" dirty="0" err="1"/>
              <a:t>floatField</a:t>
            </a:r>
            <a:r>
              <a:rPr lang="en-US" altLang="ko-KR" sz="1400" dirty="0"/>
              <a:t>;          // float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0.0f</a:t>
            </a:r>
          </a:p>
          <a:p>
            <a:pPr marL="0" indent="0">
              <a:buNone/>
            </a:pPr>
            <a:r>
              <a:rPr lang="en-US" altLang="ko-KR" sz="1400" dirty="0"/>
              <a:t>    double </a:t>
            </a:r>
            <a:r>
              <a:rPr lang="en-US" altLang="ko-KR" sz="1400" dirty="0" err="1"/>
              <a:t>doubleField</a:t>
            </a:r>
            <a:r>
              <a:rPr lang="en-US" altLang="ko-KR" sz="1400" dirty="0"/>
              <a:t>;        // double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0.0    </a:t>
            </a:r>
          </a:p>
          <a:p>
            <a:pPr marL="0" indent="0">
              <a:buNone/>
            </a:pPr>
            <a:r>
              <a:rPr lang="en-US" altLang="ko-KR" sz="1400" dirty="0"/>
              <a:t>    int[] </a:t>
            </a:r>
            <a:r>
              <a:rPr lang="en-US" altLang="ko-KR" sz="1400" dirty="0" err="1"/>
              <a:t>arrField</a:t>
            </a:r>
            <a:r>
              <a:rPr lang="en-US" altLang="ko-KR" sz="1400" dirty="0"/>
              <a:t>;            // </a:t>
            </a:r>
            <a:r>
              <a:rPr lang="ko-KR" altLang="en-US" sz="1400" dirty="0"/>
              <a:t>참조 타입</a:t>
            </a:r>
            <a:r>
              <a:rPr lang="en-US" altLang="ko-KR" sz="1400" dirty="0"/>
              <a:t>(int </a:t>
            </a:r>
            <a:r>
              <a:rPr lang="ko-KR" altLang="en-US" sz="1400" dirty="0"/>
              <a:t>배열</a:t>
            </a:r>
            <a:r>
              <a:rPr lang="en-US" altLang="ko-KR" sz="1400" dirty="0"/>
              <a:t>),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null</a:t>
            </a:r>
          </a:p>
          <a:p>
            <a:pPr marL="0" indent="0">
              <a:buNone/>
            </a:pPr>
            <a:r>
              <a:rPr lang="en-US" altLang="ko-KR" sz="1400" dirty="0"/>
              <a:t>    String </a:t>
            </a:r>
            <a:r>
              <a:rPr lang="en-US" altLang="ko-KR" sz="1400" dirty="0" err="1"/>
              <a:t>referenceField</a:t>
            </a:r>
            <a:r>
              <a:rPr lang="en-US" altLang="ko-KR" sz="1400" dirty="0"/>
              <a:t>;     // </a:t>
            </a:r>
            <a:r>
              <a:rPr lang="ko-KR" altLang="en-US" sz="1400" dirty="0"/>
              <a:t>참조 타입</a:t>
            </a:r>
            <a:r>
              <a:rPr lang="en-US" altLang="ko-KR" sz="1400" dirty="0"/>
              <a:t>(String),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null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FieldInitValueExample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FieldInitValue</a:t>
            </a:r>
            <a:r>
              <a:rPr lang="en-US" altLang="ko-KR" sz="1400" dirty="0"/>
              <a:t> </a:t>
            </a:r>
            <a:r>
              <a:rPr lang="en-US" altLang="ko-KR" sz="1400" dirty="0" err="1"/>
              <a:t>fiv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FieldInitValue</a:t>
            </a:r>
            <a:r>
              <a:rPr lang="en-US" altLang="ko-KR" sz="1400" dirty="0"/>
              <a:t>(); // </a:t>
            </a:r>
            <a:r>
              <a:rPr lang="en-US" altLang="ko-KR" sz="1400" dirty="0" err="1"/>
              <a:t>FieldInitValue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byteField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fiv.byteField</a:t>
            </a:r>
            <a:r>
              <a:rPr lang="en-US" altLang="ko-KR" sz="1400" dirty="0"/>
              <a:t>);           // byte </a:t>
            </a:r>
            <a:r>
              <a:rPr lang="ko-KR" altLang="en-US" sz="1400" dirty="0"/>
              <a:t>필드의 초기값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shortField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fiv.shortField</a:t>
            </a:r>
            <a:r>
              <a:rPr lang="en-US" altLang="ko-KR" sz="1400" dirty="0"/>
              <a:t>);         // short </a:t>
            </a:r>
            <a:r>
              <a:rPr lang="ko-KR" altLang="en-US" sz="1400" dirty="0"/>
              <a:t>필드의 초기값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intField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fiv.intField</a:t>
            </a:r>
            <a:r>
              <a:rPr lang="en-US" altLang="ko-KR" sz="1400" dirty="0"/>
              <a:t>);             // int </a:t>
            </a:r>
            <a:r>
              <a:rPr lang="ko-KR" altLang="en-US" sz="1400" dirty="0"/>
              <a:t>필드의 초기값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longField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fiv.longField</a:t>
            </a:r>
            <a:r>
              <a:rPr lang="en-US" altLang="ko-KR" sz="1400" dirty="0"/>
              <a:t>);           // long </a:t>
            </a:r>
            <a:r>
              <a:rPr lang="ko-KR" altLang="en-US" sz="1400" dirty="0"/>
              <a:t>필드의 초기값 출력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booleanField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fiv.booleanField</a:t>
            </a:r>
            <a:r>
              <a:rPr lang="en-US" altLang="ko-KR" sz="1400" dirty="0"/>
              <a:t>);     //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ko-KR" altLang="en-US" sz="1400" dirty="0"/>
              <a:t>필드의 초기값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charField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fiv.charField</a:t>
            </a:r>
            <a:r>
              <a:rPr lang="en-US" altLang="ko-KR" sz="1400" dirty="0"/>
              <a:t>);           // char </a:t>
            </a:r>
            <a:r>
              <a:rPr lang="ko-KR" altLang="en-US" sz="1400" dirty="0"/>
              <a:t>필드의 초기값 출력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floatField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fiv.floatField</a:t>
            </a:r>
            <a:r>
              <a:rPr lang="en-US" altLang="ko-KR" sz="1400" dirty="0"/>
              <a:t>);         // float </a:t>
            </a:r>
            <a:r>
              <a:rPr lang="ko-KR" altLang="en-US" sz="1400" dirty="0"/>
              <a:t>필드의 초기값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doubleField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fiv.doubleField</a:t>
            </a:r>
            <a:r>
              <a:rPr lang="en-US" altLang="ko-KR" sz="1400" dirty="0"/>
              <a:t>);       // double </a:t>
            </a:r>
            <a:r>
              <a:rPr lang="ko-KR" altLang="en-US" sz="1400" dirty="0"/>
              <a:t>필드의 초기값 출력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arrField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fiv.arrField</a:t>
            </a:r>
            <a:r>
              <a:rPr lang="en-US" altLang="ko-KR" sz="1400" dirty="0"/>
              <a:t>);             // </a:t>
            </a:r>
            <a:r>
              <a:rPr lang="ko-KR" altLang="en-US" sz="1400" dirty="0"/>
              <a:t>배열 필드의 초기값 출력 </a:t>
            </a:r>
            <a:r>
              <a:rPr lang="en-US" altLang="ko-KR" sz="1400" dirty="0"/>
              <a:t>(null)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referenceField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fiv.referenceField</a:t>
            </a:r>
            <a:r>
              <a:rPr lang="en-US" altLang="ko-KR" sz="1400" dirty="0"/>
              <a:t>); // </a:t>
            </a:r>
            <a:r>
              <a:rPr lang="ko-KR" altLang="en-US" sz="1400" dirty="0"/>
              <a:t>참조 타입 필드의 초기값 출력 </a:t>
            </a:r>
            <a:r>
              <a:rPr lang="en-US" altLang="ko-KR" sz="1400" dirty="0"/>
              <a:t>(null)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574B30-EB30-726F-DE75-F0B4C487D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423" y="1403475"/>
            <a:ext cx="2798841" cy="357991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4CC416-08DD-E141-95E3-AF87F19A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02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5A890-398B-4FA0-0EF9-3B57CD6B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46FAA-4651-123B-9DD3-A2FC662EF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생성자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성상자는 </a:t>
            </a:r>
            <a:r>
              <a:rPr lang="en-US" altLang="ko-KR" sz="1400" dirty="0"/>
              <a:t>new </a:t>
            </a:r>
            <a:r>
              <a:rPr lang="ko-KR" altLang="en-US" sz="1400" dirty="0"/>
              <a:t>연산자로부터 클래스로부터 객체를 생성할 때 호출되어 객체의 초기화를 담당한다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초기화란 필드를 초기화하거나 메소드를 호출해서 객체를 사용할 준비를 하는 것을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생성자를 실행하지 않고는 클래스로부터 객체를 만들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따라서 사용자가 생성자를 작성하지 않아도 컴파일러가 자동으로 생성자를 만들어 호출해준다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new</a:t>
            </a:r>
            <a:r>
              <a:rPr lang="ko-KR" altLang="en-US" sz="1400" dirty="0"/>
              <a:t> 연산자에 의해 생성자가 실행되면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영역에 객체가 생성되고 객체의 </a:t>
            </a:r>
            <a:r>
              <a:rPr lang="ko-KR" altLang="en-US" sz="1400" dirty="0" err="1"/>
              <a:t>주소값이</a:t>
            </a:r>
            <a:r>
              <a:rPr lang="ko-KR" altLang="en-US" sz="1400" dirty="0"/>
              <a:t> 반환된다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반환된 객체의 </a:t>
            </a:r>
            <a:r>
              <a:rPr lang="ko-KR" altLang="en-US" sz="1400" dirty="0" err="1"/>
              <a:t>주소값은</a:t>
            </a:r>
            <a:r>
              <a:rPr lang="ko-KR" altLang="en-US" sz="1400" dirty="0"/>
              <a:t> 클래스 변수에 저장되고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 변수가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영역의 객체를 참조한다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CA76FA-DF56-5BE2-105F-B64DD098C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048" y="3972160"/>
            <a:ext cx="5663604" cy="240147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18986E-7666-BBEC-3810-168632D2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11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EFE5-58FC-DD9C-B096-2E392147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C7914C-1B3A-9FF6-43A3-CF990A507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기본 생성자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모든 클래스는 생성자가 반드시 존재하며</a:t>
            </a:r>
            <a:r>
              <a:rPr lang="en-US" altLang="ko-KR" sz="1400" dirty="0"/>
              <a:t>, </a:t>
            </a:r>
            <a:r>
              <a:rPr lang="ko-KR" altLang="en-US" sz="1400" dirty="0"/>
              <a:t>생성자를 하나 이상 가질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앞서 말했듯이</a:t>
            </a:r>
            <a:r>
              <a:rPr lang="en-US" altLang="ko-KR" sz="1400" dirty="0"/>
              <a:t>, </a:t>
            </a:r>
            <a:r>
              <a:rPr lang="ko-KR" altLang="en-US" sz="1400" dirty="0"/>
              <a:t>클래스 내부에 생성자 선언을 생략했다면 컴파일러는 기본 생성자를 바이트 코드에 자동으로 추가한다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클래스에 명시적으로 선언한 생성자가 </a:t>
            </a:r>
            <a:r>
              <a:rPr lang="en-US" altLang="ko-KR" sz="1400" dirty="0"/>
              <a:t>1</a:t>
            </a:r>
            <a:r>
              <a:rPr lang="ko-KR" altLang="en-US" sz="1400" dirty="0"/>
              <a:t>개라도 있다면</a:t>
            </a:r>
            <a:r>
              <a:rPr lang="en-US" altLang="ko-KR" sz="1400" dirty="0"/>
              <a:t>, </a:t>
            </a:r>
            <a:r>
              <a:rPr lang="ko-KR" altLang="en-US" sz="1400" dirty="0"/>
              <a:t> 컴파일러는 기본 생성자를 추가하지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클래스가 </a:t>
            </a:r>
            <a:r>
              <a:rPr lang="en-US" altLang="ko-KR" sz="1400" dirty="0"/>
              <a:t>public class</a:t>
            </a:r>
            <a:r>
              <a:rPr lang="ko-KR" altLang="en-US" sz="1400" dirty="0"/>
              <a:t>로 선언되면 기본 생성자에서도 </a:t>
            </a:r>
            <a:r>
              <a:rPr lang="en-US" altLang="ko-KR" sz="1400" dirty="0"/>
              <a:t>public</a:t>
            </a:r>
            <a:r>
              <a:rPr lang="ko-KR" altLang="en-US" sz="1400" dirty="0"/>
              <a:t>이 붙지만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/>
              <a:t>클래스가 </a:t>
            </a:r>
            <a:r>
              <a:rPr lang="en-US" altLang="ko-KR" sz="1400" dirty="0"/>
              <a:t>public </a:t>
            </a:r>
            <a:r>
              <a:rPr lang="ko-KR" altLang="en-US" sz="1400" dirty="0"/>
              <a:t>없이 </a:t>
            </a:r>
            <a:r>
              <a:rPr lang="en-US" altLang="ko-KR" sz="1400" dirty="0"/>
              <a:t>class</a:t>
            </a:r>
            <a:r>
              <a:rPr lang="ko-KR" altLang="en-US" sz="1400" dirty="0"/>
              <a:t>로만 선언되면 기본 생성자에도 </a:t>
            </a:r>
            <a:r>
              <a:rPr lang="en-US" altLang="ko-KR" sz="1400" dirty="0"/>
              <a:t>public</a:t>
            </a:r>
            <a:r>
              <a:rPr lang="ko-KR" altLang="en-US" sz="1400" dirty="0"/>
              <a:t>이 붙지 않는다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B681AD-659E-6BC7-12FD-633A8C15D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167" y="3429000"/>
            <a:ext cx="2705100" cy="31242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4F8213D-70F2-4823-FE60-0592FFE5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389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8535A-154E-CFB4-5665-81C905D4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595C7F-664F-BD04-1DC1-A94CBC898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생성자 선언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생성자 선언은 다음과 같이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클래스</a:t>
            </a:r>
            <a:r>
              <a:rPr lang="en-US" altLang="ko-KR" sz="1400" dirty="0"/>
              <a:t>(</a:t>
            </a:r>
            <a:r>
              <a:rPr lang="ko-KR" altLang="en-US" sz="1400" dirty="0"/>
              <a:t>매개변수</a:t>
            </a:r>
            <a:r>
              <a:rPr lang="en-US" altLang="ko-KR" sz="1400" dirty="0"/>
              <a:t>, ...){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객체의 초기화 코드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생성자 메소드의 이름은 클래스 이름과 동일하며 반환형이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생성자 내부에는 객체 초기화 코드가 작성되는데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일반적으로 필드에 초기값을 저장하거나 메소드를 호출한다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매개 변수 선언은 생략할 수도 있고 여러 개를 선언할 수도 있다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매개 변수는 </a:t>
            </a:r>
            <a:r>
              <a:rPr lang="en-US" altLang="ko-KR" sz="1400" dirty="0"/>
              <a:t>new </a:t>
            </a:r>
            <a:r>
              <a:rPr lang="ko-KR" altLang="en-US" sz="1400" dirty="0"/>
              <a:t>연산자로 생성자를 호출할 때 객체 생성과 동시에 필드를 초기화하는 역할을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Car(“</a:t>
            </a:r>
            <a:r>
              <a:rPr lang="ko-KR" altLang="en-US" sz="1400" dirty="0"/>
              <a:t>그랜저</a:t>
            </a:r>
            <a:r>
              <a:rPr lang="en-US" altLang="ko-KR" sz="1400" dirty="0"/>
              <a:t>”, “</a:t>
            </a:r>
            <a:r>
              <a:rPr lang="ko-KR" altLang="en-US" sz="1400" dirty="0"/>
              <a:t>검정</a:t>
            </a:r>
            <a:r>
              <a:rPr lang="en-US" altLang="ko-KR" sz="1400" dirty="0"/>
              <a:t>”, 300);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Car{</a:t>
            </a:r>
          </a:p>
          <a:p>
            <a:pPr marL="0" indent="0">
              <a:buNone/>
            </a:pPr>
            <a:r>
              <a:rPr lang="en-US" altLang="ko-KR" sz="1400" dirty="0"/>
              <a:t>	public Car(String model, String color, int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){</a:t>
            </a:r>
          </a:p>
          <a:p>
            <a:pPr marL="0" indent="0">
              <a:buNone/>
            </a:pPr>
            <a:r>
              <a:rPr lang="en-US" altLang="ko-KR" sz="1400" dirty="0"/>
              <a:t>	...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F4D6782-EC4E-86D0-F733-76BBED6D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208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989B3-3532-D326-A3BD-4536AB9F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2B79CB-F029-147A-7540-FA55A4A33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Car(String color, int cc) { // </a:t>
            </a:r>
            <a:r>
              <a:rPr lang="ko-KR" altLang="en-US" sz="1400" dirty="0"/>
              <a:t>매개변수로 색상과 배기량을 받는 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Car(＂</a:t>
            </a:r>
            <a:r>
              <a:rPr lang="ko-KR" altLang="en-US" sz="1400" dirty="0"/>
              <a:t>검정</a:t>
            </a:r>
            <a:r>
              <a:rPr lang="en-US" altLang="ko-KR" sz="1400" dirty="0"/>
              <a:t>", 3000); // </a:t>
            </a:r>
            <a:r>
              <a:rPr lang="ko-KR" altLang="en-US" sz="1400" dirty="0"/>
              <a:t>올바른 생성자 호출 </a:t>
            </a:r>
            <a:r>
              <a:rPr lang="en-US" altLang="ko-KR" sz="1400" dirty="0"/>
              <a:t>(</a:t>
            </a:r>
            <a:r>
              <a:rPr lang="ko-KR" altLang="en-US" sz="1400" dirty="0"/>
              <a:t>매개변수 전달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// 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  (x) // </a:t>
            </a:r>
            <a:r>
              <a:rPr lang="ko-KR" altLang="en-US" sz="1400" dirty="0"/>
              <a:t>매개변수가 없는 생성자가 없으므로 컴파일 에러 발생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 코드는 생성자를 선언하고 호출하는 코드이다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</a:t>
            </a:r>
            <a:r>
              <a:rPr lang="ko-KR" altLang="en-US" sz="1400" dirty="0"/>
              <a:t>는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Car </a:t>
            </a:r>
            <a:r>
              <a:rPr lang="ko-KR" altLang="en-US" sz="1400" dirty="0"/>
              <a:t>클래스에서 기본 생성자 </a:t>
            </a:r>
            <a:r>
              <a:rPr lang="en-US" altLang="ko-KR" sz="1400" dirty="0"/>
              <a:t>(</a:t>
            </a:r>
            <a:r>
              <a:rPr lang="ko-KR" altLang="en-US" sz="1400" dirty="0"/>
              <a:t>매개변수 없는 생성자</a:t>
            </a:r>
            <a:r>
              <a:rPr lang="en-US" altLang="ko-KR" sz="1400" dirty="0"/>
              <a:t>)</a:t>
            </a:r>
            <a:r>
              <a:rPr lang="ko-KR" altLang="en-US" sz="1400" dirty="0"/>
              <a:t>가 없으므로 생성자를 호출할 수가 없기에 오류가 발생한다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DB0E5A-E8EA-BE17-831D-7854DD52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131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88F0-A379-E4FA-F3FC-18D92739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38B43-00AE-F3B1-F62E-B89CE506A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필드 초기화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클래스로부터 객체가 생성될 때 필드는 기본 초기값을 가진다</a:t>
            </a:r>
            <a:r>
              <a:rPr lang="en-US" altLang="ko-KR" sz="1400" dirty="0"/>
              <a:t>. (int </a:t>
            </a:r>
            <a:r>
              <a:rPr lang="en-US" altLang="ko-KR" sz="1400" dirty="0" err="1"/>
              <a:t>intField</a:t>
            </a:r>
            <a:r>
              <a:rPr lang="en-US" altLang="ko-KR" sz="1400" dirty="0"/>
              <a:t>;              // int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0)</a:t>
            </a:r>
          </a:p>
          <a:p>
            <a:pPr marL="0" indent="0">
              <a:buNone/>
            </a:pPr>
            <a:r>
              <a:rPr lang="ko-KR" altLang="en-US" sz="1400" dirty="0"/>
              <a:t>다른 값으로 초기화하려면 두 가지 방법이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필드를 선언할 때 초기화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생성자에서 초기값을 받아 필드 초기화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Korean {</a:t>
            </a:r>
          </a:p>
          <a:p>
            <a:pPr marL="0" indent="0">
              <a:buNone/>
            </a:pPr>
            <a:r>
              <a:rPr lang="en-US" altLang="ko-KR" sz="1400" dirty="0"/>
              <a:t>    String nation = "</a:t>
            </a:r>
            <a:r>
              <a:rPr lang="ko-KR" altLang="en-US" sz="1400" dirty="0"/>
              <a:t>대한민국</a:t>
            </a:r>
            <a:r>
              <a:rPr lang="en-US" altLang="ko-KR" sz="1400" dirty="0"/>
              <a:t>"; // </a:t>
            </a:r>
            <a:r>
              <a:rPr lang="ko-KR" altLang="en-US" sz="1400" dirty="0"/>
              <a:t>기본값으로 </a:t>
            </a:r>
            <a:r>
              <a:rPr lang="en-US" altLang="ko-KR" sz="1400" dirty="0"/>
              <a:t>"</a:t>
            </a:r>
            <a:r>
              <a:rPr lang="ko-KR" altLang="en-US" sz="1400" dirty="0"/>
              <a:t>대한민국</a:t>
            </a:r>
            <a:r>
              <a:rPr lang="en-US" altLang="ko-KR" sz="1400" dirty="0"/>
              <a:t>" </a:t>
            </a:r>
            <a:r>
              <a:rPr lang="ko-KR" altLang="en-US" sz="1400" dirty="0"/>
              <a:t>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name;              // </a:t>
            </a:r>
            <a:r>
              <a:rPr lang="ko-KR" altLang="en-US" sz="1400" dirty="0"/>
              <a:t>이름 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;               // </a:t>
            </a:r>
            <a:r>
              <a:rPr lang="ko-KR" altLang="en-US" sz="1400" dirty="0"/>
              <a:t>주민등록번호 필드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 </a:t>
            </a:r>
            <a:r>
              <a:rPr lang="ko-KR" altLang="en-US" sz="1400" dirty="0"/>
              <a:t>객체 생성 예시</a:t>
            </a:r>
          </a:p>
          <a:p>
            <a:pPr marL="0" indent="0">
              <a:buNone/>
            </a:pPr>
            <a:r>
              <a:rPr lang="en-US" altLang="ko-KR" sz="1400" dirty="0"/>
              <a:t>Korean k1 = new Korean(); // Korean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en-US" altLang="ko-KR" sz="1400" dirty="0"/>
              <a:t>Korean k2 = new Korean(); // Korean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Korean</a:t>
            </a:r>
            <a:r>
              <a:rPr lang="ko-KR" altLang="en-US" sz="1400" dirty="0"/>
              <a:t> 객체를 생성할 때 </a:t>
            </a:r>
            <a:r>
              <a:rPr lang="en-US" altLang="ko-KR" sz="1400" dirty="0"/>
              <a:t>nation</a:t>
            </a:r>
            <a:r>
              <a:rPr lang="ko-KR" altLang="en-US" sz="1400" dirty="0"/>
              <a:t>은 대한민국으로 고정되지만</a:t>
            </a:r>
            <a:r>
              <a:rPr lang="en-US" altLang="ko-KR" sz="1400" dirty="0"/>
              <a:t>, </a:t>
            </a:r>
            <a:r>
              <a:rPr lang="ko-KR" altLang="en-US" sz="1400" dirty="0"/>
              <a:t>이름이나 주민등록번호는 개개인마다 다름으로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객체를 생성할 때 생성자를 통해서 초기화해야 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2F4226-61E9-BC03-CEC1-F2DD28B5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875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9504-EA03-8210-3164-F0BEE181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1F207-6A49-6F5F-BC6F-335667CFB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Korean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nation = "</a:t>
            </a:r>
            <a:r>
              <a:rPr lang="ko-KR" altLang="en-US" sz="1400" dirty="0"/>
              <a:t>대한민국</a:t>
            </a:r>
            <a:r>
              <a:rPr lang="en-US" altLang="ko-KR" sz="1400" dirty="0"/>
              <a:t>"; //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"</a:t>
            </a:r>
            <a:r>
              <a:rPr lang="ko-KR" altLang="en-US" sz="1400" dirty="0"/>
              <a:t>대한민국</a:t>
            </a:r>
            <a:r>
              <a:rPr lang="en-US" altLang="ko-KR" sz="1400" dirty="0"/>
              <a:t>" </a:t>
            </a:r>
            <a:r>
              <a:rPr lang="ko-KR" altLang="en-US" sz="1400" dirty="0"/>
              <a:t>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name;              // </a:t>
            </a:r>
            <a:r>
              <a:rPr lang="ko-KR" altLang="en-US" sz="1400" dirty="0"/>
              <a:t>이름 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;               // </a:t>
            </a:r>
            <a:r>
              <a:rPr lang="ko-KR" altLang="en-US" sz="1400" dirty="0"/>
              <a:t>주민등록번호 필드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Korean(String n, String s) { // </a:t>
            </a:r>
            <a:r>
              <a:rPr lang="ko-KR" altLang="en-US" sz="1400" dirty="0"/>
              <a:t>매개변수를 받아 필드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name = n;	 // </a:t>
            </a:r>
            <a:r>
              <a:rPr lang="ko-KR" altLang="en-US" sz="1400" dirty="0"/>
              <a:t>매개변수 </a:t>
            </a:r>
            <a:r>
              <a:rPr lang="en-US" altLang="ko-KR" sz="1400" dirty="0"/>
              <a:t>n</a:t>
            </a:r>
            <a:r>
              <a:rPr lang="ko-KR" altLang="en-US" sz="1400" dirty="0"/>
              <a:t>으로 </a:t>
            </a:r>
            <a:r>
              <a:rPr lang="en-US" altLang="ko-KR" sz="1400" dirty="0"/>
              <a:t>name </a:t>
            </a:r>
            <a:r>
              <a:rPr lang="ko-KR" altLang="en-US" sz="1400" dirty="0"/>
              <a:t>필드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 = s;  	// </a:t>
            </a:r>
            <a:r>
              <a:rPr lang="ko-KR" altLang="en-US" sz="1400" dirty="0"/>
              <a:t>매개변수 </a:t>
            </a:r>
            <a:r>
              <a:rPr lang="en-US" altLang="ko-KR" sz="1400" dirty="0"/>
              <a:t>s</a:t>
            </a:r>
            <a:r>
              <a:rPr lang="ko-KR" altLang="en-US" sz="1400" dirty="0"/>
              <a:t>로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 </a:t>
            </a:r>
            <a:r>
              <a:rPr lang="ko-KR" altLang="en-US" sz="1400" dirty="0"/>
              <a:t>필드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KoreanExample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첫 번째 객체 생성 및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Korean k1 = new Korean("</a:t>
            </a:r>
            <a:r>
              <a:rPr lang="ko-KR" altLang="en-US" sz="1400" dirty="0" err="1"/>
              <a:t>박자바</a:t>
            </a:r>
            <a:r>
              <a:rPr lang="en-US" altLang="ko-KR" sz="1400" dirty="0"/>
              <a:t>", "011225-1234567"); // </a:t>
            </a:r>
            <a:r>
              <a:rPr lang="ko-KR" altLang="en-US" sz="1400" dirty="0"/>
              <a:t>매개변수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("k1.name : " + k1.name);       // k1</a:t>
            </a:r>
            <a:r>
              <a:rPr lang="ko-KR" altLang="en-US" sz="1400" dirty="0"/>
              <a:t>의 </a:t>
            </a:r>
            <a:r>
              <a:rPr lang="en-US" altLang="ko-KR" sz="1400" dirty="0"/>
              <a:t>name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("k1.ssn : " + k1.ssn);         // k1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두 번째 객체 생성 및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Korean k2 = new Korean("</a:t>
            </a:r>
            <a:r>
              <a:rPr lang="ko-KR" altLang="en-US" sz="1400" dirty="0" err="1"/>
              <a:t>김자바</a:t>
            </a:r>
            <a:r>
              <a:rPr lang="en-US" altLang="ko-KR" sz="1400" dirty="0"/>
              <a:t>", "930525-0654321"); // </a:t>
            </a:r>
            <a:r>
              <a:rPr lang="ko-KR" altLang="en-US" sz="1400" dirty="0"/>
              <a:t>매개변수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("k2.name : " + k2.name);       // k2</a:t>
            </a:r>
            <a:r>
              <a:rPr lang="ko-KR" altLang="en-US" sz="1400" dirty="0"/>
              <a:t>의 </a:t>
            </a:r>
            <a:r>
              <a:rPr lang="en-US" altLang="ko-KR" sz="1400" dirty="0"/>
              <a:t>name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("k2.ssn : " + k2.ssn);         // k2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771884C-C117-8E0F-C4E7-BD7225358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53" y="462574"/>
            <a:ext cx="2464432" cy="13300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5DCC8C-70A6-4E9D-C7FF-96CCA4AEBA57}"/>
              </a:ext>
            </a:extLst>
          </p:cNvPr>
          <p:cNvSpPr txBox="1"/>
          <p:nvPr/>
        </p:nvSpPr>
        <p:spPr>
          <a:xfrm>
            <a:off x="6815893" y="3964900"/>
            <a:ext cx="537610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Korean </a:t>
            </a:r>
            <a:r>
              <a:rPr lang="ko-KR" altLang="en-US" sz="1400" dirty="0"/>
              <a:t>생성자의 매개 변수 이름을 각각 </a:t>
            </a:r>
            <a:r>
              <a:rPr lang="en-US" altLang="ko-KR" sz="1400" dirty="0"/>
              <a:t>n, s</a:t>
            </a:r>
            <a:r>
              <a:rPr lang="ko-KR" altLang="en-US" sz="1400" dirty="0"/>
              <a:t>를 사용했지만</a:t>
            </a:r>
            <a:endParaRPr lang="en-US" altLang="ko-KR" sz="1400" dirty="0"/>
          </a:p>
          <a:p>
            <a:r>
              <a:rPr lang="ko-KR" altLang="en-US" sz="1400" dirty="0"/>
              <a:t>일반적으로는 필드와 동일한 이름을 갖는 매개 변수를 </a:t>
            </a:r>
            <a:endParaRPr lang="en-US" altLang="ko-KR" sz="1400" dirty="0"/>
          </a:p>
          <a:p>
            <a:r>
              <a:rPr lang="ko-KR" altLang="en-US" sz="1400" dirty="0"/>
              <a:t>사용 하는 것이 관례이다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public Korean(String name, String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       this.name = name; // this</a:t>
            </a:r>
            <a:r>
              <a:rPr lang="ko-KR" altLang="en-US" sz="1400" dirty="0"/>
              <a:t>를 사용해 필드와 매개변수 구분</a:t>
            </a:r>
          </a:p>
          <a:p>
            <a:r>
              <a:rPr lang="ko-KR" altLang="en-US" sz="1400" dirty="0"/>
              <a:t>       </a:t>
            </a:r>
            <a:r>
              <a:rPr lang="en-US" altLang="ko-KR" sz="1400" dirty="0" err="1"/>
              <a:t>this.ssn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en-US" altLang="ko-KR" sz="1400" dirty="0"/>
              <a:t>this</a:t>
            </a:r>
            <a:r>
              <a:rPr lang="ko-KR" altLang="en-US" sz="1400" dirty="0"/>
              <a:t>는 객체 자신의 참조이다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Korean </a:t>
            </a:r>
            <a:r>
              <a:rPr lang="ko-KR" altLang="en-US" sz="1400" dirty="0"/>
              <a:t>클래스에서 </a:t>
            </a:r>
            <a:r>
              <a:rPr lang="en-US" altLang="ko-KR" sz="1400" dirty="0"/>
              <a:t>this</a:t>
            </a:r>
            <a:r>
              <a:rPr lang="ko-KR" altLang="en-US" sz="1400" dirty="0"/>
              <a:t>는 </a:t>
            </a:r>
            <a:r>
              <a:rPr lang="en-US" altLang="ko-KR" sz="1400" dirty="0"/>
              <a:t>Korean</a:t>
            </a:r>
            <a:r>
              <a:rPr lang="ko-KR" altLang="en-US" sz="1400" dirty="0"/>
              <a:t>클래스를 뜻하며</a:t>
            </a:r>
            <a:endParaRPr lang="en-US" altLang="ko-KR" sz="1400" dirty="0"/>
          </a:p>
          <a:p>
            <a:r>
              <a:rPr lang="en-US" altLang="ko-KR" sz="1400" dirty="0"/>
              <a:t>this.name</a:t>
            </a:r>
            <a:r>
              <a:rPr lang="ko-KR" altLang="en-US" sz="1400" dirty="0"/>
              <a:t>은 </a:t>
            </a:r>
            <a:r>
              <a:rPr lang="en-US" altLang="ko-KR" sz="1400" dirty="0"/>
              <a:t>Korean</a:t>
            </a:r>
            <a:r>
              <a:rPr lang="ko-KR" altLang="en-US" sz="1400" dirty="0"/>
              <a:t>클래스 필드의 </a:t>
            </a:r>
            <a:r>
              <a:rPr lang="en-US" altLang="ko-KR" sz="1400" dirty="0"/>
              <a:t>name</a:t>
            </a:r>
            <a:r>
              <a:rPr lang="ko-KR" altLang="en-US" sz="1400" dirty="0"/>
              <a:t>이고</a:t>
            </a:r>
            <a:endParaRPr lang="en-US" altLang="ko-KR" sz="1400" dirty="0"/>
          </a:p>
          <a:p>
            <a:r>
              <a:rPr lang="en-US" altLang="ko-KR" sz="1400" dirty="0"/>
              <a:t>name</a:t>
            </a:r>
            <a:r>
              <a:rPr lang="ko-KR" altLang="en-US" sz="1400" dirty="0"/>
              <a:t>은 </a:t>
            </a:r>
            <a:r>
              <a:rPr lang="en-US" altLang="ko-KR" sz="1400" dirty="0" err="1"/>
              <a:t>KoreanExample</a:t>
            </a:r>
            <a:r>
              <a:rPr lang="ko-KR" altLang="en-US" sz="1400" dirty="0"/>
              <a:t>의 인자로 받은 매개 변수 값이다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393B94E-C4A3-0816-1239-F35E6FBC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622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48A8-3E62-DEFC-0683-D5184F19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3619A0-1FD5-16C0-906A-FE3845DA4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생성자 오버로딩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외부에서 제공되는 다양한 데이터들을 이용해서 객체를 초기화하려면 생성자도 다양화될 필요가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예를 들어서 외부에서 </a:t>
            </a:r>
            <a:r>
              <a:rPr lang="en-US" altLang="ko-KR" sz="1400" dirty="0"/>
              <a:t>Car</a:t>
            </a:r>
            <a:r>
              <a:rPr lang="ko-KR" altLang="en-US" sz="1400" dirty="0"/>
              <a:t>클래스의 객체를 사용할 때 </a:t>
            </a:r>
            <a:r>
              <a:rPr lang="en-US" altLang="ko-KR" sz="1400" dirty="0"/>
              <a:t>model </a:t>
            </a:r>
            <a:r>
              <a:rPr lang="ko-KR" altLang="en-US" sz="1400" dirty="0"/>
              <a:t>데이터만 제공 될 수도 있고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model</a:t>
            </a:r>
            <a:r>
              <a:rPr lang="ko-KR" altLang="en-US" sz="1400" dirty="0"/>
              <a:t>과 </a:t>
            </a:r>
            <a:r>
              <a:rPr lang="en-US" altLang="ko-KR" sz="1400" dirty="0"/>
              <a:t>color</a:t>
            </a:r>
            <a:r>
              <a:rPr lang="ko-KR" altLang="en-US" sz="1400" dirty="0"/>
              <a:t>데이터가 제공될 수도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생성자가 하나뿐이라면 이러한 요구 조건을 수용할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따라서 자바는 다양한 방법으로 객체를 생성할 수 있도록 하고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이것을 생성자 오버로딩</a:t>
            </a:r>
            <a:r>
              <a:rPr lang="en-US" altLang="ko-KR" sz="1400" dirty="0"/>
              <a:t>(overloading)</a:t>
            </a:r>
            <a:r>
              <a:rPr lang="ko-KR" altLang="en-US" sz="1400" dirty="0"/>
              <a:t>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생성자 </a:t>
            </a:r>
            <a:r>
              <a:rPr lang="ko-KR" altLang="en-US" sz="1400" dirty="0" err="1"/>
              <a:t>오버로딩이란</a:t>
            </a:r>
            <a:r>
              <a:rPr lang="ko-KR" altLang="en-US" sz="1400" dirty="0"/>
              <a:t> 같은 생성자를 여러 개 선언하되</a:t>
            </a:r>
            <a:r>
              <a:rPr lang="en-US" altLang="ko-KR" sz="1400" dirty="0"/>
              <a:t>, </a:t>
            </a:r>
            <a:r>
              <a:rPr lang="ko-KR" altLang="en-US" sz="1400" dirty="0"/>
              <a:t>매개 변수를 달리하는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public Class Car{</a:t>
            </a:r>
          </a:p>
          <a:p>
            <a:pPr marL="0" indent="0">
              <a:buNone/>
            </a:pPr>
            <a:r>
              <a:rPr lang="en-US" altLang="ko-KR" sz="1400" dirty="0"/>
              <a:t>	public Car(){...};</a:t>
            </a:r>
          </a:p>
          <a:p>
            <a:pPr marL="0" indent="0">
              <a:buNone/>
            </a:pPr>
            <a:r>
              <a:rPr lang="en-US" altLang="ko-KR" sz="1400" dirty="0"/>
              <a:t>	public Car(String model){...}</a:t>
            </a:r>
          </a:p>
          <a:p>
            <a:pPr marL="0" indent="0">
              <a:buNone/>
            </a:pPr>
            <a:r>
              <a:rPr lang="en-US" altLang="ko-KR" sz="1400" dirty="0"/>
              <a:t>	public Car(String model, String color){...}</a:t>
            </a:r>
          </a:p>
          <a:p>
            <a:pPr marL="0" indent="0">
              <a:buNone/>
            </a:pPr>
            <a:r>
              <a:rPr lang="en-US" altLang="ko-KR" sz="1400" dirty="0"/>
              <a:t>	//public Car(String color, String model){...} </a:t>
            </a:r>
            <a:r>
              <a:rPr lang="ko-KR" altLang="en-US" sz="1400" dirty="0"/>
              <a:t>매개변수의 순서가 바뀐 것은 오버로딩이 아니다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354A93-0D29-F35C-9A32-DCBD90CD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403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728A-F9B3-4D16-402F-45D319A8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914F72-FD05-7890-1D2D-BE96E1DCB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company = 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"; // </a:t>
            </a:r>
            <a:r>
              <a:rPr lang="ko-KR" altLang="en-US" sz="1400" dirty="0"/>
              <a:t>기본값으로 </a:t>
            </a:r>
            <a:r>
              <a:rPr lang="en-US" altLang="ko-KR" sz="1400" dirty="0"/>
              <a:t>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 </a:t>
            </a:r>
            <a:r>
              <a:rPr lang="ko-KR" altLang="en-US" sz="1400" dirty="0"/>
              <a:t>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model;                // </a:t>
            </a:r>
            <a:r>
              <a:rPr lang="ko-KR" altLang="en-US" sz="1400" dirty="0"/>
              <a:t>모델명 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color;                // </a:t>
            </a:r>
            <a:r>
              <a:rPr lang="ko-KR" altLang="en-US" sz="1400" dirty="0"/>
              <a:t>색상 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;                // </a:t>
            </a:r>
            <a:r>
              <a:rPr lang="ko-KR" altLang="en-US" sz="1400" dirty="0"/>
              <a:t>최고 속도 필드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Car() {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매개변수가 없는 기본 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Car(String model)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// </a:t>
            </a:r>
            <a:r>
              <a:rPr lang="ko-KR" altLang="en-US" sz="1400" dirty="0"/>
              <a:t>매개변수 </a:t>
            </a:r>
            <a:r>
              <a:rPr lang="en-US" altLang="ko-KR" sz="1400" dirty="0"/>
              <a:t>model</a:t>
            </a:r>
            <a:r>
              <a:rPr lang="ko-KR" altLang="en-US" sz="1400" dirty="0"/>
              <a:t>로 모델명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Car(String model, String color)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// </a:t>
            </a:r>
            <a:r>
              <a:rPr lang="ko-KR" altLang="en-US" sz="1400" dirty="0"/>
              <a:t>매개변수 </a:t>
            </a:r>
            <a:r>
              <a:rPr lang="en-US" altLang="ko-KR" sz="1400" dirty="0"/>
              <a:t>model</a:t>
            </a:r>
            <a:r>
              <a:rPr lang="ko-KR" altLang="en-US" sz="1400" dirty="0"/>
              <a:t>로 모델명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color; // </a:t>
            </a:r>
            <a:r>
              <a:rPr lang="ko-KR" altLang="en-US" sz="1400" dirty="0"/>
              <a:t>매개변수 </a:t>
            </a:r>
            <a:r>
              <a:rPr lang="en-US" altLang="ko-KR" sz="1400" dirty="0"/>
              <a:t>color</a:t>
            </a:r>
            <a:r>
              <a:rPr lang="ko-KR" altLang="en-US" sz="1400" dirty="0"/>
              <a:t>로 색상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Car(String model, String color, int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    // </a:t>
            </a:r>
            <a:r>
              <a:rPr lang="ko-KR" altLang="en-US" sz="1400" dirty="0"/>
              <a:t>매개변수 </a:t>
            </a:r>
            <a:r>
              <a:rPr lang="en-US" altLang="ko-KR" sz="1400" dirty="0"/>
              <a:t>model</a:t>
            </a:r>
            <a:r>
              <a:rPr lang="ko-KR" altLang="en-US" sz="1400" dirty="0"/>
              <a:t>로 모델명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color;     // </a:t>
            </a:r>
            <a:r>
              <a:rPr lang="ko-KR" altLang="en-US" sz="1400" dirty="0"/>
              <a:t>매개변수 </a:t>
            </a:r>
            <a:r>
              <a:rPr lang="en-US" altLang="ko-KR" sz="1400" dirty="0"/>
              <a:t>color</a:t>
            </a:r>
            <a:r>
              <a:rPr lang="ko-KR" altLang="en-US" sz="1400" dirty="0"/>
              <a:t>로 색상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this.maxSpeed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; // </a:t>
            </a:r>
            <a:r>
              <a:rPr lang="ko-KR" altLang="en-US" sz="1400" dirty="0"/>
              <a:t>매개변수 </a:t>
            </a:r>
            <a:r>
              <a:rPr lang="en-US" altLang="ko-KR" sz="1400" dirty="0" err="1"/>
              <a:t>maxSpeed</a:t>
            </a:r>
            <a:r>
              <a:rPr lang="ko-KR" altLang="en-US" sz="1400" dirty="0"/>
              <a:t>로 최고 속도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4BFE41F-81E2-0F91-7D50-E2B9B425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162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20A3A-51A5-96A5-3630-5C2CB8113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4E1F3D-580C-6142-04BE-CC9040B80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기본 생성자를 사용하여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car1 = new Car();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("car1.company : " + car1.company); //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 // </a:t>
            </a:r>
            <a:r>
              <a:rPr lang="ko-KR" altLang="en-US" sz="1400" dirty="0"/>
              <a:t>빈 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모델명만 설정한 생성자를 사용하여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car2 = new Car("</a:t>
            </a:r>
            <a:r>
              <a:rPr lang="ko-KR" altLang="en-US" sz="1400" dirty="0"/>
              <a:t>자가용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("car2.company : " + car2.company); //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("car2.model : " + car2.model);     // "</a:t>
            </a:r>
            <a:r>
              <a:rPr lang="ko-KR" altLang="en-US" sz="1400" dirty="0"/>
              <a:t>자가용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 // </a:t>
            </a:r>
            <a:r>
              <a:rPr lang="ko-KR" altLang="en-US" sz="1400" dirty="0"/>
              <a:t>빈 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모델명과 색상을 설정한 생성자를 사용하여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car3 = new Car("</a:t>
            </a:r>
            <a:r>
              <a:rPr lang="ko-KR" altLang="en-US" sz="1400" dirty="0"/>
              <a:t>자가용</a:t>
            </a:r>
            <a:r>
              <a:rPr lang="en-US" altLang="ko-KR" sz="1400" dirty="0"/>
              <a:t>", "</a:t>
            </a:r>
            <a:r>
              <a:rPr lang="ko-KR" altLang="en-US" sz="1400" dirty="0"/>
              <a:t>빨강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("car3.company : " + car3.company); //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("car3.model : " + car3.model);     // "</a:t>
            </a:r>
            <a:r>
              <a:rPr lang="ko-KR" altLang="en-US" sz="1400" dirty="0"/>
              <a:t>자가용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("car3.color : " + car3.color);     // "</a:t>
            </a:r>
            <a:r>
              <a:rPr lang="ko-KR" altLang="en-US" sz="1400" dirty="0"/>
              <a:t>빨강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 // </a:t>
            </a:r>
            <a:r>
              <a:rPr lang="ko-KR" altLang="en-US" sz="1400" dirty="0"/>
              <a:t>빈 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모델명</a:t>
            </a:r>
            <a:r>
              <a:rPr lang="en-US" altLang="ko-KR" sz="1400" dirty="0"/>
              <a:t>, </a:t>
            </a:r>
            <a:r>
              <a:rPr lang="ko-KR" altLang="en-US" sz="1400" dirty="0"/>
              <a:t>색상</a:t>
            </a:r>
            <a:r>
              <a:rPr lang="en-US" altLang="ko-KR" sz="1400" dirty="0"/>
              <a:t>, </a:t>
            </a:r>
            <a:r>
              <a:rPr lang="ko-KR" altLang="en-US" sz="1400" dirty="0"/>
              <a:t>최고 속도를 설정한 생성자를 사용하여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car4 = new Car("</a:t>
            </a:r>
            <a:r>
              <a:rPr lang="ko-KR" altLang="en-US" sz="1400" dirty="0"/>
              <a:t>택시</a:t>
            </a:r>
            <a:r>
              <a:rPr lang="en-US" altLang="ko-KR" sz="1400" dirty="0"/>
              <a:t>", "</a:t>
            </a:r>
            <a:r>
              <a:rPr lang="ko-KR" altLang="en-US" sz="1400" dirty="0"/>
              <a:t>검정</a:t>
            </a:r>
            <a:r>
              <a:rPr lang="en-US" altLang="ko-KR" sz="1400" dirty="0"/>
              <a:t>", 200);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("car4.company : " + car4.company);  // </a:t>
            </a:r>
            <a:r>
              <a:rPr lang="ko-KR" altLang="en-US" sz="1400" dirty="0"/>
              <a:t>기본값 </a:t>
            </a:r>
            <a:r>
              <a:rPr lang="en-US" altLang="ko-KR" sz="1400" dirty="0"/>
              <a:t>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("car4.model : " + car4.model);      // "</a:t>
            </a:r>
            <a:r>
              <a:rPr lang="ko-KR" altLang="en-US" sz="1400" dirty="0"/>
              <a:t>택시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("car4.color : " + car4.color);      // "</a:t>
            </a:r>
            <a:r>
              <a:rPr lang="ko-KR" altLang="en-US" sz="1400" dirty="0"/>
              <a:t>검정</a:t>
            </a:r>
            <a:r>
              <a:rPr lang="en-US" altLang="ko-KR" sz="1400" dirty="0"/>
              <a:t>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("car4.maxSpeed : " + car4.maxSpeed); // "200"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4BE490-1EF4-3F8F-0B85-67CE0A633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702" y="421080"/>
            <a:ext cx="2366113" cy="330542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5C38F48-960B-3D8D-5633-FDAEEAF0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07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E45A0-EAD8-565B-AC5D-6C859E02C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0FB932-E597-99AF-3A92-CE002040E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다른 생성자 호출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생성자 오버로딩이 많아질 경우 생성자 간의 중복된 코드가 발생할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 class Car{</a:t>
            </a:r>
          </a:p>
          <a:p>
            <a:pPr marL="0" indent="0">
              <a:buNone/>
            </a:pPr>
            <a:r>
              <a:rPr lang="en-US" altLang="ko-KR" sz="1400" dirty="0"/>
              <a:t>	Car(String model) {</a:t>
            </a:r>
          </a:p>
          <a:p>
            <a:pPr marL="0" indent="0">
              <a:buNone/>
            </a:pPr>
            <a:r>
              <a:rPr lang="en-US" altLang="ko-KR" sz="1400" dirty="0"/>
              <a:t>   	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      // </a:t>
            </a:r>
            <a:r>
              <a:rPr lang="ko-KR" altLang="en-US" sz="1400" dirty="0"/>
              <a:t>모델명 초기화</a:t>
            </a:r>
          </a:p>
          <a:p>
            <a:pPr marL="0" indent="0">
              <a:buNone/>
            </a:pPr>
            <a:r>
              <a:rPr lang="ko-KR" altLang="en-US" sz="1400" dirty="0"/>
              <a:t>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"</a:t>
            </a:r>
            <a:r>
              <a:rPr lang="ko-KR" altLang="en-US" sz="1400" dirty="0"/>
              <a:t>은색</a:t>
            </a:r>
            <a:r>
              <a:rPr lang="en-US" altLang="ko-KR" sz="1400" dirty="0"/>
              <a:t>";       // </a:t>
            </a:r>
            <a:r>
              <a:rPr lang="ko-KR" altLang="en-US" sz="1400" dirty="0"/>
              <a:t>기본 색상 설정</a:t>
            </a:r>
          </a:p>
          <a:p>
            <a:pPr marL="0" indent="0">
              <a:buNone/>
            </a:pPr>
            <a:r>
              <a:rPr lang="ko-KR" altLang="en-US" sz="1400" dirty="0"/>
              <a:t> 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this.maxSpeed</a:t>
            </a:r>
            <a:r>
              <a:rPr lang="en-US" altLang="ko-KR" sz="1400" dirty="0"/>
              <a:t> = 250;      // </a:t>
            </a:r>
            <a:r>
              <a:rPr lang="ko-KR" altLang="en-US" sz="1400" dirty="0"/>
              <a:t>기본 최고 속도 설정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Car(String model, String color) {</a:t>
            </a:r>
          </a:p>
          <a:p>
            <a:pPr marL="0" indent="0">
              <a:buNone/>
            </a:pPr>
            <a:r>
              <a:rPr lang="en-US" altLang="ko-KR" sz="1400" dirty="0"/>
              <a:t>   	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      // </a:t>
            </a:r>
            <a:r>
              <a:rPr lang="ko-KR" altLang="en-US" sz="1400" dirty="0"/>
              <a:t>모델명 초기화</a:t>
            </a:r>
          </a:p>
          <a:p>
            <a:pPr marL="0" indent="0">
              <a:buNone/>
            </a:pPr>
            <a:r>
              <a:rPr lang="ko-KR" altLang="en-US" sz="1400" dirty="0"/>
              <a:t> 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color;       // </a:t>
            </a:r>
            <a:r>
              <a:rPr lang="ko-KR" altLang="en-US" sz="1400" dirty="0"/>
              <a:t>색상 초기화</a:t>
            </a:r>
          </a:p>
          <a:p>
            <a:pPr marL="0" indent="0">
              <a:buNone/>
            </a:pPr>
            <a:r>
              <a:rPr lang="ko-KR" altLang="en-US" sz="1400" dirty="0"/>
              <a:t>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this.maxSpeed</a:t>
            </a:r>
            <a:r>
              <a:rPr lang="en-US" altLang="ko-KR" sz="1400" dirty="0"/>
              <a:t> = 250;      // </a:t>
            </a:r>
            <a:r>
              <a:rPr lang="ko-KR" altLang="en-US" sz="1400" dirty="0"/>
              <a:t>기본 최고 속도 설정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Car(String model, String color, int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	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      // </a:t>
            </a:r>
            <a:r>
              <a:rPr lang="ko-KR" altLang="en-US" sz="1400" dirty="0"/>
              <a:t>모델명 초기화</a:t>
            </a:r>
          </a:p>
          <a:p>
            <a:pPr marL="0" indent="0">
              <a:buNone/>
            </a:pPr>
            <a:r>
              <a:rPr lang="ko-KR" altLang="en-US" sz="1400" dirty="0"/>
              <a:t> 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color;       // </a:t>
            </a:r>
            <a:r>
              <a:rPr lang="ko-KR" altLang="en-US" sz="1400" dirty="0"/>
              <a:t>색상 초기화</a:t>
            </a:r>
          </a:p>
          <a:p>
            <a:pPr marL="0" indent="0">
              <a:buNone/>
            </a:pPr>
            <a:r>
              <a:rPr lang="ko-KR" altLang="en-US" sz="1400" dirty="0"/>
              <a:t> 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this.maxSpeed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; // </a:t>
            </a:r>
            <a:r>
              <a:rPr lang="ko-KR" altLang="en-US" sz="1400" dirty="0"/>
              <a:t>최고 속도 초기화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2E0A9-A2C3-CE7E-3025-D2289F9DD78E}"/>
              </a:ext>
            </a:extLst>
          </p:cNvPr>
          <p:cNvSpPr txBox="1"/>
          <p:nvPr/>
        </p:nvSpPr>
        <p:spPr>
          <a:xfrm>
            <a:off x="7034543" y="3666654"/>
            <a:ext cx="59300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this()</a:t>
            </a:r>
            <a:r>
              <a:rPr lang="ko-KR" altLang="en-US" sz="1400" dirty="0"/>
              <a:t>는 자신의 생성자를 호출하는 코드로 </a:t>
            </a:r>
            <a:endParaRPr lang="en-US" altLang="ko-KR" sz="1400" dirty="0"/>
          </a:p>
          <a:p>
            <a:r>
              <a:rPr lang="ko-KR" altLang="en-US" sz="1400" dirty="0"/>
              <a:t>반드시 생성자의 첫 줄에서만 허용된다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this()</a:t>
            </a:r>
            <a:r>
              <a:rPr lang="ko-KR" altLang="en-US" sz="1400" dirty="0"/>
              <a:t>를 이용해서 이러한 중복 코드를 제거할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0043626-F8A6-25EB-BC07-EC34C138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664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FE426-FDA7-770F-BE0E-4AD5E23A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1F2E90-6875-DC4B-89FB-8B204B826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company = 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"; // </a:t>
            </a:r>
            <a:r>
              <a:rPr lang="ko-KR" altLang="en-US" sz="1400" dirty="0"/>
              <a:t>회사명 기본값 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model;                // </a:t>
            </a:r>
            <a:r>
              <a:rPr lang="ko-KR" altLang="en-US" sz="1400" dirty="0"/>
              <a:t>모델명 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color;                // </a:t>
            </a:r>
            <a:r>
              <a:rPr lang="ko-KR" altLang="en-US" sz="1400" dirty="0"/>
              <a:t>색상 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;                // </a:t>
            </a:r>
            <a:r>
              <a:rPr lang="ko-KR" altLang="en-US" sz="1400" dirty="0"/>
              <a:t>최고 속도 필드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Car() {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기본 생성자 </a:t>
            </a:r>
            <a:r>
              <a:rPr lang="en-US" altLang="ko-KR" sz="1400" dirty="0"/>
              <a:t>(</a:t>
            </a:r>
            <a:r>
              <a:rPr lang="ko-KR" altLang="en-US" sz="1400" dirty="0"/>
              <a:t>필드 초기화를 하지 않음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Car(String model) {</a:t>
            </a:r>
          </a:p>
          <a:p>
            <a:pPr marL="0" indent="0">
              <a:buNone/>
            </a:pPr>
            <a:r>
              <a:rPr lang="en-US" altLang="ko-KR" sz="1400" dirty="0"/>
              <a:t>        this(model, "</a:t>
            </a:r>
            <a:r>
              <a:rPr lang="ko-KR" altLang="en-US" sz="1400" dirty="0"/>
              <a:t>은색</a:t>
            </a:r>
            <a:r>
              <a:rPr lang="en-US" altLang="ko-KR" sz="1400" dirty="0"/>
              <a:t>", 250); // </a:t>
            </a:r>
            <a:r>
              <a:rPr lang="ko-KR" altLang="en-US" sz="1400" dirty="0"/>
              <a:t>모델명 초기화</a:t>
            </a:r>
            <a:r>
              <a:rPr lang="en-US" altLang="ko-KR" sz="1400" dirty="0"/>
              <a:t>, </a:t>
            </a:r>
            <a:r>
              <a:rPr lang="ko-KR" altLang="en-US" sz="1400" dirty="0"/>
              <a:t>기본 색상과 최고 속도 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Car(String model, String color) {</a:t>
            </a:r>
          </a:p>
          <a:p>
            <a:pPr marL="0" indent="0">
              <a:buNone/>
            </a:pPr>
            <a:r>
              <a:rPr lang="en-US" altLang="ko-KR" sz="1400" dirty="0"/>
              <a:t>        this(model, color, 250); // </a:t>
            </a:r>
            <a:r>
              <a:rPr lang="ko-KR" altLang="en-US" sz="1400" dirty="0"/>
              <a:t>모델명과 색상 초기화</a:t>
            </a:r>
            <a:r>
              <a:rPr lang="en-US" altLang="ko-KR" sz="1400" dirty="0"/>
              <a:t>, </a:t>
            </a:r>
            <a:r>
              <a:rPr lang="ko-KR" altLang="en-US" sz="1400" dirty="0"/>
              <a:t>기본 최고 속도 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Car(String model, String color, int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      // </a:t>
            </a:r>
            <a:r>
              <a:rPr lang="ko-KR" altLang="en-US" sz="1400" dirty="0"/>
              <a:t>모델명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color;       // </a:t>
            </a:r>
            <a:r>
              <a:rPr lang="ko-KR" altLang="en-US" sz="1400" dirty="0"/>
              <a:t>색상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this.maxSpeed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; // </a:t>
            </a:r>
            <a:r>
              <a:rPr lang="ko-KR" altLang="en-US" sz="1400" dirty="0"/>
              <a:t>최고 속도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E3D88-04DF-E87E-ED94-AB5D405030D8}"/>
              </a:ext>
            </a:extLst>
          </p:cNvPr>
          <p:cNvSpPr txBox="1"/>
          <p:nvPr/>
        </p:nvSpPr>
        <p:spPr>
          <a:xfrm>
            <a:off x="6518494" y="1439502"/>
            <a:ext cx="533249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400" dirty="0"/>
              <a:t>	/*</a:t>
            </a:r>
          </a:p>
          <a:p>
            <a:pPr marL="0" indent="0">
              <a:buNone/>
            </a:pPr>
            <a:r>
              <a:rPr lang="en-US" altLang="ko-KR" sz="1400" dirty="0"/>
              <a:t>	Car(String model) {</a:t>
            </a:r>
          </a:p>
          <a:p>
            <a:pPr marL="0" indent="0">
              <a:buNone/>
            </a:pPr>
            <a:r>
              <a:rPr lang="en-US" altLang="ko-KR" sz="1400" dirty="0"/>
              <a:t>   	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      // </a:t>
            </a:r>
            <a:r>
              <a:rPr lang="ko-KR" altLang="en-US" sz="1400" dirty="0"/>
              <a:t>모델명 초기화</a:t>
            </a:r>
          </a:p>
          <a:p>
            <a:pPr marL="0" indent="0">
              <a:buNone/>
            </a:pPr>
            <a:r>
              <a:rPr lang="ko-KR" altLang="en-US" sz="1400" dirty="0"/>
              <a:t>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"</a:t>
            </a:r>
            <a:r>
              <a:rPr lang="ko-KR" altLang="en-US" sz="1400" dirty="0"/>
              <a:t>은색</a:t>
            </a:r>
            <a:r>
              <a:rPr lang="en-US" altLang="ko-KR" sz="1400" dirty="0"/>
              <a:t>";       // </a:t>
            </a:r>
            <a:r>
              <a:rPr lang="ko-KR" altLang="en-US" sz="1400" dirty="0"/>
              <a:t>기본 색상 설정</a:t>
            </a:r>
          </a:p>
          <a:p>
            <a:pPr marL="0" indent="0">
              <a:buNone/>
            </a:pPr>
            <a:r>
              <a:rPr lang="ko-KR" altLang="en-US" sz="1400" dirty="0"/>
              <a:t> 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this.maxSpeed</a:t>
            </a:r>
            <a:r>
              <a:rPr lang="en-US" altLang="ko-KR" sz="1400" dirty="0"/>
              <a:t> = 250;      // </a:t>
            </a:r>
            <a:r>
              <a:rPr lang="ko-KR" altLang="en-US" sz="1400" dirty="0"/>
              <a:t>기본 최고 속도 설정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Car(String model, String color) {</a:t>
            </a:r>
          </a:p>
          <a:p>
            <a:pPr marL="0" indent="0">
              <a:buNone/>
            </a:pPr>
            <a:r>
              <a:rPr lang="en-US" altLang="ko-KR" sz="1400" dirty="0"/>
              <a:t>   	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      // </a:t>
            </a:r>
            <a:r>
              <a:rPr lang="ko-KR" altLang="en-US" sz="1400" dirty="0"/>
              <a:t>모델명 초기화</a:t>
            </a:r>
          </a:p>
          <a:p>
            <a:pPr marL="0" indent="0">
              <a:buNone/>
            </a:pPr>
            <a:r>
              <a:rPr lang="ko-KR" altLang="en-US" sz="1400" dirty="0"/>
              <a:t> 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color;       // </a:t>
            </a:r>
            <a:r>
              <a:rPr lang="ko-KR" altLang="en-US" sz="1400" dirty="0"/>
              <a:t>색상 초기화</a:t>
            </a:r>
          </a:p>
          <a:p>
            <a:pPr marL="0" indent="0">
              <a:buNone/>
            </a:pPr>
            <a:r>
              <a:rPr lang="ko-KR" altLang="en-US" sz="1400" dirty="0"/>
              <a:t>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this.maxSpeed</a:t>
            </a:r>
            <a:r>
              <a:rPr lang="en-US" altLang="ko-KR" sz="1400" dirty="0"/>
              <a:t> = 250;      // </a:t>
            </a:r>
            <a:r>
              <a:rPr lang="ko-KR" altLang="en-US" sz="1400" dirty="0"/>
              <a:t>기본 최고 속도 설정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Car(String model, String color, int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	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      // </a:t>
            </a:r>
            <a:r>
              <a:rPr lang="ko-KR" altLang="en-US" sz="1400" dirty="0"/>
              <a:t>모델명 초기화</a:t>
            </a:r>
          </a:p>
          <a:p>
            <a:pPr marL="0" indent="0">
              <a:buNone/>
            </a:pPr>
            <a:r>
              <a:rPr lang="ko-KR" altLang="en-US" sz="1400" dirty="0"/>
              <a:t> 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color;       // </a:t>
            </a:r>
            <a:r>
              <a:rPr lang="ko-KR" altLang="en-US" sz="1400" dirty="0"/>
              <a:t>색상 초기화</a:t>
            </a:r>
          </a:p>
          <a:p>
            <a:pPr marL="0" indent="0">
              <a:buNone/>
            </a:pPr>
            <a:r>
              <a:rPr lang="ko-KR" altLang="en-US" sz="1400" dirty="0"/>
              <a:t> 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this.maxSpeed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maxSpeed</a:t>
            </a:r>
            <a:r>
              <a:rPr lang="en-US" altLang="ko-KR" sz="1400" dirty="0"/>
              <a:t>; // </a:t>
            </a:r>
            <a:r>
              <a:rPr lang="ko-KR" altLang="en-US" sz="1400" dirty="0"/>
              <a:t>최고 속도 초기화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	*/</a:t>
            </a:r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8C671A-EDBB-6C02-EFA2-7B918513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821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EEF3-60DD-010A-52CA-B8BCAE74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5BB2B-17E1-6E45-6591-240A53574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기본 생성자를 사용하여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car1 = new Car();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("car1.company : " + car1.company); // car1</a:t>
            </a:r>
            <a:r>
              <a:rPr lang="ko-KR" altLang="en-US" sz="1400" dirty="0"/>
              <a:t>의 회사명 출력 </a:t>
            </a:r>
            <a:r>
              <a:rPr lang="en-US" altLang="ko-KR" sz="1400" dirty="0"/>
              <a:t>(</a:t>
            </a:r>
            <a:r>
              <a:rPr lang="ko-KR" altLang="en-US" sz="1400" dirty="0"/>
              <a:t>기본값</a:t>
            </a:r>
            <a:r>
              <a:rPr lang="en-US" altLang="ko-KR" sz="1400" dirty="0"/>
              <a:t>: 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 // </a:t>
            </a:r>
            <a:r>
              <a:rPr lang="ko-KR" altLang="en-US" sz="1400" dirty="0"/>
              <a:t>빈 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모델명만 설정한 생성자를 사용하여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car2 = new Car("</a:t>
            </a:r>
            <a:r>
              <a:rPr lang="ko-KR" altLang="en-US" sz="1400" dirty="0"/>
              <a:t>자가용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("car2.company : " + car2.company); // car2</a:t>
            </a:r>
            <a:r>
              <a:rPr lang="ko-KR" altLang="en-US" sz="1400" dirty="0"/>
              <a:t>의 회사명 출력 </a:t>
            </a:r>
            <a:r>
              <a:rPr lang="en-US" altLang="ko-KR" sz="1400" dirty="0"/>
              <a:t>(</a:t>
            </a:r>
            <a:r>
              <a:rPr lang="ko-KR" altLang="en-US" sz="1400" dirty="0"/>
              <a:t>기본값</a:t>
            </a:r>
            <a:r>
              <a:rPr lang="en-US" altLang="ko-KR" sz="1400" dirty="0"/>
              <a:t>: 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("car2.model : " + car2.model);     // car2</a:t>
            </a:r>
            <a:r>
              <a:rPr lang="ko-KR" altLang="en-US" sz="1400" dirty="0"/>
              <a:t>의 모델명 출력 </a:t>
            </a:r>
            <a:r>
              <a:rPr lang="en-US" altLang="ko-KR" sz="1400" dirty="0"/>
              <a:t>("</a:t>
            </a:r>
            <a:r>
              <a:rPr lang="ko-KR" altLang="en-US" sz="1400" dirty="0"/>
              <a:t>자가용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 // </a:t>
            </a:r>
            <a:r>
              <a:rPr lang="ko-KR" altLang="en-US" sz="1400" dirty="0"/>
              <a:t>빈 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모델명과 색상을 설정한 생성자를 사용하여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car3 = new Car("</a:t>
            </a:r>
            <a:r>
              <a:rPr lang="ko-KR" altLang="en-US" sz="1400" dirty="0"/>
              <a:t>자가용</a:t>
            </a:r>
            <a:r>
              <a:rPr lang="en-US" altLang="ko-KR" sz="1400" dirty="0"/>
              <a:t>", "</a:t>
            </a:r>
            <a:r>
              <a:rPr lang="ko-KR" altLang="en-US" sz="1400" dirty="0"/>
              <a:t>빨강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("car3.company : " + car3.company); // car3</a:t>
            </a:r>
            <a:r>
              <a:rPr lang="ko-KR" altLang="en-US" sz="1400" dirty="0"/>
              <a:t>의 회사명 출력 </a:t>
            </a:r>
            <a:r>
              <a:rPr lang="en-US" altLang="ko-KR" sz="1400" dirty="0"/>
              <a:t>(</a:t>
            </a:r>
            <a:r>
              <a:rPr lang="ko-KR" altLang="en-US" sz="1400" dirty="0"/>
              <a:t>기본값</a:t>
            </a:r>
            <a:r>
              <a:rPr lang="en-US" altLang="ko-KR" sz="1400" dirty="0"/>
              <a:t>: 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("car3.model : " + car3.model);     // car3</a:t>
            </a:r>
            <a:r>
              <a:rPr lang="ko-KR" altLang="en-US" sz="1400" dirty="0"/>
              <a:t>의 모델명 출력 </a:t>
            </a:r>
            <a:r>
              <a:rPr lang="en-US" altLang="ko-KR" sz="1400" dirty="0"/>
              <a:t>("</a:t>
            </a:r>
            <a:r>
              <a:rPr lang="ko-KR" altLang="en-US" sz="1400" dirty="0"/>
              <a:t>자가용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("car3.color : " + car3.color);     // car3</a:t>
            </a:r>
            <a:r>
              <a:rPr lang="ko-KR" altLang="en-US" sz="1400" dirty="0"/>
              <a:t>의 색상 출력 </a:t>
            </a:r>
            <a:r>
              <a:rPr lang="en-US" altLang="ko-KR" sz="1400" dirty="0"/>
              <a:t>("</a:t>
            </a:r>
            <a:r>
              <a:rPr lang="ko-KR" altLang="en-US" sz="1400" dirty="0"/>
              <a:t>빨강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 // </a:t>
            </a:r>
            <a:r>
              <a:rPr lang="ko-KR" altLang="en-US" sz="1400" dirty="0"/>
              <a:t>빈 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모델명</a:t>
            </a:r>
            <a:r>
              <a:rPr lang="en-US" altLang="ko-KR" sz="1400" dirty="0"/>
              <a:t>, </a:t>
            </a:r>
            <a:r>
              <a:rPr lang="ko-KR" altLang="en-US" sz="1400" dirty="0"/>
              <a:t>색상</a:t>
            </a:r>
            <a:r>
              <a:rPr lang="en-US" altLang="ko-KR" sz="1400" dirty="0"/>
              <a:t>, </a:t>
            </a:r>
            <a:r>
              <a:rPr lang="ko-KR" altLang="en-US" sz="1400" dirty="0"/>
              <a:t>최고 속도를 설정한 생성자를 사용하여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car4 = new Car("</a:t>
            </a:r>
            <a:r>
              <a:rPr lang="ko-KR" altLang="en-US" sz="1400" dirty="0"/>
              <a:t>택시</a:t>
            </a:r>
            <a:r>
              <a:rPr lang="en-US" altLang="ko-KR" sz="1400" dirty="0"/>
              <a:t>", "</a:t>
            </a:r>
            <a:r>
              <a:rPr lang="ko-KR" altLang="en-US" sz="1400" dirty="0"/>
              <a:t>검정</a:t>
            </a:r>
            <a:r>
              <a:rPr lang="en-US" altLang="ko-KR" sz="1400" dirty="0"/>
              <a:t>", 200);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("car4.company : " + car4.company);  // car4</a:t>
            </a:r>
            <a:r>
              <a:rPr lang="ko-KR" altLang="en-US" sz="1400" dirty="0"/>
              <a:t>의 회사명 출력 </a:t>
            </a:r>
            <a:r>
              <a:rPr lang="en-US" altLang="ko-KR" sz="1400" dirty="0"/>
              <a:t>(</a:t>
            </a:r>
            <a:r>
              <a:rPr lang="ko-KR" altLang="en-US" sz="1400" dirty="0"/>
              <a:t>기본값</a:t>
            </a:r>
            <a:r>
              <a:rPr lang="en-US" altLang="ko-KR" sz="1400" dirty="0"/>
              <a:t>: "</a:t>
            </a:r>
            <a:r>
              <a:rPr lang="ko-KR" altLang="en-US" sz="1400" dirty="0"/>
              <a:t>현대자동차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("car4.model : " + car4.model);      // car4</a:t>
            </a:r>
            <a:r>
              <a:rPr lang="ko-KR" altLang="en-US" sz="1400" dirty="0"/>
              <a:t>의 모델명 출력 </a:t>
            </a:r>
            <a:r>
              <a:rPr lang="en-US" altLang="ko-KR" sz="1400" dirty="0"/>
              <a:t>("</a:t>
            </a:r>
            <a:r>
              <a:rPr lang="ko-KR" altLang="en-US" sz="1400" dirty="0"/>
              <a:t>택시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("car4.color : " + car4.color);      // car4</a:t>
            </a:r>
            <a:r>
              <a:rPr lang="ko-KR" altLang="en-US" sz="1400" dirty="0"/>
              <a:t>의 색상 출력 </a:t>
            </a:r>
            <a:r>
              <a:rPr lang="en-US" altLang="ko-KR" sz="1400" dirty="0"/>
              <a:t>("</a:t>
            </a:r>
            <a:r>
              <a:rPr lang="ko-KR" altLang="en-US" sz="1400" dirty="0"/>
              <a:t>검정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("car4.maxSpeed : " + car4.maxSpeed); // car4</a:t>
            </a:r>
            <a:r>
              <a:rPr lang="ko-KR" altLang="en-US" sz="1400" dirty="0"/>
              <a:t>의 최고 속도 출력 </a:t>
            </a:r>
            <a:r>
              <a:rPr lang="en-US" altLang="ko-KR" sz="1400" dirty="0"/>
              <a:t>(200)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39CEA9-9519-D72C-65E1-43D83642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998" y="644540"/>
            <a:ext cx="1857375" cy="258127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F89847-FCF1-8BED-85D0-840D2B37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426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메소드는 객체의 동작에 해당하는 중괄호 </a:t>
            </a:r>
            <a:r>
              <a:rPr lang="en-US" altLang="ko-KR" sz="1400" dirty="0"/>
              <a:t>{}</a:t>
            </a:r>
            <a:r>
              <a:rPr lang="ko-KR" altLang="en-US" sz="1400" dirty="0"/>
              <a:t>블록을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메소드를 실행하는 행위를 메소드 호출이라고 부르며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메소드를 호출하면 중괄호 블록에 있는 코드들이 순차적으로 실행된다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메소드 선언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메소드 선언은 접근제한자 </a:t>
            </a:r>
            <a:r>
              <a:rPr lang="en-US" altLang="ko-KR" sz="1400" dirty="0"/>
              <a:t>+ </a:t>
            </a:r>
            <a:r>
              <a:rPr lang="ko-KR" altLang="en-US" sz="1400" dirty="0"/>
              <a:t>반환형 </a:t>
            </a:r>
            <a:r>
              <a:rPr lang="en-US" altLang="ko-KR" sz="1400" dirty="0"/>
              <a:t>+ </a:t>
            </a:r>
            <a:r>
              <a:rPr lang="ko-KR" altLang="en-US" sz="1400" dirty="0" err="1"/>
              <a:t>메소드이름</a:t>
            </a:r>
            <a:r>
              <a:rPr lang="ko-KR" altLang="en-US" sz="1400" dirty="0"/>
              <a:t> </a:t>
            </a:r>
            <a:r>
              <a:rPr lang="en-US" altLang="ko-KR" sz="1400" dirty="0"/>
              <a:t>+ </a:t>
            </a:r>
            <a:r>
              <a:rPr lang="ko-KR" altLang="en-US" sz="1400" dirty="0"/>
              <a:t>매개 변수 선언으로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 </a:t>
            </a:r>
          </a:p>
          <a:p>
            <a:pPr marL="0" indent="0">
              <a:buNone/>
            </a:pPr>
            <a:r>
              <a:rPr lang="en-US" altLang="ko-KR" sz="1400" dirty="0"/>
              <a:t>public double </a:t>
            </a:r>
            <a:r>
              <a:rPr lang="en-US" altLang="ko-KR" sz="1400" dirty="0" err="1"/>
              <a:t>devide</a:t>
            </a:r>
            <a:r>
              <a:rPr lang="en-US" altLang="ko-KR" sz="1400" dirty="0"/>
              <a:t>(int x, int y){</a:t>
            </a:r>
          </a:p>
          <a:p>
            <a:pPr marL="0" indent="0">
              <a:buNone/>
            </a:pPr>
            <a:r>
              <a:rPr lang="en-US" altLang="ko-KR" sz="1400" dirty="0"/>
              <a:t>	…</a:t>
            </a:r>
          </a:p>
          <a:p>
            <a:pPr marL="0" indent="0">
              <a:buNone/>
            </a:pPr>
            <a:r>
              <a:rPr lang="en-US" altLang="ko-KR" sz="1400" dirty="0"/>
              <a:t>	…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메소드에 따라 접근 제한자와 매개 변수 선언은 생략될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void </a:t>
            </a:r>
            <a:r>
              <a:rPr lang="en-US" altLang="ko-KR" sz="1400" dirty="0" err="1"/>
              <a:t>powerOn</a:t>
            </a:r>
            <a:r>
              <a:rPr lang="en-US" altLang="ko-KR" sz="1400" dirty="0"/>
              <a:t>(){</a:t>
            </a:r>
          </a:p>
          <a:p>
            <a:pPr marL="0" indent="0">
              <a:buNone/>
            </a:pPr>
            <a:r>
              <a:rPr lang="en-US" altLang="ko-KR" sz="1400" dirty="0"/>
              <a:t>	…	</a:t>
            </a:r>
          </a:p>
          <a:p>
            <a:pPr marL="0" indent="0">
              <a:buNone/>
            </a:pPr>
            <a:r>
              <a:rPr lang="en-US" altLang="ko-KR" sz="1400" dirty="0"/>
              <a:t>	…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ko-KR" altLang="en-US" sz="1400" dirty="0"/>
              <a:t> </a:t>
            </a: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F902B0-E546-2FCE-0060-F4BD74FC5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696" y="3174301"/>
            <a:ext cx="4867275" cy="244792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AEF850-8420-D9C5-30D6-333A7477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84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C16FF-4FB3-2603-4215-5174D3FF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477F19-4B85-541E-FACF-E60A1BA0E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리턴 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리턴 타입은 리턴 값의 타입을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리턴값이란</a:t>
            </a:r>
            <a:r>
              <a:rPr lang="ko-KR" altLang="en-US" sz="1400" dirty="0"/>
              <a:t> 메소드를 실행한 후의 결과값을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메소드에따라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리턴값이</a:t>
            </a:r>
            <a:r>
              <a:rPr lang="ko-KR" altLang="en-US" sz="1400" dirty="0"/>
              <a:t> 있을 수도 있고 없을 수도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리턴값이</a:t>
            </a:r>
            <a:r>
              <a:rPr lang="ko-KR" altLang="en-US" sz="1400" dirty="0"/>
              <a:t> 없는 메소드 </a:t>
            </a:r>
            <a:r>
              <a:rPr lang="ko-KR" altLang="en-US" sz="1400" dirty="0" err="1"/>
              <a:t>선언시</a:t>
            </a:r>
            <a:r>
              <a:rPr lang="ko-KR" altLang="en-US" sz="1400" dirty="0"/>
              <a:t> 리턴 타입을 </a:t>
            </a:r>
            <a:r>
              <a:rPr lang="en-US" altLang="ko-KR" sz="1400" dirty="0"/>
              <a:t>void</a:t>
            </a:r>
            <a:r>
              <a:rPr lang="ko-KR" altLang="en-US" sz="1400" dirty="0"/>
              <a:t>로 명시하고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리턴값이</a:t>
            </a:r>
            <a:r>
              <a:rPr lang="ko-KR" altLang="en-US" sz="1400" dirty="0"/>
              <a:t> 있는 메소드는 </a:t>
            </a:r>
            <a:r>
              <a:rPr lang="ko-KR" altLang="en-US" sz="1400" dirty="0" err="1"/>
              <a:t>리턴값의</a:t>
            </a:r>
            <a:r>
              <a:rPr lang="ko-KR" altLang="en-US" sz="1400" dirty="0"/>
              <a:t> 타입을 명시해야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</a:t>
            </a:r>
            <a:r>
              <a:rPr lang="en-US" altLang="ko-KR" sz="1400" dirty="0" err="1"/>
              <a:t>powerOn</a:t>
            </a:r>
            <a:r>
              <a:rPr lang="en-US" altLang="ko-KR" sz="1400" dirty="0"/>
              <a:t>(){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(“</a:t>
            </a:r>
            <a:r>
              <a:rPr lang="ko-KR" altLang="en-US" sz="1400" dirty="0"/>
              <a:t>전원을 킵니다</a:t>
            </a:r>
            <a:r>
              <a:rPr lang="en-US" altLang="ko-KR" sz="1400" dirty="0"/>
              <a:t>.”);  //</a:t>
            </a:r>
            <a:r>
              <a:rPr lang="ko-KR" altLang="en-US" sz="1400" dirty="0"/>
              <a:t>메소드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단순히 </a:t>
            </a:r>
            <a:r>
              <a:rPr lang="en-US" altLang="ko-KR" sz="1400" dirty="0"/>
              <a:t>print</a:t>
            </a:r>
            <a:r>
              <a:rPr lang="ko-KR" altLang="en-US" sz="1400" dirty="0"/>
              <a:t>문 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</a:t>
            </a:r>
            <a:r>
              <a:rPr lang="en-US" altLang="ko-KR" sz="1400" dirty="0" err="1"/>
              <a:t>returnAge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return 24; //</a:t>
            </a:r>
            <a:r>
              <a:rPr lang="ko-KR" altLang="en-US" sz="1400" dirty="0"/>
              <a:t>메소드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</a:t>
            </a:r>
            <a:r>
              <a:rPr lang="en-US" altLang="ko-KR" sz="1400" dirty="0"/>
              <a:t>24</a:t>
            </a:r>
            <a:r>
              <a:rPr lang="ko-KR" altLang="en-US" sz="1400" dirty="0"/>
              <a:t>라는 값을 </a:t>
            </a:r>
            <a:r>
              <a:rPr lang="ko-KR" altLang="en-US" sz="1400" dirty="0" err="1"/>
              <a:t>리턴함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 err="1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178201-AED0-92F9-5636-1B622987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502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3761-0331-1078-CD72-8668328D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36CE0D-0C40-C8F9-5464-B9A38007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메소드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이름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메소드 이름은 자바 식별자 규칙에 맞게 생성하면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숫자로 시작하면 안되고 </a:t>
            </a:r>
            <a:r>
              <a:rPr lang="en-US" altLang="ko-KR" sz="1400" dirty="0"/>
              <a:t>$</a:t>
            </a:r>
            <a:r>
              <a:rPr lang="ko-KR" altLang="en-US" sz="1400" dirty="0"/>
              <a:t>와 </a:t>
            </a:r>
            <a:r>
              <a:rPr lang="en-US" altLang="ko-KR" sz="1400" dirty="0"/>
              <a:t>_</a:t>
            </a:r>
            <a:r>
              <a:rPr lang="ko-KR" altLang="en-US" sz="1400" dirty="0"/>
              <a:t>를 제외한 특수 문자를 사용하면 안된다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관례적으로 메소드 이름은 소문자로 작성한다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서로 다른 단어가 혼합된 메소드 이름이라면 뒤에 오는 단어의 첫 글자는 대문자로 작성한다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void run() {…}</a:t>
            </a:r>
          </a:p>
          <a:p>
            <a:pPr marL="0" indent="0">
              <a:buNone/>
            </a:pPr>
            <a:r>
              <a:rPr lang="en-US" altLang="ko-KR" sz="1400" dirty="0"/>
              <a:t>void _start() {…}</a:t>
            </a:r>
          </a:p>
          <a:p>
            <a:pPr marL="0" indent="0">
              <a:buNone/>
            </a:pPr>
            <a:r>
              <a:rPr lang="en-US" altLang="ko-KR" sz="1400" dirty="0"/>
              <a:t>String </a:t>
            </a:r>
            <a:r>
              <a:rPr lang="en-US" altLang="ko-KR" sz="1400" dirty="0" err="1"/>
              <a:t>getName</a:t>
            </a:r>
            <a:r>
              <a:rPr lang="en-US" altLang="ko-KR" sz="1400" dirty="0"/>
              <a:t>() {…}</a:t>
            </a:r>
          </a:p>
          <a:p>
            <a:pPr marL="0" indent="0">
              <a:buNone/>
            </a:pPr>
            <a:r>
              <a:rPr lang="en-US" altLang="ko-KR" sz="1400" dirty="0"/>
              <a:t>int </a:t>
            </a:r>
            <a:r>
              <a:rPr lang="en-US" altLang="ko-KR" sz="1400" dirty="0" err="1"/>
              <a:t>getScore</a:t>
            </a:r>
            <a:r>
              <a:rPr lang="en-US" altLang="ko-KR" sz="1400" dirty="0"/>
              <a:t>() {…}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 이름은 메소드가 어떤 기능을 수행하는지 쉽게 알 수 있도록 지어야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521B5B-B8C9-FC97-06D5-0EF31A9E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62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42336-FBBF-C119-A624-50031BBFD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8B4EDD-71A6-3030-C439-79F3D28CC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매개 변수 선언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매개 변수는 메소드가 실행할 때 필요한 데이터를 외부로 받기 위해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메소드에서 매개 변수가 필요한 경우가 있고 필요 없는 경우가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</a:t>
            </a:r>
            <a:r>
              <a:rPr lang="en-US" altLang="ko-KR" sz="1400" dirty="0" err="1"/>
              <a:t>powerOn</a:t>
            </a:r>
            <a:r>
              <a:rPr lang="en-US" altLang="ko-KR" sz="1400" dirty="0"/>
              <a:t>(){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(“</a:t>
            </a:r>
            <a:r>
              <a:rPr lang="ko-KR" altLang="en-US" sz="1400" dirty="0"/>
              <a:t>전원을 킵니다</a:t>
            </a:r>
            <a:r>
              <a:rPr lang="en-US" altLang="ko-KR" sz="1400" dirty="0"/>
              <a:t>.”);  //</a:t>
            </a:r>
            <a:r>
              <a:rPr lang="ko-KR" altLang="en-US" sz="1400" dirty="0"/>
              <a:t>메소드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단순히 </a:t>
            </a:r>
            <a:r>
              <a:rPr lang="en-US" altLang="ko-KR" sz="1400" dirty="0"/>
              <a:t>print</a:t>
            </a:r>
            <a:r>
              <a:rPr lang="ko-KR" altLang="en-US" sz="1400" dirty="0"/>
              <a:t>문 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plus(int a , int b){</a:t>
            </a:r>
          </a:p>
          <a:p>
            <a:pPr marL="0" indent="0">
              <a:buNone/>
            </a:pPr>
            <a:r>
              <a:rPr lang="en-US" altLang="ko-KR" sz="1400" dirty="0"/>
              <a:t>	return </a:t>
            </a:r>
            <a:r>
              <a:rPr lang="en-US" altLang="ko-KR" sz="1400" dirty="0" err="1"/>
              <a:t>a+b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ko-KR" altLang="en-US" sz="1400" dirty="0"/>
              <a:t>반환형이 </a:t>
            </a:r>
            <a:r>
              <a:rPr lang="en-US" altLang="ko-KR" sz="1400" dirty="0"/>
              <a:t>int</a:t>
            </a:r>
            <a:r>
              <a:rPr lang="ko-KR" altLang="en-US" sz="1400" dirty="0"/>
              <a:t>형이고 메소드 이름이 </a:t>
            </a:r>
            <a:r>
              <a:rPr lang="en-US" altLang="ko-KR" sz="1400" dirty="0"/>
              <a:t>plus</a:t>
            </a:r>
            <a:r>
              <a:rPr lang="ko-KR" altLang="en-US" sz="1400" dirty="0"/>
              <a:t>인 메소드이다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 메소드는 호출 시 </a:t>
            </a:r>
            <a:r>
              <a:rPr lang="en-US" altLang="ko-KR" sz="1400" dirty="0"/>
              <a:t>int</a:t>
            </a:r>
            <a:r>
              <a:rPr lang="ko-KR" altLang="en-US" sz="1400" dirty="0"/>
              <a:t>형 데이터 </a:t>
            </a:r>
            <a:r>
              <a:rPr lang="en-US" altLang="ko-KR" sz="1400" dirty="0"/>
              <a:t>a</a:t>
            </a:r>
            <a:r>
              <a:rPr lang="ko-KR" altLang="en-US" sz="1400" dirty="0"/>
              <a:t>와</a:t>
            </a:r>
            <a:r>
              <a:rPr lang="en-US" altLang="ko-KR" sz="1400" dirty="0"/>
              <a:t> b</a:t>
            </a:r>
            <a:r>
              <a:rPr lang="ko-KR" altLang="en-US" sz="1400" dirty="0"/>
              <a:t>를 넘겨 받아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a+b</a:t>
            </a:r>
            <a:r>
              <a:rPr lang="ko-KR" altLang="en-US" sz="1400" dirty="0"/>
              <a:t>연산을 수행한 후 그 값을 리턴</a:t>
            </a:r>
            <a:r>
              <a:rPr lang="en-US" altLang="ko-KR" sz="1400" dirty="0"/>
              <a:t>(</a:t>
            </a:r>
            <a:r>
              <a:rPr lang="ko-KR" altLang="en-US" sz="1400" dirty="0"/>
              <a:t>반환</a:t>
            </a:r>
            <a:r>
              <a:rPr lang="en-US" altLang="ko-KR" sz="1400" dirty="0"/>
              <a:t>)</a:t>
            </a:r>
            <a:r>
              <a:rPr lang="ko-KR" altLang="en-US" sz="1400" dirty="0"/>
              <a:t>하는 메소드이다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9A6AEA-8F28-2296-4C52-967BBAFE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464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11D5F-6652-ADD4-42D8-C824A58D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8D37B-333A-1B89-D896-60AEE156A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Calculator {</a:t>
            </a:r>
          </a:p>
          <a:p>
            <a:pPr marL="0" indent="0">
              <a:buNone/>
            </a:pPr>
            <a:r>
              <a:rPr lang="en-US" altLang="ko-KR" sz="1400" dirty="0"/>
              <a:t>   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powerOn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전원을 켭니다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전원 켜기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 </a:t>
            </a:r>
            <a:r>
              <a:rPr lang="ko-KR" altLang="en-US" sz="1400" dirty="0"/>
              <a:t>두 정수의 합을 계산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plus(int x, int y) {</a:t>
            </a:r>
          </a:p>
          <a:p>
            <a:pPr marL="0" indent="0">
              <a:buNone/>
            </a:pPr>
            <a:r>
              <a:rPr lang="en-US" altLang="ko-KR" sz="1400" dirty="0"/>
              <a:t>        int result = x + y; // </a:t>
            </a:r>
            <a:r>
              <a:rPr lang="ko-KR" altLang="en-US" sz="1400" dirty="0"/>
              <a:t>두 정수를 더한 값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result;      // </a:t>
            </a:r>
            <a:r>
              <a:rPr lang="ko-KR" altLang="en-US" sz="1400" dirty="0"/>
              <a:t>결과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 </a:t>
            </a:r>
            <a:r>
              <a:rPr lang="ko-KR" altLang="en-US" sz="1400" dirty="0"/>
              <a:t>두 정수의 나눗셈 </a:t>
            </a:r>
            <a:r>
              <a:rPr lang="en-US" altLang="ko-KR" sz="1400" dirty="0"/>
              <a:t>(</a:t>
            </a:r>
            <a:r>
              <a:rPr lang="ko-KR" altLang="en-US" sz="1400" dirty="0"/>
              <a:t>결과는 </a:t>
            </a:r>
            <a:r>
              <a:rPr lang="en-US" altLang="ko-KR" sz="1400" dirty="0"/>
              <a:t>double </a:t>
            </a:r>
            <a:r>
              <a:rPr lang="ko-KR" altLang="en-US" sz="1400" dirty="0"/>
              <a:t>타입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double divide(int x, int y) {</a:t>
            </a:r>
          </a:p>
          <a:p>
            <a:pPr marL="0" indent="0">
              <a:buNone/>
            </a:pPr>
            <a:r>
              <a:rPr lang="en-US" altLang="ko-KR" sz="1400" dirty="0"/>
              <a:t>        double result = (double) x / (double) y; // </a:t>
            </a:r>
            <a:r>
              <a:rPr lang="ko-KR" altLang="en-US" sz="1400" dirty="0"/>
              <a:t>정수를 </a:t>
            </a:r>
            <a:r>
              <a:rPr lang="en-US" altLang="ko-KR" sz="1400" dirty="0"/>
              <a:t>double</a:t>
            </a:r>
            <a:r>
              <a:rPr lang="ko-KR" altLang="en-US" sz="1400" dirty="0"/>
              <a:t>로 변환 후 나눗셈 수행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result;                           // </a:t>
            </a:r>
            <a:r>
              <a:rPr lang="ko-KR" altLang="en-US" sz="1400" dirty="0"/>
              <a:t>결과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powerOff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전원을 끕니다</a:t>
            </a:r>
            <a:r>
              <a:rPr lang="en-US" altLang="ko-KR" sz="1400" dirty="0"/>
              <a:t>"); // </a:t>
            </a:r>
            <a:r>
              <a:rPr lang="ko-KR" altLang="en-US" sz="1400" dirty="0"/>
              <a:t>전원 끄기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196466-1CF4-0751-8ACE-7DE0B20F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345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82DD-CE91-C362-E419-9D8BADEF1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0A5EB-0704-1B83-B328-2EB55F3B3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CalculatorExample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Calculator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Calculator </a:t>
            </a:r>
            <a:r>
              <a:rPr lang="en-US" altLang="ko-KR" sz="1400" dirty="0" err="1"/>
              <a:t>myCalc</a:t>
            </a:r>
            <a:r>
              <a:rPr lang="en-US" altLang="ko-KR" sz="1400" dirty="0"/>
              <a:t> = new Calculator();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전원 켜기 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myCalc.powerOn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정수의 합 계산 및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result1 = </a:t>
            </a:r>
            <a:r>
              <a:rPr lang="en-US" altLang="ko-KR" sz="1400" dirty="0" err="1"/>
              <a:t>myCalc.plus</a:t>
            </a:r>
            <a:r>
              <a:rPr lang="en-US" altLang="ko-KR" sz="1400" dirty="0"/>
              <a:t>(5, 6); // 5 + 6 </a:t>
            </a:r>
            <a:r>
              <a:rPr lang="ko-KR" altLang="en-US" sz="1400" dirty="0"/>
              <a:t>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("result1: " + result1); // result1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두 정수의 나눗셈 계산 및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byte x = 10; // </a:t>
            </a:r>
            <a:r>
              <a:rPr lang="ko-KR" altLang="en-US" sz="1400" dirty="0"/>
              <a:t>첫 번째 피연산자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byte y = 4;  // </a:t>
            </a:r>
            <a:r>
              <a:rPr lang="ko-KR" altLang="en-US" sz="1400" dirty="0"/>
              <a:t>두 번째 피연산자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result2 = </a:t>
            </a:r>
            <a:r>
              <a:rPr lang="en-US" altLang="ko-KR" sz="1400" dirty="0" err="1"/>
              <a:t>myCalc.divide</a:t>
            </a:r>
            <a:r>
              <a:rPr lang="en-US" altLang="ko-KR" sz="1400" dirty="0"/>
              <a:t>(x, y); // 10 / 4 </a:t>
            </a:r>
            <a:r>
              <a:rPr lang="ko-KR" altLang="en-US" sz="1400" dirty="0"/>
              <a:t>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("result2: " + result2); // result2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전원 끄기 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myCalc.powerOff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ACE147-AF5C-571B-4B16-9EF36FC76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325" y="1812636"/>
            <a:ext cx="2121911" cy="189933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B82687-CE03-0A35-A9D3-FA0AA7F8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084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B8715-08C0-8959-F63D-2D77F334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EA23DE-D842-741C-CAE9-961DC432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매개 변수의 개수를 모를 경우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메소드의 매개 변수는 개수가 정해져 있는 것이 일반적이지만</a:t>
            </a:r>
            <a:r>
              <a:rPr lang="en-US" altLang="ko-KR" sz="1400" dirty="0"/>
              <a:t>, </a:t>
            </a:r>
            <a:r>
              <a:rPr lang="ko-KR" altLang="en-US" sz="1400" dirty="0"/>
              <a:t>특수한 상황에서는 메소드를 선언할 때 매개 변수의 개수를 알 수 없는 경우도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매개 변수의 타입을 배열 타입으로 선언하면 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sum1(int[] sum){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...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sum1()</a:t>
            </a:r>
            <a:r>
              <a:rPr lang="ko-KR" altLang="en-US" sz="1400" dirty="0">
                <a:sym typeface="Wingdings" panose="05000000000000000000" pitchFamily="2" charset="2"/>
              </a:rPr>
              <a:t>메소드를 호출할 때 배열을 넘겨줌으로써 각각 다른 배열의 항목 값들을 모두 전달할 수 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int[] values = {1,2,3};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result = sum1(values);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result2 = sum1(new int[] {1,2,3,4,5});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하지만 위처럼 매개 변수를 배열 타입으로 선언하면 메소드를 호출하기전에 배열을 생성해야 하는 불편함이 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매개 변수를 가변인자</a:t>
            </a:r>
            <a:r>
              <a:rPr lang="en-US" altLang="ko-KR" sz="1400" dirty="0">
                <a:sym typeface="Wingdings" panose="05000000000000000000" pitchFamily="2" charset="2"/>
              </a:rPr>
              <a:t>(...)</a:t>
            </a:r>
            <a:r>
              <a:rPr lang="ko-KR" altLang="en-US" sz="1400" dirty="0">
                <a:sym typeface="Wingdings" panose="05000000000000000000" pitchFamily="2" charset="2"/>
              </a:rPr>
              <a:t>을 사용하면 메소드 호출 시 넘겨준 값의 수에 따라 자동으로 배열이 생성되고 </a:t>
            </a:r>
            <a:r>
              <a:rPr lang="ko-KR" altLang="en-US" sz="1400" dirty="0" err="1">
                <a:sym typeface="Wingdings" panose="05000000000000000000" pitchFamily="2" charset="2"/>
              </a:rPr>
              <a:t>매개값으로</a:t>
            </a:r>
            <a:r>
              <a:rPr lang="ko-KR" altLang="en-US" sz="1400" dirty="0">
                <a:sym typeface="Wingdings" panose="05000000000000000000" pitchFamily="2" charset="2"/>
              </a:rPr>
              <a:t> 사용된다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sum2(int ... values){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...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sum2()</a:t>
            </a:r>
            <a:r>
              <a:rPr lang="ko-KR" altLang="en-US" sz="1400" dirty="0">
                <a:sym typeface="Wingdings" panose="05000000000000000000" pitchFamily="2" charset="2"/>
              </a:rPr>
              <a:t>메소드를 호출할 때 </a:t>
            </a:r>
            <a:r>
              <a:rPr lang="en-US" altLang="ko-KR" sz="1400" dirty="0">
                <a:sym typeface="Wingdings" panose="05000000000000000000" pitchFamily="2" charset="2"/>
              </a:rPr>
              <a:t>()</a:t>
            </a:r>
            <a:r>
              <a:rPr lang="ko-KR" altLang="en-US" sz="1400" dirty="0">
                <a:sym typeface="Wingdings" panose="05000000000000000000" pitchFamily="2" charset="2"/>
              </a:rPr>
              <a:t>안에 값을 </a:t>
            </a:r>
            <a:r>
              <a:rPr lang="en-US" altLang="ko-KR" sz="1400" dirty="0">
                <a:sym typeface="Wingdings" panose="05000000000000000000" pitchFamily="2" charset="2"/>
              </a:rPr>
              <a:t>,</a:t>
            </a:r>
            <a:r>
              <a:rPr lang="ko-KR" altLang="en-US" sz="1400" dirty="0">
                <a:sym typeface="Wingdings" panose="05000000000000000000" pitchFamily="2" charset="2"/>
              </a:rPr>
              <a:t>로 구분하여 넘겨줌으로써 값들을 모두 전달할 수 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result = sum2(1,2,3);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result2 = sum2(1,2,3,4,5);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E1CB5E-F6C4-1C00-D7A8-6336A7047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332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D62D-0C41-5ECC-DDC6-622FE0FD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344C16-AB46-DA93-1405-5141F7152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Computer {</a:t>
            </a:r>
          </a:p>
          <a:p>
            <a:pPr marL="0" indent="0">
              <a:buNone/>
            </a:pPr>
            <a:r>
              <a:rPr lang="en-US" altLang="ko-KR" sz="1400" dirty="0"/>
              <a:t>    int sum1(int[] values) { // </a:t>
            </a:r>
            <a:r>
              <a:rPr lang="ko-KR" altLang="en-US" sz="1400" dirty="0"/>
              <a:t>배열을 매개변수로 받아 합계를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sum = 0; // </a:t>
            </a:r>
            <a:r>
              <a:rPr lang="ko-KR" altLang="en-US" sz="1400" dirty="0"/>
              <a:t>합계를 저장할 변수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values.length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배열의 길이만큼 반복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sum += values[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]; // </a:t>
            </a:r>
            <a:r>
              <a:rPr lang="ko-KR" altLang="en-US" sz="1400" dirty="0"/>
              <a:t>배열 요소를 합계에 더함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return sum; // </a:t>
            </a:r>
            <a:r>
              <a:rPr lang="ko-KR" altLang="en-US" sz="1400" dirty="0"/>
              <a:t>계산된 합계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int sum2(int ... values) { // </a:t>
            </a:r>
            <a:r>
              <a:rPr lang="ko-KR" altLang="en-US" sz="1400" dirty="0"/>
              <a:t>가변 인자를 매개변수로 받아 합계를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sum = 0; // </a:t>
            </a:r>
            <a:r>
              <a:rPr lang="ko-KR" altLang="en-US" sz="1400" dirty="0"/>
              <a:t>합계를 저장할 변수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values.length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가변 인자의 길이만큼 반복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sum += values[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]; // </a:t>
            </a:r>
            <a:r>
              <a:rPr lang="ko-KR" altLang="en-US" sz="1400" dirty="0"/>
              <a:t>각 값을 합계에 더함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return sum; // </a:t>
            </a:r>
            <a:r>
              <a:rPr lang="ko-KR" altLang="en-US" sz="1400" dirty="0"/>
              <a:t>계산된 합계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BA93977-35A1-996B-09A9-0234D3C5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363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E05BE-1E4F-90C9-1B1B-06345488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5663F-88BA-B492-1CEF-CFB9420C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ComputerExample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Computer </a:t>
            </a:r>
            <a:r>
              <a:rPr lang="en-US" altLang="ko-KR" sz="1400" dirty="0" err="1"/>
              <a:t>myCom</a:t>
            </a:r>
            <a:r>
              <a:rPr lang="en-US" altLang="ko-KR" sz="1400" dirty="0"/>
              <a:t> = new Computer(); // Computer </a:t>
            </a:r>
            <a:r>
              <a:rPr lang="ko-KR" altLang="en-US" sz="1400" dirty="0"/>
              <a:t>클래스의 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int[] values1 = {1, 2, 3}; // </a:t>
            </a:r>
            <a:r>
              <a:rPr lang="ko-KR" altLang="en-US" sz="1400" dirty="0"/>
              <a:t>배열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result1 = myCom.sum1(values1); // sum1 </a:t>
            </a:r>
            <a:r>
              <a:rPr lang="ko-KR" altLang="en-US" sz="1400" dirty="0"/>
              <a:t>메서드를 사용해 배열의 합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("result1: " + result1);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result2 = myCom.sum1(new int[] {1, 2, 3, 4, 5}); // </a:t>
            </a:r>
            <a:r>
              <a:rPr lang="ko-KR" altLang="en-US" sz="1400" dirty="0"/>
              <a:t>새로운 배열을 </a:t>
            </a:r>
            <a:r>
              <a:rPr lang="en-US" altLang="ko-KR" sz="1400" dirty="0"/>
              <a:t>sum1 </a:t>
            </a:r>
            <a:r>
              <a:rPr lang="ko-KR" altLang="en-US" sz="1400" dirty="0"/>
              <a:t>메서드에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("result2: " + result2);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result3 = myCom.sum2(1, 2, 3); // </a:t>
            </a:r>
            <a:r>
              <a:rPr lang="ko-KR" altLang="en-US" sz="1400" dirty="0"/>
              <a:t>가변인자를 </a:t>
            </a:r>
            <a:r>
              <a:rPr lang="en-US" altLang="ko-KR" sz="1400" dirty="0"/>
              <a:t>sum2 </a:t>
            </a:r>
            <a:r>
              <a:rPr lang="ko-KR" altLang="en-US" sz="1400" dirty="0"/>
              <a:t>메서드에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("result3: " + result3);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result4 = myCom.sum2(1, 2, 3, 4, 5); // </a:t>
            </a:r>
            <a:r>
              <a:rPr lang="ko-KR" altLang="en-US" sz="1400" dirty="0"/>
              <a:t>더 많은 가변인자를 </a:t>
            </a:r>
            <a:r>
              <a:rPr lang="en-US" altLang="ko-KR" sz="1400" dirty="0"/>
              <a:t>sum2 </a:t>
            </a:r>
            <a:r>
              <a:rPr lang="ko-KR" altLang="en-US" sz="1400" dirty="0"/>
              <a:t>메서드에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("result4: " + result4);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31EBEE-0B9B-1001-5D36-1825043B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969" y="2044998"/>
            <a:ext cx="1678334" cy="179680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2C0978-44E3-5A78-0DDE-38CDDE5D0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730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3096-54A1-EA37-8885-B7477120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5F7657-3F13-092E-3D0A-9B8CDD393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return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리턴값이</a:t>
            </a:r>
            <a:r>
              <a:rPr lang="ko-KR" altLang="en-US" sz="1400" dirty="0"/>
              <a:t> 있는 메소드는 반드시 </a:t>
            </a:r>
            <a:r>
              <a:rPr lang="en-US" altLang="ko-KR" sz="1400" dirty="0"/>
              <a:t>return</a:t>
            </a:r>
            <a:r>
              <a:rPr lang="ko-KR" altLang="en-US" sz="1400" dirty="0"/>
              <a:t>문을 사용해서 값을 반환해야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만약 </a:t>
            </a:r>
            <a:r>
              <a:rPr lang="en-US" altLang="ko-KR" sz="1400" dirty="0"/>
              <a:t>return</a:t>
            </a:r>
            <a:r>
              <a:rPr lang="ko-KR" altLang="en-US" sz="1400" dirty="0"/>
              <a:t>문이 없다면 컴파일 에러가 발생하고 </a:t>
            </a:r>
            <a:r>
              <a:rPr lang="en-US" altLang="ko-KR" sz="1400" dirty="0"/>
              <a:t>return</a:t>
            </a:r>
            <a:r>
              <a:rPr lang="ko-KR" altLang="en-US" sz="1400" dirty="0"/>
              <a:t>문이 생성되면 메소드는 즉시 종료된다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return </a:t>
            </a:r>
            <a:r>
              <a:rPr lang="ko-KR" altLang="en-US" sz="1400" dirty="0" err="1"/>
              <a:t>리턴값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return</a:t>
            </a:r>
            <a:r>
              <a:rPr lang="ko-KR" altLang="en-US" sz="1400" dirty="0"/>
              <a:t>문은 메소드 </a:t>
            </a:r>
            <a:r>
              <a:rPr lang="ko-KR" altLang="en-US" sz="1400" dirty="0" err="1"/>
              <a:t>선언시</a:t>
            </a:r>
            <a:r>
              <a:rPr lang="ko-KR" altLang="en-US" sz="1400" dirty="0"/>
              <a:t> 명시했던 반환 타입으로 </a:t>
            </a:r>
            <a:r>
              <a:rPr lang="ko-KR" altLang="en-US" sz="1400" dirty="0" err="1"/>
              <a:t>리턴해야한다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plus(int x, int y){</a:t>
            </a:r>
          </a:p>
          <a:p>
            <a:pPr marL="0" indent="0">
              <a:buNone/>
            </a:pPr>
            <a:r>
              <a:rPr lang="en-US" altLang="ko-KR" sz="1400" dirty="0"/>
              <a:t>	return </a:t>
            </a:r>
            <a:r>
              <a:rPr lang="en-US" altLang="ko-KR" sz="1400" dirty="0" err="1"/>
              <a:t>x+y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double divide(double x, double y){</a:t>
            </a:r>
          </a:p>
          <a:p>
            <a:pPr marL="0" indent="0">
              <a:buNone/>
            </a:pPr>
            <a:r>
              <a:rPr lang="en-US" altLang="ko-KR" sz="1400" dirty="0"/>
              <a:t>	double result = x/y;</a:t>
            </a:r>
          </a:p>
          <a:p>
            <a:pPr marL="0" indent="0">
              <a:buNone/>
            </a:pPr>
            <a:r>
              <a:rPr lang="en-US" altLang="ko-KR" sz="1400" dirty="0"/>
              <a:t>	return result;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C67308-CC38-5B8E-FC00-08B9FBD73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396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D65FD-4972-2E88-1032-7166DA5C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BB61A4-83BC-0C89-D52A-1B6251CDA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return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리턴값이</a:t>
            </a:r>
            <a:r>
              <a:rPr lang="ko-KR" altLang="en-US" sz="1400" dirty="0"/>
              <a:t> 없는 메소드는 리턴 타입으로 </a:t>
            </a:r>
            <a:r>
              <a:rPr lang="en-US" altLang="ko-KR" sz="1400" dirty="0"/>
              <a:t>void</a:t>
            </a:r>
            <a:r>
              <a:rPr lang="ko-KR" altLang="en-US" sz="1400" dirty="0"/>
              <a:t>를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또한 </a:t>
            </a:r>
            <a:r>
              <a:rPr lang="en-US" altLang="ko-KR" sz="1400" dirty="0"/>
              <a:t>void </a:t>
            </a:r>
            <a:r>
              <a:rPr lang="ko-KR" altLang="en-US" sz="1400" dirty="0"/>
              <a:t>선언된 메소드에서도 </a:t>
            </a:r>
            <a:r>
              <a:rPr lang="en-US" altLang="ko-KR" sz="1400" dirty="0"/>
              <a:t>return</a:t>
            </a:r>
            <a:r>
              <a:rPr lang="ko-KR" altLang="en-US" sz="1400" dirty="0"/>
              <a:t>문을 단순 메소드 종료의 의미로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run() {</a:t>
            </a:r>
          </a:p>
          <a:p>
            <a:pPr marL="0" indent="0">
              <a:buNone/>
            </a:pPr>
            <a:r>
              <a:rPr lang="en-US" altLang="ko-KR" sz="1400" dirty="0"/>
              <a:t>    while(true) { // </a:t>
            </a:r>
            <a:r>
              <a:rPr lang="ko-KR" altLang="en-US" sz="1400" dirty="0"/>
              <a:t>무한 루프 시작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if(gas &gt; 0) { // gas</a:t>
            </a:r>
            <a:r>
              <a:rPr lang="ko-KR" altLang="en-US" sz="1400" dirty="0"/>
              <a:t>가 </a:t>
            </a:r>
            <a:r>
              <a:rPr lang="en-US" altLang="ko-KR" sz="1400" dirty="0"/>
              <a:t>0</a:t>
            </a:r>
            <a:r>
              <a:rPr lang="ko-KR" altLang="en-US" sz="1400" dirty="0"/>
              <a:t>보다 크면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달립니다</a:t>
            </a:r>
            <a:r>
              <a:rPr lang="en-US" altLang="ko-KR" sz="1400" dirty="0"/>
              <a:t>. (gas</a:t>
            </a:r>
            <a:r>
              <a:rPr lang="ko-KR" altLang="en-US" sz="1400" dirty="0"/>
              <a:t>잔량</a:t>
            </a:r>
            <a:r>
              <a:rPr lang="en-US" altLang="ko-KR" sz="1400" dirty="0"/>
              <a:t>: " + gas + ")"); // gas </a:t>
            </a:r>
            <a:r>
              <a:rPr lang="ko-KR" altLang="en-US" sz="1400" dirty="0"/>
              <a:t>잔량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gas -= 1; // gas </a:t>
            </a:r>
            <a:r>
              <a:rPr lang="ko-KR" altLang="en-US" sz="1400" dirty="0"/>
              <a:t>감소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멈춥니다</a:t>
            </a:r>
            <a:r>
              <a:rPr lang="en-US" altLang="ko-KR" sz="1400" dirty="0"/>
              <a:t>. (gas</a:t>
            </a:r>
            <a:r>
              <a:rPr lang="ko-KR" altLang="en-US" sz="1400" dirty="0"/>
              <a:t>잔량</a:t>
            </a:r>
            <a:r>
              <a:rPr lang="en-US" altLang="ko-KR" sz="1400" dirty="0"/>
              <a:t>: " + gas + ")"); // gas</a:t>
            </a:r>
            <a:r>
              <a:rPr lang="ko-KR" altLang="en-US" sz="1400" dirty="0"/>
              <a:t>가 </a:t>
            </a:r>
            <a:r>
              <a:rPr lang="en-US" altLang="ko-KR" sz="1400" dirty="0"/>
              <a:t>0</a:t>
            </a:r>
            <a:r>
              <a:rPr lang="ko-KR" altLang="en-US" sz="1400" dirty="0"/>
              <a:t>일 때 멈춘다는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return; // </a:t>
            </a:r>
            <a:r>
              <a:rPr lang="ko-KR" altLang="en-US" sz="1400" dirty="0"/>
              <a:t>메서드 종료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D57072-D9DB-06F1-8B5D-F965BAAE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5691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DBBC-7DB6-2A34-3E1F-4EE9D45A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BDFD88-D9A8-CA5A-69D8-F93FA21B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gas; // gas </a:t>
            </a:r>
            <a:r>
              <a:rPr lang="ko-KR" altLang="en-US" sz="1400" dirty="0"/>
              <a:t>잔량 저장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setGas</a:t>
            </a:r>
            <a:r>
              <a:rPr lang="en-US" altLang="ko-KR" sz="1400" dirty="0"/>
              <a:t>(int gas) { // gas </a:t>
            </a:r>
            <a:r>
              <a:rPr lang="ko-KR" altLang="en-US" sz="1400" dirty="0"/>
              <a:t>설정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this.gas</a:t>
            </a:r>
            <a:r>
              <a:rPr lang="en-US" altLang="ko-KR" sz="1400" dirty="0"/>
              <a:t> = gas; // </a:t>
            </a:r>
            <a:r>
              <a:rPr lang="ko-KR" altLang="en-US" sz="1400" dirty="0"/>
              <a:t>필드 </a:t>
            </a:r>
            <a:r>
              <a:rPr lang="en-US" altLang="ko-KR" sz="1400" dirty="0"/>
              <a:t>gas</a:t>
            </a:r>
            <a:r>
              <a:rPr lang="ko-KR" altLang="en-US" sz="1400" dirty="0"/>
              <a:t>에 값을 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isLeftGas</a:t>
            </a:r>
            <a:r>
              <a:rPr lang="en-US" altLang="ko-KR" sz="1400" dirty="0"/>
              <a:t>() { // gas </a:t>
            </a:r>
            <a:r>
              <a:rPr lang="ko-KR" altLang="en-US" sz="1400" dirty="0"/>
              <a:t>잔여 여부 확인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if(gas == 0) { // gas</a:t>
            </a:r>
            <a:r>
              <a:rPr lang="ko-KR" altLang="en-US" sz="1400" dirty="0"/>
              <a:t>가 없으면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("gas</a:t>
            </a:r>
            <a:r>
              <a:rPr lang="ko-KR" altLang="en-US" sz="1400" dirty="0"/>
              <a:t>가 없습니다</a:t>
            </a:r>
            <a:r>
              <a:rPr lang="en-US" altLang="ko-KR" sz="1400" dirty="0"/>
              <a:t>."); // gas </a:t>
            </a:r>
            <a:r>
              <a:rPr lang="ko-KR" altLang="en-US" sz="1400" dirty="0"/>
              <a:t>없음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return false; // false </a:t>
            </a:r>
            <a:r>
              <a:rPr lang="ko-KR" altLang="en-US" sz="1400" dirty="0"/>
              <a:t>반환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("gas</a:t>
            </a:r>
            <a:r>
              <a:rPr lang="ko-KR" altLang="en-US" sz="1400" dirty="0"/>
              <a:t>가 있습니다</a:t>
            </a:r>
            <a:r>
              <a:rPr lang="en-US" altLang="ko-KR" sz="1400" dirty="0"/>
              <a:t>."); // gas </a:t>
            </a:r>
            <a:r>
              <a:rPr lang="ko-KR" altLang="en-US" sz="1400" dirty="0"/>
              <a:t>있음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true; // true </a:t>
            </a:r>
            <a:r>
              <a:rPr lang="ko-KR" altLang="en-US" sz="1400" dirty="0"/>
              <a:t>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void run() { // </a:t>
            </a:r>
            <a:r>
              <a:rPr lang="ko-KR" altLang="en-US" sz="1400" dirty="0"/>
              <a:t>차량 주행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while(true) { // </a:t>
            </a:r>
            <a:r>
              <a:rPr lang="ko-KR" altLang="en-US" sz="1400" dirty="0"/>
              <a:t>무한 루프 시작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if(gas &gt; 0) { // gas</a:t>
            </a:r>
            <a:r>
              <a:rPr lang="ko-KR" altLang="en-US" sz="1400" dirty="0"/>
              <a:t>가 </a:t>
            </a:r>
            <a:r>
              <a:rPr lang="en-US" altLang="ko-KR" sz="1400" dirty="0"/>
              <a:t>0</a:t>
            </a:r>
            <a:r>
              <a:rPr lang="ko-KR" altLang="en-US" sz="1400" dirty="0"/>
              <a:t>보다 크면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달립니다</a:t>
            </a:r>
            <a:r>
              <a:rPr lang="en-US" altLang="ko-KR" sz="1400" dirty="0"/>
              <a:t>.(gas</a:t>
            </a:r>
            <a:r>
              <a:rPr lang="ko-KR" altLang="en-US" sz="1400" dirty="0"/>
              <a:t>잔량</a:t>
            </a:r>
            <a:r>
              <a:rPr lang="en-US" altLang="ko-KR" sz="1400" dirty="0"/>
              <a:t>:" + gas + ")"); // </a:t>
            </a:r>
            <a:r>
              <a:rPr lang="ko-KR" altLang="en-US" sz="1400" dirty="0"/>
              <a:t>주행 중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gas -= 1; // gas </a:t>
            </a:r>
            <a:r>
              <a:rPr lang="ko-KR" altLang="en-US" sz="1400" dirty="0"/>
              <a:t>감소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멈춥니다</a:t>
            </a:r>
            <a:r>
              <a:rPr lang="en-US" altLang="ko-KR" sz="1400" dirty="0"/>
              <a:t>.(gas</a:t>
            </a:r>
            <a:r>
              <a:rPr lang="ko-KR" altLang="en-US" sz="1400" dirty="0"/>
              <a:t>잔량</a:t>
            </a:r>
            <a:r>
              <a:rPr lang="en-US" altLang="ko-KR" sz="1400" dirty="0"/>
              <a:t>:" + gas + ")"); // </a:t>
            </a:r>
            <a:r>
              <a:rPr lang="ko-KR" altLang="en-US" sz="1400" dirty="0"/>
              <a:t>멈춤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return; // </a:t>
            </a:r>
            <a:r>
              <a:rPr lang="ko-KR" altLang="en-US" sz="1400" dirty="0"/>
              <a:t>메소드 종료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DED18EF-B973-E911-C37B-69625BD4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6002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E4B2C-DD1D-381B-3533-A8F1D580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63E19A-7C1B-788C-F9E8-FFCDCB3D3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 // Car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myCar.setGas</a:t>
            </a:r>
            <a:r>
              <a:rPr lang="en-US" altLang="ko-KR" sz="1400" dirty="0"/>
              <a:t>(5); // Car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setGas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 호출로 </a:t>
            </a:r>
            <a:r>
              <a:rPr lang="en-US" altLang="ko-KR" sz="1400" dirty="0"/>
              <a:t>gas </a:t>
            </a:r>
            <a:r>
              <a:rPr lang="ko-KR" altLang="en-US" sz="1400" dirty="0"/>
              <a:t>설정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gasState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myCar.isLeftGas</a:t>
            </a:r>
            <a:r>
              <a:rPr lang="en-US" altLang="ko-KR" sz="1400" dirty="0"/>
              <a:t>(); // Car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isLeftGas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 호출 후 상태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if(</a:t>
            </a:r>
            <a:r>
              <a:rPr lang="en-US" altLang="ko-KR" sz="1400" dirty="0" err="1"/>
              <a:t>gasState</a:t>
            </a:r>
            <a:r>
              <a:rPr lang="en-US" altLang="ko-KR" sz="1400" dirty="0"/>
              <a:t>) { // gas</a:t>
            </a:r>
            <a:r>
              <a:rPr lang="ko-KR" altLang="en-US" sz="1400" dirty="0"/>
              <a:t>가 남아있으면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출발합니다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출발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myCar.run</a:t>
            </a:r>
            <a:r>
              <a:rPr lang="en-US" altLang="ko-KR" sz="1400" dirty="0"/>
              <a:t>(); // Car</a:t>
            </a:r>
            <a:r>
              <a:rPr lang="ko-KR" altLang="en-US" sz="1400" dirty="0"/>
              <a:t>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if(</a:t>
            </a:r>
            <a:r>
              <a:rPr lang="en-US" altLang="ko-KR" sz="1400" dirty="0" err="1"/>
              <a:t>myCar.isLeftGas</a:t>
            </a:r>
            <a:r>
              <a:rPr lang="en-US" altLang="ko-KR" sz="1400" dirty="0"/>
              <a:t>()) { // Car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isLeftGas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 호출로 </a:t>
            </a:r>
            <a:r>
              <a:rPr lang="en-US" altLang="ko-KR" sz="1400" dirty="0"/>
              <a:t>gas </a:t>
            </a:r>
            <a:r>
              <a:rPr lang="ko-KR" altLang="en-US" sz="1400" dirty="0"/>
              <a:t>잔량 확인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("gas</a:t>
            </a:r>
            <a:r>
              <a:rPr lang="ko-KR" altLang="en-US" sz="1400" dirty="0"/>
              <a:t>를 주입할 필요가 없습니다</a:t>
            </a:r>
            <a:r>
              <a:rPr lang="en-US" altLang="ko-KR" sz="1400" dirty="0"/>
              <a:t>."); // gas </a:t>
            </a:r>
            <a:r>
              <a:rPr lang="ko-KR" altLang="en-US" sz="1400" dirty="0"/>
              <a:t>충분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("gas</a:t>
            </a:r>
            <a:r>
              <a:rPr lang="ko-KR" altLang="en-US" sz="1400" dirty="0"/>
              <a:t>를 주입하세요</a:t>
            </a:r>
            <a:r>
              <a:rPr lang="en-US" altLang="ko-KR" sz="1400" dirty="0"/>
              <a:t>."); // gas </a:t>
            </a:r>
            <a:r>
              <a:rPr lang="ko-KR" altLang="en-US" sz="1400" dirty="0"/>
              <a:t>주입 요청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7D5CC6-CF98-410F-0F29-60609C3B2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004" y="2003257"/>
            <a:ext cx="2239460" cy="285148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474DF5-AD2B-EF8C-D59E-4DCAE6521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849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6968-1011-A7AB-2BE2-B86EF451D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34E5C-6CD2-2F3B-3C61-A22152E4F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메소드 호출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 호출이란</a:t>
            </a:r>
            <a:r>
              <a:rPr lang="en-US" altLang="ko-KR" sz="1400" dirty="0"/>
              <a:t>, </a:t>
            </a:r>
            <a:r>
              <a:rPr lang="ko-KR" altLang="en-US" sz="1400" dirty="0"/>
              <a:t>정의된 메소드를 실행</a:t>
            </a:r>
            <a:r>
              <a:rPr lang="en-US" altLang="ko-KR" sz="1400" dirty="0"/>
              <a:t>(</a:t>
            </a:r>
            <a:r>
              <a:rPr lang="ko-KR" altLang="en-US" sz="1400" dirty="0"/>
              <a:t>호출</a:t>
            </a:r>
            <a:r>
              <a:rPr lang="en-US" altLang="ko-KR" sz="1400" dirty="0"/>
              <a:t>)</a:t>
            </a:r>
            <a:r>
              <a:rPr lang="ko-KR" altLang="en-US" sz="1400" dirty="0"/>
              <a:t>하여 해당 메소드에 작성된 코드를 실행하는 과정을 말한다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메소드는 클래스 안에 정의된 하나의 기능 또는 동작을 의미하며</a:t>
            </a:r>
            <a:r>
              <a:rPr lang="en-US" altLang="ko-KR" sz="1400" dirty="0"/>
              <a:t>, </a:t>
            </a:r>
            <a:r>
              <a:rPr lang="ko-KR" altLang="en-US" sz="1400" dirty="0"/>
              <a:t>호출하면 미리 정의된 작업을 수행한다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메소드는 객체 내부에서 호출되거나 외부 객체에서 호출될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내부에서 호출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 내부에서 다른 메소드를 호출할 경우에는 다음과 같은 형태로 작성하면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메소드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매개값</a:t>
            </a:r>
            <a:r>
              <a:rPr lang="en-US" altLang="ko-KR" sz="1400" dirty="0"/>
              <a:t>..);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int method1(int x, int y) { // </a:t>
            </a:r>
            <a:r>
              <a:rPr lang="ko-KR" altLang="en-US" sz="1400" dirty="0"/>
              <a:t>두 정수 </a:t>
            </a:r>
            <a:r>
              <a:rPr lang="en-US" altLang="ko-KR" sz="1400" dirty="0"/>
              <a:t>x</a:t>
            </a:r>
            <a:r>
              <a:rPr lang="ko-KR" altLang="en-US" sz="1400" dirty="0"/>
              <a:t>와 </a:t>
            </a:r>
            <a:r>
              <a:rPr lang="en-US" altLang="ko-KR" sz="1400" dirty="0"/>
              <a:t>y</a:t>
            </a:r>
            <a:r>
              <a:rPr lang="ko-KR" altLang="en-US" sz="1400" dirty="0"/>
              <a:t>를 더하는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 = x + y; // x</a:t>
            </a:r>
            <a:r>
              <a:rPr lang="ko-KR" altLang="en-US" sz="1400" dirty="0"/>
              <a:t>와 </a:t>
            </a:r>
            <a:r>
              <a:rPr lang="en-US" altLang="ko-KR" sz="1400" dirty="0"/>
              <a:t>y</a:t>
            </a:r>
            <a:r>
              <a:rPr lang="ko-KR" altLang="en-US" sz="1400" dirty="0"/>
              <a:t>를 더한 결과를 </a:t>
            </a:r>
            <a:r>
              <a:rPr lang="en-US" altLang="ko-KR" sz="1400" dirty="0"/>
              <a:t>result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result; // result </a:t>
            </a:r>
            <a:r>
              <a:rPr lang="ko-KR" altLang="en-US" sz="1400" dirty="0"/>
              <a:t>값을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method2() { // </a:t>
            </a:r>
            <a:r>
              <a:rPr lang="ko-KR" altLang="en-US" sz="1400" dirty="0"/>
              <a:t>다른 메소드 호출을 테스트하는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result1 = method1(10, 20); // result1</a:t>
            </a:r>
            <a:r>
              <a:rPr lang="ko-KR" altLang="en-US" sz="1400" dirty="0"/>
              <a:t>에는 </a:t>
            </a:r>
            <a:r>
              <a:rPr lang="en-US" altLang="ko-KR" sz="1400" dirty="0"/>
              <a:t>method1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반환값</a:t>
            </a:r>
            <a:r>
              <a:rPr lang="en-US" altLang="ko-KR" sz="1400" dirty="0"/>
              <a:t>(30)</a:t>
            </a:r>
            <a:r>
              <a:rPr lang="ko-KR" altLang="en-US" sz="1400" dirty="0"/>
              <a:t>이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result2 = method1(10, 20); // result2</a:t>
            </a:r>
            <a:r>
              <a:rPr lang="ko-KR" altLang="en-US" sz="1400" dirty="0"/>
              <a:t>에는 </a:t>
            </a:r>
            <a:r>
              <a:rPr lang="en-US" altLang="ko-KR" sz="1400" dirty="0"/>
              <a:t>method1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반환값이</a:t>
            </a:r>
            <a:r>
              <a:rPr lang="ko-KR" altLang="en-US" sz="1400" dirty="0"/>
              <a:t> </a:t>
            </a:r>
            <a:r>
              <a:rPr lang="en-US" altLang="ko-KR" sz="1400" dirty="0"/>
              <a:t>double</a:t>
            </a:r>
            <a:r>
              <a:rPr lang="ko-KR" altLang="en-US" sz="1400" dirty="0"/>
              <a:t>로 자동 변환되어 저장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3DC2FB5-3764-86F1-122F-8936B53B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678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5311D-1637-EBB4-2CF3-D2C30C29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2CD22-CB1A-94E0-51BE-54E0B6FB3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Calculator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plus(int x, int y) { // </a:t>
            </a:r>
            <a:r>
              <a:rPr lang="ko-KR" altLang="en-US" sz="1400" dirty="0"/>
              <a:t>두 정수를 더하는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 = x + y; // x</a:t>
            </a:r>
            <a:r>
              <a:rPr lang="ko-KR" altLang="en-US" sz="1400" dirty="0"/>
              <a:t>와 </a:t>
            </a:r>
            <a:r>
              <a:rPr lang="en-US" altLang="ko-KR" sz="1400" dirty="0"/>
              <a:t>y</a:t>
            </a:r>
            <a:r>
              <a:rPr lang="ko-KR" altLang="en-US" sz="1400" dirty="0"/>
              <a:t>를 더한 결과를 </a:t>
            </a:r>
            <a:r>
              <a:rPr lang="en-US" altLang="ko-KR" sz="1400" dirty="0"/>
              <a:t>result</a:t>
            </a:r>
            <a:r>
              <a:rPr lang="ko-KR" altLang="en-US" sz="1400" dirty="0"/>
              <a:t>에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result; // result </a:t>
            </a:r>
            <a:r>
              <a:rPr lang="ko-KR" altLang="en-US" sz="1400" dirty="0"/>
              <a:t>값을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double avg(int x, int y) { // </a:t>
            </a:r>
            <a:r>
              <a:rPr lang="ko-KR" altLang="en-US" sz="1400" dirty="0"/>
              <a:t>두 정수의 평균을 계산하는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sum = plus(x, y); // plus </a:t>
            </a:r>
            <a:r>
              <a:rPr lang="ko-KR" altLang="en-US" sz="1400" dirty="0"/>
              <a:t>메소드를 호출해 </a:t>
            </a:r>
            <a:r>
              <a:rPr lang="en-US" altLang="ko-KR" sz="1400" dirty="0"/>
              <a:t>x</a:t>
            </a:r>
            <a:r>
              <a:rPr lang="ko-KR" altLang="en-US" sz="1400" dirty="0"/>
              <a:t>와 </a:t>
            </a:r>
            <a:r>
              <a:rPr lang="en-US" altLang="ko-KR" sz="1400" dirty="0"/>
              <a:t>y</a:t>
            </a:r>
            <a:r>
              <a:rPr lang="ko-KR" altLang="en-US" sz="1400" dirty="0"/>
              <a:t>의 합을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result = sum / 2; // </a:t>
            </a:r>
            <a:r>
              <a:rPr lang="ko-KR" altLang="en-US" sz="1400" dirty="0"/>
              <a:t>합을 </a:t>
            </a:r>
            <a:r>
              <a:rPr lang="en-US" altLang="ko-KR" sz="1400" dirty="0"/>
              <a:t>2</a:t>
            </a:r>
            <a:r>
              <a:rPr lang="ko-KR" altLang="en-US" sz="1400" dirty="0"/>
              <a:t>로 나눠 평균을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result; // </a:t>
            </a:r>
            <a:r>
              <a:rPr lang="ko-KR" altLang="en-US" sz="1400" dirty="0"/>
              <a:t>평균 값을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execute() { // </a:t>
            </a:r>
            <a:r>
              <a:rPr lang="ko-KR" altLang="en-US" sz="1400" dirty="0"/>
              <a:t>실행 동작을 수행하는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result = avg(7, 10); // avg </a:t>
            </a:r>
            <a:r>
              <a:rPr lang="ko-KR" altLang="en-US" sz="1400" dirty="0"/>
              <a:t>메소드를 호출해 평균 값을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실행결과</a:t>
            </a:r>
            <a:r>
              <a:rPr lang="en-US" altLang="ko-KR" sz="1400" dirty="0"/>
              <a:t>: " + result); // </a:t>
            </a:r>
            <a:r>
              <a:rPr lang="ko-KR" altLang="en-US" sz="1400" dirty="0"/>
              <a:t>결과를 출력하는 메소드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(String message) { // </a:t>
            </a:r>
            <a:r>
              <a:rPr lang="ko-KR" altLang="en-US" sz="1400" dirty="0"/>
              <a:t>메시지를 출력하는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(message); // </a:t>
            </a:r>
            <a:r>
              <a:rPr lang="ko-KR" altLang="en-US" sz="1400" dirty="0"/>
              <a:t>전달된 문자열을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 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B8CA4C-E2F7-7C8D-C6B2-FE682E4E0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014" y="2623336"/>
            <a:ext cx="3075575" cy="103426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C63817-4515-16F9-00C2-BEBF1983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9994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5713-61A1-91B6-BD21-0ECF482B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9994FE-04B7-238F-6490-91DEFBD68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메소드 호출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외부에서 호출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외부 클래스에서 메소드를 호출하려면 우선 클래스로부터 객체를 생성해야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메소드는 객체에 소속된 멤버이므로 객체가 존재하지 않으면 메소드도 존재하지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 참조변수 </a:t>
            </a:r>
            <a:r>
              <a:rPr lang="en-US" altLang="ko-KR" sz="1400" dirty="0"/>
              <a:t>= new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매개값</a:t>
            </a:r>
            <a:r>
              <a:rPr lang="en-US" altLang="ko-KR" sz="1400" dirty="0"/>
              <a:t>, ...);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객체가 생성되었다면 참조변수와 도트</a:t>
            </a:r>
            <a:r>
              <a:rPr lang="en-US" altLang="ko-KR" sz="1400" dirty="0"/>
              <a:t>(.)</a:t>
            </a:r>
            <a:r>
              <a:rPr lang="ko-KR" altLang="en-US" sz="1400" dirty="0"/>
              <a:t>연산자를 사용해서 </a:t>
            </a:r>
            <a:r>
              <a:rPr lang="ko-KR" altLang="en-US" sz="1400" dirty="0" err="1"/>
              <a:t>매소드를</a:t>
            </a:r>
            <a:r>
              <a:rPr lang="ko-KR" altLang="en-US" sz="1400" dirty="0"/>
              <a:t> 호출할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참조변수</a:t>
            </a:r>
            <a:r>
              <a:rPr lang="en-US" altLang="ko-KR" sz="1400" dirty="0"/>
              <a:t>.</a:t>
            </a:r>
            <a:r>
              <a:rPr lang="ko-KR" altLang="en-US" sz="1400" dirty="0"/>
              <a:t>메소드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매개값</a:t>
            </a:r>
            <a:r>
              <a:rPr lang="en-US" altLang="ko-KR" sz="1400" dirty="0"/>
              <a:t>...);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myCar.keyTrunOn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myCar.run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speed = </a:t>
            </a:r>
            <a:r>
              <a:rPr lang="en-US" altLang="ko-KR" sz="1400" dirty="0" err="1"/>
              <a:t>myCar.getSpeed</a:t>
            </a:r>
            <a:r>
              <a:rPr lang="en-US" altLang="ko-KR" sz="1400" dirty="0"/>
              <a:t>();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0A6575-91B1-D4AA-7EA4-6BF33232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5091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A876-D7C4-BE20-A69E-A129267E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114ABC-E6DB-9AFB-7164-E1D03CAC2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speed; // </a:t>
            </a:r>
            <a:r>
              <a:rPr lang="ko-KR" altLang="en-US" sz="1400" dirty="0"/>
              <a:t>자동차의 속도를 저장하는 변수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getSpeed</a:t>
            </a:r>
            <a:r>
              <a:rPr lang="en-US" altLang="ko-KR" sz="1400" dirty="0"/>
              <a:t>() { // </a:t>
            </a:r>
            <a:r>
              <a:rPr lang="ko-KR" altLang="en-US" sz="1400" dirty="0"/>
              <a:t>현재 속도를 반환하는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speed; // </a:t>
            </a:r>
            <a:r>
              <a:rPr lang="ko-KR" altLang="en-US" sz="1400" dirty="0"/>
              <a:t>속도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</a:t>
            </a:r>
            <a:r>
              <a:rPr lang="en-US" altLang="ko-KR" sz="1400" dirty="0" err="1"/>
              <a:t>keyTurnOn</a:t>
            </a:r>
            <a:r>
              <a:rPr lang="en-US" altLang="ko-KR" sz="1400" dirty="0"/>
              <a:t>() { // </a:t>
            </a:r>
            <a:r>
              <a:rPr lang="ko-KR" altLang="en-US" sz="1400" dirty="0"/>
              <a:t>시동을 거는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키를 돌립니다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시동 거는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run() { // </a:t>
            </a:r>
            <a:r>
              <a:rPr lang="ko-KR" altLang="en-US" sz="1400" dirty="0"/>
              <a:t>자동차가 주행하는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10;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&lt;= 50;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+= 10) { // </a:t>
            </a:r>
            <a:r>
              <a:rPr lang="ko-KR" altLang="en-US" sz="1400" dirty="0"/>
              <a:t>속도를 </a:t>
            </a:r>
            <a:r>
              <a:rPr lang="en-US" altLang="ko-KR" sz="1400" dirty="0"/>
              <a:t>10</a:t>
            </a:r>
            <a:r>
              <a:rPr lang="ko-KR" altLang="en-US" sz="1400" dirty="0"/>
              <a:t>씩 증가시키며 반복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speed =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; // </a:t>
            </a:r>
            <a:r>
              <a:rPr lang="ko-KR" altLang="en-US" sz="1400" dirty="0"/>
              <a:t>현재 속도를 설정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달립니다</a:t>
            </a:r>
            <a:r>
              <a:rPr lang="en-US" altLang="ko-KR" sz="1400" dirty="0"/>
              <a:t>.(</a:t>
            </a:r>
            <a:r>
              <a:rPr lang="ko-KR" altLang="en-US" sz="1400" dirty="0"/>
              <a:t>시속</a:t>
            </a:r>
            <a:r>
              <a:rPr lang="en-US" altLang="ko-KR" sz="1400" dirty="0"/>
              <a:t>:" + speed + "km/h)"); // </a:t>
            </a:r>
            <a:r>
              <a:rPr lang="ko-KR" altLang="en-US" sz="1400" dirty="0"/>
              <a:t>현재 속도를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4BCD7BD-4718-478A-A800-B339FEC2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9579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52BE6-B3D1-B826-77B9-77930ECD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211392-8117-9FAB-F2FB-D4348B76A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 // Car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myCar.keyTurnOn</a:t>
            </a:r>
            <a:r>
              <a:rPr lang="en-US" altLang="ko-KR" sz="1400" dirty="0"/>
              <a:t>(); // Car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keyTurnOn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myCar.run</a:t>
            </a:r>
            <a:r>
              <a:rPr lang="en-US" altLang="ko-KR" sz="1400" dirty="0"/>
              <a:t>(); // Car</a:t>
            </a:r>
            <a:r>
              <a:rPr lang="ko-KR" altLang="en-US" sz="1400" dirty="0"/>
              <a:t>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speed = </a:t>
            </a:r>
            <a:r>
              <a:rPr lang="en-US" altLang="ko-KR" sz="1400" dirty="0" err="1"/>
              <a:t>myCar.getSpeed</a:t>
            </a:r>
            <a:r>
              <a:rPr lang="en-US" altLang="ko-KR" sz="1400" dirty="0"/>
              <a:t>(); // Car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getSpeed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 호출 후 현재 속도 반환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현재 속도</a:t>
            </a:r>
            <a:r>
              <a:rPr lang="en-US" altLang="ko-KR" sz="1400" dirty="0"/>
              <a:t>: " + speed + "km/h"); // </a:t>
            </a:r>
            <a:r>
              <a:rPr lang="ko-KR" altLang="en-US" sz="1400" dirty="0"/>
              <a:t>현재 속도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F902D3-BC84-F235-247C-4D6DE7F9C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821" y="2129025"/>
            <a:ext cx="2626040" cy="231622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7AAB00E-03CF-C3B2-D494-E9F09F1B2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380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FCF9B-548C-2F04-19D5-872C1475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5EAA4-7B20-CAB2-B2AC-9AAE2D2FC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sz="1400" b="1" dirty="0"/>
              <a:t>메소드 오버로딩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 내에 같은 이름의 메소드를 여러 개 선언하는 것을 메소드 오버로딩이라고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매개 변수의  리턴 타입</a:t>
            </a:r>
            <a:r>
              <a:rPr lang="en-US" altLang="ko-KR" sz="1400" dirty="0"/>
              <a:t>, </a:t>
            </a:r>
            <a:r>
              <a:rPr lang="ko-KR" altLang="en-US" sz="1400" dirty="0"/>
              <a:t>개수가 달라야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 오버로딩을 사용하면  </a:t>
            </a:r>
            <a:r>
              <a:rPr lang="ko-KR" altLang="en-US" sz="1400" dirty="0" err="1"/>
              <a:t>매개값을</a:t>
            </a:r>
            <a:r>
              <a:rPr lang="ko-KR" altLang="en-US" sz="1400" dirty="0"/>
              <a:t> 다양하게 받아서 처리할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int plus(int x, int y){</a:t>
            </a:r>
          </a:p>
          <a:p>
            <a:pPr marL="0" indent="0">
              <a:buNone/>
            </a:pPr>
            <a:r>
              <a:rPr lang="en-US" altLang="ko-KR" sz="1400" dirty="0"/>
              <a:t>	int</a:t>
            </a:r>
            <a:r>
              <a:rPr lang="ko-KR" altLang="en-US" sz="1400" dirty="0"/>
              <a:t> </a:t>
            </a:r>
            <a:r>
              <a:rPr lang="en-US" altLang="ko-KR" sz="1400" dirty="0"/>
              <a:t>result</a:t>
            </a:r>
            <a:r>
              <a:rPr lang="ko-KR" altLang="en-US" sz="1400" dirty="0"/>
              <a:t> </a:t>
            </a:r>
            <a:r>
              <a:rPr lang="en-US" altLang="ko-KR" sz="1400" dirty="0"/>
              <a:t>=</a:t>
            </a:r>
            <a:r>
              <a:rPr lang="ko-KR" altLang="en-US" sz="1400" dirty="0"/>
              <a:t> </a:t>
            </a:r>
            <a:r>
              <a:rPr lang="en-US" altLang="ko-KR" sz="1400" dirty="0" err="1"/>
              <a:t>x+y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return result;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double plus(double x, double y){</a:t>
            </a:r>
          </a:p>
          <a:p>
            <a:pPr marL="0" indent="0">
              <a:buNone/>
            </a:pPr>
            <a:r>
              <a:rPr lang="en-US" altLang="ko-KR" sz="1400" dirty="0"/>
              <a:t>	double result = x+ y;</a:t>
            </a:r>
          </a:p>
          <a:p>
            <a:pPr marL="0" indent="0">
              <a:buNone/>
            </a:pPr>
            <a:r>
              <a:rPr lang="en-US" altLang="ko-KR" sz="1400" dirty="0"/>
              <a:t>	return result;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 오버로딩의 가장 대표적인 예는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메소드이다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메소드는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주어진 </a:t>
            </a:r>
            <a:r>
              <a:rPr lang="ko-KR" altLang="en-US" sz="1400" dirty="0" err="1"/>
              <a:t>매개값의</a:t>
            </a:r>
            <a:r>
              <a:rPr lang="ko-KR" altLang="en-US" sz="1400" dirty="0"/>
              <a:t> 타입에 따라 다음과 같이 </a:t>
            </a:r>
            <a:r>
              <a:rPr lang="ko-KR" altLang="en-US" sz="1400" dirty="0" err="1"/>
              <a:t>오버로딩된</a:t>
            </a:r>
            <a:r>
              <a:rPr lang="ko-KR" altLang="en-US" sz="1400" dirty="0"/>
              <a:t>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 중 하나를 호출한다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() { ... }</a:t>
            </a:r>
          </a:p>
          <a:p>
            <a:pPr marL="0" indent="0">
              <a:buNone/>
            </a:pPr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x) { ... }</a:t>
            </a:r>
          </a:p>
          <a:p>
            <a:pPr marL="0" indent="0">
              <a:buNone/>
            </a:pPr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(char x) { ... }</a:t>
            </a:r>
          </a:p>
          <a:p>
            <a:pPr marL="0" indent="0">
              <a:buNone/>
            </a:pPr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(char[] x) { ... }</a:t>
            </a:r>
          </a:p>
          <a:p>
            <a:pPr marL="0" indent="0">
              <a:buNone/>
            </a:pPr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(double x) { ...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5879EF-C6B7-77B4-379D-C8791D196038}"/>
              </a:ext>
            </a:extLst>
          </p:cNvPr>
          <p:cNvSpPr txBox="1"/>
          <p:nvPr/>
        </p:nvSpPr>
        <p:spPr>
          <a:xfrm>
            <a:off x="5432079" y="1982450"/>
            <a:ext cx="675992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ko-KR" altLang="en-US" sz="1400" dirty="0"/>
              <a:t>메소드 오버로딩시 주의할  점은 매개 변수의 이름이 다르다고 해서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 오버로딩이라고 하지 않는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int plus(int x, int y){</a:t>
            </a:r>
          </a:p>
          <a:p>
            <a:pPr marL="0" indent="0">
              <a:buNone/>
            </a:pPr>
            <a:r>
              <a:rPr lang="en-US" altLang="ko-KR" sz="1400" dirty="0"/>
              <a:t>	int</a:t>
            </a:r>
            <a:r>
              <a:rPr lang="ko-KR" altLang="en-US" sz="1400" dirty="0"/>
              <a:t> </a:t>
            </a:r>
            <a:r>
              <a:rPr lang="en-US" altLang="ko-KR" sz="1400" dirty="0"/>
              <a:t>result</a:t>
            </a:r>
            <a:r>
              <a:rPr lang="ko-KR" altLang="en-US" sz="1400" dirty="0"/>
              <a:t> </a:t>
            </a:r>
            <a:r>
              <a:rPr lang="en-US" altLang="ko-KR" sz="1400" dirty="0"/>
              <a:t>=</a:t>
            </a:r>
            <a:r>
              <a:rPr lang="ko-KR" altLang="en-US" sz="1400" dirty="0"/>
              <a:t> </a:t>
            </a:r>
            <a:r>
              <a:rPr lang="en-US" altLang="ko-KR" sz="1400" dirty="0" err="1"/>
              <a:t>x+y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return result;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double plus(double a, double b){</a:t>
            </a:r>
          </a:p>
          <a:p>
            <a:pPr marL="0" indent="0">
              <a:buNone/>
            </a:pPr>
            <a:r>
              <a:rPr lang="en-US" altLang="ko-KR" sz="1400" dirty="0"/>
              <a:t>	double result = a+ b;</a:t>
            </a:r>
          </a:p>
          <a:p>
            <a:pPr marL="0" indent="0">
              <a:buNone/>
            </a:pPr>
            <a:r>
              <a:rPr lang="en-US" altLang="ko-KR" sz="1400" dirty="0"/>
              <a:t>	return result;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BF04F-7B1B-6188-E7BA-B50DD5ADB497}"/>
              </a:ext>
            </a:extLst>
          </p:cNvPr>
          <p:cNvSpPr txBox="1"/>
          <p:nvPr/>
        </p:nvSpPr>
        <p:spPr>
          <a:xfrm>
            <a:off x="3959382" y="5281999"/>
            <a:ext cx="23870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(float x) { ... }</a:t>
            </a:r>
          </a:p>
          <a:p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(int x) { ... }</a:t>
            </a:r>
          </a:p>
          <a:p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(long x) { ... }</a:t>
            </a:r>
          </a:p>
          <a:p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(Object x) { ... }</a:t>
            </a:r>
          </a:p>
          <a:p>
            <a:r>
              <a:rPr lang="en-US" altLang="ko-KR" sz="1400" dirty="0"/>
              <a:t>void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(String x) { ... }</a:t>
            </a:r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37AB4-8BB8-6646-CC26-2E5A2150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356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440D1-C38E-6E53-78F8-5ABB81996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69BB9D-8D10-3CDF-A114-913809772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Calculator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정사각형의 넓이를 계산하는 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double </a:t>
            </a:r>
            <a:r>
              <a:rPr lang="en-US" altLang="ko-KR" sz="1400" dirty="0" err="1"/>
              <a:t>areaRectangle</a:t>
            </a:r>
            <a:r>
              <a:rPr lang="en-US" altLang="ko-KR" sz="1400" dirty="0"/>
              <a:t>(double width) {</a:t>
            </a:r>
          </a:p>
          <a:p>
            <a:pPr marL="0" indent="0">
              <a:buNone/>
            </a:pPr>
            <a:r>
              <a:rPr lang="en-US" altLang="ko-KR" sz="1400" dirty="0"/>
              <a:t>        return width * width; // </a:t>
            </a:r>
            <a:r>
              <a:rPr lang="ko-KR" altLang="en-US" sz="1400" dirty="0"/>
              <a:t>한 변의 길이를 제곱하여 넓이를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직사각형의 넓이를 계산하는 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double </a:t>
            </a:r>
            <a:r>
              <a:rPr lang="en-US" altLang="ko-KR" sz="1400" dirty="0" err="1"/>
              <a:t>areaRectangle</a:t>
            </a:r>
            <a:r>
              <a:rPr lang="en-US" altLang="ko-KR" sz="1400" dirty="0"/>
              <a:t>(double width, double height) {</a:t>
            </a:r>
          </a:p>
          <a:p>
            <a:pPr marL="0" indent="0">
              <a:buNone/>
            </a:pPr>
            <a:r>
              <a:rPr lang="en-US" altLang="ko-KR" sz="1400" dirty="0"/>
              <a:t>        return width * height; // </a:t>
            </a:r>
            <a:r>
              <a:rPr lang="ko-KR" altLang="en-US" sz="1400" dirty="0"/>
              <a:t>가로와 세로를 곱하여 넓이를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 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CalculatorExample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Calculator </a:t>
            </a:r>
            <a:r>
              <a:rPr lang="en-US" altLang="ko-KR" sz="1400" dirty="0" err="1"/>
              <a:t>myCalcu</a:t>
            </a:r>
            <a:r>
              <a:rPr lang="en-US" altLang="ko-KR" sz="1400" dirty="0"/>
              <a:t> = new Calculator(); // Calculator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정사각형의 넓이 구하기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result1 = </a:t>
            </a:r>
            <a:r>
              <a:rPr lang="en-US" altLang="ko-KR" sz="1400" dirty="0" err="1"/>
              <a:t>myCalcu.areaRectangle</a:t>
            </a:r>
            <a:r>
              <a:rPr lang="en-US" altLang="ko-KR" sz="1400" dirty="0"/>
              <a:t>(10); // </a:t>
            </a:r>
            <a:r>
              <a:rPr lang="ko-KR" altLang="en-US" sz="1400" dirty="0"/>
              <a:t>한 변의 길이가 </a:t>
            </a:r>
            <a:r>
              <a:rPr lang="en-US" altLang="ko-KR" sz="1400" dirty="0"/>
              <a:t>10</a:t>
            </a:r>
            <a:r>
              <a:rPr lang="ko-KR" altLang="en-US" sz="1400" dirty="0"/>
              <a:t>인 정사각형의 넓이 계산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직사각형의 넓이 구하기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result2 = </a:t>
            </a:r>
            <a:r>
              <a:rPr lang="en-US" altLang="ko-KR" sz="1400" dirty="0" err="1"/>
              <a:t>myCalcu.areaRectangle</a:t>
            </a:r>
            <a:r>
              <a:rPr lang="en-US" altLang="ko-KR" sz="1400" dirty="0"/>
              <a:t>(10, 20); // </a:t>
            </a:r>
            <a:r>
              <a:rPr lang="ko-KR" altLang="en-US" sz="1400" dirty="0"/>
              <a:t>가로 </a:t>
            </a:r>
            <a:r>
              <a:rPr lang="en-US" altLang="ko-KR" sz="1400" dirty="0"/>
              <a:t>10, </a:t>
            </a:r>
            <a:r>
              <a:rPr lang="ko-KR" altLang="en-US" sz="1400" dirty="0"/>
              <a:t>세로 </a:t>
            </a:r>
            <a:r>
              <a:rPr lang="en-US" altLang="ko-KR" sz="1400" dirty="0"/>
              <a:t>20</a:t>
            </a:r>
            <a:r>
              <a:rPr lang="ko-KR" altLang="en-US" sz="1400" dirty="0"/>
              <a:t>인 직사각형의 넓이 계산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정사각형 넓이</a:t>
            </a:r>
            <a:r>
              <a:rPr lang="en-US" altLang="ko-KR" sz="1400" dirty="0"/>
              <a:t>=" + result1); // </a:t>
            </a:r>
            <a:r>
              <a:rPr lang="ko-KR" altLang="en-US" sz="1400" dirty="0"/>
              <a:t>정사각형 넓이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직사각형 넓이</a:t>
            </a:r>
            <a:r>
              <a:rPr lang="en-US" altLang="ko-KR" sz="1400" dirty="0"/>
              <a:t>=" + result2); // </a:t>
            </a:r>
            <a:r>
              <a:rPr lang="ko-KR" altLang="en-US" sz="1400" dirty="0"/>
              <a:t>직사각형 넓이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F5CF0B-53AE-A12D-4192-96DF260D9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521" y="2711040"/>
            <a:ext cx="3753264" cy="117289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A450BF-774F-BFA1-ADA1-B89B7301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648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C382-716D-B58E-C64A-5FE051D3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D81C8B-21BD-36DB-0129-79A9FFCF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인스턴스 </a:t>
            </a:r>
            <a:r>
              <a:rPr lang="ko-KR" altLang="en-US" sz="1400" b="1" dirty="0" err="1"/>
              <a:t>맴버와</a:t>
            </a:r>
            <a:r>
              <a:rPr lang="ko-KR" altLang="en-US" sz="1400" b="1" dirty="0"/>
              <a:t> 정적 </a:t>
            </a:r>
            <a:r>
              <a:rPr lang="ko-KR" altLang="en-US" sz="1400" b="1" dirty="0" err="1"/>
              <a:t>맴버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인스턴스 </a:t>
            </a:r>
            <a:r>
              <a:rPr lang="ko-KR" altLang="en-US" sz="1400" dirty="0" err="1"/>
              <a:t>맴버란</a:t>
            </a:r>
            <a:r>
              <a:rPr lang="ko-KR" altLang="en-US" sz="1400" dirty="0"/>
              <a:t> 객체를 생성한 후 사용할 수 있는 필드와 메소드를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이들을 각각 인스턴스 필드</a:t>
            </a:r>
            <a:r>
              <a:rPr lang="en-US" altLang="ko-KR" sz="1400" dirty="0"/>
              <a:t>, </a:t>
            </a:r>
            <a:r>
              <a:rPr lang="ko-KR" altLang="en-US" sz="1400" dirty="0"/>
              <a:t>인스턴스 메소드라고 부른다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인스턴스 필드와 메소드는 객체에 소속된 멤버이기 때문에  객체생성 없이 사용할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인스턴스 멤버 선언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gas;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setSpeed</a:t>
            </a:r>
            <a:r>
              <a:rPr lang="en-US" altLang="ko-KR" sz="1400" dirty="0"/>
              <a:t>(int speed) { ...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 코드를 그림으로 나타내면 다음과 같다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인스턴스 필드 </a:t>
            </a:r>
            <a:r>
              <a:rPr lang="en-US" altLang="ko-KR" sz="1400" dirty="0"/>
              <a:t>gas</a:t>
            </a:r>
            <a:r>
              <a:rPr lang="ko-KR" altLang="en-US" sz="1400" dirty="0"/>
              <a:t>는 각각 객체마다 고유의 값으로 초기화 되었다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하지만 인스턴스 메소드 </a:t>
            </a:r>
            <a:r>
              <a:rPr lang="en-US" altLang="ko-KR" sz="1400" dirty="0" err="1"/>
              <a:t>setSpeed</a:t>
            </a:r>
            <a:r>
              <a:rPr lang="en-US" altLang="ko-KR" sz="1400" dirty="0"/>
              <a:t>()</a:t>
            </a:r>
            <a:r>
              <a:rPr lang="ko-KR" altLang="en-US" sz="1400" dirty="0"/>
              <a:t>는 객체 내부에 없고 메소드 영역에서 존재한다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메소드는 고유 코드이므로 객체마다 동일한 코드 블록을 가지고 있을 필요가 없기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 </a:t>
            </a:r>
          </a:p>
          <a:p>
            <a:pPr marL="0" indent="0">
              <a:buNone/>
            </a:pPr>
            <a:endParaRPr lang="en-US" altLang="ko-KR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375F66-27E2-6B91-ABDA-2D117E132463}"/>
              </a:ext>
            </a:extLst>
          </p:cNvPr>
          <p:cNvSpPr txBox="1"/>
          <p:nvPr/>
        </p:nvSpPr>
        <p:spPr>
          <a:xfrm>
            <a:off x="5504507" y="2236206"/>
            <a:ext cx="51061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400" dirty="0"/>
              <a:t>// </a:t>
            </a:r>
            <a:r>
              <a:rPr lang="ko-KR" altLang="en-US" sz="1400" dirty="0"/>
              <a:t>객체 생성 및 사용 예시</a:t>
            </a:r>
          </a:p>
          <a:p>
            <a:pPr marL="0" indent="0">
              <a:buNone/>
            </a:pPr>
            <a:r>
              <a:rPr lang="en-US" altLang="ko-KR" sz="1400" dirty="0"/>
              <a:t>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</a:t>
            </a:r>
          </a:p>
          <a:p>
            <a:pPr marL="0" indent="0">
              <a:buNone/>
            </a:pPr>
            <a:r>
              <a:rPr lang="en-US" altLang="ko-KR" sz="1400" dirty="0" err="1"/>
              <a:t>myCar.gas</a:t>
            </a:r>
            <a:r>
              <a:rPr lang="en-US" altLang="ko-KR" sz="1400" dirty="0"/>
              <a:t> = 10;</a:t>
            </a:r>
          </a:p>
          <a:p>
            <a:pPr marL="0" indent="0">
              <a:buNone/>
            </a:pPr>
            <a:r>
              <a:rPr lang="en-US" altLang="ko-KR" sz="1400" dirty="0" err="1"/>
              <a:t>myCar.setSpeed</a:t>
            </a:r>
            <a:r>
              <a:rPr lang="en-US" altLang="ko-KR" sz="1400" dirty="0"/>
              <a:t>(60);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Car </a:t>
            </a:r>
            <a:r>
              <a:rPr lang="en-US" altLang="ko-KR" sz="1400" dirty="0" err="1"/>
              <a:t>yourCar</a:t>
            </a:r>
            <a:r>
              <a:rPr lang="en-US" altLang="ko-KR" sz="1400" dirty="0"/>
              <a:t> = new Car();</a:t>
            </a:r>
          </a:p>
          <a:p>
            <a:pPr marL="0" indent="0">
              <a:buNone/>
            </a:pPr>
            <a:r>
              <a:rPr lang="en-US" altLang="ko-KR" sz="1400" dirty="0" err="1"/>
              <a:t>yourCar.gas</a:t>
            </a:r>
            <a:r>
              <a:rPr lang="en-US" altLang="ko-KR" sz="1400" dirty="0"/>
              <a:t> = 20;</a:t>
            </a:r>
          </a:p>
          <a:p>
            <a:pPr marL="0" indent="0">
              <a:buNone/>
            </a:pPr>
            <a:r>
              <a:rPr lang="en-US" altLang="ko-KR" sz="1400" dirty="0" err="1"/>
              <a:t>yourCar.setSpeed</a:t>
            </a:r>
            <a:r>
              <a:rPr lang="en-US" altLang="ko-KR" sz="1400" dirty="0"/>
              <a:t>(80);</a:t>
            </a:r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44A989-A2BA-B1F4-0625-5FE3E840B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847" y="4355628"/>
            <a:ext cx="4660885" cy="2481669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1F5D4-A238-9269-A9A4-292A64DA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4660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8303-932C-3F29-C747-6F98D83E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3F4B5C-E78E-142A-C837-F33799B32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this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외부에서 인스턴스 멤버에 접근하기 위해서 참조 변수를 사용하는 것과 마찬가지로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내부에서도 인스턴스 멤버에 접근하기 위해 </a:t>
            </a:r>
            <a:r>
              <a:rPr lang="en-US" altLang="ko-KR" sz="1400" dirty="0"/>
              <a:t>this</a:t>
            </a:r>
            <a:r>
              <a:rPr lang="ko-KR" altLang="en-US" sz="1400" dirty="0"/>
              <a:t>를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this</a:t>
            </a:r>
            <a:r>
              <a:rPr lang="ko-KR" altLang="en-US" sz="1400" dirty="0"/>
              <a:t>는 주로 생성자 메소드의 매개 변수 이름이 필드 변수 이름과 동일한 경우</a:t>
            </a:r>
            <a:r>
              <a:rPr lang="en-US" altLang="ko-KR" sz="1400" dirty="0"/>
              <a:t>, </a:t>
            </a:r>
            <a:r>
              <a:rPr lang="ko-KR" altLang="en-US" sz="1400" dirty="0"/>
              <a:t>구분을 위해서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 class Car{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String model;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public Car(String model){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F389ED-299E-2D1E-37DC-9E627535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324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55EF-9B83-B8DB-25AB-854CA17B1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B35062-1EFC-0C1B-AC72-0D2901777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model; // </a:t>
            </a:r>
            <a:r>
              <a:rPr lang="ko-KR" altLang="en-US" sz="1400" dirty="0"/>
              <a:t>자동차 모델명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speed; // </a:t>
            </a:r>
            <a:r>
              <a:rPr lang="ko-KR" altLang="en-US" sz="1400" dirty="0"/>
              <a:t>현재 속도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Car(String model) { // </a:t>
            </a:r>
            <a:r>
              <a:rPr lang="ko-KR" altLang="en-US" sz="1400" dirty="0"/>
              <a:t>모델명을 매개변수로 받아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// this</a:t>
            </a:r>
            <a:r>
              <a:rPr lang="ko-KR" altLang="en-US" sz="1400" dirty="0"/>
              <a:t>를 사용하여 필드와 매개변수를 구분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setSpeed</a:t>
            </a:r>
            <a:r>
              <a:rPr lang="en-US" altLang="ko-KR" sz="1400" dirty="0"/>
              <a:t>(int speed) { // </a:t>
            </a:r>
            <a:r>
              <a:rPr lang="ko-KR" altLang="en-US" sz="1400" dirty="0"/>
              <a:t>속도를 설정하는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this.speed</a:t>
            </a:r>
            <a:r>
              <a:rPr lang="en-US" altLang="ko-KR" sz="1400" dirty="0"/>
              <a:t> = speed; // this</a:t>
            </a:r>
            <a:r>
              <a:rPr lang="ko-KR" altLang="en-US" sz="1400" dirty="0"/>
              <a:t>를 사용하여 필드와 매개변수를 구분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run() { // </a:t>
            </a:r>
            <a:r>
              <a:rPr lang="ko-KR" altLang="en-US" sz="1400" dirty="0"/>
              <a:t>자동차가 주행하는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10;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&lt;= 50;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+= 10) { // </a:t>
            </a:r>
            <a:r>
              <a:rPr lang="ko-KR" altLang="en-US" sz="1400" dirty="0"/>
              <a:t>속도를 </a:t>
            </a:r>
            <a:r>
              <a:rPr lang="en-US" altLang="ko-KR" sz="1400" dirty="0"/>
              <a:t>10</a:t>
            </a:r>
            <a:r>
              <a:rPr lang="ko-KR" altLang="en-US" sz="1400" dirty="0"/>
              <a:t>씩 증가시키며 반복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this.setSpeed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// </a:t>
            </a:r>
            <a:r>
              <a:rPr lang="ko-KR" altLang="en-US" sz="1400" dirty="0"/>
              <a:t>현재 속도를 설정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+ "</a:t>
            </a:r>
            <a:r>
              <a:rPr lang="ko-KR" altLang="en-US" sz="1400" dirty="0"/>
              <a:t>가 달립니다</a:t>
            </a:r>
            <a:r>
              <a:rPr lang="en-US" altLang="ko-KR" sz="1400" dirty="0"/>
              <a:t>.(</a:t>
            </a:r>
            <a:r>
              <a:rPr lang="ko-KR" altLang="en-US" sz="1400" dirty="0"/>
              <a:t>시속</a:t>
            </a:r>
            <a:r>
              <a:rPr lang="en-US" altLang="ko-KR" sz="1400" dirty="0"/>
              <a:t>:" + </a:t>
            </a:r>
            <a:r>
              <a:rPr lang="en-US" altLang="ko-KR" sz="1400" dirty="0" err="1"/>
              <a:t>this.speed</a:t>
            </a:r>
            <a:r>
              <a:rPr lang="en-US" altLang="ko-KR" sz="1400" dirty="0"/>
              <a:t> + "km/h)"); // </a:t>
            </a:r>
            <a:r>
              <a:rPr lang="ko-KR" altLang="en-US" sz="1400" dirty="0"/>
              <a:t>현재 속도를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   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D5C1D9-E417-E682-3BDE-7096FA07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6757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32694-44FE-5BA6-EE6D-4CE07A6A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B5928-A855-56BF-6A54-FB7ABE178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Car("</a:t>
            </a:r>
            <a:r>
              <a:rPr lang="ko-KR" altLang="en-US" sz="1400" dirty="0"/>
              <a:t>포르쉐</a:t>
            </a:r>
            <a:r>
              <a:rPr lang="en-US" altLang="ko-KR" sz="1400" dirty="0"/>
              <a:t>"); // "</a:t>
            </a:r>
            <a:r>
              <a:rPr lang="ko-KR" altLang="en-US" sz="1400" dirty="0"/>
              <a:t>포르쉐</a:t>
            </a:r>
            <a:r>
              <a:rPr lang="en-US" altLang="ko-KR" sz="1400" dirty="0"/>
              <a:t>" </a:t>
            </a:r>
            <a:r>
              <a:rPr lang="ko-KR" altLang="en-US" sz="1400" dirty="0"/>
              <a:t>모델의 </a:t>
            </a:r>
            <a:r>
              <a:rPr lang="en-US" altLang="ko-KR" sz="1400" dirty="0"/>
              <a:t>Car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Car </a:t>
            </a:r>
            <a:r>
              <a:rPr lang="en-US" altLang="ko-KR" sz="1400" dirty="0" err="1"/>
              <a:t>yourCar</a:t>
            </a:r>
            <a:r>
              <a:rPr lang="en-US" altLang="ko-KR" sz="1400" dirty="0"/>
              <a:t> = new Car("</a:t>
            </a:r>
            <a:r>
              <a:rPr lang="ko-KR" altLang="en-US" sz="1400" dirty="0"/>
              <a:t>벤츠</a:t>
            </a:r>
            <a:r>
              <a:rPr lang="en-US" altLang="ko-KR" sz="1400" dirty="0"/>
              <a:t>"); // "</a:t>
            </a:r>
            <a:r>
              <a:rPr lang="ko-KR" altLang="en-US" sz="1400" dirty="0"/>
              <a:t>벤츠</a:t>
            </a:r>
            <a:r>
              <a:rPr lang="en-US" altLang="ko-KR" sz="1400" dirty="0"/>
              <a:t>" </a:t>
            </a:r>
            <a:r>
              <a:rPr lang="ko-KR" altLang="en-US" sz="1400" dirty="0"/>
              <a:t>모델의 </a:t>
            </a:r>
            <a:r>
              <a:rPr lang="en-US" altLang="ko-KR" sz="1400" dirty="0"/>
              <a:t>Car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myCar.run</a:t>
            </a:r>
            <a:r>
              <a:rPr lang="en-US" altLang="ko-KR" sz="1400" dirty="0"/>
              <a:t>(); // </a:t>
            </a:r>
            <a:r>
              <a:rPr lang="en-US" altLang="ko-KR" sz="1400" dirty="0" err="1"/>
              <a:t>myCar</a:t>
            </a:r>
            <a:r>
              <a:rPr lang="ko-KR" altLang="en-US" sz="1400" dirty="0"/>
              <a:t>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메소드 호출</a:t>
            </a:r>
            <a:r>
              <a:rPr lang="en-US" altLang="ko-KR" sz="1400" dirty="0"/>
              <a:t>, </a:t>
            </a:r>
            <a:r>
              <a:rPr lang="ko-KR" altLang="en-US" sz="1400" dirty="0"/>
              <a:t>포르쉐가 주행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yourCar.run</a:t>
            </a:r>
            <a:r>
              <a:rPr lang="en-US" altLang="ko-KR" sz="1400" dirty="0"/>
              <a:t>(); // </a:t>
            </a:r>
            <a:r>
              <a:rPr lang="en-US" altLang="ko-KR" sz="1400" dirty="0" err="1"/>
              <a:t>yourCar</a:t>
            </a:r>
            <a:r>
              <a:rPr lang="ko-KR" altLang="en-US" sz="1400" dirty="0"/>
              <a:t>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메소드 호출</a:t>
            </a:r>
            <a:r>
              <a:rPr lang="en-US" altLang="ko-KR" sz="1400" dirty="0"/>
              <a:t>, </a:t>
            </a:r>
            <a:r>
              <a:rPr lang="ko-KR" altLang="en-US" sz="1400" dirty="0"/>
              <a:t>벤츠가 주행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8C0307-6CB9-E60F-028B-612ED5694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659" y="1978086"/>
            <a:ext cx="3002638" cy="263709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9C6C17-BF38-C580-471B-93C0DA21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6607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A901-563D-C304-DB93-1A1CE3264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08679D-17AC-0466-0D11-77E81F9CD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정적 멤버와 </a:t>
            </a:r>
            <a:r>
              <a:rPr lang="en-US" altLang="ko-KR" sz="1400" b="1" dirty="0"/>
              <a:t>static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정적 멤버는 클래스에 고정된 멤버로서 객체를 생성하지 않고 사용할 수 있는 필드와 메소드를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정적 멤버 선언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정적 필드와 정적 메소드를 선언하려면 필드와 메소드 </a:t>
            </a:r>
            <a:r>
              <a:rPr lang="ko-KR" altLang="en-US" sz="1400" dirty="0" err="1"/>
              <a:t>선언시</a:t>
            </a:r>
            <a:r>
              <a:rPr lang="ko-KR" altLang="en-US" sz="1400" dirty="0"/>
              <a:t> </a:t>
            </a:r>
            <a:r>
              <a:rPr lang="en-US" altLang="ko-KR" sz="1400" dirty="0"/>
              <a:t>static </a:t>
            </a:r>
            <a:r>
              <a:rPr lang="ko-KR" altLang="en-US" sz="1400" dirty="0"/>
              <a:t>키워드를 붙이면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Main{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정적필드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static int a = 5;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 err="1"/>
              <a:t>정적메소드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static int plus(int x, int y){</a:t>
            </a:r>
          </a:p>
          <a:p>
            <a:pPr marL="0" indent="0">
              <a:buNone/>
            </a:pPr>
            <a:r>
              <a:rPr lang="en-US" altLang="ko-KR" sz="1400" dirty="0"/>
              <a:t>	...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필드를 선언할 때는 정적 필드로 선언할지 인스턴스 필드로 선언할지 판단 기준이 필요하다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객체마다 가지고 있어야 할 데이터라면 인스턴스 필드로 선언하고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객체마다 가지고 있을 필요가 없는 공용 데이터라면 정적 필드로 선언하는 것이 좋다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2CDFA7-2B00-54CE-F691-C2DC9756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988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BD0C-9A9F-14BA-AFC2-DA2A1B89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A1EC0B-036A-B539-4E23-B148905AC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sz="1400" b="1" dirty="0"/>
              <a:t>정적 멤버 사용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클래스가 </a:t>
            </a:r>
            <a:r>
              <a:rPr lang="ko-KR" altLang="en-US" sz="1400" dirty="0" err="1"/>
              <a:t>컴파일되면</a:t>
            </a:r>
            <a:r>
              <a:rPr lang="ko-KR" altLang="en-US" sz="1400" dirty="0"/>
              <a:t> 정적 멤버를 바로 사용할 수 있는데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/>
              <a:t>클래스 이름과 함께 도트</a:t>
            </a:r>
            <a:r>
              <a:rPr lang="en-US" altLang="ko-KR" sz="1400" dirty="0"/>
              <a:t>(.)</a:t>
            </a:r>
            <a:r>
              <a:rPr lang="ko-KR" altLang="en-US" sz="1400" dirty="0"/>
              <a:t>연산자로 접근할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</a:t>
            </a:r>
            <a:r>
              <a:rPr lang="en-US" altLang="ko-KR" sz="1400" dirty="0"/>
              <a:t>.</a:t>
            </a:r>
            <a:r>
              <a:rPr lang="ko-KR" altLang="en-US" sz="1400" dirty="0"/>
              <a:t>필드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ko-KR" altLang="en-US" sz="1400" dirty="0"/>
              <a:t>클래스</a:t>
            </a:r>
            <a:r>
              <a:rPr lang="en-US" altLang="ko-KR" sz="1400" dirty="0"/>
              <a:t>.</a:t>
            </a:r>
            <a:r>
              <a:rPr lang="ko-KR" altLang="en-US" sz="1400" dirty="0"/>
              <a:t>메소드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Calculator {</a:t>
            </a:r>
          </a:p>
          <a:p>
            <a:pPr marL="0" indent="0">
              <a:buNone/>
            </a:pPr>
            <a:r>
              <a:rPr lang="en-US" altLang="ko-KR" sz="1400" dirty="0"/>
              <a:t>    static double pi = 3.14159; // </a:t>
            </a:r>
            <a:r>
              <a:rPr lang="ko-KR" altLang="en-US" sz="1400" dirty="0"/>
              <a:t>정적 필드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int plus(int x, int y) { // </a:t>
            </a:r>
            <a:r>
              <a:rPr lang="ko-KR" altLang="en-US" sz="1400" dirty="0"/>
              <a:t>정적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x + y;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static int minus(int x, int y) { // </a:t>
            </a:r>
            <a:r>
              <a:rPr lang="ko-KR" altLang="en-US" sz="1400" dirty="0"/>
              <a:t>정적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x - y;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ko-KR" altLang="en-US" sz="1400" dirty="0"/>
              <a:t>정적 필드와 정적 메소드는 원칙적으로는 클래스 이름으로 접근해야 하지만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참조 변수로도 접근이 가능하긴 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Calculator </a:t>
            </a:r>
            <a:r>
              <a:rPr lang="en-US" altLang="ko-KR" sz="1400" dirty="0" err="1"/>
              <a:t>myCalcu</a:t>
            </a:r>
            <a:r>
              <a:rPr lang="en-US" altLang="ko-KR" sz="1400" dirty="0"/>
              <a:t> = new Calculator();</a:t>
            </a:r>
          </a:p>
          <a:p>
            <a:pPr marL="0" indent="0">
              <a:buNone/>
            </a:pPr>
            <a:r>
              <a:rPr lang="en-US" altLang="ko-KR" sz="1400" dirty="0"/>
              <a:t>double result1 = 10 * 10 * </a:t>
            </a:r>
            <a:r>
              <a:rPr lang="en-US" altLang="ko-KR" sz="1400" dirty="0" err="1"/>
              <a:t>myCalcu.pi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int result2 = </a:t>
            </a:r>
            <a:r>
              <a:rPr lang="en-US" altLang="ko-KR" sz="1400" dirty="0" err="1"/>
              <a:t>myCalcu.plus</a:t>
            </a:r>
            <a:r>
              <a:rPr lang="en-US" altLang="ko-KR" sz="1400" dirty="0"/>
              <a:t>(10, 5);</a:t>
            </a:r>
          </a:p>
          <a:p>
            <a:pPr marL="0" indent="0">
              <a:buNone/>
            </a:pPr>
            <a:r>
              <a:rPr lang="en-US" altLang="ko-KR" sz="1400" dirty="0"/>
              <a:t>int result3 = </a:t>
            </a:r>
            <a:r>
              <a:rPr lang="en-US" altLang="ko-KR" sz="1400" dirty="0" err="1"/>
              <a:t>myCalcu.minus</a:t>
            </a:r>
            <a:r>
              <a:rPr lang="en-US" altLang="ko-KR" sz="1400" dirty="0"/>
              <a:t>(10, 5);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AB6EFF-1669-0E32-0236-958F23D4F4F8}"/>
              </a:ext>
            </a:extLst>
          </p:cNvPr>
          <p:cNvSpPr txBox="1"/>
          <p:nvPr/>
        </p:nvSpPr>
        <p:spPr>
          <a:xfrm>
            <a:off x="5241957" y="2408222"/>
            <a:ext cx="30329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// </a:t>
            </a:r>
            <a:r>
              <a:rPr lang="ko-KR" altLang="en-US" sz="1400" dirty="0"/>
              <a:t>정적 필드와 정적 메소드 사용 예 </a:t>
            </a:r>
            <a:r>
              <a:rPr lang="en-US" altLang="ko-KR" sz="1400" dirty="0"/>
              <a:t>double result1 = 10 * 10 * </a:t>
            </a:r>
            <a:r>
              <a:rPr lang="en-US" altLang="ko-KR" sz="1400" dirty="0" err="1"/>
              <a:t>Calculator.pi</a:t>
            </a:r>
            <a:r>
              <a:rPr lang="en-US" altLang="ko-KR" sz="1400" dirty="0"/>
              <a:t>; int result2 = </a:t>
            </a:r>
            <a:r>
              <a:rPr lang="en-US" altLang="ko-KR" sz="1400" dirty="0" err="1"/>
              <a:t>Calculator.plus</a:t>
            </a:r>
            <a:r>
              <a:rPr lang="en-US" altLang="ko-KR" sz="1400" dirty="0"/>
              <a:t>(10, 5); int result3 = </a:t>
            </a:r>
            <a:r>
              <a:rPr lang="en-US" altLang="ko-KR" sz="1400" dirty="0" err="1"/>
              <a:t>Calculator.minus</a:t>
            </a:r>
            <a:r>
              <a:rPr lang="en-US" altLang="ko-KR" sz="1400" dirty="0"/>
              <a:t>(10, 5);</a:t>
            </a:r>
            <a:endParaRPr lang="ko-KR" altLang="en-US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F5F0B0C-FDAB-B51B-5008-5E3CDEB7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6673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4445F-1262-8D4A-EA26-179E504F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32E6E2-B417-FE45-8999-44D5CF714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Calculator {</a:t>
            </a:r>
          </a:p>
          <a:p>
            <a:pPr marL="0" indent="0">
              <a:buNone/>
            </a:pPr>
            <a:r>
              <a:rPr lang="en-US" altLang="ko-KR" sz="1400" dirty="0"/>
              <a:t>    static double pi = 3.14159; // </a:t>
            </a:r>
            <a:r>
              <a:rPr lang="ko-KR" altLang="en-US" sz="1400" dirty="0"/>
              <a:t>정적 필드</a:t>
            </a:r>
            <a:r>
              <a:rPr lang="en-US" altLang="ko-KR" sz="1400" dirty="0"/>
              <a:t>, </a:t>
            </a:r>
            <a:r>
              <a:rPr lang="ko-KR" altLang="en-US" sz="1400" dirty="0"/>
              <a:t>원주율 값 저장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int plus(int x, int y) { // </a:t>
            </a:r>
            <a:r>
              <a:rPr lang="ko-KR" altLang="en-US" sz="1400" dirty="0"/>
              <a:t>두 정수의 합을 반환하는 정적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x + y;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static int minus(int x, int y) { // </a:t>
            </a:r>
            <a:r>
              <a:rPr lang="ko-KR" altLang="en-US" sz="1400" dirty="0"/>
              <a:t>두 정수의 차를 반환하는 정적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x - y;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CalculatorExample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double result1 = 10 * 10 * </a:t>
            </a:r>
            <a:r>
              <a:rPr lang="en-US" altLang="ko-KR" sz="1400" dirty="0" err="1"/>
              <a:t>Calculator.pi</a:t>
            </a:r>
            <a:r>
              <a:rPr lang="en-US" altLang="ko-KR" sz="1400" dirty="0"/>
              <a:t>; // </a:t>
            </a:r>
            <a:r>
              <a:rPr lang="ko-KR" altLang="en-US" sz="1400" dirty="0"/>
              <a:t>정적 필드 </a:t>
            </a:r>
            <a:r>
              <a:rPr lang="en-US" altLang="ko-KR" sz="1400" dirty="0"/>
              <a:t>pi</a:t>
            </a:r>
            <a:r>
              <a:rPr lang="ko-KR" altLang="en-US" sz="1400" dirty="0"/>
              <a:t>를 사용하여 계산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result2 = </a:t>
            </a:r>
            <a:r>
              <a:rPr lang="en-US" altLang="ko-KR" sz="1400" dirty="0" err="1"/>
              <a:t>Calculator.plus</a:t>
            </a:r>
            <a:r>
              <a:rPr lang="en-US" altLang="ko-KR" sz="1400" dirty="0"/>
              <a:t>(10, 5); // </a:t>
            </a:r>
            <a:r>
              <a:rPr lang="ko-KR" altLang="en-US" sz="1400" dirty="0"/>
              <a:t>정적 메소드 </a:t>
            </a:r>
            <a:r>
              <a:rPr lang="en-US" altLang="ko-KR" sz="1400" dirty="0"/>
              <a:t>plus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result3 = </a:t>
            </a:r>
            <a:r>
              <a:rPr lang="en-US" altLang="ko-KR" sz="1400" dirty="0" err="1"/>
              <a:t>Calculator.minus</a:t>
            </a:r>
            <a:r>
              <a:rPr lang="en-US" altLang="ko-KR" sz="1400" dirty="0"/>
              <a:t>(10, 5); // </a:t>
            </a:r>
            <a:r>
              <a:rPr lang="ko-KR" altLang="en-US" sz="1400" dirty="0"/>
              <a:t>정적 메소드 </a:t>
            </a:r>
            <a:r>
              <a:rPr lang="en-US" altLang="ko-KR" sz="1400" dirty="0"/>
              <a:t>minus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("result1 : " + result1); // result1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("result2 : " + result2); // result2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("result3 : " + result3); // result3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E6D3D7-F62D-7159-51A6-2343796E4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635" y="2897910"/>
            <a:ext cx="2877958" cy="135721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35003B7-BAB1-AE72-AD07-856AFB29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9671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88D38-058A-C7FB-F73B-B48C300D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82E84F-C576-442A-5F2F-CE5696CB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정적 메소드 선언 시 주의할 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객체가 없어도 실행된다는 특징 때문에 정적 메소드를 선언할 때는 내부 인스턴스 필드나 인스턴스 메소드를 사용할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또한 </a:t>
            </a:r>
            <a:r>
              <a:rPr lang="en-US" altLang="ko-KR" sz="1400" dirty="0"/>
              <a:t>this</a:t>
            </a:r>
            <a:r>
              <a:rPr lang="ko-KR" altLang="en-US" sz="1400" dirty="0"/>
              <a:t>키워드도 사용이 불가능하다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인스턴스 필드와 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field1;</a:t>
            </a:r>
          </a:p>
          <a:p>
            <a:pPr marL="0" indent="0">
              <a:buNone/>
            </a:pPr>
            <a:r>
              <a:rPr lang="en-US" altLang="ko-KR" sz="1400" dirty="0"/>
              <a:t>    void method1() { ...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정적 필드와 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int field2;</a:t>
            </a:r>
          </a:p>
          <a:p>
            <a:pPr marL="0" indent="0">
              <a:buNone/>
            </a:pPr>
            <a:r>
              <a:rPr lang="en-US" altLang="ko-KR" sz="1400" dirty="0"/>
              <a:t>    static void method2() { ...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정적 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void method3() {</a:t>
            </a:r>
          </a:p>
          <a:p>
            <a:pPr marL="0" indent="0">
              <a:buNone/>
            </a:pPr>
            <a:r>
              <a:rPr lang="en-US" altLang="ko-KR" sz="1400" dirty="0"/>
              <a:t>        // this.field1 = 10; // (x) </a:t>
            </a:r>
            <a:r>
              <a:rPr lang="ko-KR" altLang="en-US" sz="1400" dirty="0"/>
              <a:t>컴파일 에러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this.method1();  // (x) </a:t>
            </a:r>
            <a:r>
              <a:rPr lang="ko-KR" altLang="en-US" sz="1400" dirty="0"/>
              <a:t>컴파일 에러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field2 = 10;       // (o) </a:t>
            </a:r>
            <a:r>
              <a:rPr lang="ko-KR" altLang="en-US" sz="1400" dirty="0"/>
              <a:t>정적 필드 접근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method2();         // (o) </a:t>
            </a:r>
            <a:r>
              <a:rPr lang="ko-KR" altLang="en-US" sz="1400" dirty="0"/>
              <a:t>정적 메소드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DF7A0-9996-AA1B-D077-BBE249FC1041}"/>
              </a:ext>
            </a:extLst>
          </p:cNvPr>
          <p:cNvSpPr txBox="1"/>
          <p:nvPr/>
        </p:nvSpPr>
        <p:spPr>
          <a:xfrm>
            <a:off x="6096000" y="2521059"/>
            <a:ext cx="51152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400" dirty="0"/>
              <a:t>// </a:t>
            </a:r>
            <a:r>
              <a:rPr lang="ko-KR" altLang="en-US" sz="1400" dirty="0"/>
              <a:t>정적 메소드에서 인스턴스 멤버 사용 예시</a:t>
            </a:r>
          </a:p>
          <a:p>
            <a:pPr marL="0" indent="0">
              <a:buNone/>
            </a:pPr>
            <a:r>
              <a:rPr lang="en-US" altLang="ko-KR" sz="1400" dirty="0"/>
              <a:t>static void method3() {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 obj = new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(); // </a:t>
            </a:r>
            <a:r>
              <a:rPr lang="ko-KR" altLang="en-US" sz="1400" dirty="0"/>
              <a:t>객체 생성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ClassName.method2();	//</a:t>
            </a:r>
            <a:r>
              <a:rPr lang="ko-KR" altLang="en-US" sz="1400" dirty="0"/>
              <a:t>정적 메소드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obj.field1 = 10;                // </a:t>
            </a:r>
            <a:r>
              <a:rPr lang="ko-KR" altLang="en-US" sz="1400" dirty="0"/>
              <a:t>인스턴스 필드 접근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obj.method1();                  // </a:t>
            </a:r>
            <a:r>
              <a:rPr lang="ko-KR" altLang="en-US" sz="1400" dirty="0"/>
              <a:t>인스턴스 메소드 호출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1C9567-BC75-D286-DF75-A5868E65D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2025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D9C1-1094-3434-D2E3-F597A167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4599C8-085E-FCA7-11F1-7004FE392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400" b="1" dirty="0" err="1"/>
              <a:t>싱글톤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 err="1"/>
              <a:t>싱글톤이란</a:t>
            </a:r>
            <a:r>
              <a:rPr lang="ko-KR" altLang="en-US" sz="1400" dirty="0"/>
              <a:t>  디자인 패턴 중 하나로</a:t>
            </a:r>
            <a:r>
              <a:rPr lang="en-US" altLang="ko-KR" sz="1400" dirty="0"/>
              <a:t>, </a:t>
            </a:r>
            <a:r>
              <a:rPr lang="ko-KR" altLang="en-US" sz="1400" dirty="0"/>
              <a:t>클래스의 인스턴스를 단 하나만 생성하고</a:t>
            </a:r>
            <a:r>
              <a:rPr lang="en-US" altLang="ko-KR" sz="1400" dirty="0"/>
              <a:t>, </a:t>
            </a:r>
            <a:r>
              <a:rPr lang="ko-KR" altLang="en-US" sz="1400" dirty="0"/>
              <a:t>이를 어디서든 접근할 수 있도록 설계하는 방식이다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이러한 </a:t>
            </a:r>
            <a:r>
              <a:rPr lang="ko-KR" altLang="en-US" sz="1400" dirty="0" err="1"/>
              <a:t>싱글톤을</a:t>
            </a:r>
            <a:r>
              <a:rPr lang="ko-KR" altLang="en-US" sz="1400" dirty="0"/>
              <a:t> 만들려면 생성자를 외부에서 호출할 수 없도록 </a:t>
            </a:r>
            <a:r>
              <a:rPr lang="ko-KR" altLang="en-US" sz="1400" dirty="0" err="1"/>
              <a:t>해야하므로</a:t>
            </a:r>
            <a:r>
              <a:rPr lang="ko-KR" altLang="en-US" sz="1400" dirty="0"/>
              <a:t> 생성자 앞에 </a:t>
            </a:r>
            <a:r>
              <a:rPr lang="en-US" altLang="ko-KR" sz="1400" dirty="0"/>
              <a:t>private </a:t>
            </a:r>
            <a:r>
              <a:rPr lang="ko-KR" altLang="en-US" sz="1400" dirty="0"/>
              <a:t>접근 제한자를 붙인다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private</a:t>
            </a:r>
            <a:r>
              <a:rPr lang="ko-KR" altLang="en-US" sz="1400" dirty="0"/>
              <a:t>를 포함한 접근 </a:t>
            </a:r>
            <a:r>
              <a:rPr lang="ko-KR" altLang="en-US" sz="1400" dirty="0" err="1"/>
              <a:t>제한자</a:t>
            </a:r>
            <a:r>
              <a:rPr lang="ko-KR" altLang="en-US" sz="1400" dirty="0"/>
              <a:t> 개념은 </a:t>
            </a:r>
            <a:r>
              <a:rPr lang="ko-KR" altLang="en-US" sz="1400" dirty="0" err="1"/>
              <a:t>뒷</a:t>
            </a:r>
            <a:r>
              <a:rPr lang="ko-KR" altLang="en-US" sz="1400" dirty="0"/>
              <a:t> 슬라이드에서 다룬다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싱글톤은</a:t>
            </a:r>
            <a:r>
              <a:rPr lang="ko-KR" altLang="en-US" sz="1400" dirty="0"/>
              <a:t> 자신의 타입인 정적 필드를 선언해서 자신의 객체를 생성하고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외부에서 호출하여 인스턴스를 얻을 수 있는 </a:t>
            </a:r>
            <a:r>
              <a:rPr lang="en-US" altLang="ko-KR" sz="1400" dirty="0" err="1"/>
              <a:t>getInstance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메소드를 정적 메소드로 선언한다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ko-KR" altLang="en-US" sz="1400" dirty="0"/>
              <a:t>클래스 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정적 필드</a:t>
            </a:r>
            <a:r>
              <a:rPr lang="en-US" altLang="ko-KR" sz="1400" dirty="0"/>
              <a:t>: </a:t>
            </a:r>
            <a:r>
              <a:rPr lang="ko-KR" altLang="en-US" sz="1400" dirty="0"/>
              <a:t>클래스의 유일한 인스턴스를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private static </a:t>
            </a:r>
            <a:r>
              <a:rPr lang="ko-KR" altLang="en-US" sz="1400" dirty="0"/>
              <a:t>클래스 </a:t>
            </a:r>
            <a:r>
              <a:rPr lang="en-US" altLang="ko-KR" sz="1400" dirty="0"/>
              <a:t>singleton = new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생성자</a:t>
            </a:r>
            <a:r>
              <a:rPr lang="en-US" altLang="ko-KR" sz="1400" dirty="0"/>
              <a:t>: </a:t>
            </a:r>
            <a:r>
              <a:rPr lang="ko-KR" altLang="en-US" sz="1400" dirty="0"/>
              <a:t>외부에서 객체 생성 불가 </a:t>
            </a:r>
            <a:r>
              <a:rPr lang="en-US" altLang="ko-KR" sz="1400" dirty="0"/>
              <a:t>(private </a:t>
            </a:r>
            <a:r>
              <a:rPr lang="ko-KR" altLang="en-US" sz="1400" dirty="0"/>
              <a:t>접근 </a:t>
            </a:r>
            <a:r>
              <a:rPr lang="ko-KR" altLang="en-US" sz="1400" dirty="0" err="1"/>
              <a:t>제어자</a:t>
            </a:r>
            <a:r>
              <a:rPr lang="ko-KR" altLang="en-US" sz="1400" dirty="0"/>
              <a:t> 사용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private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() {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정적 메소드</a:t>
            </a:r>
            <a:r>
              <a:rPr lang="en-US" altLang="ko-KR" sz="1400" dirty="0"/>
              <a:t>: </a:t>
            </a:r>
            <a:r>
              <a:rPr lang="ko-KR" altLang="en-US" sz="1400" dirty="0"/>
              <a:t>생성된 인스턴스를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</a:t>
            </a:r>
            <a:r>
              <a:rPr lang="ko-KR" altLang="en-US" sz="1400" dirty="0"/>
              <a:t>클래스 </a:t>
            </a:r>
            <a:r>
              <a:rPr lang="en-US" altLang="ko-KR" sz="1400" dirty="0" err="1"/>
              <a:t>getInstance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return singleton; // </a:t>
            </a:r>
            <a:r>
              <a:rPr lang="ko-KR" altLang="en-US" sz="1400" dirty="0"/>
              <a:t>유일한 인스턴스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C9728-B455-F404-2165-3825B32607B8}"/>
              </a:ext>
            </a:extLst>
          </p:cNvPr>
          <p:cNvSpPr txBox="1"/>
          <p:nvPr/>
        </p:nvSpPr>
        <p:spPr>
          <a:xfrm>
            <a:off x="6627137" y="3549900"/>
            <a:ext cx="4472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클래스 변수</a:t>
            </a:r>
            <a:r>
              <a:rPr lang="en-US" altLang="ko-KR" sz="1400" dirty="0"/>
              <a:t>1 =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.</a:t>
            </a:r>
            <a:r>
              <a:rPr lang="en-US" altLang="ko-KR" sz="1400" dirty="0" err="1"/>
              <a:t>getInstance</a:t>
            </a:r>
            <a:r>
              <a:rPr lang="en-US" altLang="ko-KR" sz="1400" dirty="0"/>
              <a:t>();</a:t>
            </a:r>
          </a:p>
          <a:p>
            <a:r>
              <a:rPr lang="ko-KR" altLang="en-US" sz="1400" dirty="0"/>
              <a:t>클래스 변수</a:t>
            </a:r>
            <a:r>
              <a:rPr lang="en-US" altLang="ko-KR" sz="1400" dirty="0"/>
              <a:t>2 =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.</a:t>
            </a:r>
            <a:r>
              <a:rPr lang="en-US" altLang="ko-KR" sz="1400" dirty="0" err="1"/>
              <a:t>getInstance</a:t>
            </a:r>
            <a:r>
              <a:rPr lang="en-US" altLang="ko-KR" sz="1400" dirty="0"/>
              <a:t>();</a:t>
            </a:r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FD53C6-8E5F-F7FB-4CE2-1AA1CD182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333" y="4561060"/>
            <a:ext cx="3795134" cy="155908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D3517A-1BB8-0F6B-536A-74B331DC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0220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D32AC-A8FD-F46D-48FE-DCF67D44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1BDF68-8A5A-F985-F27B-2418BCB55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Singleton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정적 필드</a:t>
            </a:r>
            <a:r>
              <a:rPr lang="en-US" altLang="ko-KR" sz="1400" dirty="0"/>
              <a:t>: Singleton </a:t>
            </a:r>
            <a:r>
              <a:rPr lang="ko-KR" altLang="en-US" sz="1400" dirty="0"/>
              <a:t>클래스의 유일한 인스턴스를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private static Singleton </a:t>
            </a:r>
            <a:r>
              <a:rPr lang="en-US" altLang="ko-KR" sz="1400" dirty="0" err="1"/>
              <a:t>singleton</a:t>
            </a:r>
            <a:r>
              <a:rPr lang="en-US" altLang="ko-KR" sz="1400" dirty="0"/>
              <a:t> = new Singleton();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생성자</a:t>
            </a:r>
            <a:r>
              <a:rPr lang="en-US" altLang="ko-KR" sz="1400" dirty="0"/>
              <a:t>: </a:t>
            </a:r>
            <a:r>
              <a:rPr lang="ko-KR" altLang="en-US" sz="1400" dirty="0"/>
              <a:t>외부에서 객체를 생성하지 못하도록 </a:t>
            </a:r>
            <a:r>
              <a:rPr lang="en-US" altLang="ko-KR" sz="1400" dirty="0"/>
              <a:t>private</a:t>
            </a:r>
            <a:r>
              <a:rPr lang="ko-KR" altLang="en-US" sz="1400" dirty="0"/>
              <a:t>으로 제한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private Singleton() {}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정적 메소드</a:t>
            </a:r>
            <a:r>
              <a:rPr lang="en-US" altLang="ko-KR" sz="1400" dirty="0"/>
              <a:t>: Singleton </a:t>
            </a:r>
            <a:r>
              <a:rPr lang="ko-KR" altLang="en-US" sz="1400" dirty="0"/>
              <a:t>인스턴스를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Singleton </a:t>
            </a:r>
            <a:r>
              <a:rPr lang="en-US" altLang="ko-KR" sz="1400" dirty="0" err="1"/>
              <a:t>getInstance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return singleton; // </a:t>
            </a:r>
            <a:r>
              <a:rPr lang="ko-KR" altLang="en-US" sz="1400" dirty="0"/>
              <a:t>유일한 </a:t>
            </a:r>
            <a:r>
              <a:rPr lang="en-US" altLang="ko-KR" sz="1400" dirty="0"/>
              <a:t>Singleton </a:t>
            </a:r>
            <a:r>
              <a:rPr lang="ko-KR" altLang="en-US" sz="1400" dirty="0"/>
              <a:t>인스턴스를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SingletonExample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/*</a:t>
            </a:r>
          </a:p>
          <a:p>
            <a:pPr marL="0" indent="0">
              <a:buNone/>
            </a:pPr>
            <a:r>
              <a:rPr lang="en-US" altLang="ko-KR" sz="1400" dirty="0"/>
              <a:t>        Singleton obj1 = new Singleton();  // </a:t>
            </a:r>
            <a:r>
              <a:rPr lang="ko-KR" altLang="en-US" sz="1400" dirty="0"/>
              <a:t>컴파일 에러</a:t>
            </a:r>
            <a:r>
              <a:rPr lang="en-US" altLang="ko-KR" sz="1400" dirty="0"/>
              <a:t>: </a:t>
            </a:r>
            <a:r>
              <a:rPr lang="ko-KR" altLang="en-US" sz="1400" dirty="0"/>
              <a:t>생성자가 </a:t>
            </a:r>
            <a:r>
              <a:rPr lang="en-US" altLang="ko-KR" sz="1400" dirty="0"/>
              <a:t>private</a:t>
            </a:r>
            <a:r>
              <a:rPr lang="ko-KR" altLang="en-US" sz="1400" dirty="0"/>
              <a:t>으로 설정되어 객체 생성 불가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Singleton obj2 = new Singleton();  // </a:t>
            </a:r>
            <a:r>
              <a:rPr lang="ko-KR" altLang="en-US" sz="1400" dirty="0"/>
              <a:t>컴파일 에러</a:t>
            </a:r>
          </a:p>
          <a:p>
            <a:pPr marL="0" indent="0">
              <a:buNone/>
            </a:pPr>
            <a:r>
              <a:rPr lang="ko-KR" altLang="en-US" sz="1400" dirty="0"/>
              <a:t>        *</a:t>
            </a:r>
            <a:r>
              <a:rPr lang="en-US" altLang="ko-KR" sz="1400" dirty="0"/>
              <a:t>/</a:t>
            </a:r>
          </a:p>
          <a:p>
            <a:pPr marL="0" indent="0">
              <a:buNone/>
            </a:pPr>
            <a:r>
              <a:rPr lang="en-US" altLang="ko-KR" sz="1400" dirty="0"/>
              <a:t>        Singleton obj1 = </a:t>
            </a:r>
            <a:r>
              <a:rPr lang="en-US" altLang="ko-KR" sz="1400" dirty="0" err="1"/>
              <a:t>Singleton.getInstance</a:t>
            </a:r>
            <a:r>
              <a:rPr lang="en-US" altLang="ko-KR" sz="1400" dirty="0"/>
              <a:t>(); // Singleton </a:t>
            </a:r>
            <a:r>
              <a:rPr lang="ko-KR" altLang="en-US" sz="1400" dirty="0"/>
              <a:t>인스턴스를 가져옴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Singleton obj2 = </a:t>
            </a:r>
            <a:r>
              <a:rPr lang="en-US" altLang="ko-KR" sz="1400" dirty="0" err="1"/>
              <a:t>Singleton.getInstance</a:t>
            </a:r>
            <a:r>
              <a:rPr lang="en-US" altLang="ko-KR" sz="1400" dirty="0"/>
              <a:t>(); // Singleton </a:t>
            </a:r>
            <a:r>
              <a:rPr lang="ko-KR" altLang="en-US" sz="1400" dirty="0"/>
              <a:t>인스턴스를 가져옴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(obj1 == obj2) { // </a:t>
            </a:r>
            <a:r>
              <a:rPr lang="ko-KR" altLang="en-US" sz="1400" dirty="0"/>
              <a:t>두 객체가 동일한 인스턴스인지 비교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같은 </a:t>
            </a:r>
            <a:r>
              <a:rPr lang="en-US" altLang="ko-KR" sz="1400" dirty="0"/>
              <a:t>Singleton </a:t>
            </a:r>
            <a:r>
              <a:rPr lang="ko-KR" altLang="en-US" sz="1400" dirty="0"/>
              <a:t>객체 입니다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동일한 객체일 경우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다른 </a:t>
            </a:r>
            <a:r>
              <a:rPr lang="en-US" altLang="ko-KR" sz="1400" dirty="0"/>
              <a:t>Singleton </a:t>
            </a:r>
            <a:r>
              <a:rPr lang="ko-KR" altLang="en-US" sz="1400" dirty="0"/>
              <a:t>객체 입니다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다른 객체일 경우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D8C921-D950-672A-D149-4E702A012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439" y="4224479"/>
            <a:ext cx="3432019" cy="5610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5857E27-BE9C-4B96-D204-CAABA13FB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324" y="1853980"/>
            <a:ext cx="3795134" cy="155908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D4388D-C7BE-5A84-417A-95793DC6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2299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C53A-5F6E-5835-657A-2D1DC167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156F73-958F-062D-F11D-8060910BD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final</a:t>
            </a:r>
            <a:r>
              <a:rPr lang="ko-KR" altLang="en-US" sz="1400" b="1" dirty="0"/>
              <a:t>필드와 상수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final</a:t>
            </a:r>
            <a:r>
              <a:rPr lang="ko-KR" altLang="en-US" sz="1400" dirty="0"/>
              <a:t>은 최종이라는 뜻을 갖고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final</a:t>
            </a:r>
            <a:r>
              <a:rPr lang="ko-KR" altLang="en-US" sz="1400" dirty="0"/>
              <a:t>필드는 초기값이 저장되면 이것이 최종적인 값이 되어서 프로그램 실행 도중에 값이 수정될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final</a:t>
            </a:r>
            <a:r>
              <a:rPr lang="ko-KR" altLang="en-US" sz="1400" dirty="0"/>
              <a:t>필드의 초기값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필드 선언 시 초기화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생성자를 통해 초기화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만약 </a:t>
            </a:r>
            <a:r>
              <a:rPr lang="en-US" altLang="ko-KR" sz="1400" dirty="0" err="1"/>
              <a:t>fianl</a:t>
            </a:r>
            <a:r>
              <a:rPr lang="ko-KR" altLang="en-US" sz="1400" dirty="0"/>
              <a:t>필드의 값이 프로그램 종료까지 초기화되지 않는다면 프로그램 오류가 발생한다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E29DD8A-4437-7A32-1EA3-0CA1BC4B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5304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A8C26-FD14-D405-AFD7-EF8F5FBA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4BDB52-6C00-2CBD-6D80-0CA098857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Person {</a:t>
            </a:r>
          </a:p>
          <a:p>
            <a:pPr marL="0" indent="0">
              <a:buNone/>
            </a:pPr>
            <a:r>
              <a:rPr lang="en-US" altLang="ko-KR" sz="1400" dirty="0"/>
              <a:t>    final String nation = "Korea"; // final </a:t>
            </a:r>
            <a:r>
              <a:rPr lang="ko-KR" altLang="en-US" sz="1400" dirty="0"/>
              <a:t>필드로 값 변경 불가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final String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; // </a:t>
            </a:r>
            <a:r>
              <a:rPr lang="ko-KR" altLang="en-US" sz="1400" dirty="0"/>
              <a:t>주민등록번호</a:t>
            </a:r>
            <a:r>
              <a:rPr lang="en-US" altLang="ko-KR" sz="1400" dirty="0"/>
              <a:t>, </a:t>
            </a:r>
            <a:r>
              <a:rPr lang="ko-KR" altLang="en-US" sz="1400" dirty="0"/>
              <a:t>생성자에서 초기화해야 함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name; // </a:t>
            </a:r>
            <a:r>
              <a:rPr lang="ko-KR" altLang="en-US" sz="1400" dirty="0"/>
              <a:t>이름은 변경 가능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Person(String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, String name) { 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this.ssn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; // final </a:t>
            </a:r>
            <a:r>
              <a:rPr lang="ko-KR" altLang="en-US" sz="1400" dirty="0"/>
              <a:t>필드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this.name = name; // </a:t>
            </a:r>
            <a:r>
              <a:rPr lang="ko-KR" altLang="en-US" sz="1400" dirty="0"/>
              <a:t>이름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PersonExample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Person p1 = new Person("123456-1234567", 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"); // Person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(p1.nation); // nation </a:t>
            </a:r>
            <a:r>
              <a:rPr lang="ko-KR" altLang="en-US" sz="1400" dirty="0"/>
              <a:t>출력 </a:t>
            </a:r>
            <a:r>
              <a:rPr lang="en-US" altLang="ko-KR" sz="1400" dirty="0"/>
              <a:t>(final </a:t>
            </a:r>
            <a:r>
              <a:rPr lang="ko-KR" altLang="en-US" sz="1400" dirty="0"/>
              <a:t>필드로 </a:t>
            </a:r>
            <a:r>
              <a:rPr lang="en-US" altLang="ko-KR" sz="1400" dirty="0"/>
              <a:t>"Korea" </a:t>
            </a:r>
            <a:r>
              <a:rPr lang="ko-KR" altLang="en-US" sz="1400" dirty="0"/>
              <a:t>고정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(p1.ssn); //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 </a:t>
            </a:r>
            <a:r>
              <a:rPr lang="ko-KR" altLang="en-US" sz="1400" dirty="0"/>
              <a:t>출력 </a:t>
            </a:r>
            <a:r>
              <a:rPr lang="en-US" altLang="ko-KR" sz="1400" dirty="0"/>
              <a:t>(</a:t>
            </a:r>
            <a:r>
              <a:rPr lang="ko-KR" altLang="en-US" sz="1400" dirty="0"/>
              <a:t>생성자에서 초기화된 값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(p1.name); // name </a:t>
            </a:r>
            <a:r>
              <a:rPr lang="ko-KR" altLang="en-US" sz="1400" dirty="0"/>
              <a:t>출력 </a:t>
            </a:r>
            <a:r>
              <a:rPr lang="en-US" altLang="ko-KR" sz="1400" dirty="0"/>
              <a:t>(</a:t>
            </a:r>
            <a:r>
              <a:rPr lang="ko-KR" altLang="en-US" sz="1400" dirty="0"/>
              <a:t>현재 값 </a:t>
            </a:r>
            <a:r>
              <a:rPr lang="en-US" altLang="ko-KR" sz="1400" dirty="0"/>
              <a:t>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p1.nation = "</a:t>
            </a:r>
            <a:r>
              <a:rPr lang="en-US" altLang="ko-KR" sz="1400" dirty="0" err="1"/>
              <a:t>usa</a:t>
            </a:r>
            <a:r>
              <a:rPr lang="en-US" altLang="ko-KR" sz="1400" dirty="0"/>
              <a:t>"; // (</a:t>
            </a:r>
            <a:r>
              <a:rPr lang="ko-KR" altLang="en-US" sz="1400" dirty="0"/>
              <a:t>컴파일 에러</a:t>
            </a:r>
            <a:r>
              <a:rPr lang="en-US" altLang="ko-KR" sz="1400" dirty="0"/>
              <a:t>) final </a:t>
            </a:r>
            <a:r>
              <a:rPr lang="ko-KR" altLang="en-US" sz="1400" dirty="0"/>
              <a:t>필드는 변경 불가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p1.ssn = "654321-7654321"; // (</a:t>
            </a:r>
            <a:r>
              <a:rPr lang="ko-KR" altLang="en-US" sz="1400" dirty="0"/>
              <a:t>컴파일 에러</a:t>
            </a:r>
            <a:r>
              <a:rPr lang="en-US" altLang="ko-KR" sz="1400" dirty="0"/>
              <a:t>) final </a:t>
            </a:r>
            <a:r>
              <a:rPr lang="ko-KR" altLang="en-US" sz="1400" dirty="0"/>
              <a:t>필드는 변경 불가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p1.name = "</a:t>
            </a:r>
            <a:r>
              <a:rPr lang="ko-KR" altLang="en-US" sz="1400" dirty="0" err="1"/>
              <a:t>홍삼원</a:t>
            </a:r>
            <a:r>
              <a:rPr lang="en-US" altLang="ko-KR" sz="1400" dirty="0"/>
              <a:t>"; // name</a:t>
            </a:r>
            <a:r>
              <a:rPr lang="ko-KR" altLang="en-US" sz="1400" dirty="0"/>
              <a:t>은 변경 가능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01CA98-622A-8579-FB9F-E23E627E4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592" y="2726819"/>
            <a:ext cx="2340604" cy="140436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A620E1-91A7-4CE3-6D84-5730800D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5421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FF78-659F-8792-A6B1-65B1E62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A3B9D5-581D-D9B5-D4B7-779456794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상수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프로그래밍에서 일반적으로 불변의 값을 상수라고 부른다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불변의 값은 수학에서 사용되는 원주율을 예로 들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final </a:t>
            </a:r>
            <a:r>
              <a:rPr lang="ko-KR" altLang="en-US" sz="1400" dirty="0"/>
              <a:t>필드는 한번 초기화되면 수정할 수 없는 필드이며 각각 객체마다 저장된다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상수는 </a:t>
            </a:r>
            <a:r>
              <a:rPr lang="en-US" altLang="ko-KR" sz="1400" dirty="0"/>
              <a:t>static</a:t>
            </a:r>
            <a:r>
              <a:rPr lang="ko-KR" altLang="en-US" sz="1400" dirty="0"/>
              <a:t>이면서 </a:t>
            </a:r>
            <a:r>
              <a:rPr lang="en-US" altLang="ko-KR" sz="1400" dirty="0"/>
              <a:t>final</a:t>
            </a:r>
            <a:r>
              <a:rPr lang="ko-KR" altLang="en-US" sz="1400" dirty="0"/>
              <a:t>의 개념으로 객체마다 존재하지 않고 클래스에만 존재한다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또한 초기값이 저장되면 변경할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상수 이름은 모두 대문자로 작성하는 것이 관례이다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만약 서로 다른 단어가 혼합된 이름이라면 </a:t>
            </a:r>
            <a:r>
              <a:rPr lang="ko-KR" altLang="en-US" sz="1400" dirty="0" err="1"/>
              <a:t>언더바</a:t>
            </a:r>
            <a:r>
              <a:rPr lang="en-US" altLang="ko-KR" sz="1400" dirty="0"/>
              <a:t>(_)</a:t>
            </a:r>
            <a:r>
              <a:rPr lang="ko-KR" altLang="en-US" sz="1400" dirty="0"/>
              <a:t>로 단어를 연결해준다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static final double PI = 3.14159; // </a:t>
            </a:r>
            <a:r>
              <a:rPr lang="ko-KR" altLang="en-US" sz="1400" dirty="0"/>
              <a:t>원주율 상수</a:t>
            </a:r>
          </a:p>
          <a:p>
            <a:pPr marL="0" indent="0">
              <a:buNone/>
            </a:pPr>
            <a:r>
              <a:rPr lang="en-US" altLang="ko-KR" sz="1400" dirty="0"/>
              <a:t>static final double EARTH_RADIUS = 6400; // </a:t>
            </a:r>
            <a:r>
              <a:rPr lang="ko-KR" altLang="en-US" sz="1400" dirty="0"/>
              <a:t>지구 반지름 </a:t>
            </a:r>
            <a:r>
              <a:rPr lang="en-US" altLang="ko-KR" sz="1400" dirty="0"/>
              <a:t>(</a:t>
            </a:r>
            <a:r>
              <a:rPr lang="ko-KR" altLang="en-US" sz="1400" dirty="0"/>
              <a:t>단위</a:t>
            </a:r>
            <a:r>
              <a:rPr lang="en-US" altLang="ko-KR" sz="1400" dirty="0"/>
              <a:t>: km)</a:t>
            </a:r>
          </a:p>
          <a:p>
            <a:pPr marL="0" indent="0">
              <a:buNone/>
            </a:pPr>
            <a:r>
              <a:rPr lang="en-US" altLang="ko-KR" sz="1400" dirty="0"/>
              <a:t>static final double EARTH_AREA = 4 * </a:t>
            </a:r>
            <a:r>
              <a:rPr lang="en-US" altLang="ko-KR" sz="1400" dirty="0" err="1"/>
              <a:t>Math.PI</a:t>
            </a:r>
            <a:r>
              <a:rPr lang="en-US" altLang="ko-KR" sz="1400" dirty="0"/>
              <a:t> * EARTH_RADIUS * EARTH_RADIUS; // </a:t>
            </a:r>
            <a:r>
              <a:rPr lang="ko-KR" altLang="en-US" sz="1400" dirty="0"/>
              <a:t>지구 표면적 계산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9C7E7C-168E-10C4-5326-A71E2B0B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4717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D5C7-6257-E544-5405-5BDFD50A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47C9F-042F-06E0-4567-78F98181C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Earth {</a:t>
            </a:r>
          </a:p>
          <a:p>
            <a:pPr marL="0" indent="0">
              <a:buNone/>
            </a:pPr>
            <a:r>
              <a:rPr lang="en-US" altLang="ko-KR" sz="1400" dirty="0"/>
              <a:t>    static final double EARTH_RADIUS = 6400; // </a:t>
            </a:r>
            <a:r>
              <a:rPr lang="ko-KR" altLang="en-US" sz="1400" dirty="0"/>
              <a:t>지구의 반지름 </a:t>
            </a:r>
            <a:r>
              <a:rPr lang="en-US" altLang="ko-KR" sz="1400" dirty="0"/>
              <a:t>(</a:t>
            </a:r>
            <a:r>
              <a:rPr lang="ko-KR" altLang="en-US" sz="1400" dirty="0"/>
              <a:t>단위</a:t>
            </a:r>
            <a:r>
              <a:rPr lang="en-US" altLang="ko-KR" sz="1400" dirty="0"/>
              <a:t>: km)</a:t>
            </a:r>
          </a:p>
          <a:p>
            <a:pPr marL="0" indent="0">
              <a:buNone/>
            </a:pPr>
            <a:r>
              <a:rPr lang="en-US" altLang="ko-KR" sz="1400" dirty="0"/>
              <a:t>    static final double EARTH_AREA = 4 * </a:t>
            </a:r>
            <a:r>
              <a:rPr lang="en-US" altLang="ko-KR" sz="1400" dirty="0" err="1"/>
              <a:t>Math.PI</a:t>
            </a:r>
            <a:r>
              <a:rPr lang="en-US" altLang="ko-KR" sz="1400" dirty="0"/>
              <a:t> * EARTH_RADIUS * EARTH_RADIUS; // </a:t>
            </a:r>
            <a:r>
              <a:rPr lang="ko-KR" altLang="en-US" sz="1400" dirty="0"/>
              <a:t>지구의 표면적 계산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EarthExample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지구의 반지름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Earth.EARTH_RADIUS</a:t>
            </a:r>
            <a:r>
              <a:rPr lang="en-US" altLang="ko-KR" sz="1400" dirty="0"/>
              <a:t> + " km"); // </a:t>
            </a:r>
            <a:r>
              <a:rPr lang="ko-KR" altLang="en-US" sz="1400" dirty="0"/>
              <a:t>지구의 반지름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지구의 표면적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Earth.EARTH_AREA</a:t>
            </a:r>
            <a:r>
              <a:rPr lang="en-US" altLang="ko-KR" sz="1400" dirty="0"/>
              <a:t> + " km^2"); // </a:t>
            </a:r>
            <a:r>
              <a:rPr lang="ko-KR" altLang="en-US" sz="1400" dirty="0"/>
              <a:t>지구의 표면적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D7CD11-93C0-6015-C7EF-C34DE1C72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810" y="4412620"/>
            <a:ext cx="3716381" cy="65731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1CA945-4A59-D80C-DA73-EAD1BCF2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8827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9D762-35CF-0B2E-7568-716A5D76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FDE9FC-B901-A4D6-6BAF-9C191EE61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패키지와 접근 </a:t>
            </a:r>
            <a:r>
              <a:rPr lang="ko-KR" altLang="en-US" sz="1400" b="1" dirty="0" err="1"/>
              <a:t>제한자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프로젝트를 </a:t>
            </a:r>
            <a:r>
              <a:rPr lang="ko-KR" altLang="en-US" sz="1400" dirty="0" err="1"/>
              <a:t>개발하다보면</a:t>
            </a:r>
            <a:r>
              <a:rPr lang="ko-KR" altLang="en-US" sz="1400" dirty="0"/>
              <a:t> 적게는 수십 개</a:t>
            </a:r>
            <a:r>
              <a:rPr lang="en-US" altLang="ko-KR" sz="1400" dirty="0"/>
              <a:t>, </a:t>
            </a:r>
            <a:r>
              <a:rPr lang="ko-KR" altLang="en-US" sz="1400" dirty="0"/>
              <a:t>많게는 수백 개의 클래스를 작성해야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클래스를 관리하지 않으면 클래스 간의 관계가 뒤엉켜서 복잡해지고 난해한 프로그램이 되어 유지보수가 어렵다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자바에서는 클래스를 체계적으로 관리하기 위해 패키지를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패키지의 물리적 형태는 파일 시스템의 폴더이다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클래스의 전체 이름은 </a:t>
            </a:r>
            <a:r>
              <a:rPr lang="en-US" altLang="ko-KR" sz="1400" dirty="0"/>
              <a:t>‘</a:t>
            </a:r>
            <a:r>
              <a:rPr lang="ko-KR" altLang="en-US" sz="1400" dirty="0"/>
              <a:t>패키지 이름 </a:t>
            </a:r>
            <a:r>
              <a:rPr lang="en-US" altLang="ko-KR" sz="1400" dirty="0"/>
              <a:t>+ </a:t>
            </a:r>
            <a:r>
              <a:rPr lang="ko-KR" altLang="en-US" sz="1400" dirty="0"/>
              <a:t>클래스 이름</a:t>
            </a:r>
            <a:r>
              <a:rPr lang="en-US" altLang="ko-KR" sz="1400" dirty="0"/>
              <a:t>‘ </a:t>
            </a:r>
            <a:r>
              <a:rPr lang="ko-KR" altLang="en-US" sz="1400" dirty="0"/>
              <a:t>인데 패키지가 상</a:t>
            </a:r>
            <a:r>
              <a:rPr lang="en-US" altLang="ko-KR" sz="1400" dirty="0"/>
              <a:t>.</a:t>
            </a:r>
            <a:r>
              <a:rPr lang="ko-KR" altLang="en-US" sz="1400" dirty="0"/>
              <a:t>하위로 구분되어 있다면 도트</a:t>
            </a:r>
            <a:r>
              <a:rPr lang="en-US" altLang="ko-KR" sz="1400" dirty="0"/>
              <a:t>(.)</a:t>
            </a:r>
            <a:r>
              <a:rPr lang="ko-KR" altLang="en-US" sz="1400" dirty="0"/>
              <a:t>연산자를 통해 표현할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상위패키지</a:t>
            </a:r>
            <a:r>
              <a:rPr lang="en-US" altLang="ko-KR" sz="1400" dirty="0"/>
              <a:t>.</a:t>
            </a:r>
            <a:r>
              <a:rPr lang="ko-KR" altLang="en-US" sz="1400" dirty="0"/>
              <a:t>하위패키지</a:t>
            </a:r>
            <a:r>
              <a:rPr lang="en-US" altLang="ko-KR" sz="1400" dirty="0"/>
              <a:t>.</a:t>
            </a:r>
            <a:r>
              <a:rPr lang="ko-KR" altLang="en-US" sz="1400" dirty="0"/>
              <a:t>클래스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 err="1"/>
              <a:t>com.mycompany.A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com.yourcompany.B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672842-22AA-C1AC-DEA6-75F602702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325" y="3965748"/>
            <a:ext cx="3152775" cy="263842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15521C-34EE-B1EB-8734-1BBB0CD4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4630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8B5C1-9EF9-04B6-B985-EB0AA3824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A350F6-3A3D-E4A2-43AB-FC19E17DD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패키지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선언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클래스를 작성할 때 해당 클래스가 어떤 패키지에 속할 것인지를 선언하는 것을 패키지 선언이라고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예를 들어 </a:t>
            </a:r>
            <a:r>
              <a:rPr lang="en-US" altLang="ko-KR" sz="1400" dirty="0"/>
              <a:t>Car</a:t>
            </a:r>
            <a:r>
              <a:rPr lang="ko-KR" altLang="en-US" sz="1400" dirty="0"/>
              <a:t>클래스가 </a:t>
            </a:r>
            <a:r>
              <a:rPr lang="en-US" altLang="ko-KR" sz="1400" dirty="0" err="1"/>
              <a:t>com.mycompany</a:t>
            </a:r>
            <a:r>
              <a:rPr lang="ko-KR" altLang="en-US" sz="1400" dirty="0"/>
              <a:t>에 속해야 한다면 다음과 같이 작성할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package </a:t>
            </a:r>
            <a:r>
              <a:rPr lang="en-US" altLang="ko-KR" sz="1400" dirty="0" err="1"/>
              <a:t>com.mycompany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Car{...}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패키지 이름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숫자로 시작해서는 안되고 </a:t>
            </a:r>
            <a:r>
              <a:rPr lang="en-US" altLang="ko-KR" sz="1400" dirty="0"/>
              <a:t>_,&amp;</a:t>
            </a:r>
            <a:r>
              <a:rPr lang="ko-KR" altLang="en-US" sz="1400" dirty="0"/>
              <a:t>를 제외한 특수문자를 사용해서는 안된다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java</a:t>
            </a:r>
            <a:r>
              <a:rPr lang="ko-KR" altLang="en-US" sz="1400" dirty="0"/>
              <a:t>로 시작하는 패키지는 자바 표준에서만 사용하므로 사용해서는 안된다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모두 소문자로 작성하는 것이 관례이다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0584C3-3A87-2D17-FD41-3AB05A46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5173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4DD3B-B332-C191-30F7-035560A7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BE52C-8C44-0E5C-1F13-229976CD3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import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사용하고자 하는 클래스가 다른 패키지에 소속되어 있다면</a:t>
            </a:r>
            <a:r>
              <a:rPr lang="en-US" altLang="ko-KR" sz="1400" dirty="0"/>
              <a:t>, import</a:t>
            </a:r>
            <a:r>
              <a:rPr lang="ko-KR" altLang="en-US" sz="1400" dirty="0"/>
              <a:t>문으로 해당 패키지의 클래스를 가져와 사용할 것을 컴파일러에게 </a:t>
            </a:r>
            <a:r>
              <a:rPr lang="ko-KR" altLang="en-US" sz="1400" dirty="0" err="1"/>
              <a:t>알려야한다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ko-KR" altLang="en-US" sz="1400" dirty="0"/>
              <a:t>상위패키지</a:t>
            </a:r>
            <a:r>
              <a:rPr lang="en-US" altLang="ko-KR" sz="1400" dirty="0"/>
              <a:t>.</a:t>
            </a:r>
            <a:r>
              <a:rPr lang="ko-KR" altLang="en-US" sz="1400" dirty="0"/>
              <a:t>하위패키지</a:t>
            </a:r>
            <a:r>
              <a:rPr lang="en-US" altLang="ko-KR" sz="1400" dirty="0"/>
              <a:t>.</a:t>
            </a:r>
            <a:r>
              <a:rPr lang="ko-KR" altLang="en-US" sz="1400" dirty="0"/>
              <a:t>클래스이름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ko-KR" altLang="en-US" sz="1400" dirty="0"/>
              <a:t>상위패키지</a:t>
            </a:r>
            <a:r>
              <a:rPr lang="en-US" altLang="ko-KR" sz="1400" dirty="0"/>
              <a:t>.</a:t>
            </a:r>
            <a:r>
              <a:rPr lang="ko-KR" altLang="en-US" sz="1400" dirty="0"/>
              <a:t>하위패키지</a:t>
            </a:r>
            <a:r>
              <a:rPr lang="en-US" altLang="ko-KR" sz="1400" dirty="0"/>
              <a:t>.*;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.*;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import</a:t>
            </a:r>
            <a:r>
              <a:rPr lang="ko-KR" altLang="en-US" sz="1400" dirty="0"/>
              <a:t>문은 패키지 선언과 클래스 선언 사이에 작성한다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만약 사용하고자 하는 클래스들이 동일한 패키지 소속이라면 개별 </a:t>
            </a:r>
            <a:r>
              <a:rPr lang="en-US" altLang="ko-KR" sz="1400" dirty="0"/>
              <a:t>import</a:t>
            </a:r>
            <a:r>
              <a:rPr lang="ko-KR" altLang="en-US" sz="1400" dirty="0"/>
              <a:t>문을 작성하는 것보다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*</a:t>
            </a:r>
            <a:r>
              <a:rPr lang="ko-KR" altLang="en-US" sz="1400" dirty="0"/>
              <a:t>를 이용해서 하위패키지의 전체 클래스를 </a:t>
            </a:r>
            <a:r>
              <a:rPr lang="en-US" altLang="ko-KR" sz="1400" dirty="0"/>
              <a:t>import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package </a:t>
            </a:r>
            <a:r>
              <a:rPr lang="en-US" altLang="ko-KR" sz="1400" dirty="0" err="1"/>
              <a:t>com.mycompany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com.Hankook.Tire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Car{</a:t>
            </a:r>
          </a:p>
          <a:p>
            <a:pPr marL="0" indent="0">
              <a:buNone/>
            </a:pPr>
            <a:r>
              <a:rPr lang="en-US" altLang="ko-KR" sz="1400" dirty="0"/>
              <a:t>	...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7A8C45-1227-073C-AADA-1097271B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475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FAEB-7F93-9385-014A-024E15918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12C7A9-E13B-AFF1-6AEF-27BAC7CE3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package sec06.exam02.hankook;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SnowTire</a:t>
            </a:r>
            <a:r>
              <a:rPr lang="en-US" altLang="ko-KR" sz="1400" dirty="0"/>
              <a:t> {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--------------------------------------------------------------------------------------------------------------------------------------------------------------------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US" altLang="ko-KR" sz="1400" dirty="0"/>
              <a:t>package sec06.exam02.hankook;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Tire {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--------------------------------------------------------------------------------------------------------------------------------------------------------------------package sec06.exam02.kumho;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BigWidthTire</a:t>
            </a:r>
            <a:r>
              <a:rPr lang="en-US" altLang="ko-KR" sz="1400" dirty="0"/>
              <a:t> {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--------------------------------------------------------------------------------------------------------------------------------------------------------------------package sec06.exam02.kumho;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Tire { }</a:t>
            </a:r>
          </a:p>
          <a:p>
            <a:pPr marL="0" indent="0">
              <a:buNone/>
            </a:pPr>
            <a:r>
              <a:rPr lang="en-US" altLang="ko-KR" sz="1400" dirty="0"/>
              <a:t>--------------------------------------------------------------------------------------------------------------------------------------------------------------------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US" altLang="ko-KR" sz="1400" dirty="0"/>
              <a:t>package sec06.exam02.hyundai;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Engine { 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CAA89D-ADF5-D587-D8E7-61531782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9850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A127-C8F0-F510-2913-65F9F2F5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D8D9A-B442-6757-908A-B3EC4DE55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package sec06.exam02.mycompany;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import sec06.exam02.hankook.*; // </a:t>
            </a:r>
            <a:r>
              <a:rPr lang="en-US" altLang="ko-KR" sz="1400" dirty="0" err="1"/>
              <a:t>hankook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모든 클래스 </a:t>
            </a:r>
            <a:r>
              <a:rPr lang="ko-KR" altLang="en-US" sz="1400" dirty="0" err="1"/>
              <a:t>임포트</a:t>
            </a: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import sec06.exam02.kumho.*;  // </a:t>
            </a:r>
            <a:r>
              <a:rPr lang="en-US" altLang="ko-KR" sz="1400" dirty="0" err="1"/>
              <a:t>kumho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모든 클래스 </a:t>
            </a:r>
            <a:r>
              <a:rPr lang="ko-KR" altLang="en-US" sz="1400" dirty="0" err="1"/>
              <a:t>임포트</a:t>
            </a: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import sec06.exam02.hyundai.Engine; // </a:t>
            </a:r>
            <a:r>
              <a:rPr lang="en-US" altLang="ko-KR" sz="1400" dirty="0" err="1"/>
              <a:t>hyundai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/>
              <a:t>Engine </a:t>
            </a:r>
            <a:r>
              <a:rPr lang="ko-KR" altLang="en-US" sz="1400" dirty="0"/>
              <a:t>클래스만 </a:t>
            </a:r>
            <a:r>
              <a:rPr lang="ko-KR" altLang="en-US" sz="1400" dirty="0" err="1"/>
              <a:t>임포트</a:t>
            </a:r>
            <a:endParaRPr lang="ko-KR" altLang="en-US" sz="1400" dirty="0"/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Engine </a:t>
            </a:r>
            <a:r>
              <a:rPr lang="en-US" altLang="ko-KR" sz="1400" dirty="0" err="1"/>
              <a:t>engine</a:t>
            </a:r>
            <a:r>
              <a:rPr lang="en-US" altLang="ko-KR" sz="1400" dirty="0"/>
              <a:t> = new Engine(); // </a:t>
            </a:r>
            <a:r>
              <a:rPr lang="en-US" altLang="ko-KR" sz="1400" dirty="0" err="1"/>
              <a:t>hyundai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/>
              <a:t>Engine </a:t>
            </a:r>
            <a:r>
              <a:rPr lang="ko-KR" altLang="en-US" sz="1400" dirty="0"/>
              <a:t>클래스 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SnowTire</a:t>
            </a:r>
            <a:r>
              <a:rPr lang="en-US" altLang="ko-KR" sz="1400" dirty="0"/>
              <a:t> tire1 = new </a:t>
            </a:r>
            <a:r>
              <a:rPr lang="en-US" altLang="ko-KR" sz="1400" dirty="0" err="1"/>
              <a:t>SnowTire</a:t>
            </a:r>
            <a:r>
              <a:rPr lang="en-US" altLang="ko-KR" sz="1400" dirty="0"/>
              <a:t>(); // </a:t>
            </a:r>
            <a:r>
              <a:rPr lang="en-US" altLang="ko-KR" sz="1400" dirty="0" err="1"/>
              <a:t>hankook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 err="1"/>
              <a:t>SnowTire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 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BigWidthTire</a:t>
            </a:r>
            <a:r>
              <a:rPr lang="en-US" altLang="ko-KR" sz="1400" dirty="0"/>
              <a:t> tire2 = new </a:t>
            </a:r>
            <a:r>
              <a:rPr lang="en-US" altLang="ko-KR" sz="1400" dirty="0" err="1"/>
              <a:t>BigWidthTire</a:t>
            </a:r>
            <a:r>
              <a:rPr lang="en-US" altLang="ko-KR" sz="1400" dirty="0"/>
              <a:t>(); // </a:t>
            </a:r>
            <a:r>
              <a:rPr lang="en-US" altLang="ko-KR" sz="1400" dirty="0" err="1"/>
              <a:t>kumho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 err="1"/>
              <a:t>BigWidthTire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 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sec06.exam02.hankook.Tire tire3 = new sec06.exam02.hankook.Tire(); // </a:t>
            </a:r>
            <a:r>
              <a:rPr lang="en-US" altLang="ko-KR" sz="1400" dirty="0" err="1"/>
              <a:t>hankook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/>
              <a:t>Tire </a:t>
            </a:r>
            <a:r>
              <a:rPr lang="ko-KR" altLang="en-US" sz="1400" dirty="0"/>
              <a:t>클래스 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sec06.exam02.kumho.Tire tire4 = new sec06.exam02.kumho.Tire(); // </a:t>
            </a:r>
            <a:r>
              <a:rPr lang="en-US" altLang="ko-KR" sz="1400" dirty="0" err="1"/>
              <a:t>kumho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/>
              <a:t>Tire </a:t>
            </a:r>
            <a:r>
              <a:rPr lang="ko-KR" altLang="en-US" sz="1400" dirty="0"/>
              <a:t>클래스 객체 생성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//Tire </a:t>
            </a:r>
            <a:r>
              <a:rPr lang="ko-KR" altLang="en-US" sz="1400" dirty="0"/>
              <a:t>클래스는 </a:t>
            </a:r>
            <a:r>
              <a:rPr lang="en-US" altLang="ko-KR" sz="1400" dirty="0" err="1"/>
              <a:t>hankook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kumho</a:t>
            </a:r>
            <a:r>
              <a:rPr lang="en-US" altLang="ko-KR" sz="1400" dirty="0"/>
              <a:t> </a:t>
            </a:r>
            <a:r>
              <a:rPr lang="ko-KR" altLang="en-US" sz="1400" dirty="0"/>
              <a:t>두 패키지에 있기 때문에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위처럼 패키지 이름과 함께 전체 이름을 작성해야 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sec06.exam02.hankook.Tire tire3 = new sec06.exam02.hankook.Tire(); // </a:t>
            </a:r>
            <a:r>
              <a:rPr lang="en-US" altLang="ko-KR" sz="1400" dirty="0" err="1"/>
              <a:t>hankook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/>
              <a:t>Tire </a:t>
            </a:r>
            <a:r>
              <a:rPr lang="ko-KR" altLang="en-US" sz="1400" dirty="0"/>
              <a:t>클래스 객체 생성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sec06.exam02.kumho.Tire tire4 = new sec06.exam02.kumho.Tire(); // </a:t>
            </a:r>
            <a:r>
              <a:rPr lang="en-US" altLang="ko-KR" sz="1400" dirty="0" err="1"/>
              <a:t>kumho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패키지의 </a:t>
            </a:r>
            <a:r>
              <a:rPr lang="en-US" altLang="ko-KR" sz="1400" dirty="0"/>
              <a:t>Tire </a:t>
            </a:r>
            <a:r>
              <a:rPr lang="ko-KR" altLang="en-US" sz="1400" dirty="0"/>
              <a:t>클래스 객체 생성</a:t>
            </a: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F6BFD3-F3C9-8B86-2DD5-64559740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6663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1F6B-93A5-1EE9-DDE9-B66AAA6E7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8F0DCE-C6C7-C2E5-6B9B-C7F503378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접근 </a:t>
            </a:r>
            <a:r>
              <a:rPr lang="ko-KR" altLang="en-US" sz="1400" b="1" dirty="0" err="1"/>
              <a:t>제한자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접근 제한자는 말 그대로 접근을 제한하기 위해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여기서 접근이란 클래스와 클래스가 갖는 멤버의 접근을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어떤 경우에는 클래스를 다른 클래스나 다른 패키지에서 사용하지 못하도록 막을 필요가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또한 </a:t>
            </a:r>
            <a:r>
              <a:rPr lang="ko-KR" altLang="en-US" sz="1400" dirty="0" err="1"/>
              <a:t>싱글톤</a:t>
            </a:r>
            <a:r>
              <a:rPr lang="ko-KR" altLang="en-US" sz="1400" dirty="0"/>
              <a:t> 디자인 패턴처럼 객체 생성을 막기 위해 생성자를 호출하지 못하게 막거나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필드나 메소드의 사용을 막아야 되는 경우도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이럴 때 접근 제한자를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접근 제한자는 </a:t>
            </a:r>
            <a:r>
              <a:rPr lang="en-US" altLang="ko-KR" sz="1400" dirty="0"/>
              <a:t>public, protected, default, private</a:t>
            </a:r>
            <a:r>
              <a:rPr lang="ko-KR" altLang="en-US" sz="1400" dirty="0"/>
              <a:t>가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ko-KR" altLang="en-US" sz="1400" dirty="0"/>
              <a:t>접근 </a:t>
            </a:r>
            <a:r>
              <a:rPr lang="ko-KR" altLang="en-US" sz="1400" dirty="0" err="1"/>
              <a:t>제한자</a:t>
            </a:r>
            <a:r>
              <a:rPr lang="en-US" altLang="ko-KR" sz="1400" dirty="0"/>
              <a:t>: </a:t>
            </a:r>
            <a:r>
              <a:rPr lang="ko-KR" altLang="en-US" sz="1400" dirty="0"/>
              <a:t>단어 뜻 그대로 외부 클래스가 자유롭게 사용할 수 있도록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protected </a:t>
            </a:r>
            <a:r>
              <a:rPr lang="ko-KR" altLang="en-US" sz="1400" dirty="0"/>
              <a:t>접근 </a:t>
            </a:r>
            <a:r>
              <a:rPr lang="ko-KR" altLang="en-US" sz="1400" dirty="0" err="1"/>
              <a:t>제한자</a:t>
            </a:r>
            <a:r>
              <a:rPr lang="en-US" altLang="ko-KR" sz="1400" dirty="0"/>
              <a:t>: </a:t>
            </a:r>
            <a:r>
              <a:rPr lang="ko-KR" altLang="en-US" sz="1400" dirty="0"/>
              <a:t>같은 패키지 또는 자식 클래스에서 사용할 수 있도록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private </a:t>
            </a:r>
            <a:r>
              <a:rPr lang="ko-KR" altLang="en-US" sz="1400" dirty="0"/>
              <a:t>접근 </a:t>
            </a:r>
            <a:r>
              <a:rPr lang="ko-KR" altLang="en-US" sz="1400" dirty="0" err="1"/>
              <a:t>제한자</a:t>
            </a:r>
            <a:r>
              <a:rPr lang="en-US" altLang="ko-KR" sz="1400" dirty="0"/>
              <a:t>: </a:t>
            </a:r>
            <a:r>
              <a:rPr lang="ko-KR" altLang="en-US" sz="1400" dirty="0"/>
              <a:t>단어 뜻 그대로 개인적인 것이라 외부에서 사용될 수 없도록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위 세 가지 접근 제한자가 적용되지 않으면 </a:t>
            </a:r>
            <a:r>
              <a:rPr lang="en-US" altLang="ko-KR" sz="1400" dirty="0"/>
              <a:t>default </a:t>
            </a:r>
            <a:r>
              <a:rPr lang="ko-KR" altLang="en-US" sz="1400" dirty="0"/>
              <a:t>접근 제한을 가진다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default </a:t>
            </a:r>
            <a:r>
              <a:rPr lang="ko-KR" altLang="en-US" sz="1400" dirty="0"/>
              <a:t>접근 제한</a:t>
            </a:r>
            <a:r>
              <a:rPr lang="en-US" altLang="ko-KR" sz="1400" dirty="0"/>
              <a:t>: </a:t>
            </a:r>
            <a:r>
              <a:rPr lang="ko-KR" altLang="en-US" sz="1400" dirty="0"/>
              <a:t>같은 패키지에 소속된 클래스에서만 사용할 수 있도록 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E371735-708D-4A57-B27A-B141968C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4973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D1A2-4E3E-E6B8-8171-3B4B31EC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87A8D-197F-4684-C6E3-724D42707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클래스의 접근 제한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클래스를 선언할 때 해당 클래스를 같은 패키지 내에서만 사용할 것인지</a:t>
            </a:r>
            <a:r>
              <a:rPr lang="en-US" altLang="ko-KR" sz="1400" dirty="0"/>
              <a:t>, </a:t>
            </a:r>
          </a:p>
          <a:p>
            <a:pPr marL="0" indent="0">
              <a:buNone/>
            </a:pPr>
            <a:r>
              <a:rPr lang="ko-KR" altLang="en-US" sz="1400" dirty="0"/>
              <a:t>다른 패키지에서도 사용할 것인지 결정해야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클래스는 </a:t>
            </a:r>
            <a:r>
              <a:rPr lang="en-US" altLang="ko-KR" sz="1400" dirty="0"/>
              <a:t>public, default </a:t>
            </a:r>
            <a:r>
              <a:rPr lang="ko-KR" altLang="en-US" sz="1400" dirty="0"/>
              <a:t>두 접근 제한자만을 가진다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//default </a:t>
            </a:r>
            <a:r>
              <a:rPr lang="ko-KR" altLang="en-US" sz="1400" dirty="0"/>
              <a:t>접근 제한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</a:t>
            </a:r>
            <a:r>
              <a:rPr lang="ko-KR" altLang="en-US" sz="1400" dirty="0"/>
              <a:t>클래스 </a:t>
            </a:r>
            <a:r>
              <a:rPr lang="en-US" altLang="ko-KR" sz="1400" dirty="0"/>
              <a:t>{...}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//public </a:t>
            </a:r>
            <a:r>
              <a:rPr lang="ko-KR" altLang="en-US" sz="1400" dirty="0"/>
              <a:t>접근 제한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ko-KR" altLang="en-US" sz="1400" dirty="0"/>
              <a:t>클래스 </a:t>
            </a:r>
            <a:r>
              <a:rPr lang="en-US" altLang="ko-KR" sz="1400" dirty="0"/>
              <a:t>{...}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클래스를 선언할 때 </a:t>
            </a:r>
            <a:r>
              <a:rPr lang="en-US" altLang="ko-KR" sz="1400" dirty="0"/>
              <a:t>public</a:t>
            </a:r>
            <a:r>
              <a:rPr lang="ko-KR" altLang="en-US" sz="1400" dirty="0"/>
              <a:t>을 생략했다면 클래스는 </a:t>
            </a:r>
            <a:r>
              <a:rPr lang="en-US" altLang="ko-KR" sz="1400" dirty="0"/>
              <a:t>default </a:t>
            </a:r>
            <a:r>
              <a:rPr lang="ko-KR" altLang="en-US" sz="1400" dirty="0"/>
              <a:t>접근 제한을 가진다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default </a:t>
            </a:r>
            <a:r>
              <a:rPr lang="ko-KR" altLang="en-US" sz="1400" dirty="0"/>
              <a:t>접근 제한을 가지면 같은 패키지에서는 아무 제한 없이 사용할 수 있지만 다른 패키지에서는 사용할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E07B89-241C-E8BF-605E-4B6127E02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50" y="4837521"/>
            <a:ext cx="5229225" cy="180022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950720-DD46-B2FA-9004-C1233037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8714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99A9F-A235-5097-72AA-F962FB17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2CCA5-CB48-1BB9-3BA0-AC7B2F5F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클래스 접근 제한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public</a:t>
            </a:r>
            <a:r>
              <a:rPr lang="ko-KR" altLang="en-US" sz="1400" dirty="0"/>
              <a:t> 접근 제한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클래스를 선언할 때 </a:t>
            </a:r>
            <a:r>
              <a:rPr lang="en-US" altLang="ko-KR" sz="1400" dirty="0"/>
              <a:t>public </a:t>
            </a:r>
            <a:r>
              <a:rPr lang="ko-KR" altLang="en-US" sz="1400" dirty="0"/>
              <a:t>접근 제한자를 붙였다면 같은 </a:t>
            </a:r>
            <a:r>
              <a:rPr lang="ko-KR" altLang="en-US" sz="1400" dirty="0" err="1"/>
              <a:t>패키지뿐만</a:t>
            </a:r>
            <a:r>
              <a:rPr lang="ko-KR" altLang="en-US" sz="1400" dirty="0"/>
              <a:t> 아니라 다른 패키지에서도 아무런 제한 없이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package sec06.exam03.package1;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A { //default </a:t>
            </a:r>
            <a:r>
              <a:rPr lang="ko-KR" altLang="en-US" sz="1400" dirty="0"/>
              <a:t>접근 제한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package sec06.exam03.package1;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B {</a:t>
            </a:r>
          </a:p>
          <a:p>
            <a:pPr marL="0" indent="0">
              <a:buNone/>
            </a:pPr>
            <a:r>
              <a:rPr lang="en-US" altLang="ko-KR" sz="1400" dirty="0"/>
              <a:t>	A </a:t>
            </a:r>
            <a:r>
              <a:rPr lang="en-US" altLang="ko-KR" sz="1400" dirty="0" err="1"/>
              <a:t>a</a:t>
            </a:r>
            <a:r>
              <a:rPr lang="en-US" altLang="ko-KR" sz="1400" dirty="0"/>
              <a:t>; //A</a:t>
            </a:r>
            <a:r>
              <a:rPr lang="ko-KR" altLang="en-US" sz="1400" dirty="0"/>
              <a:t>클래스 접근 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62F151-502A-D970-484F-C18870FED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150" y="1666404"/>
            <a:ext cx="4515699" cy="1499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46B39F-58D2-CC3C-CD23-03CCB7F493E6}"/>
              </a:ext>
            </a:extLst>
          </p:cNvPr>
          <p:cNvSpPr txBox="1"/>
          <p:nvPr/>
        </p:nvSpPr>
        <p:spPr>
          <a:xfrm>
            <a:off x="6108072" y="3806032"/>
            <a:ext cx="60839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package sec06.exam03.package2;</a:t>
            </a:r>
          </a:p>
          <a:p>
            <a:endParaRPr lang="en-US" altLang="ko-KR" sz="1400" dirty="0"/>
          </a:p>
          <a:p>
            <a:r>
              <a:rPr lang="en-US" altLang="ko-KR" sz="1400" dirty="0"/>
              <a:t>import sec06.exam03.package1.*;</a:t>
            </a:r>
          </a:p>
          <a:p>
            <a:endParaRPr lang="en-US" altLang="ko-KR" sz="1400" dirty="0"/>
          </a:p>
          <a:p>
            <a:r>
              <a:rPr lang="en-US" altLang="ko-KR" sz="1400" dirty="0"/>
              <a:t>public class C {</a:t>
            </a:r>
          </a:p>
          <a:p>
            <a:r>
              <a:rPr lang="en-US" altLang="ko-KR" sz="1400" dirty="0"/>
              <a:t>	//A </a:t>
            </a:r>
            <a:r>
              <a:rPr lang="en-US" altLang="ko-KR" sz="1400" dirty="0" err="1"/>
              <a:t>a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	B </a:t>
            </a:r>
            <a:r>
              <a:rPr lang="en-US" altLang="ko-KR" sz="1400" dirty="0" err="1"/>
              <a:t>b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3CF62CB-E4CA-56E8-1B61-0EE4CA84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837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09576-3472-39DC-1D0C-A9B2FCBA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A5C9A-4EAF-D4D4-5EBC-AFDD2300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생성자의 접근 제한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객체를 생성하기 위해서는 </a:t>
            </a:r>
            <a:r>
              <a:rPr lang="en-US" altLang="ko-KR" sz="1400" dirty="0"/>
              <a:t>new</a:t>
            </a:r>
            <a:r>
              <a:rPr lang="ko-KR" altLang="en-US" sz="1400" dirty="0"/>
              <a:t>연산자로 생성자를 호출한다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성성자는 </a:t>
            </a:r>
            <a:r>
              <a:rPr lang="en-US" altLang="ko-KR" sz="1400" dirty="0"/>
              <a:t>public, protected, default, private </a:t>
            </a:r>
            <a:r>
              <a:rPr lang="ko-KR" altLang="en-US" sz="1400" dirty="0"/>
              <a:t>접근 제한을 가진다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ko-KR" altLang="en-US" sz="1400" dirty="0"/>
              <a:t>접근 제한</a:t>
            </a:r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ko-KR" altLang="en-US" sz="1400" dirty="0"/>
              <a:t>접근 제한은 모든 패키지에서 아무런 제한 없이 생성자를 호출할 수 있도록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protected </a:t>
            </a:r>
            <a:r>
              <a:rPr lang="ko-KR" altLang="en-US" sz="1400" dirty="0"/>
              <a:t>접근 제한</a:t>
            </a:r>
          </a:p>
          <a:p>
            <a:pPr marL="0" indent="0">
              <a:buNone/>
            </a:pPr>
            <a:r>
              <a:rPr lang="en-US" altLang="ko-KR" sz="1400" dirty="0"/>
              <a:t>protected </a:t>
            </a:r>
            <a:r>
              <a:rPr lang="ko-KR" altLang="en-US" sz="1400" dirty="0"/>
              <a:t>접근 제한은 </a:t>
            </a:r>
            <a:r>
              <a:rPr lang="en-US" altLang="ko-KR" sz="1400" dirty="0"/>
              <a:t>default </a:t>
            </a:r>
            <a:r>
              <a:rPr lang="ko-KR" altLang="en-US" sz="1400" dirty="0"/>
              <a:t>접근 제한과 마찬가지로 같은 패키지에 속하는 클래스에서 생성자를 호출할 수 있도록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차이점으로 다른 패키지에 속한 클래스가 해당 클래스의 자식 클래스라면 생성자를 호출할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default </a:t>
            </a:r>
            <a:r>
              <a:rPr lang="ko-KR" altLang="en-US" sz="1400" dirty="0"/>
              <a:t>접근 제한</a:t>
            </a:r>
          </a:p>
          <a:p>
            <a:pPr marL="0" indent="0">
              <a:buNone/>
            </a:pPr>
            <a:r>
              <a:rPr lang="en-US" altLang="ko-KR" sz="1400" dirty="0"/>
              <a:t>default </a:t>
            </a:r>
            <a:r>
              <a:rPr lang="ko-KR" altLang="en-US" sz="1400" dirty="0"/>
              <a:t>접근 제한은 같은 패키지에서는 아무런 제한 없이 생성자를 호출할 수 있으나</a:t>
            </a:r>
            <a:r>
              <a:rPr lang="en-US" altLang="ko-KR" sz="1400" dirty="0"/>
              <a:t>, </a:t>
            </a:r>
            <a:r>
              <a:rPr lang="ko-KR" altLang="en-US" sz="1400" dirty="0"/>
              <a:t>다른 패키지에서는 생성자를 호출할 수 없도록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private </a:t>
            </a:r>
            <a:r>
              <a:rPr lang="ko-KR" altLang="en-US" sz="1400" dirty="0"/>
              <a:t>접근 제한</a:t>
            </a:r>
          </a:p>
          <a:p>
            <a:pPr marL="0" indent="0">
              <a:buNone/>
            </a:pPr>
            <a:r>
              <a:rPr lang="en-US" altLang="ko-KR" sz="1400" dirty="0"/>
              <a:t>private </a:t>
            </a:r>
            <a:r>
              <a:rPr lang="ko-KR" altLang="en-US" sz="1400" dirty="0"/>
              <a:t>접근 제한은 동일한 </a:t>
            </a:r>
            <a:r>
              <a:rPr lang="ko-KR" altLang="en-US" sz="1400" dirty="0" err="1"/>
              <a:t>패키지건</a:t>
            </a:r>
            <a:r>
              <a:rPr lang="ko-KR" altLang="en-US" sz="1400" dirty="0"/>
              <a:t> 다른 </a:t>
            </a:r>
            <a:r>
              <a:rPr lang="ko-KR" altLang="en-US" sz="1400" dirty="0" err="1"/>
              <a:t>패키지건</a:t>
            </a:r>
            <a:r>
              <a:rPr lang="ko-KR" altLang="en-US" sz="1400" dirty="0"/>
              <a:t> 상관없이 생성자를 호출하지 못하도록 제한한다</a:t>
            </a:r>
            <a:r>
              <a:rPr lang="en-US" altLang="ko-KR" sz="1400" dirty="0"/>
              <a:t>. </a:t>
            </a:r>
            <a:r>
              <a:rPr lang="ko-KR" altLang="en-US" sz="1400" dirty="0"/>
              <a:t>오로지 클래스 내부에서만 생성자를 호출할 수 있고 객체를 만들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29E488-7538-40BF-DF29-296FC3A5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6174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D4D5-324B-F28A-2726-B63C945E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73777-6BD0-200A-B841-C0C4A5AEF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package sec06.exam04.package1;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A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A a1 = new A(true);</a:t>
            </a:r>
          </a:p>
          <a:p>
            <a:pPr marL="0" indent="0">
              <a:buNone/>
            </a:pPr>
            <a:r>
              <a:rPr lang="en-US" altLang="ko-KR" sz="1400" dirty="0"/>
              <a:t>	A a2 = new A(1);</a:t>
            </a:r>
          </a:p>
          <a:p>
            <a:pPr marL="0" indent="0">
              <a:buNone/>
            </a:pPr>
            <a:r>
              <a:rPr lang="en-US" altLang="ko-KR" sz="1400" dirty="0"/>
              <a:t>	A a3 = new A("</a:t>
            </a:r>
            <a:r>
              <a:rPr lang="ko-KR" altLang="en-US" sz="1400" dirty="0"/>
              <a:t>문자열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생성자	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A(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b) {} //public</a:t>
            </a:r>
          </a:p>
          <a:p>
            <a:pPr marL="0" indent="0">
              <a:buNone/>
            </a:pPr>
            <a:r>
              <a:rPr lang="en-US" altLang="ko-KR" sz="1400" dirty="0"/>
              <a:t>	A(int b) {} //default</a:t>
            </a:r>
          </a:p>
          <a:p>
            <a:pPr marL="0" indent="0">
              <a:buNone/>
            </a:pPr>
            <a:r>
              <a:rPr lang="en-US" altLang="ko-KR" sz="1400" dirty="0"/>
              <a:t>	private A(String s) {}  //private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package sec06.exam04.package1;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B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A a1 = new A(true);</a:t>
            </a:r>
          </a:p>
          <a:p>
            <a:pPr marL="0" indent="0">
              <a:buNone/>
            </a:pPr>
            <a:r>
              <a:rPr lang="en-US" altLang="ko-KR" sz="1400" dirty="0"/>
              <a:t>	A a2 = new A(1);</a:t>
            </a:r>
          </a:p>
          <a:p>
            <a:pPr marL="0" indent="0">
              <a:buNone/>
            </a:pPr>
            <a:r>
              <a:rPr lang="en-US" altLang="ko-KR" sz="1400" dirty="0"/>
              <a:t>	//A a3 = new A("</a:t>
            </a:r>
            <a:r>
              <a:rPr lang="ko-KR" altLang="en-US" sz="1400" dirty="0"/>
              <a:t>문자열</a:t>
            </a:r>
            <a:r>
              <a:rPr lang="en-US" altLang="ko-KR" sz="1400" dirty="0"/>
              <a:t>"); //private </a:t>
            </a:r>
            <a:r>
              <a:rPr lang="ko-KR" altLang="en-US" sz="1400" dirty="0"/>
              <a:t>생성자 접근 불가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73BE94-39D8-4B71-8009-57F2A8CEBF35}"/>
              </a:ext>
            </a:extLst>
          </p:cNvPr>
          <p:cNvSpPr txBox="1"/>
          <p:nvPr/>
        </p:nvSpPr>
        <p:spPr>
          <a:xfrm>
            <a:off x="6482281" y="2197893"/>
            <a:ext cx="570971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package sec06.exam04.package2;</a:t>
            </a:r>
          </a:p>
          <a:p>
            <a:endParaRPr lang="en-US" altLang="ko-KR" sz="1400" dirty="0"/>
          </a:p>
          <a:p>
            <a:r>
              <a:rPr lang="en-US" altLang="ko-KR" sz="1400" dirty="0"/>
              <a:t>import sec06.exam04.package1.A;</a:t>
            </a:r>
          </a:p>
          <a:p>
            <a:endParaRPr lang="en-US" altLang="ko-KR" sz="1400" dirty="0"/>
          </a:p>
          <a:p>
            <a:r>
              <a:rPr lang="en-US" altLang="ko-KR" sz="1400" dirty="0"/>
              <a:t>public class C {</a:t>
            </a:r>
          </a:p>
          <a:p>
            <a:r>
              <a:rPr lang="en-US" altLang="ko-KR" sz="1400" dirty="0"/>
              <a:t>	// </a:t>
            </a:r>
            <a:r>
              <a:rPr lang="ko-KR" altLang="en-US" sz="1400" dirty="0"/>
              <a:t>필드</a:t>
            </a:r>
          </a:p>
          <a:p>
            <a:r>
              <a:rPr lang="ko-KR" altLang="en-US" sz="1400" dirty="0"/>
              <a:t>	</a:t>
            </a:r>
            <a:r>
              <a:rPr lang="en-US" altLang="ko-KR" sz="1400" dirty="0"/>
              <a:t>A a1 = new A(true);</a:t>
            </a:r>
          </a:p>
          <a:p>
            <a:r>
              <a:rPr lang="en-US" altLang="ko-KR" sz="1400" dirty="0"/>
              <a:t>	// A a2 = new A(1); //default </a:t>
            </a:r>
            <a:r>
              <a:rPr lang="ko-KR" altLang="en-US" sz="1400" dirty="0"/>
              <a:t>생성자 접근 불가</a:t>
            </a:r>
            <a:endParaRPr lang="en-US" altLang="ko-KR" sz="1400" dirty="0"/>
          </a:p>
          <a:p>
            <a:r>
              <a:rPr lang="en-US" altLang="ko-KR" sz="1400" dirty="0"/>
              <a:t>	// A a3 = new A(“</a:t>
            </a:r>
            <a:r>
              <a:rPr lang="ko-KR" altLang="en-US" sz="1400" dirty="0"/>
              <a:t>문자열</a:t>
            </a:r>
            <a:r>
              <a:rPr lang="en-US" altLang="ko-KR" sz="1400" dirty="0"/>
              <a:t>”); //private </a:t>
            </a:r>
            <a:r>
              <a:rPr lang="ko-KR" altLang="en-US" sz="1400" dirty="0"/>
              <a:t>생성자 접근 불가</a:t>
            </a:r>
            <a:endParaRPr lang="en-US" altLang="ko-KR" sz="1400" dirty="0"/>
          </a:p>
          <a:p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435200-3D56-841D-FB43-47934055C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6962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DC2E-977C-5B67-319D-B5B5D095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C233C2-AA3C-C06B-C464-58B831360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필드와 메소드의 접근 제한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필드와 메소드를 선언할 때 클래스 내부에서만 사용할 것인지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/>
              <a:t>패키지 내에서만 사용할 것인지</a:t>
            </a:r>
            <a:r>
              <a:rPr lang="en-US" altLang="ko-KR" sz="1400" dirty="0"/>
              <a:t>, </a:t>
            </a:r>
            <a:r>
              <a:rPr lang="ko-KR" altLang="en-US" sz="1400" dirty="0"/>
              <a:t>다른 패키지에서도 사용할 수 있도록 할 것인지를 결정해야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필드와 메소드는 다음과 같이 </a:t>
            </a:r>
            <a:r>
              <a:rPr lang="en-US" altLang="ko-KR" sz="1400" dirty="0"/>
              <a:t>public, protected, default, private </a:t>
            </a:r>
            <a:r>
              <a:rPr lang="ko-KR" altLang="en-US" sz="1400" dirty="0"/>
              <a:t>접근 제한자를 가질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ko-KR" altLang="en-US" sz="1400" dirty="0"/>
              <a:t>접근 제한</a:t>
            </a:r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ko-KR" altLang="en-US" sz="1400" dirty="0"/>
              <a:t>접근 제한은 모든 패키지에서 아무런 제한 없이 필드와 메소드를 사용할 수 있도록 해준다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protected </a:t>
            </a:r>
            <a:r>
              <a:rPr lang="ko-KR" altLang="en-US" sz="1400" dirty="0"/>
              <a:t>접근 제한</a:t>
            </a:r>
          </a:p>
          <a:p>
            <a:pPr marL="0" indent="0">
              <a:buNone/>
            </a:pPr>
            <a:r>
              <a:rPr lang="en-US" altLang="ko-KR" sz="1400" dirty="0"/>
              <a:t>protected </a:t>
            </a:r>
            <a:r>
              <a:rPr lang="ko-KR" altLang="en-US" sz="1400" dirty="0"/>
              <a:t>접근 제한은 </a:t>
            </a:r>
            <a:r>
              <a:rPr lang="en-US" altLang="ko-KR" sz="1400" dirty="0"/>
              <a:t>default </a:t>
            </a:r>
            <a:r>
              <a:rPr lang="ko-KR" altLang="en-US" sz="1400" dirty="0"/>
              <a:t>접근 제한과 마찬가지로 같은 패키지에 속하는 클래스에서 필드와 메소드를 사용할 수 있도록 해준다</a:t>
            </a:r>
            <a:r>
              <a:rPr lang="en-US" altLang="ko-KR" sz="1400" dirty="0"/>
              <a:t>. </a:t>
            </a:r>
            <a:r>
              <a:rPr lang="ko-KR" altLang="en-US" sz="1400" dirty="0"/>
              <a:t>차이점으로 다른 패키지에 속한 클래스가 해당 클래스의 자식 클래스라면 필드와 메소드를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default </a:t>
            </a:r>
            <a:r>
              <a:rPr lang="ko-KR" altLang="en-US" sz="1400" dirty="0"/>
              <a:t>접근 제한</a:t>
            </a:r>
          </a:p>
          <a:p>
            <a:pPr marL="0" indent="0">
              <a:buNone/>
            </a:pPr>
            <a:r>
              <a:rPr lang="ko-KR" altLang="en-US" sz="1400" dirty="0"/>
              <a:t>필드와 메소드를 선언할 때 접근 제한자를 생략하면 </a:t>
            </a:r>
            <a:r>
              <a:rPr lang="en-US" altLang="ko-KR" sz="1400" dirty="0"/>
              <a:t>default </a:t>
            </a:r>
            <a:r>
              <a:rPr lang="ko-KR" altLang="en-US" sz="1400" dirty="0"/>
              <a:t>접근 제한을 가진다</a:t>
            </a:r>
            <a:r>
              <a:rPr lang="en-US" altLang="ko-KR" sz="1400" dirty="0"/>
              <a:t>. default </a:t>
            </a:r>
            <a:r>
              <a:rPr lang="ko-KR" altLang="en-US" sz="1400" dirty="0"/>
              <a:t>접근 제한은 같은 패키지에서는 아무런 제한 없이 필드와 메소드를 사용할 수 있으나</a:t>
            </a:r>
            <a:r>
              <a:rPr lang="en-US" altLang="ko-KR" sz="1400" dirty="0"/>
              <a:t>, </a:t>
            </a:r>
            <a:r>
              <a:rPr lang="ko-KR" altLang="en-US" sz="1400" dirty="0"/>
              <a:t>다른 패키지에서는 필드와 메소드를 사용할 수 없도록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private </a:t>
            </a:r>
            <a:r>
              <a:rPr lang="ko-KR" altLang="en-US" sz="1400" dirty="0"/>
              <a:t>접근 제한</a:t>
            </a:r>
          </a:p>
          <a:p>
            <a:pPr marL="0" indent="0">
              <a:buNone/>
            </a:pPr>
            <a:r>
              <a:rPr lang="en-US" altLang="ko-KR" sz="1400" dirty="0"/>
              <a:t>private </a:t>
            </a:r>
            <a:r>
              <a:rPr lang="ko-KR" altLang="en-US" sz="1400" dirty="0"/>
              <a:t>접근 제한은 동일한 패키지이건 다른 패키지이건 상관없이 필드와 메소드를 사용할 수 없도록 제한한다</a:t>
            </a:r>
            <a:r>
              <a:rPr lang="en-US" altLang="ko-KR" sz="1400" dirty="0"/>
              <a:t>. </a:t>
            </a:r>
            <a:r>
              <a:rPr lang="ko-KR" altLang="en-US" sz="1400" dirty="0"/>
              <a:t>오로지 클래스 내부에서만 사용할 수 있다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F927A40-3FC5-5940-BCB3-D4B1E13E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5296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17F2-54C2-A9D0-9B45-BA8DD855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55E5F5-C112-36C5-9104-DD9BA5823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package sec06.exam05.package1;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A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int field1; // public: </a:t>
            </a:r>
            <a:r>
              <a:rPr lang="ko-KR" altLang="en-US" sz="1400" dirty="0"/>
              <a:t>외부 클래스에서 접근 가능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field2; // default: </a:t>
            </a:r>
            <a:r>
              <a:rPr lang="ko-KR" altLang="en-US" sz="1400" dirty="0"/>
              <a:t>같은 패키지 내에서만 접근 가능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private int field3; // private: </a:t>
            </a:r>
            <a:r>
              <a:rPr lang="ko-KR" altLang="en-US" sz="1400" dirty="0"/>
              <a:t>클래스 내부에서만 접근 가능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A() { // public: </a:t>
            </a:r>
            <a:r>
              <a:rPr lang="ko-KR" altLang="en-US" sz="1400" dirty="0"/>
              <a:t>외부에서 객체 생성 가능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field1 = 1; // public </a:t>
            </a:r>
            <a:r>
              <a:rPr lang="ko-KR" altLang="en-US" sz="1400" dirty="0"/>
              <a:t>필드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field2 = 1; // default </a:t>
            </a:r>
            <a:r>
              <a:rPr lang="ko-KR" altLang="en-US" sz="1400" dirty="0"/>
              <a:t>필드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field3 = 1; // private </a:t>
            </a:r>
            <a:r>
              <a:rPr lang="ko-KR" altLang="en-US" sz="1400" dirty="0"/>
              <a:t>필드 초기화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method1(); // public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method2(); // default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method3(); // private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void method1() {} // public: </a:t>
            </a:r>
            <a:r>
              <a:rPr lang="ko-KR" altLang="en-US" sz="1400" dirty="0"/>
              <a:t>외부 클래스에서 호출 가능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method2() {} // default: </a:t>
            </a:r>
            <a:r>
              <a:rPr lang="ko-KR" altLang="en-US" sz="1400" dirty="0"/>
              <a:t>같은 패키지 내에서만 호출 가능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private void method3() {} // private: </a:t>
            </a:r>
            <a:r>
              <a:rPr lang="ko-KR" altLang="en-US" sz="1400" dirty="0"/>
              <a:t>클래스 내부에서만 호출 가능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7D5F97B-769C-B05D-DA85-04F34DB7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2218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73B6-670D-1F43-97DF-ADA5EF60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78077A-7630-A212-3B9C-578C17321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package sec06.exam05.package1;</a:t>
            </a:r>
          </a:p>
          <a:p>
            <a:pPr marL="0" indent="0">
              <a:buNone/>
            </a:pPr>
            <a:r>
              <a:rPr lang="en-US" altLang="ko-KR" sz="1400" dirty="0"/>
              <a:t>public class B {</a:t>
            </a:r>
          </a:p>
          <a:p>
            <a:pPr marL="0" indent="0">
              <a:buNone/>
            </a:pPr>
            <a:r>
              <a:rPr lang="en-US" altLang="ko-KR" sz="1400" dirty="0"/>
              <a:t>    public B() {</a:t>
            </a:r>
          </a:p>
          <a:p>
            <a:pPr marL="0" indent="0">
              <a:buNone/>
            </a:pPr>
            <a:r>
              <a:rPr lang="en-US" altLang="ko-KR" sz="1400" dirty="0"/>
              <a:t>        A </a:t>
            </a:r>
            <a:r>
              <a:rPr lang="en-US" altLang="ko-KR" sz="1400" dirty="0" err="1"/>
              <a:t>a</a:t>
            </a:r>
            <a:r>
              <a:rPr lang="en-US" altLang="ko-KR" sz="1400" dirty="0"/>
              <a:t> = new A(); // A </a:t>
            </a:r>
            <a:r>
              <a:rPr lang="ko-KR" altLang="en-US" sz="1400" dirty="0"/>
              <a:t>클래스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a.field1 = 1; // public </a:t>
            </a:r>
            <a:r>
              <a:rPr lang="ko-KR" altLang="en-US" sz="1400" dirty="0"/>
              <a:t>필드 접근 가능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a.field2 = 1; // default </a:t>
            </a:r>
            <a:r>
              <a:rPr lang="ko-KR" altLang="en-US" sz="1400" dirty="0"/>
              <a:t>필드 접근 가능 </a:t>
            </a:r>
            <a:r>
              <a:rPr lang="en-US" altLang="ko-KR" sz="1400" dirty="0"/>
              <a:t>(</a:t>
            </a:r>
            <a:r>
              <a:rPr lang="ko-KR" altLang="en-US" sz="1400" dirty="0"/>
              <a:t>같은 패키지 내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// a.field3 = 1; // (x) private </a:t>
            </a:r>
            <a:r>
              <a:rPr lang="ko-KR" altLang="en-US" sz="1400" dirty="0"/>
              <a:t>필드 접근 불가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a.method1(); // public </a:t>
            </a:r>
            <a:r>
              <a:rPr lang="ko-KR" altLang="en-US" sz="1400" dirty="0"/>
              <a:t>메소드 호출 가능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a.method2(); // default </a:t>
            </a:r>
            <a:r>
              <a:rPr lang="ko-KR" altLang="en-US" sz="1400" dirty="0"/>
              <a:t>메소드 호출 가능 </a:t>
            </a:r>
            <a:r>
              <a:rPr lang="en-US" altLang="ko-KR" sz="1400" dirty="0"/>
              <a:t>(</a:t>
            </a:r>
            <a:r>
              <a:rPr lang="ko-KR" altLang="en-US" sz="1400" dirty="0"/>
              <a:t>같은 패키지 내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// a.method3(); // (x) private </a:t>
            </a:r>
            <a:r>
              <a:rPr lang="ko-KR" altLang="en-US" sz="1400" dirty="0"/>
              <a:t>메소드 호출 불가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EA0A0-4E48-356C-970E-46385688DB1F}"/>
              </a:ext>
            </a:extLst>
          </p:cNvPr>
          <p:cNvSpPr txBox="1"/>
          <p:nvPr/>
        </p:nvSpPr>
        <p:spPr>
          <a:xfrm>
            <a:off x="5993394" y="0"/>
            <a:ext cx="61986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400" dirty="0"/>
              <a:t>package sec06.exam05.package2;</a:t>
            </a:r>
          </a:p>
          <a:p>
            <a:pPr marL="0" indent="0">
              <a:buNone/>
            </a:pPr>
            <a:r>
              <a:rPr lang="en-US" altLang="ko-KR" sz="1400" dirty="0"/>
              <a:t>import sec06.exam05.package1.A;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 {</a:t>
            </a:r>
          </a:p>
          <a:p>
            <a:pPr marL="0" indent="0">
              <a:buNone/>
            </a:pPr>
            <a:r>
              <a:rPr lang="en-US" altLang="ko-KR" sz="1400" dirty="0"/>
              <a:t>    public C() {</a:t>
            </a:r>
          </a:p>
          <a:p>
            <a:pPr marL="0" indent="0">
              <a:buNone/>
            </a:pPr>
            <a:r>
              <a:rPr lang="en-US" altLang="ko-KR" sz="1400" dirty="0"/>
              <a:t>        A </a:t>
            </a:r>
            <a:r>
              <a:rPr lang="en-US" altLang="ko-KR" sz="1400" dirty="0" err="1"/>
              <a:t>a</a:t>
            </a:r>
            <a:r>
              <a:rPr lang="en-US" altLang="ko-KR" sz="1400" dirty="0"/>
              <a:t> = new A(); // A </a:t>
            </a:r>
            <a:r>
              <a:rPr lang="ko-KR" altLang="en-US" sz="1400" dirty="0"/>
              <a:t>클래스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a.field1 = 1; // public </a:t>
            </a:r>
            <a:r>
              <a:rPr lang="ko-KR" altLang="en-US" sz="1400" dirty="0"/>
              <a:t>필드 접근 가능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a.field2 = 1; // (x) default </a:t>
            </a:r>
            <a:r>
              <a:rPr lang="ko-KR" altLang="en-US" sz="1400" dirty="0"/>
              <a:t>필드 접근 불가 </a:t>
            </a:r>
            <a:r>
              <a:rPr lang="en-US" altLang="ko-KR" sz="1400" dirty="0"/>
              <a:t>(</a:t>
            </a:r>
            <a:r>
              <a:rPr lang="ko-KR" altLang="en-US" sz="1400" dirty="0"/>
              <a:t>다른 패키지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// a.field3 = 1; // (x) private </a:t>
            </a:r>
            <a:r>
              <a:rPr lang="ko-KR" altLang="en-US" sz="1400" dirty="0"/>
              <a:t>필드 접근 불가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a.method1(); // public </a:t>
            </a:r>
            <a:r>
              <a:rPr lang="ko-KR" altLang="en-US" sz="1400" dirty="0"/>
              <a:t>메소드 호출 가능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a.method2(); // (x) default </a:t>
            </a:r>
            <a:r>
              <a:rPr lang="ko-KR" altLang="en-US" sz="1400" dirty="0"/>
              <a:t>메소드 호출 불가 </a:t>
            </a:r>
            <a:r>
              <a:rPr lang="en-US" altLang="ko-KR" sz="1400" dirty="0"/>
              <a:t>(</a:t>
            </a:r>
            <a:r>
              <a:rPr lang="ko-KR" altLang="en-US" sz="1400" dirty="0"/>
              <a:t>다른 패키지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// a.method3(); // (x) private </a:t>
            </a:r>
            <a:r>
              <a:rPr lang="ko-KR" altLang="en-US" sz="1400" dirty="0"/>
              <a:t>메소드 호출 불가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56713-D19D-772A-17E4-A479CE9C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1275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2D93D-77F4-CAA2-3CCF-E2CC9DBD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3B8B69-BDBF-3E8D-A8BE-D2C21BAFA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Getter</a:t>
            </a:r>
            <a:r>
              <a:rPr lang="ko-KR" altLang="en-US" sz="1400" b="1" dirty="0"/>
              <a:t>와 </a:t>
            </a:r>
            <a:r>
              <a:rPr lang="en-US" altLang="ko-KR" sz="1400" b="1" dirty="0"/>
              <a:t>Setter</a:t>
            </a:r>
            <a:r>
              <a:rPr lang="ko-KR" altLang="en-US" sz="1400" b="1" dirty="0"/>
              <a:t>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지향 프로그래밍에서는 객체의 필드를 객체 외부에서 직접적으로 막을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객체의 무결성이 깨질 수 있기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예를 들어 자동차의 속력은 음수가 될 수 없는데</a:t>
            </a:r>
            <a:r>
              <a:rPr lang="en-US" altLang="ko-KR" sz="1400" dirty="0"/>
              <a:t>, </a:t>
            </a:r>
            <a:r>
              <a:rPr lang="ko-KR" altLang="en-US" sz="1400" dirty="0"/>
              <a:t>외부에서 음수로 변경하면 객체의 무결성이 깨진다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이러한 문제를 해결하기위해 메소드를 통해서 필드를 변경하는 방법을 선호한다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 err="1"/>
              <a:t>매개값을</a:t>
            </a:r>
            <a:r>
              <a:rPr lang="ko-KR" altLang="en-US" sz="1400" dirty="0"/>
              <a:t> 검증해서 유효한 값만 객체의 필드로 저장할 수 있기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 </a:t>
            </a:r>
            <a:r>
              <a:rPr lang="ko-KR" altLang="en-US" sz="1400" dirty="0"/>
              <a:t>자동차의 속도를 </a:t>
            </a:r>
            <a:r>
              <a:rPr lang="en-US" altLang="ko-KR" sz="1400" dirty="0" err="1"/>
              <a:t>setSpeed</a:t>
            </a:r>
            <a:r>
              <a:rPr lang="en-US" altLang="ko-KR" sz="1400" dirty="0"/>
              <a:t>()</a:t>
            </a:r>
            <a:r>
              <a:rPr lang="ko-KR" altLang="en-US" sz="1400" dirty="0"/>
              <a:t>로 변경</a:t>
            </a:r>
            <a:r>
              <a:rPr lang="en-US" altLang="ko-KR" sz="1400" dirty="0"/>
              <a:t>/</a:t>
            </a:r>
            <a:r>
              <a:rPr lang="ko-KR" altLang="en-US" sz="1400" dirty="0"/>
              <a:t>검증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</a:t>
            </a:r>
            <a:r>
              <a:rPr lang="en-US" altLang="ko-KR" sz="1400" dirty="0" err="1"/>
              <a:t>setSpeed</a:t>
            </a:r>
            <a:r>
              <a:rPr lang="en-US" altLang="ko-KR" sz="1400" dirty="0"/>
              <a:t>(double speed) {</a:t>
            </a:r>
          </a:p>
          <a:p>
            <a:pPr marL="0" indent="0">
              <a:buNone/>
            </a:pPr>
            <a:r>
              <a:rPr lang="en-US" altLang="ko-KR" sz="1400" dirty="0"/>
              <a:t>    if (speed &lt; 0) { // </a:t>
            </a:r>
            <a:r>
              <a:rPr lang="ko-KR" altLang="en-US" sz="1400" dirty="0" err="1"/>
              <a:t>매개값이</a:t>
            </a:r>
            <a:r>
              <a:rPr lang="ko-KR" altLang="en-US" sz="1400" dirty="0"/>
              <a:t> 음수인 경우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this.speed</a:t>
            </a:r>
            <a:r>
              <a:rPr lang="en-US" altLang="ko-KR" sz="1400" dirty="0"/>
              <a:t> = 0; // speed </a:t>
            </a:r>
            <a:r>
              <a:rPr lang="ko-KR" altLang="en-US" sz="1400" dirty="0"/>
              <a:t>필드에 </a:t>
            </a:r>
            <a:r>
              <a:rPr lang="en-US" altLang="ko-KR" sz="1400" dirty="0"/>
              <a:t>0 </a:t>
            </a:r>
            <a:r>
              <a:rPr lang="ko-KR" altLang="en-US" sz="1400" dirty="0"/>
              <a:t>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return; // </a:t>
            </a:r>
            <a:r>
              <a:rPr lang="ko-KR" altLang="en-US" sz="1400" dirty="0"/>
              <a:t>메소드 실행 종료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this.speed</a:t>
            </a:r>
            <a:r>
              <a:rPr lang="en-US" altLang="ko-KR" sz="1400" dirty="0"/>
              <a:t> = speed; // </a:t>
            </a:r>
            <a:r>
              <a:rPr lang="ko-KR" altLang="en-US" sz="1400" dirty="0" err="1"/>
              <a:t>매개값을</a:t>
            </a:r>
            <a:r>
              <a:rPr lang="ko-KR" altLang="en-US" sz="1400" dirty="0"/>
              <a:t> </a:t>
            </a:r>
            <a:r>
              <a:rPr lang="en-US" altLang="ko-KR" sz="1400" dirty="0"/>
              <a:t>speed </a:t>
            </a:r>
            <a:r>
              <a:rPr lang="ko-KR" altLang="en-US" sz="1400" dirty="0"/>
              <a:t>필드에 저장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3DCA864-1C33-0180-5642-F058EE9B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5285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4EB6-1BF3-3B20-83C6-F4938AAD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ACC98-1DB1-04A6-9D68-1E357DAF1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Getter</a:t>
            </a:r>
            <a:r>
              <a:rPr lang="ko-KR" altLang="en-US" sz="1400" b="1" dirty="0"/>
              <a:t>와 </a:t>
            </a:r>
            <a:r>
              <a:rPr lang="en-US" altLang="ko-KR" sz="1400" b="1" dirty="0"/>
              <a:t>Setter</a:t>
            </a:r>
            <a:r>
              <a:rPr lang="ko-KR" altLang="en-US" sz="1400" b="1" dirty="0"/>
              <a:t>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객체의 </a:t>
            </a:r>
            <a:r>
              <a:rPr lang="ko-KR" altLang="en-US" sz="1400" dirty="0" err="1"/>
              <a:t>필드값을</a:t>
            </a:r>
            <a:r>
              <a:rPr lang="ko-KR" altLang="en-US" sz="1400" dirty="0"/>
              <a:t> 읽을 때도 메소드를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이런 경우에는 메소드 </a:t>
            </a:r>
            <a:r>
              <a:rPr lang="ko-KR" altLang="en-US" sz="1400" dirty="0" err="1"/>
              <a:t>필드값을</a:t>
            </a:r>
            <a:r>
              <a:rPr lang="ko-KR" altLang="en-US" sz="1400" dirty="0"/>
              <a:t> 가공한 후 외부로 전달이 가능하다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또한 </a:t>
            </a:r>
            <a:r>
              <a:rPr lang="ko-KR" altLang="en-US" sz="1400" dirty="0" err="1"/>
              <a:t>필드값을</a:t>
            </a:r>
            <a:r>
              <a:rPr lang="ko-KR" altLang="en-US" sz="1400" dirty="0"/>
              <a:t> 설정하거나 읽기 전에 조건을 추가할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  <a:r>
              <a:rPr lang="ko-KR" altLang="en-US" sz="1400" dirty="0"/>
              <a:t>자동차의 속도를 마일 </a:t>
            </a:r>
            <a:r>
              <a:rPr lang="en-US" altLang="ko-KR" sz="1400" dirty="0">
                <a:sym typeface="Wingdings" panose="05000000000000000000" pitchFamily="2" charset="2"/>
              </a:rPr>
              <a:t> km</a:t>
            </a:r>
            <a:r>
              <a:rPr lang="ko-KR" altLang="en-US" sz="1400" dirty="0">
                <a:sym typeface="Wingdings" panose="05000000000000000000" pitchFamily="2" charset="2"/>
              </a:rPr>
              <a:t>로 환산하는 </a:t>
            </a:r>
            <a:r>
              <a:rPr lang="en-US" altLang="ko-KR" sz="1400" dirty="0">
                <a:sym typeface="Wingdings" panose="05000000000000000000" pitchFamily="2" charset="2"/>
              </a:rPr>
              <a:t>getter </a:t>
            </a:r>
            <a:r>
              <a:rPr lang="ko-KR" altLang="en-US" sz="1400" dirty="0">
                <a:sym typeface="Wingdings" panose="05000000000000000000" pitchFamily="2" charset="2"/>
              </a:rPr>
              <a:t>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double </a:t>
            </a:r>
            <a:r>
              <a:rPr lang="en-US" altLang="ko-KR" sz="1400" dirty="0" err="1"/>
              <a:t>getSpeed</a:t>
            </a:r>
            <a:r>
              <a:rPr lang="en-US" altLang="ko-KR" sz="1400" dirty="0"/>
              <a:t>(){</a:t>
            </a:r>
          </a:p>
          <a:p>
            <a:pPr marL="0" indent="0">
              <a:buNone/>
            </a:pPr>
            <a:r>
              <a:rPr lang="en-US" altLang="ko-KR" sz="1400" dirty="0"/>
              <a:t>	double km = speed*1.6;</a:t>
            </a:r>
          </a:p>
          <a:p>
            <a:pPr marL="0" indent="0">
              <a:buNone/>
            </a:pPr>
            <a:r>
              <a:rPr lang="en-US" altLang="ko-KR" sz="1400" dirty="0"/>
              <a:t>	return km;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AC23E9-86C9-31A6-E77E-B4E8D397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6731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879F3-C859-8C37-2A2E-018C737C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038EF-38A2-5E24-2FDB-A401125E1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class Car {</a:t>
            </a:r>
          </a:p>
          <a:p>
            <a:pPr marL="0" indent="0">
              <a:buNone/>
            </a:pPr>
            <a:r>
              <a:rPr lang="en-US" altLang="ko-KR" sz="1400" dirty="0"/>
              <a:t>    private int speed; private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stop; //</a:t>
            </a:r>
            <a:r>
              <a:rPr lang="ko-KR" altLang="en-US" sz="1400" dirty="0"/>
              <a:t>자동차의 속도</a:t>
            </a:r>
            <a:r>
              <a:rPr lang="en-US" altLang="ko-KR" sz="1400" dirty="0"/>
              <a:t>,</a:t>
            </a:r>
            <a:r>
              <a:rPr lang="ko-KR" altLang="en-US" sz="1400" dirty="0"/>
              <a:t> 자동차의 정지 상태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    // Getter: </a:t>
            </a:r>
            <a:r>
              <a:rPr lang="ko-KR" altLang="en-US" sz="1400" dirty="0"/>
              <a:t>속도 값을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int </a:t>
            </a:r>
            <a:r>
              <a:rPr lang="en-US" altLang="ko-KR" sz="1400" dirty="0" err="1"/>
              <a:t>getSpeed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return speed;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// Setter: </a:t>
            </a:r>
            <a:r>
              <a:rPr lang="ko-KR" altLang="en-US" sz="1400" dirty="0"/>
              <a:t>속도 값을 설정 </a:t>
            </a:r>
            <a:r>
              <a:rPr lang="en-US" altLang="ko-KR" sz="1400" dirty="0"/>
              <a:t>(</a:t>
            </a:r>
            <a:r>
              <a:rPr lang="ko-KR" altLang="en-US" sz="1400" dirty="0"/>
              <a:t>유효성 검사 포함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public void </a:t>
            </a:r>
            <a:r>
              <a:rPr lang="en-US" altLang="ko-KR" sz="1400" dirty="0" err="1"/>
              <a:t>setSpeed</a:t>
            </a:r>
            <a:r>
              <a:rPr lang="en-US" altLang="ko-KR" sz="1400" dirty="0"/>
              <a:t>(int speed) {</a:t>
            </a:r>
          </a:p>
          <a:p>
            <a:pPr marL="0" indent="0">
              <a:buNone/>
            </a:pPr>
            <a:r>
              <a:rPr lang="en-US" altLang="ko-KR" sz="1400" dirty="0"/>
              <a:t>        if (speed &lt; 0) { // </a:t>
            </a:r>
            <a:r>
              <a:rPr lang="ko-KR" altLang="en-US" sz="1400" dirty="0"/>
              <a:t>속도가 음수인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this.speed</a:t>
            </a:r>
            <a:r>
              <a:rPr lang="en-US" altLang="ko-KR" sz="1400" dirty="0"/>
              <a:t> = 0; // </a:t>
            </a:r>
            <a:r>
              <a:rPr lang="ko-KR" altLang="en-US" sz="1400" dirty="0"/>
              <a:t>속도를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설정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return; // </a:t>
            </a:r>
            <a:r>
              <a:rPr lang="ko-KR" altLang="en-US" sz="1400" dirty="0"/>
              <a:t>메소드 종료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this.speed</a:t>
            </a:r>
            <a:r>
              <a:rPr lang="en-US" altLang="ko-KR" sz="1400" dirty="0"/>
              <a:t> = speed; // </a:t>
            </a:r>
            <a:r>
              <a:rPr lang="ko-KR" altLang="en-US" sz="1400" dirty="0"/>
              <a:t>속도를 정상적으로 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// Getter: </a:t>
            </a:r>
            <a:r>
              <a:rPr lang="ko-KR" altLang="en-US" sz="1400" dirty="0"/>
              <a:t>정지 상태를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isStop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return stop;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// Setter: </a:t>
            </a:r>
            <a:r>
              <a:rPr lang="ko-KR" altLang="en-US" sz="1400" dirty="0"/>
              <a:t>정지 상태를 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setStop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stop)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this.stop</a:t>
            </a:r>
            <a:r>
              <a:rPr lang="en-US" altLang="ko-KR" sz="1400" dirty="0"/>
              <a:t> = stop; // </a:t>
            </a:r>
            <a:r>
              <a:rPr lang="ko-KR" altLang="en-US" sz="1400" dirty="0"/>
              <a:t>정지 상태를 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(stop) { // </a:t>
            </a:r>
            <a:r>
              <a:rPr lang="ko-KR" altLang="en-US" sz="1400" dirty="0"/>
              <a:t>정지 상태인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this.speed</a:t>
            </a:r>
            <a:r>
              <a:rPr lang="en-US" altLang="ko-KR" sz="1400" dirty="0"/>
              <a:t> = 0; // </a:t>
            </a:r>
            <a:r>
              <a:rPr lang="ko-KR" altLang="en-US" sz="1400" dirty="0"/>
              <a:t>속도를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24D0E46-DD2C-961F-1D4E-784A72C8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3593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33DD-9E28-481B-DF19-F83CAD9FC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E82B9F-1534-0975-CD3D-843588BD9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package sec06.exam06;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 // Car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잘못된 속도 변경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myCar.setSpeed</a:t>
            </a:r>
            <a:r>
              <a:rPr lang="en-US" altLang="ko-KR" sz="1400" dirty="0"/>
              <a:t>(-50); // </a:t>
            </a:r>
            <a:r>
              <a:rPr lang="ko-KR" altLang="en-US" sz="1400" dirty="0"/>
              <a:t>음수 속도 설정 시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처리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현재 속도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myCar.getSpeed</a:t>
            </a:r>
            <a:r>
              <a:rPr lang="en-US" altLang="ko-KR" sz="1400" dirty="0"/>
              <a:t>()); // </a:t>
            </a:r>
            <a:r>
              <a:rPr lang="ko-KR" altLang="en-US" sz="1400" dirty="0"/>
              <a:t>현재 속도 출력 </a:t>
            </a:r>
            <a:r>
              <a:rPr lang="en-US" altLang="ko-KR" sz="1400" dirty="0"/>
              <a:t>(0)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올바른 속도 변경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myCar.setSpeed</a:t>
            </a:r>
            <a:r>
              <a:rPr lang="en-US" altLang="ko-KR" sz="1400" dirty="0"/>
              <a:t>(60); // </a:t>
            </a:r>
            <a:r>
              <a:rPr lang="ko-KR" altLang="en-US" sz="1400" dirty="0"/>
              <a:t>속도 </a:t>
            </a:r>
            <a:r>
              <a:rPr lang="en-US" altLang="ko-KR" sz="1400" dirty="0"/>
              <a:t>60</a:t>
            </a:r>
            <a:r>
              <a:rPr lang="ko-KR" altLang="en-US" sz="1400" dirty="0"/>
              <a:t>으로 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현재 속도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myCar.getSpeed</a:t>
            </a:r>
            <a:r>
              <a:rPr lang="en-US" altLang="ko-KR" sz="1400" dirty="0"/>
              <a:t>()); // </a:t>
            </a:r>
            <a:r>
              <a:rPr lang="ko-KR" altLang="en-US" sz="1400" dirty="0"/>
              <a:t>현재 속도 출력 </a:t>
            </a:r>
            <a:r>
              <a:rPr lang="en-US" altLang="ko-KR" sz="1400" dirty="0"/>
              <a:t>(60)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멈춤 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(!</a:t>
            </a:r>
            <a:r>
              <a:rPr lang="en-US" altLang="ko-KR" sz="1400" dirty="0" err="1"/>
              <a:t>myCar.isStop</a:t>
            </a:r>
            <a:r>
              <a:rPr lang="en-US" altLang="ko-KR" sz="1400" dirty="0"/>
              <a:t>()) { // </a:t>
            </a:r>
            <a:r>
              <a:rPr lang="ko-KR" altLang="en-US" sz="1400" dirty="0"/>
              <a:t>자동차가 멈추지 않은 상태라면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myCar.setStop</a:t>
            </a:r>
            <a:r>
              <a:rPr lang="en-US" altLang="ko-KR" sz="1400" dirty="0"/>
              <a:t>(true); // </a:t>
            </a:r>
            <a:r>
              <a:rPr lang="ko-KR" altLang="en-US" sz="1400" dirty="0"/>
              <a:t>멈춤 상태로 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현재 속도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myCar.getSpeed</a:t>
            </a:r>
            <a:r>
              <a:rPr lang="en-US" altLang="ko-KR" sz="1400" dirty="0"/>
              <a:t>()); // </a:t>
            </a:r>
            <a:r>
              <a:rPr lang="ko-KR" altLang="en-US" sz="1400" dirty="0"/>
              <a:t>멈춤 상태 속도 출력 </a:t>
            </a:r>
            <a:r>
              <a:rPr lang="en-US" altLang="ko-KR" sz="1400" dirty="0"/>
              <a:t>(0)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DA8D0D-642B-5A89-EEEE-D77A30E71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964" y="2654363"/>
            <a:ext cx="2453017" cy="154927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87C15D-29B2-7E47-2634-87368D26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595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11349</Words>
  <Application>Microsoft Office PowerPoint</Application>
  <PresentationFormat>와이드스크린</PresentationFormat>
  <Paragraphs>1726</Paragraphs>
  <Slides>77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81" baseType="lpstr">
      <vt:lpstr>맑은 고딕</vt:lpstr>
      <vt:lpstr>Arial</vt:lpstr>
      <vt:lpstr>Wingdings</vt:lpstr>
      <vt:lpstr>Office 테마</vt:lpstr>
      <vt:lpstr>클래스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27</cp:revision>
  <dcterms:created xsi:type="dcterms:W3CDTF">2024-11-16T10:25:19Z</dcterms:created>
  <dcterms:modified xsi:type="dcterms:W3CDTF">2024-11-23T14:21:27Z</dcterms:modified>
</cp:coreProperties>
</file>