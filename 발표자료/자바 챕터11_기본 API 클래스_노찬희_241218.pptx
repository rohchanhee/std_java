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0DED9-6D52-4114-887A-5B887536C1D4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oracle.com/en/java/javase/21/docs/api/java.base/java/lang/String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기본 </a:t>
            </a:r>
            <a:r>
              <a:rPr lang="en-US" altLang="ko-KR" dirty="0"/>
              <a:t>API </a:t>
            </a:r>
            <a:r>
              <a:rPr lang="ko-KR" altLang="en-US" dirty="0"/>
              <a:t>클래스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/>
              <a:t>java.lang</a:t>
            </a:r>
            <a:r>
              <a:rPr lang="ko-KR" altLang="en-US" sz="1400" b="1" dirty="0"/>
              <a:t> 패키지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 err="1"/>
              <a:t>java.lang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패키지는 자바 프로그램의 기본적인 클래스를 담고 있는 패키지이다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그래서 </a:t>
            </a:r>
            <a:r>
              <a:rPr lang="en-US" altLang="ko-KR" sz="1400" dirty="0" err="1"/>
              <a:t>java.lang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패키지에 있는 클래스와 인터페이스는 </a:t>
            </a:r>
            <a:r>
              <a:rPr lang="en-US" altLang="ko-KR" sz="1400" dirty="0"/>
              <a:t>import </a:t>
            </a:r>
            <a:r>
              <a:rPr lang="ko-KR" altLang="en-US" sz="1400" dirty="0"/>
              <a:t>없이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 err="1"/>
              <a:t>java.lang</a:t>
            </a:r>
            <a:r>
              <a:rPr lang="ko-KR" altLang="en-US" sz="1400" dirty="0"/>
              <a:t>에 속하는 클래스는 무척 방대하기에 </a:t>
            </a:r>
            <a:r>
              <a:rPr lang="en-US" altLang="ko-KR" sz="1400" dirty="0"/>
              <a:t>API </a:t>
            </a:r>
            <a:r>
              <a:rPr lang="ko-KR" altLang="en-US" sz="1400" dirty="0"/>
              <a:t>도큐먼트를 통해 배울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자바 </a:t>
            </a:r>
            <a:r>
              <a:rPr lang="en-US" altLang="ko-KR" sz="1400" b="1" dirty="0"/>
              <a:t>API </a:t>
            </a:r>
            <a:r>
              <a:rPr lang="ko-KR" altLang="en-US" sz="1400" b="1" dirty="0"/>
              <a:t>도큐먼트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자바에서 제공하는 </a:t>
            </a:r>
            <a:r>
              <a:rPr lang="en-US" altLang="ko-KR" sz="1400" dirty="0"/>
              <a:t>API(Application Programming Interface)</a:t>
            </a:r>
            <a:r>
              <a:rPr lang="ko-KR" altLang="en-US" sz="1400" dirty="0"/>
              <a:t>는 프로그램 개발에 자주 사용되는 클래스 및 인터페이스의 모음이다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여태 사용해 왔던 </a:t>
            </a:r>
            <a:r>
              <a:rPr lang="en-US" altLang="ko-KR" sz="1400" dirty="0"/>
              <a:t>String, System</a:t>
            </a:r>
            <a:r>
              <a:rPr lang="ko-KR" altLang="en-US" sz="1400" dirty="0"/>
              <a:t>클래스를 포함한 다양한 클래스들이 모두 </a:t>
            </a:r>
            <a:r>
              <a:rPr lang="en-US" altLang="ko-KR" sz="1400" dirty="0"/>
              <a:t>API</a:t>
            </a:r>
            <a:r>
              <a:rPr lang="ko-KR" altLang="en-US" sz="1400" dirty="0"/>
              <a:t>에 속하는 클래스이다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>
                <a:hlinkClick r:id="rId2"/>
              </a:rPr>
              <a:t>https://docs.oracle.com/en/java/javase/21/docs/api/java.base/java/lang/String.html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1BCA3A-9452-787F-259B-42B009073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6907"/>
            <a:ext cx="6844420" cy="334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1D79-3A25-5F70-054D-39178B87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F9C0E6-59E9-D820-36E8-BBCE3CE5A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400" b="1" dirty="0"/>
              <a:t>Object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자바에서 모든 클래스는 </a:t>
            </a:r>
            <a:r>
              <a:rPr lang="en-US" altLang="ko-KR" sz="1400" dirty="0"/>
              <a:t>Object </a:t>
            </a:r>
            <a:r>
              <a:rPr lang="ko-KR" altLang="en-US" sz="1400" dirty="0"/>
              <a:t>클래스를 상속받는다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즉 자바의 모든 클래스는 </a:t>
            </a:r>
            <a:r>
              <a:rPr lang="en-US" altLang="ko-KR" sz="1400" dirty="0"/>
              <a:t>Object</a:t>
            </a:r>
            <a:r>
              <a:rPr lang="ko-KR" altLang="en-US" sz="1400" dirty="0"/>
              <a:t>의 자식 클래스 이거나 자손 클래스이다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Object </a:t>
            </a:r>
            <a:r>
              <a:rPr lang="ko-KR" altLang="en-US" sz="1400" b="1" dirty="0"/>
              <a:t>클래스의 메소드 </a:t>
            </a:r>
            <a:r>
              <a:rPr lang="en-US" altLang="ko-KR" sz="1400" b="1" dirty="0"/>
              <a:t>– equals()</a:t>
            </a:r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equals(</a:t>
            </a:r>
            <a:r>
              <a:rPr lang="en-US" altLang="ko-KR" sz="1400" dirty="0" err="1"/>
              <a:t>Obejct</a:t>
            </a:r>
            <a:r>
              <a:rPr lang="en-US" altLang="ko-KR" sz="1400" dirty="0"/>
              <a:t> obj){...}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 메소드의 반환형은 </a:t>
            </a:r>
            <a:r>
              <a:rPr lang="en-US" altLang="ko-KR" sz="1400" dirty="0" err="1"/>
              <a:t>boolean</a:t>
            </a:r>
            <a:r>
              <a:rPr lang="ko-KR" altLang="en-US" sz="1400" dirty="0"/>
              <a:t>이고 매개변수 타입은 </a:t>
            </a:r>
            <a:r>
              <a:rPr lang="en-US" altLang="ko-KR" sz="1400" dirty="0"/>
              <a:t>Object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  <a:r>
              <a:rPr lang="ko-KR" altLang="en-US" sz="1400" dirty="0"/>
              <a:t>매개 타입이 </a:t>
            </a:r>
            <a:r>
              <a:rPr lang="en-US" altLang="ko-KR" sz="1400" dirty="0"/>
              <a:t>Object</a:t>
            </a:r>
            <a:r>
              <a:rPr lang="ko-KR" altLang="en-US" sz="1400" dirty="0"/>
              <a:t>라는 것은 모든 객체가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대입될 수 있다는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왜냐하면 모든 객체는 </a:t>
            </a:r>
            <a:r>
              <a:rPr lang="en-US" altLang="ko-KR" sz="1400" dirty="0"/>
              <a:t>Object</a:t>
            </a:r>
            <a:r>
              <a:rPr lang="ko-KR" altLang="en-US" sz="1400" dirty="0"/>
              <a:t>타입으로 자동 타입 변환될 수 있기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 메소드는 비교 연산자 </a:t>
            </a:r>
            <a:r>
              <a:rPr lang="en-US" altLang="ko-KR" sz="1400" dirty="0"/>
              <a:t>==</a:t>
            </a:r>
            <a:r>
              <a:rPr lang="ko-KR" altLang="en-US" sz="1400" dirty="0"/>
              <a:t>와 동일한 결과를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두 객체가 동일한 객체라면 </a:t>
            </a:r>
            <a:r>
              <a:rPr lang="en-US" altLang="ko-KR" sz="1400" dirty="0"/>
              <a:t>true</a:t>
            </a:r>
            <a:r>
              <a:rPr lang="ko-KR" altLang="en-US" sz="1400" dirty="0"/>
              <a:t>를 반환하고 그렇지 않으면 </a:t>
            </a:r>
            <a:r>
              <a:rPr lang="en-US" altLang="ko-KR" sz="1400" dirty="0"/>
              <a:t>false</a:t>
            </a:r>
            <a:r>
              <a:rPr lang="ko-KR" altLang="en-US" sz="1400" dirty="0"/>
              <a:t>를 반환한다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result = obj1.equals(obj2);</a:t>
            </a:r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result2 = obj1==obj2;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 예제에서는 두 객체의 번지를 비교했다면 </a:t>
            </a:r>
            <a:r>
              <a:rPr lang="en-US" altLang="ko-KR" sz="1400" dirty="0"/>
              <a:t>String </a:t>
            </a:r>
            <a:r>
              <a:rPr lang="ko-KR" altLang="en-US" sz="1400" dirty="0"/>
              <a:t>클래스에서의 </a:t>
            </a:r>
            <a:r>
              <a:rPr lang="en-US" altLang="ko-KR" sz="1400" dirty="0"/>
              <a:t>equals()</a:t>
            </a:r>
            <a:r>
              <a:rPr lang="ko-KR" altLang="en-US" sz="1400" dirty="0"/>
              <a:t>메소드는  문자열이 같다면 </a:t>
            </a:r>
            <a:r>
              <a:rPr lang="en-US" altLang="ko-KR" sz="1400" dirty="0"/>
              <a:t>true</a:t>
            </a:r>
            <a:r>
              <a:rPr lang="ko-KR" altLang="en-US" sz="1400" dirty="0"/>
              <a:t>를 리턴하고</a:t>
            </a:r>
            <a:r>
              <a:rPr lang="en-US" altLang="ko-KR" sz="1400" dirty="0"/>
              <a:t>, </a:t>
            </a:r>
            <a:r>
              <a:rPr lang="ko-KR" altLang="en-US" sz="1400" dirty="0"/>
              <a:t>그렇지 않다면 </a:t>
            </a:r>
            <a:r>
              <a:rPr lang="en-US" altLang="ko-KR" sz="1400" dirty="0"/>
              <a:t>false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이것이 가능한 이유는 </a:t>
            </a:r>
            <a:r>
              <a:rPr lang="en-US" altLang="ko-KR" sz="1400" dirty="0"/>
              <a:t>String</a:t>
            </a:r>
            <a:r>
              <a:rPr lang="ko-KR" altLang="en-US" sz="1400" dirty="0"/>
              <a:t>클래스가 </a:t>
            </a:r>
            <a:r>
              <a:rPr lang="en-US" altLang="ko-KR" sz="1400" dirty="0"/>
              <a:t>Object</a:t>
            </a:r>
            <a:r>
              <a:rPr lang="ko-KR" altLang="en-US" sz="1400" dirty="0"/>
              <a:t>클래스를 상속받아 </a:t>
            </a:r>
            <a:r>
              <a:rPr lang="en-US" altLang="ko-KR" sz="1400" dirty="0"/>
              <a:t>equals()</a:t>
            </a:r>
            <a:r>
              <a:rPr lang="ko-KR" altLang="en-US" sz="1400" dirty="0"/>
              <a:t>메소드를 재정의했기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이처럼 일반적으로 </a:t>
            </a:r>
            <a:r>
              <a:rPr lang="en-US" altLang="ko-KR" sz="1400" dirty="0"/>
              <a:t>Object</a:t>
            </a:r>
            <a:r>
              <a:rPr lang="ko-KR" altLang="en-US" sz="1400" dirty="0"/>
              <a:t>의 </a:t>
            </a:r>
            <a:r>
              <a:rPr lang="en-US" altLang="ko-KR" sz="1400" dirty="0"/>
              <a:t>equals()</a:t>
            </a:r>
            <a:r>
              <a:rPr lang="ko-KR" altLang="en-US" sz="1400" dirty="0"/>
              <a:t>메소드는 직접 사용되지 않고 하위 클래스에서 재정의하여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0E5B34-4096-D0B0-C279-3476F58E5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63" y="1013139"/>
            <a:ext cx="450532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0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1B8FD-15C7-4FE2-70A7-997ABE7A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91B94-7640-AFD5-4BD3-0BC743E18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Member {</a:t>
            </a:r>
          </a:p>
          <a:p>
            <a:pPr marL="0" indent="0">
              <a:buNone/>
            </a:pPr>
            <a:r>
              <a:rPr lang="en-US" altLang="ko-KR" sz="1400" dirty="0"/>
              <a:t>    public String id;  // Member </a:t>
            </a:r>
            <a:r>
              <a:rPr lang="ko-KR" altLang="en-US" sz="1400" dirty="0"/>
              <a:t>객체의 </a:t>
            </a:r>
            <a:r>
              <a:rPr lang="en-US" altLang="ko-KR" sz="1400" dirty="0"/>
              <a:t>id</a:t>
            </a:r>
            <a:r>
              <a:rPr lang="ko-KR" altLang="en-US" sz="1400" dirty="0"/>
              <a:t>를 나타내는 변수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  <a:r>
              <a:rPr lang="en-US" altLang="ko-KR" sz="1400" dirty="0"/>
              <a:t>: id </a:t>
            </a:r>
            <a:r>
              <a:rPr lang="ko-KR" altLang="en-US" sz="1400" dirty="0"/>
              <a:t>값을 받아 </a:t>
            </a:r>
            <a:r>
              <a:rPr lang="en-US" altLang="ko-KR" sz="1400" dirty="0"/>
              <a:t>Member </a:t>
            </a:r>
            <a:r>
              <a:rPr lang="ko-KR" altLang="en-US" sz="1400" dirty="0"/>
              <a:t>객체를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Member(String id) {</a:t>
            </a:r>
          </a:p>
          <a:p>
            <a:pPr marL="0" indent="0">
              <a:buNone/>
            </a:pPr>
            <a:r>
              <a:rPr lang="en-US" altLang="ko-KR" sz="1400" dirty="0"/>
              <a:t>        this.id = id;  // </a:t>
            </a:r>
            <a:r>
              <a:rPr lang="ko-KR" altLang="en-US" sz="1400" dirty="0"/>
              <a:t>객체의 </a:t>
            </a:r>
            <a:r>
              <a:rPr lang="en-US" altLang="ko-KR" sz="1400" dirty="0"/>
              <a:t>id</a:t>
            </a:r>
            <a:r>
              <a:rPr lang="ko-KR" altLang="en-US" sz="1400" dirty="0"/>
              <a:t>를 전달된 값으로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equals() </a:t>
            </a:r>
            <a:r>
              <a:rPr lang="ko-KR" altLang="en-US" sz="1400" dirty="0"/>
              <a:t>메서드</a:t>
            </a:r>
            <a:r>
              <a:rPr lang="en-US" altLang="ko-KR" sz="1400" dirty="0"/>
              <a:t>: Member </a:t>
            </a:r>
            <a:r>
              <a:rPr lang="ko-KR" altLang="en-US" sz="1400" dirty="0"/>
              <a:t>객체 비교 시 </a:t>
            </a:r>
            <a:r>
              <a:rPr lang="en-US" altLang="ko-KR" sz="1400" dirty="0"/>
              <a:t>id </a:t>
            </a:r>
            <a:r>
              <a:rPr lang="ko-KR" altLang="en-US" sz="1400" dirty="0"/>
              <a:t>값이 </a:t>
            </a:r>
            <a:r>
              <a:rPr lang="ko-KR" altLang="en-US" sz="1400" dirty="0" err="1"/>
              <a:t>같은지</a:t>
            </a:r>
            <a:r>
              <a:rPr lang="ko-KR" altLang="en-US" sz="1400" dirty="0"/>
              <a:t> 확인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public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equals(Object obj) {</a:t>
            </a:r>
          </a:p>
          <a:p>
            <a:pPr marL="0" indent="0">
              <a:buNone/>
            </a:pPr>
            <a:r>
              <a:rPr lang="en-US" altLang="ko-KR" sz="1400" dirty="0"/>
              <a:t>        // obj</a:t>
            </a:r>
            <a:r>
              <a:rPr lang="ko-KR" altLang="en-US" sz="1400" dirty="0"/>
              <a:t>가 </a:t>
            </a:r>
            <a:r>
              <a:rPr lang="en-US" altLang="ko-KR" sz="1400" dirty="0"/>
              <a:t>Member </a:t>
            </a:r>
            <a:r>
              <a:rPr lang="ko-KR" altLang="en-US" sz="1400" dirty="0"/>
              <a:t>객체인지 확인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(obj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Member) {</a:t>
            </a:r>
          </a:p>
          <a:p>
            <a:pPr marL="0" indent="0">
              <a:buNone/>
            </a:pPr>
            <a:r>
              <a:rPr lang="en-US" altLang="ko-KR" sz="1400" dirty="0"/>
              <a:t>            Member </a:t>
            </a:r>
            <a:r>
              <a:rPr lang="en-US" altLang="ko-KR" sz="1400" dirty="0" err="1"/>
              <a:t>member</a:t>
            </a:r>
            <a:r>
              <a:rPr lang="en-US" altLang="ko-KR" sz="1400" dirty="0"/>
              <a:t> = (Member) obj;  // obj</a:t>
            </a:r>
            <a:r>
              <a:rPr lang="ko-KR" altLang="en-US" sz="1400" dirty="0"/>
              <a:t>를 </a:t>
            </a:r>
            <a:r>
              <a:rPr lang="en-US" altLang="ko-KR" sz="1400" dirty="0"/>
              <a:t>Member </a:t>
            </a:r>
            <a:r>
              <a:rPr lang="ko-KR" altLang="en-US" sz="1400" dirty="0"/>
              <a:t>타입으로 </a:t>
            </a:r>
            <a:r>
              <a:rPr lang="ko-KR" altLang="en-US" sz="1400" dirty="0" err="1"/>
              <a:t>형변환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// id </a:t>
            </a:r>
            <a:r>
              <a:rPr lang="ko-KR" altLang="en-US" sz="1400" dirty="0"/>
              <a:t>값이 동일한지 비교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id.equals</a:t>
            </a:r>
            <a:r>
              <a:rPr lang="en-US" altLang="ko-KR" sz="1400" dirty="0"/>
              <a:t>(member.id)) {</a:t>
            </a:r>
          </a:p>
          <a:p>
            <a:pPr marL="0" indent="0">
              <a:buNone/>
            </a:pPr>
            <a:r>
              <a:rPr lang="en-US" altLang="ko-KR" sz="1400" dirty="0"/>
              <a:t>                return true;  // id </a:t>
            </a:r>
            <a:r>
              <a:rPr lang="ko-KR" altLang="en-US" sz="1400" dirty="0"/>
              <a:t>값이 같으면 </a:t>
            </a:r>
            <a:r>
              <a:rPr lang="en-US" altLang="ko-KR" sz="1400" dirty="0"/>
              <a:t>true </a:t>
            </a:r>
            <a:r>
              <a:rPr lang="ko-KR" altLang="en-US" sz="1400" dirty="0"/>
              <a:t>반환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return false;  // </a:t>
            </a:r>
            <a:r>
              <a:rPr lang="ko-KR" altLang="en-US" sz="1400" dirty="0"/>
              <a:t>그 외의 경우 </a:t>
            </a:r>
            <a:r>
              <a:rPr lang="en-US" altLang="ko-KR" sz="1400" dirty="0"/>
              <a:t>false </a:t>
            </a:r>
            <a:r>
              <a:rPr lang="ko-KR" altLang="en-US" sz="1400" dirty="0"/>
              <a:t>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402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ACAEA-F2E1-2DBD-EEC1-D69F244D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65494-78A9-C1DF-B9C1-332B6AE97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MemberExample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Member </a:t>
            </a:r>
            <a:r>
              <a:rPr lang="ko-KR" altLang="en-US" sz="1400" dirty="0"/>
              <a:t>객체를 생성하면서 </a:t>
            </a:r>
            <a:r>
              <a:rPr lang="en-US" altLang="ko-KR" sz="1400" dirty="0"/>
              <a:t>id </a:t>
            </a:r>
            <a:r>
              <a:rPr lang="ko-KR" altLang="en-US" sz="1400" dirty="0"/>
              <a:t>값을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Member obj1 = new Member("blue");  // id</a:t>
            </a:r>
            <a:r>
              <a:rPr lang="ko-KR" altLang="en-US" sz="1400" dirty="0"/>
              <a:t>가 </a:t>
            </a:r>
            <a:r>
              <a:rPr lang="en-US" altLang="ko-KR" sz="1400" dirty="0"/>
              <a:t>"blue"</a:t>
            </a:r>
            <a:r>
              <a:rPr lang="ko-KR" altLang="en-US" sz="1400" dirty="0"/>
              <a:t>인 </a:t>
            </a:r>
            <a:r>
              <a:rPr lang="en-US" altLang="ko-KR" sz="1400" dirty="0"/>
              <a:t>Member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Member obj2 = new Member("blue");  // id</a:t>
            </a:r>
            <a:r>
              <a:rPr lang="ko-KR" altLang="en-US" sz="1400" dirty="0"/>
              <a:t>가 </a:t>
            </a:r>
            <a:r>
              <a:rPr lang="en-US" altLang="ko-KR" sz="1400" dirty="0"/>
              <a:t>"blue"</a:t>
            </a:r>
            <a:r>
              <a:rPr lang="ko-KR" altLang="en-US" sz="1400" dirty="0"/>
              <a:t>인 또 다른 </a:t>
            </a:r>
            <a:r>
              <a:rPr lang="en-US" altLang="ko-KR" sz="1400" dirty="0"/>
              <a:t>Member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Member obj3 = new Member("red");   // id</a:t>
            </a:r>
            <a:r>
              <a:rPr lang="ko-KR" altLang="en-US" sz="1400" dirty="0"/>
              <a:t>가 </a:t>
            </a:r>
            <a:r>
              <a:rPr lang="en-US" altLang="ko-KR" sz="1400" dirty="0"/>
              <a:t>"red"</a:t>
            </a:r>
            <a:r>
              <a:rPr lang="ko-KR" altLang="en-US" sz="1400" dirty="0"/>
              <a:t>인 </a:t>
            </a:r>
            <a:r>
              <a:rPr lang="en-US" altLang="ko-KR" sz="1400" dirty="0"/>
              <a:t>Member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obj1</a:t>
            </a:r>
            <a:r>
              <a:rPr lang="ko-KR" altLang="en-US" sz="1400" dirty="0"/>
              <a:t>과 </a:t>
            </a:r>
            <a:r>
              <a:rPr lang="en-US" altLang="ko-KR" sz="1400" dirty="0"/>
              <a:t>obj2</a:t>
            </a:r>
            <a:r>
              <a:rPr lang="ko-KR" altLang="en-US" sz="1400" dirty="0"/>
              <a:t>가 동등한지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(obj1.equals(obj2)) {  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("obj1</a:t>
            </a:r>
            <a:r>
              <a:rPr lang="ko-KR" altLang="en-US" sz="1400" dirty="0"/>
              <a:t>과 </a:t>
            </a:r>
            <a:r>
              <a:rPr lang="en-US" altLang="ko-KR" sz="1400" dirty="0"/>
              <a:t>obj2</a:t>
            </a:r>
            <a:r>
              <a:rPr lang="ko-KR" altLang="en-US" sz="1400" dirty="0"/>
              <a:t>는 동등합니다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두 객체의 </a:t>
            </a:r>
            <a:r>
              <a:rPr lang="en-US" altLang="ko-KR" sz="1400" dirty="0"/>
              <a:t>id</a:t>
            </a:r>
            <a:r>
              <a:rPr lang="ko-KR" altLang="en-US" sz="1400" dirty="0"/>
              <a:t>가 같으므로 동등한 경우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("obj1</a:t>
            </a:r>
            <a:r>
              <a:rPr lang="ko-KR" altLang="en-US" sz="1400" dirty="0"/>
              <a:t>과 </a:t>
            </a:r>
            <a:r>
              <a:rPr lang="en-US" altLang="ko-KR" sz="1400" dirty="0"/>
              <a:t>obj2</a:t>
            </a:r>
            <a:r>
              <a:rPr lang="ko-KR" altLang="en-US" sz="1400" dirty="0"/>
              <a:t>는 동등하지 않습니다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두 객체의 </a:t>
            </a:r>
            <a:r>
              <a:rPr lang="en-US" altLang="ko-KR" sz="1400" dirty="0"/>
              <a:t>id</a:t>
            </a:r>
            <a:r>
              <a:rPr lang="ko-KR" altLang="en-US" sz="1400" dirty="0"/>
              <a:t>가 다르면 동등하지 않음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obj1</a:t>
            </a:r>
            <a:r>
              <a:rPr lang="ko-KR" altLang="en-US" sz="1400" dirty="0"/>
              <a:t>과 </a:t>
            </a:r>
            <a:r>
              <a:rPr lang="en-US" altLang="ko-KR" sz="1400" dirty="0"/>
              <a:t>obj3</a:t>
            </a:r>
            <a:r>
              <a:rPr lang="ko-KR" altLang="en-US" sz="1400" dirty="0"/>
              <a:t>이 동등한지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(obj1.equals(obj3)) {  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("obj1</a:t>
            </a:r>
            <a:r>
              <a:rPr lang="ko-KR" altLang="en-US" sz="1400" dirty="0"/>
              <a:t>과 </a:t>
            </a:r>
            <a:r>
              <a:rPr lang="en-US" altLang="ko-KR" sz="1400" dirty="0"/>
              <a:t>obj3</a:t>
            </a:r>
            <a:r>
              <a:rPr lang="ko-KR" altLang="en-US" sz="1400" dirty="0"/>
              <a:t>은 동등합니다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두 객체의 </a:t>
            </a:r>
            <a:r>
              <a:rPr lang="en-US" altLang="ko-KR" sz="1400" dirty="0"/>
              <a:t>id</a:t>
            </a:r>
            <a:r>
              <a:rPr lang="ko-KR" altLang="en-US" sz="1400" dirty="0"/>
              <a:t>가 같으면 동등한 경우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("obj1</a:t>
            </a:r>
            <a:r>
              <a:rPr lang="ko-KR" altLang="en-US" sz="1400" dirty="0"/>
              <a:t>과 </a:t>
            </a:r>
            <a:r>
              <a:rPr lang="en-US" altLang="ko-KR" sz="1400" dirty="0"/>
              <a:t>obj3</a:t>
            </a:r>
            <a:r>
              <a:rPr lang="ko-KR" altLang="en-US" sz="1400" dirty="0"/>
              <a:t>은 동등하지 않습니다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두 객체의 </a:t>
            </a:r>
            <a:r>
              <a:rPr lang="en-US" altLang="ko-KR" sz="1400" dirty="0"/>
              <a:t>id</a:t>
            </a:r>
            <a:r>
              <a:rPr lang="ko-KR" altLang="en-US" sz="1400" dirty="0"/>
              <a:t>가 다르면 동등하지 않음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394B0F-4152-06A7-8718-059AE899E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634" y="5892863"/>
            <a:ext cx="4881366" cy="96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8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4C789-197E-5AB4-82FA-277C4373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6C89D-6636-15F5-84D2-FA8DD5898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Object </a:t>
            </a:r>
            <a:r>
              <a:rPr lang="ko-KR" altLang="en-US" sz="1400" b="1" dirty="0"/>
              <a:t>클래스의 메소드 </a:t>
            </a:r>
            <a:r>
              <a:rPr lang="en-US" altLang="ko-KR" sz="1400" b="1" dirty="0"/>
              <a:t>– </a:t>
            </a:r>
            <a:r>
              <a:rPr lang="en-US" altLang="ko-KR" sz="1400" b="1" dirty="0" err="1"/>
              <a:t>toString</a:t>
            </a:r>
            <a:r>
              <a:rPr lang="en-US" altLang="ko-KR" sz="1400" b="1" dirty="0"/>
              <a:t>()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Object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메소드는 객체의 문자 정보를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객체의 문자 정보란 객체를 문자열로 표현한 값을 말한다</a:t>
            </a:r>
            <a:r>
              <a:rPr lang="en-US" altLang="ko-KR" sz="1400" dirty="0"/>
              <a:t>. </a:t>
            </a:r>
            <a:r>
              <a:rPr lang="ko-KR" altLang="en-US" sz="1400" dirty="0"/>
              <a:t>기본적으로 </a:t>
            </a:r>
            <a:r>
              <a:rPr lang="en-US" altLang="ko-KR" sz="1400" dirty="0"/>
              <a:t>‘</a:t>
            </a:r>
            <a:r>
              <a:rPr lang="ko-KR" altLang="en-US" sz="1400" dirty="0"/>
              <a:t>클래스이름</a:t>
            </a:r>
            <a:r>
              <a:rPr lang="en-US" altLang="ko-KR" sz="1400" dirty="0"/>
              <a:t>@16</a:t>
            </a:r>
            <a:r>
              <a:rPr lang="ko-KR" altLang="en-US" sz="1400" dirty="0"/>
              <a:t>진수</a:t>
            </a:r>
            <a:r>
              <a:rPr lang="en-US" altLang="ko-KR" sz="1400" dirty="0"/>
              <a:t>＇</a:t>
            </a:r>
            <a:r>
              <a:rPr lang="ko-KR" altLang="en-US" sz="1400" dirty="0"/>
              <a:t>로 구성된 문자 정보를 반환한다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Object </a:t>
            </a:r>
            <a:r>
              <a:rPr lang="en-US" altLang="ko-KR" sz="1400" dirty="0" err="1"/>
              <a:t>Object</a:t>
            </a:r>
            <a:r>
              <a:rPr lang="en-US" altLang="ko-KR" sz="1400" dirty="0"/>
              <a:t> = new Object();</a:t>
            </a:r>
          </a:p>
          <a:p>
            <a:pPr marL="0" indent="0">
              <a:buNone/>
            </a:pP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Object.toString</a:t>
            </a:r>
            <a:r>
              <a:rPr lang="en-US" altLang="ko-KR" sz="1400" dirty="0"/>
              <a:t>());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Object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메소드는 값어치가 없는 정보이므로 보통 하위 클래스에서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메소드를 재정의하여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유익한 정보를 </a:t>
            </a:r>
            <a:r>
              <a:rPr lang="ko-KR" altLang="en-US" sz="1400" dirty="0" err="1"/>
              <a:t>리턴하도록</a:t>
            </a:r>
            <a:r>
              <a:rPr lang="ko-KR" altLang="en-US" sz="1400" dirty="0"/>
              <a:t> 되어있다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예를들어</a:t>
            </a:r>
            <a:r>
              <a:rPr lang="ko-KR" altLang="en-US" sz="1400" dirty="0"/>
              <a:t>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/>
              <a:t>Date </a:t>
            </a:r>
            <a:r>
              <a:rPr lang="ko-KR" altLang="en-US" sz="1400" dirty="0"/>
              <a:t>클래스는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메소드를 재정의하여 현재 시스템의 날짜와 시간정보를 반환한다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그리고 </a:t>
            </a:r>
            <a:r>
              <a:rPr lang="en-US" altLang="ko-KR" sz="1400" dirty="0"/>
              <a:t>String</a:t>
            </a:r>
            <a:r>
              <a:rPr lang="ko-KR" altLang="en-US" sz="1400" dirty="0"/>
              <a:t>클래스의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메소드는 저장하고 있는 문자열을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6C9848-4673-E227-2303-520B4913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4686"/>
            <a:ext cx="3652142" cy="5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8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710FB-3B89-7880-8EFF-BA34B126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07B400-7779-2FF5-BDE2-06792597D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java.util.Date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ToStringExample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Object obj1 = new Object();  // Object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Date obj2 = new Date();  // Date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obj1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(obj1.toString()); 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obj2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(obj2.toString());  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FE6880-79BD-C023-C2EF-23DE288CC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701" y="2647808"/>
            <a:ext cx="3005603" cy="78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4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4F1A7-CAB0-12B0-C07D-00AA6A4A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64DCE0-40AF-64E3-C28B-BC8611DE8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private String company;  // </a:t>
            </a:r>
            <a:r>
              <a:rPr lang="ko-KR" altLang="en-US" sz="1400" dirty="0"/>
              <a:t>스마트폰 제조사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private String </a:t>
            </a:r>
            <a:r>
              <a:rPr lang="en-US" altLang="ko-KR" sz="1400" dirty="0" err="1"/>
              <a:t>os</a:t>
            </a:r>
            <a:r>
              <a:rPr lang="en-US" altLang="ko-KR" sz="1400" dirty="0"/>
              <a:t>;  // </a:t>
            </a:r>
            <a:r>
              <a:rPr lang="ko-KR" altLang="en-US" sz="1400" dirty="0"/>
              <a:t>스마트폰 운영체제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  <a:r>
              <a:rPr lang="en-US" altLang="ko-KR" sz="1400" dirty="0"/>
              <a:t>: </a:t>
            </a:r>
            <a:r>
              <a:rPr lang="ko-KR" altLang="en-US" sz="1400" dirty="0"/>
              <a:t>회사명과 운영체제를 받아 객체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(String company, String </a:t>
            </a:r>
            <a:r>
              <a:rPr lang="en-US" altLang="ko-KR" sz="1400" dirty="0" err="1"/>
              <a:t>os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this.company</a:t>
            </a:r>
            <a:r>
              <a:rPr lang="en-US" altLang="ko-KR" sz="1400" dirty="0"/>
              <a:t> = company;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this.os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os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</a:t>
            </a:r>
            <a:r>
              <a:rPr lang="ko-KR" altLang="en-US" sz="1400" dirty="0" err="1"/>
              <a:t>오버라이드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 </a:t>
            </a:r>
            <a:r>
              <a:rPr lang="ko-KR" altLang="en-US" sz="1400" dirty="0"/>
              <a:t>객체의 정보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public String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return company + ", " + </a:t>
            </a:r>
            <a:r>
              <a:rPr lang="en-US" altLang="ko-KR" sz="1400" dirty="0" err="1"/>
              <a:t>os</a:t>
            </a:r>
            <a:r>
              <a:rPr lang="en-US" altLang="ko-KR" sz="1400" dirty="0"/>
              <a:t>;  // </a:t>
            </a:r>
            <a:r>
              <a:rPr lang="ko-KR" altLang="en-US" sz="1400" dirty="0"/>
              <a:t>제조사와 운영체제를 문자열로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SmartPhoneExample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</a:t>
            </a:r>
            <a:r>
              <a:rPr lang="en-US" altLang="ko-KR" sz="1400" dirty="0"/>
              <a:t>: </a:t>
            </a:r>
            <a:r>
              <a:rPr lang="ko-KR" altLang="en-US" sz="1400" dirty="0"/>
              <a:t>제조사 </a:t>
            </a:r>
            <a:r>
              <a:rPr lang="en-US" altLang="ko-KR" sz="1400" dirty="0"/>
              <a:t>"</a:t>
            </a:r>
            <a:r>
              <a:rPr lang="ko-KR" altLang="en-US" sz="1400" dirty="0"/>
              <a:t>구글</a:t>
            </a:r>
            <a:r>
              <a:rPr lang="en-US" altLang="ko-KR" sz="1400" dirty="0"/>
              <a:t>", </a:t>
            </a:r>
            <a:r>
              <a:rPr lang="ko-KR" altLang="en-US" sz="1400" dirty="0"/>
              <a:t>운영체제 </a:t>
            </a:r>
            <a:r>
              <a:rPr lang="en-US" altLang="ko-KR" sz="1400" dirty="0"/>
              <a:t>"</a:t>
            </a:r>
            <a:r>
              <a:rPr lang="ko-KR" altLang="en-US" sz="1400" dirty="0"/>
              <a:t>안드로이드</a:t>
            </a:r>
            <a:r>
              <a:rPr lang="en-US" altLang="ko-KR" sz="1400" dirty="0"/>
              <a:t>"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myPhone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("</a:t>
            </a:r>
            <a:r>
              <a:rPr lang="ko-KR" altLang="en-US" sz="1400" dirty="0"/>
              <a:t>구글</a:t>
            </a:r>
            <a:r>
              <a:rPr lang="en-US" altLang="ko-KR" sz="1400" dirty="0"/>
              <a:t>", "</a:t>
            </a:r>
            <a:r>
              <a:rPr lang="ko-KR" altLang="en-US" sz="1400" dirty="0"/>
              <a:t>안드로이드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호출하여 문자열로 변환 후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</a:t>
            </a:r>
            <a:r>
              <a:rPr lang="en-US" altLang="ko-KR" sz="1400" dirty="0" err="1"/>
              <a:t>strObj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myPhone.toString</a:t>
            </a:r>
            <a:r>
              <a:rPr lang="en-US" altLang="ko-KR" sz="1400" dirty="0"/>
              <a:t>();  // </a:t>
            </a:r>
            <a:r>
              <a:rPr lang="ko-KR" altLang="en-US" sz="1400" dirty="0"/>
              <a:t>객체의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 </a:t>
            </a:r>
            <a:r>
              <a:rPr lang="ko-KR" altLang="en-US" sz="1400" dirty="0"/>
              <a:t>결과를 문자열로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strObj</a:t>
            </a:r>
            <a:r>
              <a:rPr lang="en-US" altLang="ko-KR" sz="1400" dirty="0"/>
              <a:t>);  // "</a:t>
            </a:r>
            <a:r>
              <a:rPr lang="ko-KR" altLang="en-US" sz="1400" dirty="0"/>
              <a:t>구글</a:t>
            </a:r>
            <a:r>
              <a:rPr lang="en-US" altLang="ko-KR" sz="1400" dirty="0"/>
              <a:t>, </a:t>
            </a:r>
            <a:r>
              <a:rPr lang="ko-KR" altLang="en-US" sz="1400" dirty="0"/>
              <a:t>안드로이드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객체를 직접 출력하면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</a:t>
            </a:r>
            <a:r>
              <a:rPr lang="ko-KR" altLang="en-US" sz="1400" dirty="0"/>
              <a:t>이 자동으로 호출되어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myPhone</a:t>
            </a:r>
            <a:r>
              <a:rPr lang="en-US" altLang="ko-KR" sz="1400" dirty="0"/>
              <a:t>);  // "</a:t>
            </a:r>
            <a:r>
              <a:rPr lang="ko-KR" altLang="en-US" sz="1400" dirty="0"/>
              <a:t>구글</a:t>
            </a:r>
            <a:r>
              <a:rPr lang="en-US" altLang="ko-KR" sz="1400" dirty="0"/>
              <a:t>, </a:t>
            </a:r>
            <a:r>
              <a:rPr lang="ko-KR" altLang="en-US" sz="1400" dirty="0"/>
              <a:t>안드로이드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751581-7BD8-328A-4750-5BCE07002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399" y="2939287"/>
            <a:ext cx="2902660" cy="97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99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3819-387B-4B8C-A0BD-8D80C3C7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450059-2002-3457-6FB6-78B2CEDEC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System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 err="1"/>
              <a:t>java.lang</a:t>
            </a:r>
            <a:r>
              <a:rPr lang="ko-KR" altLang="en-US" sz="1400" dirty="0"/>
              <a:t>패키지에 속하는 </a:t>
            </a:r>
            <a:r>
              <a:rPr lang="en-US" altLang="ko-KR" sz="1400" dirty="0"/>
              <a:t>System</a:t>
            </a:r>
            <a:r>
              <a:rPr lang="ko-KR" altLang="en-US" sz="1400" dirty="0"/>
              <a:t>클래스를 이용하면 운영체제의 일부 기능을 이용할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(</a:t>
            </a:r>
            <a:r>
              <a:rPr lang="ko-KR" altLang="en-US" sz="1400" dirty="0"/>
              <a:t>프로그램 종료</a:t>
            </a:r>
            <a:r>
              <a:rPr lang="en-US" altLang="ko-KR" sz="1400" dirty="0"/>
              <a:t>, </a:t>
            </a:r>
            <a:r>
              <a:rPr lang="ko-KR" altLang="en-US" sz="1400" dirty="0"/>
              <a:t>키보드로부터 입력</a:t>
            </a:r>
            <a:r>
              <a:rPr lang="en-US" altLang="ko-KR" sz="1400" dirty="0"/>
              <a:t>, </a:t>
            </a:r>
            <a:r>
              <a:rPr lang="ko-KR" altLang="en-US" sz="1400" dirty="0"/>
              <a:t>모니터로 출력</a:t>
            </a:r>
            <a:r>
              <a:rPr lang="en-US" altLang="ko-KR" sz="1400" dirty="0"/>
              <a:t>, </a:t>
            </a:r>
            <a:r>
              <a:rPr lang="ko-KR" altLang="en-US" sz="1400" dirty="0"/>
              <a:t>현재 시간 읽기 등</a:t>
            </a:r>
            <a:r>
              <a:rPr lang="en-US" altLang="ko-KR" sz="1400" dirty="0"/>
              <a:t>..)</a:t>
            </a:r>
          </a:p>
          <a:p>
            <a:pPr marL="0" indent="0">
              <a:buNone/>
            </a:pPr>
            <a:r>
              <a:rPr lang="en-US" altLang="ko-KR" sz="1400" dirty="0"/>
              <a:t>System</a:t>
            </a:r>
            <a:r>
              <a:rPr lang="ko-KR" altLang="en-US" sz="1400" dirty="0"/>
              <a:t>클래스의 모든 필드와 메소드는 정적 필드와 정적 메소드로 구성되어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프로그램 종료 </a:t>
            </a:r>
            <a:r>
              <a:rPr lang="en-US" altLang="ko-KR" sz="1400" b="1" dirty="0"/>
              <a:t>– exit()</a:t>
            </a:r>
          </a:p>
          <a:p>
            <a:pPr marL="0" indent="0">
              <a:buNone/>
            </a:pPr>
            <a:r>
              <a:rPr lang="en-US" altLang="ko-KR" sz="1400" dirty="0"/>
              <a:t>System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exit()</a:t>
            </a:r>
            <a:r>
              <a:rPr lang="ko-KR" altLang="en-US" sz="1400" dirty="0"/>
              <a:t>메소드는 현재 실행하고 있는 프로그램을 강제 종료 시킨다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매개값으로는</a:t>
            </a:r>
            <a:r>
              <a:rPr lang="ko-KR" altLang="en-US" sz="1400" dirty="0"/>
              <a:t> </a:t>
            </a:r>
            <a:r>
              <a:rPr lang="en-US" altLang="ko-KR" sz="1400" dirty="0"/>
              <a:t>int </a:t>
            </a:r>
            <a:r>
              <a:rPr lang="ko-KR" altLang="en-US" sz="1400" dirty="0"/>
              <a:t>값이 들어가는데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보통 정상 종료일 경우 </a:t>
            </a:r>
            <a:r>
              <a:rPr lang="en-US" altLang="ko-KR" sz="1400" dirty="0"/>
              <a:t>0</a:t>
            </a:r>
            <a:r>
              <a:rPr lang="ko-KR" altLang="en-US" sz="1400" dirty="0"/>
              <a:t>값</a:t>
            </a:r>
            <a:r>
              <a:rPr lang="en-US" altLang="ko-KR" sz="1400" dirty="0"/>
              <a:t>, </a:t>
            </a:r>
            <a:r>
              <a:rPr lang="ko-KR" altLang="en-US" sz="1400" dirty="0"/>
              <a:t>비정상 종료일 경우 </a:t>
            </a:r>
            <a:r>
              <a:rPr lang="en-US" altLang="ko-KR" sz="1400" dirty="0"/>
              <a:t>-1</a:t>
            </a:r>
            <a:r>
              <a:rPr lang="ko-KR" altLang="en-US" sz="1400" dirty="0"/>
              <a:t>값을 준다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ExitExample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10;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 // 0</a:t>
            </a:r>
            <a:r>
              <a:rPr lang="ko-KR" altLang="en-US" sz="1400" dirty="0"/>
              <a:t>부터 </a:t>
            </a:r>
            <a:r>
              <a:rPr lang="en-US" altLang="ko-KR" sz="1400" dirty="0"/>
              <a:t>9</a:t>
            </a:r>
            <a:r>
              <a:rPr lang="ko-KR" altLang="en-US" sz="1400" dirty="0"/>
              <a:t>까지 반복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== 5) {  //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가 </a:t>
            </a:r>
            <a:r>
              <a:rPr lang="en-US" altLang="ko-KR" sz="1400" dirty="0"/>
              <a:t>5</a:t>
            </a:r>
            <a:r>
              <a:rPr lang="ko-KR" altLang="en-US" sz="1400" dirty="0"/>
              <a:t>일 때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System.exit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 // </a:t>
            </a:r>
            <a:r>
              <a:rPr lang="ko-KR" altLang="en-US" sz="1400" dirty="0"/>
              <a:t>프로그램 종료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//break;  // </a:t>
            </a:r>
            <a:r>
              <a:rPr lang="ko-KR" altLang="en-US" sz="1400" dirty="0"/>
              <a:t>주석 처리된 </a:t>
            </a:r>
            <a:r>
              <a:rPr lang="en-US" altLang="ko-KR" sz="1400" dirty="0"/>
              <a:t>break</a:t>
            </a:r>
            <a:r>
              <a:rPr lang="ko-KR" altLang="en-US" sz="1400" dirty="0"/>
              <a:t>는 반복문만 종료하지만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System.exit</a:t>
            </a:r>
            <a:r>
              <a:rPr lang="ko-KR" altLang="en-US" sz="1400" dirty="0"/>
              <a:t>는 프로그램을 </a:t>
            </a:r>
            <a:r>
              <a:rPr lang="ko-KR" altLang="en-US" sz="1400" dirty="0" err="1"/>
              <a:t>종료시킴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마무리 코드</a:t>
            </a:r>
            <a:r>
              <a:rPr lang="en-US" altLang="ko-KR" sz="1400" dirty="0"/>
              <a:t>");  // </a:t>
            </a:r>
            <a:r>
              <a:rPr lang="ko-KR" altLang="en-US" sz="1400" dirty="0"/>
              <a:t>이 코드는 실행되지 않음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4551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1AB62-F0EC-F363-35C1-02F11915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1BDA8A-FDDD-45DB-4C7C-CF07BF0D0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현재 시간 읽기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System</a:t>
            </a:r>
            <a:r>
              <a:rPr lang="ko-KR" altLang="en-US" sz="1400" dirty="0"/>
              <a:t>클래스의 </a:t>
            </a:r>
            <a:r>
              <a:rPr lang="en-US" altLang="ko-KR" sz="1400" dirty="0" err="1"/>
              <a:t>currentTImeMillis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메소드와 </a:t>
            </a:r>
            <a:r>
              <a:rPr lang="en-US" altLang="ko-KR" sz="1400" dirty="0" err="1"/>
              <a:t>nanoTime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메소드는 컴퓨터의 시계로부터 현재 시간을 읽어서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각각 </a:t>
            </a:r>
            <a:r>
              <a:rPr lang="ko-KR" altLang="en-US" sz="1400" dirty="0" err="1"/>
              <a:t>밀리세컨드</a:t>
            </a:r>
            <a:r>
              <a:rPr lang="ko-KR" altLang="en-US" sz="1400" dirty="0"/>
              <a:t> 단위와 나노 세컨드 단위의 </a:t>
            </a:r>
            <a:r>
              <a:rPr lang="en-US" altLang="ko-KR" sz="1400" dirty="0"/>
              <a:t>long</a:t>
            </a:r>
            <a:r>
              <a:rPr lang="ko-KR" altLang="en-US" sz="1400" dirty="0"/>
              <a:t>값을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SystemTimeExample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nanoTime</a:t>
            </a:r>
            <a:r>
              <a:rPr lang="en-US" altLang="ko-KR" sz="1400" dirty="0"/>
              <a:t>()</a:t>
            </a:r>
            <a:r>
              <a:rPr lang="ko-KR" altLang="en-US" sz="1400" dirty="0"/>
              <a:t>을 호출하여 시작 시간을 측정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long time1 = </a:t>
            </a:r>
            <a:r>
              <a:rPr lang="en-US" altLang="ko-KR" sz="1400" dirty="0" err="1"/>
              <a:t>System.nanoTime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1</a:t>
            </a:r>
            <a:r>
              <a:rPr lang="ko-KR" altLang="en-US" sz="1400" dirty="0"/>
              <a:t>부터 </a:t>
            </a:r>
            <a:r>
              <a:rPr lang="en-US" altLang="ko-KR" sz="1400" dirty="0"/>
              <a:t>1000000</a:t>
            </a:r>
            <a:r>
              <a:rPr lang="ko-KR" altLang="en-US" sz="1400" dirty="0"/>
              <a:t>까지의 합을 구하는 코드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sum = 0;</a:t>
            </a:r>
          </a:p>
          <a:p>
            <a:pPr marL="0" indent="0">
              <a:buNone/>
            </a:pPr>
            <a:r>
              <a:rPr lang="en-US" altLang="ko-KR" sz="1400" dirty="0"/>
              <a:t>    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1;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&lt;= 1000000;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sum +=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;  // sum</a:t>
            </a:r>
            <a:r>
              <a:rPr lang="ko-KR" altLang="en-US" sz="1400" dirty="0"/>
              <a:t>에 </a:t>
            </a:r>
            <a:r>
              <a:rPr lang="en-US" altLang="ko-KR" sz="1400" dirty="0" err="1"/>
              <a:t>i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더함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nanoTime</a:t>
            </a:r>
            <a:r>
              <a:rPr lang="en-US" altLang="ko-KR" sz="1400" dirty="0"/>
              <a:t>()</a:t>
            </a:r>
            <a:r>
              <a:rPr lang="ko-KR" altLang="en-US" sz="1400" dirty="0"/>
              <a:t>을 호출하여 종료 시간을 측정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long time2 = </a:t>
            </a:r>
            <a:r>
              <a:rPr lang="en-US" altLang="ko-KR" sz="1400" dirty="0" err="1"/>
              <a:t>System.nanoTime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결과 출력</a:t>
            </a:r>
            <a:r>
              <a:rPr lang="en-US" altLang="ko-KR" sz="1400" dirty="0"/>
              <a:t>: </a:t>
            </a:r>
            <a:r>
              <a:rPr lang="ko-KR" altLang="en-US" sz="1400" dirty="0"/>
              <a:t>합과 소요된 시간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("1~1000000</a:t>
            </a:r>
            <a:r>
              <a:rPr lang="ko-KR" altLang="en-US" sz="1400" dirty="0"/>
              <a:t>까지의 합</a:t>
            </a:r>
            <a:r>
              <a:rPr lang="en-US" altLang="ko-KR" sz="1400" dirty="0"/>
              <a:t>: " + sum);  // </a:t>
            </a:r>
            <a:r>
              <a:rPr lang="ko-KR" altLang="en-US" sz="1400" dirty="0"/>
              <a:t>계산된 합을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계산에 </a:t>
            </a:r>
            <a:r>
              <a:rPr lang="en-US" altLang="ko-KR" sz="1400" dirty="0"/>
              <a:t>" + (time2 - time1) + " </a:t>
            </a:r>
            <a:r>
              <a:rPr lang="ko-KR" altLang="en-US" sz="1400" dirty="0" err="1"/>
              <a:t>나노초가</a:t>
            </a:r>
            <a:r>
              <a:rPr lang="ko-KR" altLang="en-US" sz="1400" dirty="0"/>
              <a:t> 소요되었습니다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소요된 시간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B84B7B-F8CF-98A5-B0E2-8C2A90B4F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925" y="2822558"/>
            <a:ext cx="4964256" cy="95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37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112D-863E-AD15-7B5B-8A29E733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29E17-D157-8F5A-D5CB-08A89146E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Class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클래스와 인터페이스의 메타 데이터를  관리하는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(</a:t>
            </a:r>
            <a:r>
              <a:rPr lang="ko-KR" altLang="en-US" sz="1400" dirty="0"/>
              <a:t>메타 데이터</a:t>
            </a:r>
            <a:r>
              <a:rPr lang="en-US" altLang="ko-KR" sz="1400" dirty="0"/>
              <a:t>: </a:t>
            </a:r>
            <a:r>
              <a:rPr lang="ko-KR" altLang="en-US" sz="1400" dirty="0"/>
              <a:t>데이터를 설명하는 데이터</a:t>
            </a:r>
            <a:r>
              <a:rPr lang="en-US" altLang="ko-KR" sz="1400" dirty="0"/>
              <a:t>, </a:t>
            </a:r>
            <a:r>
              <a:rPr lang="ko-KR" altLang="en-US" sz="1400" dirty="0"/>
              <a:t>클래스의 이름</a:t>
            </a:r>
            <a:r>
              <a:rPr lang="en-US" altLang="ko-KR" sz="1400" dirty="0"/>
              <a:t>, </a:t>
            </a:r>
            <a:r>
              <a:rPr lang="ko-KR" altLang="en-US" sz="1400" dirty="0"/>
              <a:t>생성자 정보</a:t>
            </a:r>
            <a:r>
              <a:rPr lang="en-US" altLang="ko-KR" sz="1400" dirty="0"/>
              <a:t>, </a:t>
            </a:r>
            <a:r>
              <a:rPr lang="ko-KR" altLang="en-US" sz="1400" dirty="0"/>
              <a:t>필드 정보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 정보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Class </a:t>
            </a:r>
            <a:r>
              <a:rPr lang="ko-KR" altLang="en-US" sz="1400" b="1" dirty="0"/>
              <a:t>객체 얻기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클래스로부터 얻는 방법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Class c = </a:t>
            </a:r>
            <a:r>
              <a:rPr lang="ko-KR" altLang="en-US" sz="1400" dirty="0"/>
              <a:t>클래스이름</a:t>
            </a:r>
            <a:r>
              <a:rPr lang="en-US" altLang="ko-KR" sz="1400" dirty="0"/>
              <a:t>.class</a:t>
            </a:r>
          </a:p>
          <a:p>
            <a:pPr marL="342900" indent="-342900">
              <a:buAutoNum type="arabicPeriod"/>
            </a:pPr>
            <a:r>
              <a:rPr lang="en-US" altLang="ko-KR" sz="1400" dirty="0"/>
              <a:t>Class c = </a:t>
            </a:r>
            <a:r>
              <a:rPr lang="en-US" altLang="ko-KR" sz="1400" dirty="0" err="1"/>
              <a:t>Class.forName</a:t>
            </a:r>
            <a:r>
              <a:rPr lang="en-US" altLang="ko-KR" sz="1400" dirty="0"/>
              <a:t>(“</a:t>
            </a:r>
            <a:r>
              <a:rPr lang="ko-KR" altLang="en-US" sz="1400" dirty="0"/>
              <a:t>패키지</a:t>
            </a:r>
            <a:r>
              <a:rPr lang="en-US" altLang="ko-KR" sz="1400" dirty="0"/>
              <a:t>..</a:t>
            </a:r>
            <a:r>
              <a:rPr lang="ko-KR" altLang="en-US" sz="1400" dirty="0"/>
              <a:t>클래스이름</a:t>
            </a:r>
            <a:r>
              <a:rPr lang="en-US" altLang="ko-KR" sz="1400" dirty="0"/>
              <a:t>”)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객체로부터 얻는 방법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c = </a:t>
            </a:r>
            <a:r>
              <a:rPr lang="ko-KR" altLang="en-US" sz="1400" dirty="0"/>
              <a:t>참조변수</a:t>
            </a:r>
            <a:r>
              <a:rPr lang="en-US" altLang="ko-KR" sz="1400" dirty="0"/>
              <a:t>.</a:t>
            </a:r>
            <a:r>
              <a:rPr lang="en-US" altLang="ko-KR" sz="1400" dirty="0" err="1"/>
              <a:t>getClass</a:t>
            </a:r>
            <a:r>
              <a:rPr lang="en-US" altLang="ko-KR" sz="1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221376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F405-1313-7BD2-37D0-594BB108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73F66-ECF9-20F4-E51C-69158302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ClassExample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throws Exception {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방법 </a:t>
            </a:r>
            <a:r>
              <a:rPr lang="en-US" altLang="ko-KR" sz="1400" dirty="0"/>
              <a:t>1: </a:t>
            </a:r>
            <a:r>
              <a:rPr lang="ko-KR" altLang="en-US" sz="1400" dirty="0"/>
              <a:t>클래스 </a:t>
            </a:r>
            <a:r>
              <a:rPr lang="ko-KR" altLang="en-US" sz="1400" dirty="0" err="1"/>
              <a:t>리터럴을</a:t>
            </a:r>
            <a:r>
              <a:rPr lang="ko-KR" altLang="en-US" sz="1400" dirty="0"/>
              <a:t> 사용하여 </a:t>
            </a:r>
            <a:r>
              <a:rPr lang="en-US" altLang="ko-KR" sz="1400" dirty="0"/>
              <a:t>Class </a:t>
            </a:r>
            <a:r>
              <a:rPr lang="ko-KR" altLang="en-US" sz="1400" dirty="0"/>
              <a:t>객체 얻기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Class </a:t>
            </a:r>
            <a:r>
              <a:rPr lang="en-US" altLang="ko-KR" sz="1400" dirty="0" err="1"/>
              <a:t>clazz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Car.class</a:t>
            </a:r>
            <a:r>
              <a:rPr lang="en-US" altLang="ko-KR" sz="1400" dirty="0"/>
              <a:t>;  // '</a:t>
            </a:r>
            <a:r>
              <a:rPr lang="en-US" altLang="ko-KR" sz="1400" dirty="0" err="1"/>
              <a:t>Car.class</a:t>
            </a:r>
            <a:r>
              <a:rPr lang="en-US" altLang="ko-KR" sz="1400" dirty="0"/>
              <a:t>'</a:t>
            </a:r>
            <a:r>
              <a:rPr lang="ko-KR" altLang="en-US" sz="1400" dirty="0"/>
              <a:t>를 사용하여 </a:t>
            </a:r>
            <a:r>
              <a:rPr lang="en-US" altLang="ko-KR" sz="1400" dirty="0"/>
              <a:t>Car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Class </a:t>
            </a:r>
            <a:r>
              <a:rPr lang="ko-KR" altLang="en-US" sz="1400" dirty="0"/>
              <a:t>객체를 얻음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방법 </a:t>
            </a:r>
            <a:r>
              <a:rPr lang="en-US" altLang="ko-KR" sz="1400" dirty="0"/>
              <a:t>2: </a:t>
            </a:r>
            <a:r>
              <a:rPr lang="en-US" altLang="ko-KR" sz="1400" dirty="0" err="1"/>
              <a:t>Class.forName</a:t>
            </a:r>
            <a:r>
              <a:rPr lang="en-US" altLang="ko-KR" sz="1400" dirty="0"/>
              <a:t>()</a:t>
            </a:r>
            <a:r>
              <a:rPr lang="ko-KR" altLang="en-US" sz="1400" dirty="0"/>
              <a:t>을 사용하여 클래스 로드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        // Class </a:t>
            </a:r>
            <a:r>
              <a:rPr lang="en-US" altLang="ko-KR" sz="1400" dirty="0" err="1"/>
              <a:t>clazz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Class.forName</a:t>
            </a:r>
            <a:r>
              <a:rPr lang="en-US" altLang="ko-KR" sz="1400" dirty="0"/>
              <a:t>("sec01.exam09.Car"); // </a:t>
            </a:r>
            <a:r>
              <a:rPr lang="ko-KR" altLang="en-US" sz="1400" dirty="0"/>
              <a:t>문자열로 클래스 이름을 전달하여 </a:t>
            </a:r>
            <a:r>
              <a:rPr lang="en-US" altLang="ko-KR" sz="1400" dirty="0"/>
              <a:t>Class </a:t>
            </a:r>
            <a:r>
              <a:rPr lang="ko-KR" altLang="en-US" sz="1400" dirty="0"/>
              <a:t>객체를 얻음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방법 </a:t>
            </a:r>
            <a:r>
              <a:rPr lang="en-US" altLang="ko-KR" sz="1400" dirty="0"/>
              <a:t>3: </a:t>
            </a:r>
            <a:r>
              <a:rPr lang="ko-KR" altLang="en-US" sz="1400" dirty="0"/>
              <a:t>객체의 </a:t>
            </a:r>
            <a:r>
              <a:rPr lang="en-US" altLang="ko-KR" sz="1400" dirty="0" err="1"/>
              <a:t>getClass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사용하여 </a:t>
            </a:r>
            <a:r>
              <a:rPr lang="en-US" altLang="ko-KR" sz="1400" dirty="0"/>
              <a:t>Class </a:t>
            </a:r>
            <a:r>
              <a:rPr lang="ko-KR" altLang="en-US" sz="1400" dirty="0"/>
              <a:t>객체 얻기 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        // Car </a:t>
            </a:r>
            <a:r>
              <a:rPr lang="en-US" altLang="ko-KR" sz="1400" dirty="0" err="1"/>
              <a:t>car</a:t>
            </a:r>
            <a:r>
              <a:rPr lang="en-US" altLang="ko-KR" sz="1400" dirty="0"/>
              <a:t> = new Car(); // Car </a:t>
            </a:r>
            <a:r>
              <a:rPr lang="ko-KR" altLang="en-US" sz="1400" dirty="0"/>
              <a:t>클래스의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Class </a:t>
            </a:r>
            <a:r>
              <a:rPr lang="en-US" altLang="ko-KR" sz="1400" dirty="0" err="1"/>
              <a:t>clazz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car.getClass</a:t>
            </a:r>
            <a:r>
              <a:rPr lang="en-US" altLang="ko-KR" sz="1400" dirty="0"/>
              <a:t>(); // car </a:t>
            </a:r>
            <a:r>
              <a:rPr lang="ko-KR" altLang="en-US" sz="1400" dirty="0"/>
              <a:t>객체의 </a:t>
            </a:r>
            <a:r>
              <a:rPr lang="en-US" altLang="ko-KR" sz="1400" dirty="0" err="1"/>
              <a:t>getClass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통해 </a:t>
            </a:r>
            <a:r>
              <a:rPr lang="en-US" altLang="ko-KR" sz="1400" dirty="0"/>
              <a:t>Class </a:t>
            </a:r>
            <a:r>
              <a:rPr lang="ko-KR" altLang="en-US" sz="1400" dirty="0"/>
              <a:t>객체를 얻음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clazz.getName</a:t>
            </a:r>
            <a:r>
              <a:rPr lang="en-US" altLang="ko-KR" sz="1400" dirty="0"/>
              <a:t>(): </a:t>
            </a:r>
            <a:r>
              <a:rPr lang="ko-KR" altLang="en-US" sz="1400" dirty="0"/>
              <a:t>클래스의 전체 이름</a:t>
            </a:r>
            <a:r>
              <a:rPr lang="en-US" altLang="ko-KR" sz="1400" dirty="0"/>
              <a:t>(</a:t>
            </a:r>
            <a:r>
              <a:rPr lang="ko-KR" altLang="en-US" sz="1400" dirty="0"/>
              <a:t>패키지 포함</a:t>
            </a:r>
            <a:r>
              <a:rPr lang="en-US" altLang="ko-KR" sz="1400" dirty="0"/>
              <a:t>)</a:t>
            </a:r>
            <a:r>
              <a:rPr lang="ko-KR" altLang="en-US" sz="1400" dirty="0"/>
              <a:t>을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clazz.getName</a:t>
            </a:r>
            <a:r>
              <a:rPr lang="en-US" altLang="ko-KR" sz="1400" dirty="0"/>
              <a:t>()); // </a:t>
            </a:r>
            <a:r>
              <a:rPr lang="ko-KR" altLang="en-US" sz="1400" dirty="0"/>
              <a:t>전체 클래스 이름을 출력 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clazz.getSimpleName</a:t>
            </a:r>
            <a:r>
              <a:rPr lang="en-US" altLang="ko-KR" sz="1400" dirty="0"/>
              <a:t>(): </a:t>
            </a:r>
            <a:r>
              <a:rPr lang="ko-KR" altLang="en-US" sz="1400" dirty="0"/>
              <a:t>클래스의 간단한 이름</a:t>
            </a:r>
            <a:r>
              <a:rPr lang="en-US" altLang="ko-KR" sz="1400" dirty="0"/>
              <a:t>(</a:t>
            </a:r>
            <a:r>
              <a:rPr lang="ko-KR" altLang="en-US" sz="1400" dirty="0"/>
              <a:t>패키지 제외</a:t>
            </a:r>
            <a:r>
              <a:rPr lang="en-US" altLang="ko-KR" sz="1400" dirty="0"/>
              <a:t>)</a:t>
            </a:r>
            <a:r>
              <a:rPr lang="ko-KR" altLang="en-US" sz="1400" dirty="0"/>
              <a:t>을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clazz.getSimpleName</a:t>
            </a:r>
            <a:r>
              <a:rPr lang="en-US" altLang="ko-KR" sz="1400" dirty="0"/>
              <a:t>()); // </a:t>
            </a:r>
            <a:r>
              <a:rPr lang="ko-KR" altLang="en-US" sz="1400" dirty="0"/>
              <a:t>간단한 클래스 이름만 출력 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clazz.getPackage</a:t>
            </a:r>
            <a:r>
              <a:rPr lang="en-US" altLang="ko-KR" sz="1400" dirty="0"/>
              <a:t>().</a:t>
            </a:r>
            <a:r>
              <a:rPr lang="en-US" altLang="ko-KR" sz="1400" dirty="0" err="1"/>
              <a:t>getName</a:t>
            </a:r>
            <a:r>
              <a:rPr lang="en-US" altLang="ko-KR" sz="1400" dirty="0"/>
              <a:t>(): </a:t>
            </a:r>
            <a:r>
              <a:rPr lang="ko-KR" altLang="en-US" sz="1400" dirty="0"/>
              <a:t>클래스가 속한 패키지 이름을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clazz.getPackage</a:t>
            </a:r>
            <a:r>
              <a:rPr lang="en-US" altLang="ko-KR" sz="1400" dirty="0"/>
              <a:t>().</a:t>
            </a:r>
            <a:r>
              <a:rPr lang="en-US" altLang="ko-KR" sz="1400" dirty="0" err="1"/>
              <a:t>getName</a:t>
            </a:r>
            <a:r>
              <a:rPr lang="en-US" altLang="ko-KR" sz="1400" dirty="0"/>
              <a:t>()); // </a:t>
            </a:r>
            <a:r>
              <a:rPr lang="ko-KR" altLang="en-US" sz="1400" dirty="0"/>
              <a:t>클래스가 속한 패키지 이름 출력 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EAFC07-C5CF-0BAB-8F65-C1F9B2E7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350" y="2712031"/>
            <a:ext cx="1876001" cy="104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9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74239-690A-8D5F-613B-8414524FA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085BFD-BBA0-1D8D-B25E-6D19C067E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자바의 문자열을 관리하는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문자열 </a:t>
            </a:r>
            <a:r>
              <a:rPr lang="ko-KR" altLang="en-US" sz="1400" dirty="0" err="1"/>
              <a:t>리터럴로</a:t>
            </a:r>
            <a:r>
              <a:rPr lang="ko-KR" altLang="en-US" sz="1400" dirty="0"/>
              <a:t> 자동 생성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-String</a:t>
            </a:r>
            <a:r>
              <a:rPr lang="ko-KR" altLang="en-US" sz="1400" dirty="0"/>
              <a:t>클래스의 생성자를 통해서 직접 생성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객체 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String str = new String(byte[] bytes);</a:t>
            </a:r>
          </a:p>
          <a:p>
            <a:pPr marL="0" indent="0">
              <a:buNone/>
            </a:pPr>
            <a:r>
              <a:rPr lang="en-US" altLang="ko-KR" sz="1400" dirty="0"/>
              <a:t>Sting str = new String(“</a:t>
            </a:r>
            <a:r>
              <a:rPr lang="ko-KR" altLang="en-US" sz="1400" dirty="0"/>
              <a:t>문자열</a:t>
            </a:r>
            <a:r>
              <a:rPr lang="en-US" altLang="ko-KR" sz="1400" dirty="0"/>
              <a:t>”);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ko-KR" altLang="en-US" sz="1400" dirty="0"/>
              <a:t>아스키코드 </a:t>
            </a:r>
            <a:r>
              <a:rPr lang="en-US" altLang="ko-KR" sz="1400" dirty="0"/>
              <a:t>72, 101, 108, 108, 111 </a:t>
            </a:r>
            <a:r>
              <a:rPr lang="en-US" altLang="ko-KR" sz="1400" dirty="0">
                <a:sym typeface="Wingdings" panose="05000000000000000000" pitchFamily="2" charset="2"/>
              </a:rPr>
              <a:t> Hello </a:t>
            </a:r>
            <a:r>
              <a:rPr lang="ko-KR" altLang="en-US" sz="1400" dirty="0">
                <a:sym typeface="Wingdings" panose="05000000000000000000" pitchFamily="2" charset="2"/>
              </a:rPr>
              <a:t>출력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ByteToStringExample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byte </a:t>
            </a:r>
            <a:r>
              <a:rPr lang="ko-KR" altLang="en-US" sz="1400" dirty="0"/>
              <a:t>배열 초기화</a:t>
            </a:r>
            <a:r>
              <a:rPr lang="en-US" altLang="ko-KR" sz="1400" dirty="0"/>
              <a:t>: </a:t>
            </a:r>
            <a:r>
              <a:rPr lang="ko-KR" altLang="en-US" sz="1400" dirty="0"/>
              <a:t>각 숫자는 해당 </a:t>
            </a:r>
            <a:r>
              <a:rPr lang="en-US" altLang="ko-KR" sz="1400" dirty="0"/>
              <a:t>ASCII </a:t>
            </a:r>
            <a:r>
              <a:rPr lang="ko-KR" altLang="en-US" sz="1400" dirty="0"/>
              <a:t>코드에 대응하는 문자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byte[] bytes = { 72, 101, 108, 108, 111};  </a:t>
            </a:r>
          </a:p>
          <a:p>
            <a:pPr marL="0" indent="0">
              <a:buNone/>
            </a:pPr>
            <a:r>
              <a:rPr lang="en-US" altLang="ko-KR" sz="1400" dirty="0"/>
              <a:t>        // 72 = 'H', 101 = 'e', 108 = 'l', 108 = 'l', 111 = 'o'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str1 = new String(bytes); // byte </a:t>
            </a:r>
            <a:r>
              <a:rPr lang="ko-KR" altLang="en-US" sz="1400" dirty="0"/>
              <a:t>배열 전체를 문자열로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(str1);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"Hello Java"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825426-E745-FA84-89D5-DD4C649D8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567" y="3005019"/>
            <a:ext cx="1284055" cy="84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028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BC021-3A03-90A2-C4F5-B817FBFBE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F4B341-BABD-267D-D272-33BF6DAD7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 </a:t>
            </a:r>
            <a:endParaRPr lang="en-US" altLang="ko-KR" sz="1400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597D2B6-3838-A1C2-A38A-52E7759DD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395550"/>
              </p:ext>
            </p:extLst>
          </p:nvPr>
        </p:nvGraphicFramePr>
        <p:xfrm>
          <a:off x="568860" y="425035"/>
          <a:ext cx="11054280" cy="59089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84760">
                  <a:extLst>
                    <a:ext uri="{9D8B030D-6E8A-4147-A177-3AD203B41FA5}">
                      <a16:colId xmlns:a16="http://schemas.microsoft.com/office/drawing/2014/main" val="2907312827"/>
                    </a:ext>
                  </a:extLst>
                </a:gridCol>
                <a:gridCol w="3684760">
                  <a:extLst>
                    <a:ext uri="{9D8B030D-6E8A-4147-A177-3AD203B41FA5}">
                      <a16:colId xmlns:a16="http://schemas.microsoft.com/office/drawing/2014/main" val="3439278342"/>
                    </a:ext>
                  </a:extLst>
                </a:gridCol>
                <a:gridCol w="3684760">
                  <a:extLst>
                    <a:ext uri="{9D8B030D-6E8A-4147-A177-3AD203B41FA5}">
                      <a16:colId xmlns:a16="http://schemas.microsoft.com/office/drawing/2014/main" val="2142226305"/>
                    </a:ext>
                  </a:extLst>
                </a:gridCol>
              </a:tblGrid>
              <a:tr h="212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리턴 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	메소드 이름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매개 변수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967639"/>
                  </a:ext>
                </a:extLst>
              </a:tr>
              <a:tr h="2126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char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charAt</a:t>
                      </a:r>
                      <a:r>
                        <a:rPr lang="en-US" altLang="ko-KR" sz="1400" dirty="0"/>
                        <a:t>(int index)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특정 위치의 문자를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4578"/>
                  </a:ext>
                </a:extLst>
              </a:tr>
              <a:tr h="2126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boolean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equals(Object </a:t>
                      </a:r>
                      <a:r>
                        <a:rPr lang="en-US" altLang="ko-KR" sz="1400" dirty="0" err="1"/>
                        <a:t>anObject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두 문자열을 비교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31796"/>
                  </a:ext>
                </a:extLst>
              </a:tr>
              <a:tr h="2126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byte[]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getBytes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byte[]</a:t>
                      </a:r>
                      <a:r>
                        <a:rPr lang="ko-KR" altLang="en-US" sz="1400" dirty="0"/>
                        <a:t>로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183534"/>
                  </a:ext>
                </a:extLst>
              </a:tr>
              <a:tr h="372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byte[]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getBytes</a:t>
                      </a:r>
                      <a:r>
                        <a:rPr lang="en-US" altLang="ko-KR" sz="1400" dirty="0"/>
                        <a:t>(Charset charset)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주어진 문자셋으로 인코딩한 </a:t>
                      </a:r>
                      <a:r>
                        <a:rPr lang="en-US" altLang="ko-KR" sz="1400" dirty="0"/>
                        <a:t>byte[]</a:t>
                      </a:r>
                      <a:r>
                        <a:rPr lang="ko-KR" altLang="en-US" sz="1400" dirty="0"/>
                        <a:t>로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995229"/>
                  </a:ext>
                </a:extLst>
              </a:tr>
              <a:tr h="372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indexOf</a:t>
                      </a:r>
                      <a:r>
                        <a:rPr lang="en-US" altLang="ko-KR" sz="1400" dirty="0"/>
                        <a:t>(String str)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문자열 내에서 주어진 문자열의 위치를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216741"/>
                  </a:ext>
                </a:extLst>
              </a:tr>
              <a:tr h="2126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length()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 문자 수를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848946"/>
                  </a:ext>
                </a:extLst>
              </a:tr>
              <a:tr h="372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String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replace(</a:t>
                      </a:r>
                      <a:r>
                        <a:rPr lang="en-US" altLang="ko-KR" sz="1400" dirty="0" err="1"/>
                        <a:t>CharSequence</a:t>
                      </a:r>
                      <a:r>
                        <a:rPr lang="en-US" altLang="ko-KR" sz="1400" dirty="0"/>
                        <a:t> target, </a:t>
                      </a:r>
                      <a:r>
                        <a:rPr lang="en-US" altLang="ko-KR" sz="1400" dirty="0" err="1"/>
                        <a:t>CharSequence</a:t>
                      </a:r>
                      <a:r>
                        <a:rPr lang="en-US" altLang="ko-KR" sz="1400" dirty="0"/>
                        <a:t> replacement)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부분을 </a:t>
                      </a:r>
                      <a:r>
                        <a:rPr lang="en-US" altLang="ko-KR" sz="1400" dirty="0"/>
                        <a:t>replacement</a:t>
                      </a:r>
                      <a:r>
                        <a:rPr lang="ko-KR" altLang="en-US" sz="1400" dirty="0"/>
                        <a:t>로 대치한 새로운 문자열을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650033"/>
                  </a:ext>
                </a:extLst>
              </a:tr>
              <a:tr h="372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String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substring(int </a:t>
                      </a:r>
                      <a:r>
                        <a:rPr lang="en-US" altLang="ko-KR" sz="1400" dirty="0" err="1"/>
                        <a:t>beginIndex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beginIndex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위치에서 끝까지 잘라낸 새로운 문자열을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699361"/>
                  </a:ext>
                </a:extLst>
              </a:tr>
              <a:tr h="531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String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substring(int </a:t>
                      </a:r>
                      <a:r>
                        <a:rPr lang="en-US" altLang="ko-KR" sz="1400" dirty="0" err="1"/>
                        <a:t>beginIndex</a:t>
                      </a:r>
                      <a:r>
                        <a:rPr lang="en-US" altLang="ko-KR" sz="1400" dirty="0"/>
                        <a:t>, int </a:t>
                      </a:r>
                      <a:r>
                        <a:rPr lang="en-US" altLang="ko-KR" sz="1400" dirty="0" err="1"/>
                        <a:t>endIndex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beginIndex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위치에서 </a:t>
                      </a:r>
                      <a:r>
                        <a:rPr lang="en-US" altLang="ko-KR" sz="1400" dirty="0" err="1"/>
                        <a:t>endIndex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직전까지 잘라낸 새로운 문자열을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858366"/>
                  </a:ext>
                </a:extLst>
              </a:tr>
              <a:tr h="372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String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toLowerCase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알파벳 소문자로 변환한 새로운 문자열을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278186"/>
                  </a:ext>
                </a:extLst>
              </a:tr>
              <a:tr h="372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String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toUpperCase</a:t>
                      </a:r>
                      <a:r>
                        <a:rPr lang="en-US" altLang="ko-KR" sz="1400" dirty="0"/>
                        <a:t>()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알파벳 대문자로 변환한 새로운 문자열을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693832"/>
                  </a:ext>
                </a:extLst>
              </a:tr>
              <a:tr h="372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String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trim()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앞뒤 공백을 제거한 새로운 문자열을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476496"/>
                  </a:ext>
                </a:extLst>
              </a:tr>
              <a:tr h="372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String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valueOf(int i)</a:t>
                      </a:r>
                    </a:p>
                    <a:p>
                      <a:pPr algn="ctr" latinLnBrk="1"/>
                      <a:r>
                        <a:rPr lang="en-US" altLang="ko-KR" sz="1400"/>
                        <a:t>valueOf(double d)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기본 타입 값을 문자열로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412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779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C543-F4B0-6167-AAF3-A1F120EA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80DBFD-3AAD-6C02-4402-49FE8822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 추출 </a:t>
            </a:r>
            <a:r>
              <a:rPr lang="en-US" altLang="ko-KR" sz="1400" dirty="0" err="1"/>
              <a:t>charAt</a:t>
            </a:r>
            <a:r>
              <a:rPr lang="en-US" altLang="ko-KR" sz="1400" dirty="0"/>
              <a:t>()</a:t>
            </a:r>
          </a:p>
          <a:p>
            <a:pPr marL="0" indent="0">
              <a:buNone/>
            </a:pP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인덱스의 문자를 리턴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“</a:t>
            </a:r>
            <a:r>
              <a:rPr lang="ko-KR" altLang="en-US" sz="1400" dirty="0"/>
              <a:t>자바 프로그래밍</a:t>
            </a:r>
            <a:r>
              <a:rPr lang="en-US" altLang="ko-KR" sz="1400" dirty="0"/>
              <a:t>”</a:t>
            </a:r>
          </a:p>
          <a:p>
            <a:pPr marL="0" indent="0">
              <a:buNone/>
            </a:pPr>
            <a:r>
              <a:rPr lang="en-US" altLang="ko-KR" sz="1400" dirty="0" err="1"/>
              <a:t>charAt</a:t>
            </a:r>
            <a:r>
              <a:rPr lang="en-US" altLang="ko-KR" sz="1400" dirty="0"/>
              <a:t>(3) = “</a:t>
            </a:r>
            <a:r>
              <a:rPr lang="ko-KR" altLang="en-US" sz="1400" dirty="0" err="1"/>
              <a:t>프</a:t>
            </a:r>
            <a:r>
              <a:rPr lang="en-US" altLang="ko-KR" sz="1400" dirty="0"/>
              <a:t>”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StringCharAtExample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문자열 변수 </a:t>
            </a:r>
            <a:r>
              <a:rPr lang="en-US" altLang="ko-KR" sz="1400" dirty="0"/>
              <a:t>s</a:t>
            </a:r>
            <a:r>
              <a:rPr lang="ko-KR" altLang="en-US" sz="1400" dirty="0"/>
              <a:t>를 선언하고 </a:t>
            </a:r>
            <a:r>
              <a:rPr lang="en-US" altLang="ko-KR" sz="1400" dirty="0"/>
              <a:t>"</a:t>
            </a:r>
            <a:r>
              <a:rPr lang="ko-KR" altLang="en-US" sz="1400" dirty="0"/>
              <a:t>자바 프로그래밍</a:t>
            </a:r>
            <a:r>
              <a:rPr lang="en-US" altLang="ko-KR" sz="1400" dirty="0"/>
              <a:t>"</a:t>
            </a:r>
            <a:r>
              <a:rPr lang="ko-KR" altLang="en-US" sz="1400" dirty="0"/>
              <a:t>으로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 = "</a:t>
            </a:r>
            <a:r>
              <a:rPr lang="ko-KR" altLang="en-US" sz="1400" dirty="0"/>
              <a:t>자바 프로그래밍</a:t>
            </a:r>
            <a:r>
              <a:rPr lang="en-US" altLang="ko-KR" sz="1400" dirty="0"/>
              <a:t>";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s.charAt</a:t>
            </a:r>
            <a:r>
              <a:rPr lang="en-US" altLang="ko-KR" sz="1400" dirty="0"/>
              <a:t>(3): 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s</a:t>
            </a:r>
            <a:r>
              <a:rPr lang="ko-KR" altLang="en-US" sz="1400" dirty="0"/>
              <a:t>의 </a:t>
            </a:r>
            <a:r>
              <a:rPr lang="en-US" altLang="ko-KR" sz="1400" dirty="0"/>
              <a:t>3</a:t>
            </a:r>
            <a:r>
              <a:rPr lang="ko-KR" altLang="en-US" sz="1400" dirty="0"/>
              <a:t>번째 인덱스에 있는 문자를 가져옴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s.charAt</a:t>
            </a:r>
            <a:r>
              <a:rPr lang="en-US" altLang="ko-KR" sz="1400" dirty="0"/>
              <a:t>(3));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'</a:t>
            </a:r>
            <a:r>
              <a:rPr lang="ko-KR" altLang="en-US" sz="1400" dirty="0" err="1"/>
              <a:t>프</a:t>
            </a:r>
            <a:r>
              <a:rPr lang="en-US" altLang="ko-KR" sz="1400" dirty="0"/>
              <a:t>'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3D7F76D-A4BB-30B2-E126-9EDF30BD7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12234"/>
              </p:ext>
            </p:extLst>
          </p:nvPr>
        </p:nvGraphicFramePr>
        <p:xfrm>
          <a:off x="2032000" y="2032419"/>
          <a:ext cx="812800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25206107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744236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16300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836085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9924874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93707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026650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39551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76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밍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86351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0931BF4E-00C8-F690-9E90-BBE552BEC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425" y="4309709"/>
            <a:ext cx="621011" cy="49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70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13A0-E7BF-ECFE-9219-5AE989966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6C301C-BB28-4D45-B021-7231F00C3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문자열 비교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같은 객체인지 확인할 때 </a:t>
            </a:r>
            <a:r>
              <a:rPr lang="en-US" altLang="ko-KR" sz="1400" dirty="0">
                <a:sym typeface="Wingdings" panose="05000000000000000000" pitchFamily="2" charset="2"/>
              </a:rPr>
              <a:t> ==</a:t>
            </a:r>
            <a:r>
              <a:rPr lang="ko-KR" altLang="en-US" sz="1400" dirty="0">
                <a:sym typeface="Wingdings" panose="05000000000000000000" pitchFamily="2" charset="2"/>
              </a:rPr>
              <a:t>연산자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같은 문자열인지 확인할 때</a:t>
            </a:r>
            <a:r>
              <a:rPr lang="en-US" altLang="ko-KR" sz="1400" dirty="0">
                <a:sym typeface="Wingdings" panose="05000000000000000000" pitchFamily="2" charset="2"/>
              </a:rPr>
              <a:t>  equals()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StringEqualsExample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strVar1: "</a:t>
            </a:r>
            <a:r>
              <a:rPr lang="ko-KR" altLang="en-US" sz="1400" dirty="0"/>
              <a:t>신민철</a:t>
            </a:r>
            <a:r>
              <a:rPr lang="en-US" altLang="ko-KR" sz="1400" dirty="0"/>
              <a:t>" </a:t>
            </a:r>
            <a:r>
              <a:rPr lang="ko-KR" altLang="en-US" sz="1400" dirty="0"/>
              <a:t>문자열을 담은 새로운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strVar1 = new String("</a:t>
            </a:r>
            <a:r>
              <a:rPr lang="ko-KR" altLang="en-US" sz="1400" dirty="0"/>
              <a:t>신민철</a:t>
            </a:r>
            <a:r>
              <a:rPr lang="en-US" altLang="ko-KR" sz="1400" dirty="0"/>
              <a:t>");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strVar2: "</a:t>
            </a:r>
            <a:r>
              <a:rPr lang="ko-KR" altLang="en-US" sz="1400" dirty="0"/>
              <a:t>신민철</a:t>
            </a:r>
            <a:r>
              <a:rPr lang="en-US" altLang="ko-KR" sz="1400" dirty="0"/>
              <a:t>" </a:t>
            </a:r>
            <a:r>
              <a:rPr lang="ko-KR" altLang="en-US" sz="1400" dirty="0"/>
              <a:t>문자열을 </a:t>
            </a:r>
            <a:r>
              <a:rPr lang="en-US" altLang="ko-KR" sz="1400" dirty="0"/>
              <a:t>String </a:t>
            </a:r>
            <a:r>
              <a:rPr lang="ko-KR" altLang="en-US" sz="1400" dirty="0" err="1"/>
              <a:t>리터럴로</a:t>
            </a:r>
            <a:r>
              <a:rPr lang="ko-KR" altLang="en-US" sz="1400" dirty="0"/>
              <a:t> 생성 </a:t>
            </a:r>
            <a:r>
              <a:rPr lang="en-US" altLang="ko-KR" sz="1400" dirty="0"/>
              <a:t>(</a:t>
            </a:r>
            <a:r>
              <a:rPr lang="ko-KR" altLang="en-US" sz="1400" dirty="0"/>
              <a:t>문자열 풀에 저장됨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String strVar2 = "</a:t>
            </a:r>
            <a:r>
              <a:rPr lang="ko-KR" altLang="en-US" sz="1400" dirty="0"/>
              <a:t>신민철</a:t>
            </a:r>
            <a:r>
              <a:rPr lang="en-US" altLang="ko-KR" sz="1400" dirty="0"/>
              <a:t>";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== </a:t>
            </a:r>
            <a:r>
              <a:rPr lang="ko-KR" altLang="en-US" sz="1400" dirty="0"/>
              <a:t>연산자로 객체의 </a:t>
            </a:r>
            <a:r>
              <a:rPr lang="ko-KR" altLang="en-US" sz="1400" dirty="0" err="1"/>
              <a:t>참조값</a:t>
            </a:r>
            <a:r>
              <a:rPr lang="en-US" altLang="ko-KR" sz="1400" dirty="0"/>
              <a:t>(</a:t>
            </a:r>
            <a:r>
              <a:rPr lang="ko-KR" altLang="en-US" sz="1400" dirty="0"/>
              <a:t>주소</a:t>
            </a:r>
            <a:r>
              <a:rPr lang="en-US" altLang="ko-KR" sz="1400" dirty="0"/>
              <a:t>) </a:t>
            </a:r>
            <a:r>
              <a:rPr lang="ko-KR" altLang="en-US" sz="1400" dirty="0"/>
              <a:t>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(strVar1 == strVar2) { 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같은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객체를 참조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다른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객체를 참조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equals() </a:t>
            </a:r>
            <a:r>
              <a:rPr lang="ko-KR" altLang="en-US" sz="1400" dirty="0"/>
              <a:t>메서드로 문자열 내용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(strVar1.equals(strVar2)) { 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같은 문자열을 가짐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다른 문자열을 가짐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AB30FB-591B-0712-E15B-12884716A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262" y="2875677"/>
            <a:ext cx="2797937" cy="94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39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02B0-B6F5-6B6E-E6EA-4D810CC99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A34986-217E-BC21-5370-156445CF1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바이트 배열로 변환</a:t>
            </a:r>
            <a:r>
              <a:rPr lang="en-US" altLang="ko-KR" sz="1400" dirty="0"/>
              <a:t>(</a:t>
            </a:r>
            <a:r>
              <a:rPr lang="en-US" altLang="ko-KR" sz="1400" dirty="0" err="1"/>
              <a:t>getByte</a:t>
            </a:r>
            <a:r>
              <a:rPr lang="en-US" altLang="ko-KR" sz="1400" dirty="0"/>
              <a:t>())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네트워크로 문자열을 전송하거나</a:t>
            </a:r>
            <a:r>
              <a:rPr lang="en-US" altLang="ko-KR" sz="1400" dirty="0"/>
              <a:t>, </a:t>
            </a:r>
            <a:r>
              <a:rPr lang="ko-KR" altLang="en-US" sz="1400" dirty="0"/>
              <a:t>문자열을 암호화할 때 문자열을 바이트 배열로 변환한다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byte[] bytes = “</a:t>
            </a:r>
            <a:r>
              <a:rPr lang="ko-KR" altLang="en-US" sz="1400" dirty="0"/>
              <a:t>문자열</a:t>
            </a:r>
            <a:r>
              <a:rPr lang="en-US" altLang="ko-KR" sz="1400" dirty="0"/>
              <a:t>”.</a:t>
            </a:r>
            <a:r>
              <a:rPr lang="en-US" altLang="ko-KR" sz="1400" dirty="0" err="1"/>
              <a:t>getBytes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문자열을 바이트로 변환하여 리턴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byte[] bytes = “</a:t>
            </a:r>
            <a:r>
              <a:rPr lang="ko-KR" altLang="en-US" sz="1400" dirty="0"/>
              <a:t>문자열</a:t>
            </a:r>
            <a:r>
              <a:rPr lang="en-US" altLang="ko-KR" sz="1400" dirty="0"/>
              <a:t>”.</a:t>
            </a:r>
            <a:r>
              <a:rPr lang="en-US" altLang="ko-KR" sz="1400" dirty="0" err="1"/>
              <a:t>getBytes</a:t>
            </a:r>
            <a:r>
              <a:rPr lang="en-US" altLang="ko-KR" sz="1400" dirty="0"/>
              <a:t>(Charset charset);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문자열을 특정 문자셋으로 </a:t>
            </a:r>
            <a:r>
              <a:rPr lang="ko-KR" altLang="en-US" sz="1400" dirty="0" err="1"/>
              <a:t>인코딩된</a:t>
            </a:r>
            <a:r>
              <a:rPr lang="ko-KR" altLang="en-US" sz="1400" dirty="0"/>
              <a:t> 바이트로 변환하여 리턴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매개값인</a:t>
            </a:r>
            <a:r>
              <a:rPr lang="ko-KR" altLang="en-US" sz="1400" dirty="0"/>
              <a:t> </a:t>
            </a:r>
            <a:r>
              <a:rPr lang="en-US" altLang="ko-KR" sz="1400" dirty="0"/>
              <a:t>Charset </a:t>
            </a:r>
            <a:r>
              <a:rPr lang="en-US" altLang="ko-KR" sz="1400" dirty="0" err="1"/>
              <a:t>charset</a:t>
            </a:r>
            <a:r>
              <a:rPr lang="ko-KR" altLang="en-US" sz="1400" dirty="0"/>
              <a:t>가 잘못된 문자셋을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줄 수 있기 때문에 </a:t>
            </a:r>
            <a:r>
              <a:rPr lang="en-US" altLang="ko-KR" sz="1400" dirty="0" err="1"/>
              <a:t>UnsupportedEncodingException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예외 처리가 필요하다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바이트 배열을 다시 문자열로 반환 </a:t>
            </a:r>
            <a:r>
              <a:rPr lang="en-US" altLang="ko-KR" sz="1400" dirty="0">
                <a:sym typeface="Wingdings" panose="05000000000000000000" pitchFamily="2" charset="2"/>
              </a:rPr>
              <a:t> String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-String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str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=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new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String(byte[] bytes, String </a:t>
            </a:r>
            <a:r>
              <a:rPr lang="en-US" altLang="ko-KR" sz="1400" dirty="0" err="1">
                <a:sym typeface="Wingdings" panose="05000000000000000000" pitchFamily="2" charset="2"/>
              </a:rPr>
              <a:t>charsetName</a:t>
            </a:r>
            <a:r>
              <a:rPr lang="en-US" altLang="ko-KR" sz="1400" dirty="0">
                <a:sym typeface="Wingdings" panose="05000000000000000000" pitchFamily="2" charset="2"/>
              </a:rPr>
              <a:t>);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26953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D7B7-F387-67D5-3B58-D8FB3BCAE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14750-3623-AF43-3A58-4855304CB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java.io.UnsupportedEncodingException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StringGetBytesExample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 = "</a:t>
            </a:r>
            <a:r>
              <a:rPr lang="ko-KR" altLang="en-US" sz="1400" dirty="0"/>
              <a:t>안녕하세요</a:t>
            </a:r>
            <a:r>
              <a:rPr lang="en-US" altLang="ko-KR" sz="1400" dirty="0"/>
              <a:t>";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1. </a:t>
            </a:r>
            <a:r>
              <a:rPr lang="ko-KR" altLang="en-US" sz="1400" dirty="0"/>
              <a:t>기본 문자셋으로 문자열을 바이트 배열로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byte[] bytes1 = </a:t>
            </a:r>
            <a:r>
              <a:rPr lang="en-US" altLang="ko-KR" sz="1400" dirty="0" err="1"/>
              <a:t>str.getBytes</a:t>
            </a:r>
            <a:r>
              <a:rPr lang="en-US" altLang="ko-KR" sz="1400" dirty="0"/>
              <a:t>(); // </a:t>
            </a:r>
            <a:r>
              <a:rPr lang="ko-KR" altLang="en-US" sz="1400" dirty="0"/>
              <a:t>플랫폼의 기본 문자셋으로 인코딩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("bytes1.length: " + bytes1.length); // </a:t>
            </a:r>
            <a:r>
              <a:rPr lang="ko-KR" altLang="en-US" sz="1400" dirty="0"/>
              <a:t>바이트 배열 길이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str1 = new String(bytes1); // </a:t>
            </a:r>
            <a:r>
              <a:rPr lang="ko-KR" altLang="en-US" sz="1400" dirty="0"/>
              <a:t>바이트 배열을 다시 문자열로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("bytes1-&gt;String: " + str1); // </a:t>
            </a:r>
            <a:r>
              <a:rPr lang="ko-KR" altLang="en-US" sz="1400" dirty="0"/>
              <a:t>변환된 문자열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// 2. EUC-KR </a:t>
            </a:r>
            <a:r>
              <a:rPr lang="ko-KR" altLang="en-US" sz="1400" dirty="0"/>
              <a:t>문자셋으로 문자열을 바이트 배열로 변환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byte[] bytes2 = </a:t>
            </a:r>
            <a:r>
              <a:rPr lang="en-US" altLang="ko-KR" sz="1400" dirty="0" err="1"/>
              <a:t>str.getBytes</a:t>
            </a:r>
            <a:r>
              <a:rPr lang="en-US" altLang="ko-KR" sz="1400" dirty="0"/>
              <a:t>("EUC-KR"); // "EUC-KR"</a:t>
            </a:r>
            <a:r>
              <a:rPr lang="ko-KR" altLang="en-US" sz="1400" dirty="0"/>
              <a:t>로 인코딩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("bytes2.length: " + bytes2.length); // </a:t>
            </a:r>
            <a:r>
              <a:rPr lang="ko-KR" altLang="en-US" sz="1400" dirty="0"/>
              <a:t>바이트 배열 길이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String str2 = new String(bytes2, "EUC-KR"); // "EUC-KR" </a:t>
            </a:r>
            <a:r>
              <a:rPr lang="ko-KR" altLang="en-US" sz="1400" dirty="0"/>
              <a:t>문자셋으로 디코딩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("bytes2-&gt;String: " + str2); // </a:t>
            </a:r>
            <a:r>
              <a:rPr lang="ko-KR" altLang="en-US" sz="1400" dirty="0"/>
              <a:t>변환된 문자열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// 3. UTF-8 </a:t>
            </a:r>
            <a:r>
              <a:rPr lang="ko-KR" altLang="en-US" sz="1400" dirty="0"/>
              <a:t>문자셋으로 문자열을 바이트 배열로 변환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byte[] bytes3 = </a:t>
            </a:r>
            <a:r>
              <a:rPr lang="en-US" altLang="ko-KR" sz="1400" dirty="0" err="1"/>
              <a:t>str.getBytes</a:t>
            </a:r>
            <a:r>
              <a:rPr lang="en-US" altLang="ko-KR" sz="1400" dirty="0"/>
              <a:t>("UTF-8"); // "UTF-8"</a:t>
            </a:r>
            <a:r>
              <a:rPr lang="ko-KR" altLang="en-US" sz="1400" dirty="0"/>
              <a:t>로 인코딩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("bytes3.length: " + bytes3.length); // </a:t>
            </a:r>
            <a:r>
              <a:rPr lang="ko-KR" altLang="en-US" sz="1400" dirty="0"/>
              <a:t>바이트 배열 길이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String str3 = new String(bytes3, "UTF-8"); // "UTF-8" </a:t>
            </a:r>
            <a:r>
              <a:rPr lang="ko-KR" altLang="en-US" sz="1400" dirty="0"/>
              <a:t>문자셋으로 디코딩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("bytes3-&gt;String: " + str3); // </a:t>
            </a:r>
            <a:r>
              <a:rPr lang="ko-KR" altLang="en-US" sz="1400" dirty="0"/>
              <a:t>변환된 문자열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catch (</a:t>
            </a:r>
            <a:r>
              <a:rPr lang="en-US" altLang="ko-KR" sz="1400" dirty="0" err="1"/>
              <a:t>UnsupportedEncodingException</a:t>
            </a:r>
            <a:r>
              <a:rPr lang="en-US" altLang="ko-KR" sz="1400" dirty="0"/>
              <a:t> e)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e.printStackTrace</a:t>
            </a:r>
            <a:r>
              <a:rPr lang="en-US" altLang="ko-KR" sz="1400" dirty="0"/>
              <a:t>(); // </a:t>
            </a:r>
            <a:r>
              <a:rPr lang="ko-KR" altLang="en-US" sz="1400" dirty="0"/>
              <a:t>예외 발생 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0AE911-3E70-27AE-EE1B-BA76DF97F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442" y="2231395"/>
            <a:ext cx="2794454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10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158D-03A0-B697-5D48-E9F69F9A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EB6169-6555-EF21-4AAE-43E0977EB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문자열 찾기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indexOf</a:t>
            </a:r>
            <a:r>
              <a:rPr lang="en-US" altLang="ko-KR" sz="1400" dirty="0"/>
              <a:t>())</a:t>
            </a:r>
          </a:p>
          <a:p>
            <a:pPr marL="0" indent="0">
              <a:buNone/>
            </a:pP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문자열이 시작되는 인덱스 리턴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 s = “</a:t>
            </a:r>
            <a:r>
              <a:rPr lang="ko-KR" altLang="en-US" sz="1400" dirty="0"/>
              <a:t>자바 프로그래밍</a:t>
            </a:r>
            <a:r>
              <a:rPr lang="en-US" altLang="ko-KR" sz="1400" dirty="0"/>
              <a:t>”</a:t>
            </a:r>
          </a:p>
          <a:p>
            <a:pPr marL="0" indent="0">
              <a:buNone/>
            </a:pPr>
            <a:r>
              <a:rPr lang="en-US" altLang="ko-KR" sz="1400" dirty="0"/>
              <a:t>int index = </a:t>
            </a:r>
            <a:r>
              <a:rPr lang="en-US" altLang="ko-KR" sz="1400" dirty="0" err="1"/>
              <a:t>s.indexOf</a:t>
            </a:r>
            <a:r>
              <a:rPr lang="en-US" altLang="ko-KR" sz="1400" dirty="0"/>
              <a:t>(“</a:t>
            </a:r>
            <a:r>
              <a:rPr lang="ko-KR" altLang="en-US" sz="1400" dirty="0"/>
              <a:t>프로그래밍</a:t>
            </a:r>
            <a:r>
              <a:rPr lang="en-US" altLang="ko-KR" sz="1400" dirty="0"/>
              <a:t>”); //3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StringIndexOfExample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문자열 변수 </a:t>
            </a:r>
            <a:r>
              <a:rPr lang="en-US" altLang="ko-KR" sz="1400" dirty="0"/>
              <a:t>subject</a:t>
            </a:r>
            <a:r>
              <a:rPr lang="ko-KR" altLang="en-US" sz="1400" dirty="0"/>
              <a:t>를 선언하고 </a:t>
            </a:r>
            <a:r>
              <a:rPr lang="en-US" altLang="ko-KR" sz="1400" dirty="0"/>
              <a:t>"</a:t>
            </a:r>
            <a:r>
              <a:rPr lang="ko-KR" altLang="en-US" sz="1400" dirty="0"/>
              <a:t>자바 프로그래밍</a:t>
            </a:r>
            <a:r>
              <a:rPr lang="en-US" altLang="ko-KR" sz="1400" dirty="0"/>
              <a:t>"</a:t>
            </a:r>
            <a:r>
              <a:rPr lang="ko-KR" altLang="en-US" sz="1400" dirty="0"/>
              <a:t>으로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subject = "</a:t>
            </a:r>
            <a:r>
              <a:rPr lang="ko-KR" altLang="en-US" sz="1400" dirty="0"/>
              <a:t>자바 프로그래밍</a:t>
            </a:r>
            <a:r>
              <a:rPr lang="en-US" altLang="ko-KR" sz="1400" dirty="0"/>
              <a:t>";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"</a:t>
            </a:r>
            <a:r>
              <a:rPr lang="ko-KR" altLang="en-US" sz="1400" dirty="0"/>
              <a:t>프로그래밍</a:t>
            </a:r>
            <a:r>
              <a:rPr lang="en-US" altLang="ko-KR" sz="1400" dirty="0"/>
              <a:t>" </a:t>
            </a:r>
            <a:r>
              <a:rPr lang="ko-KR" altLang="en-US" sz="1400" dirty="0"/>
              <a:t>문자열이 </a:t>
            </a:r>
            <a:r>
              <a:rPr lang="en-US" altLang="ko-KR" sz="1400" dirty="0"/>
              <a:t>subject</a:t>
            </a:r>
            <a:r>
              <a:rPr lang="ko-KR" altLang="en-US" sz="1400" dirty="0"/>
              <a:t>에서 시작되는 위치</a:t>
            </a:r>
            <a:r>
              <a:rPr lang="en-US" altLang="ko-KR" sz="1400" dirty="0"/>
              <a:t>(</a:t>
            </a:r>
            <a:r>
              <a:rPr lang="ko-KR" altLang="en-US" sz="1400" dirty="0"/>
              <a:t>인덱스</a:t>
            </a:r>
            <a:r>
              <a:rPr lang="en-US" altLang="ko-KR" sz="1400" dirty="0"/>
              <a:t>)</a:t>
            </a:r>
            <a:r>
              <a:rPr lang="ko-KR" altLang="en-US" sz="1400" dirty="0"/>
              <a:t>를 반환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location = </a:t>
            </a:r>
            <a:r>
              <a:rPr lang="en-US" altLang="ko-KR" sz="1400" dirty="0" err="1"/>
              <a:t>subject.indexOf</a:t>
            </a:r>
            <a:r>
              <a:rPr lang="en-US" altLang="ko-KR" sz="1400" dirty="0"/>
              <a:t>("</a:t>
            </a:r>
            <a:r>
              <a:rPr lang="ko-KR" altLang="en-US" sz="1400" dirty="0"/>
              <a:t>프로그래밍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(location);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3 ("</a:t>
            </a:r>
            <a:r>
              <a:rPr lang="ko-KR" altLang="en-US" sz="1400" dirty="0"/>
              <a:t>프로그래밍</a:t>
            </a:r>
            <a:r>
              <a:rPr lang="en-US" altLang="ko-KR" sz="1400" dirty="0"/>
              <a:t>"</a:t>
            </a:r>
            <a:r>
              <a:rPr lang="ko-KR" altLang="en-US" sz="1400" dirty="0"/>
              <a:t>의 시작 인덱스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"</a:t>
            </a:r>
            <a:r>
              <a:rPr lang="ko-KR" altLang="en-US" sz="1400" dirty="0"/>
              <a:t>자바</a:t>
            </a:r>
            <a:r>
              <a:rPr lang="en-US" altLang="ko-KR" sz="1400" dirty="0"/>
              <a:t>" </a:t>
            </a:r>
            <a:r>
              <a:rPr lang="ko-KR" altLang="en-US" sz="1400" dirty="0"/>
              <a:t>문자열이 포함되어 있는지 확인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subject.indexOf</a:t>
            </a:r>
            <a:r>
              <a:rPr lang="en-US" altLang="ko-KR" sz="1400" dirty="0"/>
              <a:t>("</a:t>
            </a:r>
            <a:r>
              <a:rPr lang="ko-KR" altLang="en-US" sz="1400" dirty="0"/>
              <a:t>자바</a:t>
            </a:r>
            <a:r>
              <a:rPr lang="en-US" altLang="ko-KR" sz="1400" dirty="0"/>
              <a:t>") != -1) { // </a:t>
            </a:r>
            <a:r>
              <a:rPr lang="en-US" altLang="ko-KR" sz="1400" dirty="0" err="1"/>
              <a:t>indexOf</a:t>
            </a:r>
            <a:r>
              <a:rPr lang="en-US" altLang="ko-KR" sz="1400" dirty="0"/>
              <a:t>()</a:t>
            </a:r>
            <a:r>
              <a:rPr lang="ko-KR" altLang="en-US" sz="1400" dirty="0"/>
              <a:t>가 </a:t>
            </a:r>
            <a:r>
              <a:rPr lang="en-US" altLang="ko-KR" sz="1400" dirty="0"/>
              <a:t>-1</a:t>
            </a:r>
            <a:r>
              <a:rPr lang="ko-KR" altLang="en-US" sz="1400" dirty="0"/>
              <a:t>이 아니면 문자열이 존재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자바와 관련된 책이군요</a:t>
            </a:r>
            <a:r>
              <a:rPr lang="en-US" altLang="ko-KR" sz="1400" dirty="0"/>
              <a:t>"); // </a:t>
            </a:r>
            <a:r>
              <a:rPr lang="ko-KR" altLang="en-US" sz="1400" dirty="0"/>
              <a:t>문자열이 포함된 경우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자바와 </a:t>
            </a:r>
            <a:r>
              <a:rPr lang="ko-KR" altLang="en-US" sz="1400" dirty="0" err="1"/>
              <a:t>관련없는</a:t>
            </a:r>
            <a:r>
              <a:rPr lang="ko-KR" altLang="en-US" sz="1400" dirty="0"/>
              <a:t> 책이군요</a:t>
            </a:r>
            <a:r>
              <a:rPr lang="en-US" altLang="ko-KR" sz="1400" dirty="0"/>
              <a:t>"); // </a:t>
            </a:r>
            <a:r>
              <a:rPr lang="ko-KR" altLang="en-US" sz="1400" dirty="0"/>
              <a:t>문자열이 포함되지 않은 경우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6C8E85B-2E71-6A49-5D95-8CE6E3903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380728"/>
              </p:ext>
            </p:extLst>
          </p:nvPr>
        </p:nvGraphicFramePr>
        <p:xfrm>
          <a:off x="4680640" y="1354514"/>
          <a:ext cx="6755896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44487">
                  <a:extLst>
                    <a:ext uri="{9D8B030D-6E8A-4147-A177-3AD203B41FA5}">
                      <a16:colId xmlns:a16="http://schemas.microsoft.com/office/drawing/2014/main" val="4252061076"/>
                    </a:ext>
                  </a:extLst>
                </a:gridCol>
                <a:gridCol w="844487">
                  <a:extLst>
                    <a:ext uri="{9D8B030D-6E8A-4147-A177-3AD203B41FA5}">
                      <a16:colId xmlns:a16="http://schemas.microsoft.com/office/drawing/2014/main" val="3174423617"/>
                    </a:ext>
                  </a:extLst>
                </a:gridCol>
                <a:gridCol w="844487">
                  <a:extLst>
                    <a:ext uri="{9D8B030D-6E8A-4147-A177-3AD203B41FA5}">
                      <a16:colId xmlns:a16="http://schemas.microsoft.com/office/drawing/2014/main" val="171630051"/>
                    </a:ext>
                  </a:extLst>
                </a:gridCol>
                <a:gridCol w="844487">
                  <a:extLst>
                    <a:ext uri="{9D8B030D-6E8A-4147-A177-3AD203B41FA5}">
                      <a16:colId xmlns:a16="http://schemas.microsoft.com/office/drawing/2014/main" val="1483608561"/>
                    </a:ext>
                  </a:extLst>
                </a:gridCol>
                <a:gridCol w="844487">
                  <a:extLst>
                    <a:ext uri="{9D8B030D-6E8A-4147-A177-3AD203B41FA5}">
                      <a16:colId xmlns:a16="http://schemas.microsoft.com/office/drawing/2014/main" val="1499248742"/>
                    </a:ext>
                  </a:extLst>
                </a:gridCol>
                <a:gridCol w="844487">
                  <a:extLst>
                    <a:ext uri="{9D8B030D-6E8A-4147-A177-3AD203B41FA5}">
                      <a16:colId xmlns:a16="http://schemas.microsoft.com/office/drawing/2014/main" val="3993707702"/>
                    </a:ext>
                  </a:extLst>
                </a:gridCol>
                <a:gridCol w="844487">
                  <a:extLst>
                    <a:ext uri="{9D8B030D-6E8A-4147-A177-3AD203B41FA5}">
                      <a16:colId xmlns:a16="http://schemas.microsoft.com/office/drawing/2014/main" val="2702665085"/>
                    </a:ext>
                  </a:extLst>
                </a:gridCol>
                <a:gridCol w="844487">
                  <a:extLst>
                    <a:ext uri="{9D8B030D-6E8A-4147-A177-3AD203B41FA5}">
                      <a16:colId xmlns:a16="http://schemas.microsoft.com/office/drawing/2014/main" val="2739551327"/>
                    </a:ext>
                  </a:extLst>
                </a:gridCol>
              </a:tblGrid>
              <a:tr h="2146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762123"/>
                  </a:ext>
                </a:extLst>
              </a:tr>
              <a:tr h="214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밍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863518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88CD357-69C0-9E64-D8DF-EFC025101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479" y="3642288"/>
            <a:ext cx="3463057" cy="79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64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4B85-BB64-492C-3476-E50CBF7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8A011D-62D5-6C5F-CF99-8A730A3B5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문자열 길이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 s = “</a:t>
            </a:r>
            <a:r>
              <a:rPr lang="ko-KR" altLang="en-US" sz="1400" dirty="0"/>
              <a:t>자바 프로그래밍</a:t>
            </a:r>
            <a:r>
              <a:rPr lang="en-US" altLang="ko-KR" sz="1400" dirty="0"/>
              <a:t>”</a:t>
            </a:r>
          </a:p>
          <a:p>
            <a:pPr marL="0" indent="0">
              <a:buNone/>
            </a:pPr>
            <a:r>
              <a:rPr lang="en-US" altLang="ko-KR" sz="1400" dirty="0"/>
              <a:t>int index = </a:t>
            </a:r>
            <a:r>
              <a:rPr lang="en-US" altLang="ko-KR" sz="1400" dirty="0" err="1"/>
              <a:t>s.length</a:t>
            </a:r>
            <a:r>
              <a:rPr lang="en-US" altLang="ko-KR" sz="1400" dirty="0"/>
              <a:t>(); //8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문자열 대치</a:t>
            </a:r>
            <a:r>
              <a:rPr lang="en-US" altLang="ko-KR" sz="1400" dirty="0"/>
              <a:t>(replace())</a:t>
            </a:r>
          </a:p>
          <a:p>
            <a:pPr marL="0" indent="0">
              <a:buNone/>
            </a:pPr>
            <a:r>
              <a:rPr lang="ko-KR" altLang="en-US" sz="1400" dirty="0"/>
              <a:t>첫 번째 </a:t>
            </a:r>
            <a:r>
              <a:rPr lang="ko-KR" altLang="en-US" sz="1400" dirty="0" err="1"/>
              <a:t>매개값을</a:t>
            </a:r>
            <a:r>
              <a:rPr lang="ko-KR" altLang="en-US" sz="1400" dirty="0"/>
              <a:t> 두 번째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대체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StringReplaceExample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원본 문자열을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</a:t>
            </a:r>
            <a:r>
              <a:rPr lang="en-US" altLang="ko-KR" sz="1400" dirty="0" err="1"/>
              <a:t>oldStr</a:t>
            </a:r>
            <a:r>
              <a:rPr lang="en-US" altLang="ko-KR" sz="1400" dirty="0"/>
              <a:t> = "</a:t>
            </a:r>
            <a:r>
              <a:rPr lang="ko-KR" altLang="en-US" sz="1400" dirty="0"/>
              <a:t>자바는 객체지향언어 입니다</a:t>
            </a:r>
            <a:r>
              <a:rPr lang="en-US" altLang="ko-KR" sz="1400" dirty="0"/>
              <a:t>. </a:t>
            </a:r>
            <a:r>
              <a:rPr lang="ko-KR" altLang="en-US" sz="1400" dirty="0"/>
              <a:t>자바는 풍부한 </a:t>
            </a:r>
            <a:r>
              <a:rPr lang="en-US" altLang="ko-KR" sz="1400" dirty="0"/>
              <a:t>API</a:t>
            </a:r>
            <a:r>
              <a:rPr lang="ko-KR" altLang="en-US" sz="1400" dirty="0"/>
              <a:t>를 지원합니다</a:t>
            </a:r>
            <a:r>
              <a:rPr lang="en-US" altLang="ko-KR" sz="1400" dirty="0"/>
              <a:t>.";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'</a:t>
            </a:r>
            <a:r>
              <a:rPr lang="ko-KR" altLang="en-US" sz="1400" dirty="0"/>
              <a:t>자바</a:t>
            </a:r>
            <a:r>
              <a:rPr lang="en-US" altLang="ko-KR" sz="1400" dirty="0"/>
              <a:t>'</a:t>
            </a:r>
            <a:r>
              <a:rPr lang="ko-KR" altLang="en-US" sz="1400" dirty="0"/>
              <a:t>를 </a:t>
            </a:r>
            <a:r>
              <a:rPr lang="en-US" altLang="ko-KR" sz="1400" dirty="0"/>
              <a:t>'JAVA'</a:t>
            </a:r>
            <a:r>
              <a:rPr lang="ko-KR" altLang="en-US" sz="1400" dirty="0"/>
              <a:t>로 바꿔서 새로운 문자열을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</a:t>
            </a:r>
            <a:r>
              <a:rPr lang="en-US" altLang="ko-KR" sz="1400" dirty="0" err="1"/>
              <a:t>newStr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oldStr.replace</a:t>
            </a:r>
            <a:r>
              <a:rPr lang="en-US" altLang="ko-KR" sz="1400" dirty="0"/>
              <a:t>("</a:t>
            </a:r>
            <a:r>
              <a:rPr lang="ko-KR" altLang="en-US" sz="1400" dirty="0"/>
              <a:t>자바</a:t>
            </a:r>
            <a:r>
              <a:rPr lang="en-US" altLang="ko-KR" sz="1400" dirty="0"/>
              <a:t>", "JAVA");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원본 문자열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oldStr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변경된 문자열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newStr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2C1D60-FE96-5F5E-ABAF-5364D2E6F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734" y="3797457"/>
            <a:ext cx="5059921" cy="55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195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CE9E-4624-12DA-3512-427AD055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DF203-1784-5C16-90FC-DAF94CBB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문자열 잘라내기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subString</a:t>
            </a:r>
            <a:r>
              <a:rPr lang="en-US" altLang="ko-KR" sz="1400" dirty="0"/>
              <a:t>())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subString</a:t>
            </a:r>
            <a:r>
              <a:rPr lang="en-US" altLang="ko-KR" sz="1400" dirty="0"/>
              <a:t>(int a , int b)</a:t>
            </a:r>
            <a:r>
              <a:rPr lang="ko-KR" altLang="en-US" sz="1400" dirty="0"/>
              <a:t>는 </a:t>
            </a:r>
            <a:r>
              <a:rPr lang="en-US" altLang="ko-KR" sz="1400" dirty="0"/>
              <a:t>a</a:t>
            </a:r>
            <a:r>
              <a:rPr lang="ko-KR" altLang="en-US" sz="1400" dirty="0"/>
              <a:t>포함 </a:t>
            </a:r>
            <a:r>
              <a:rPr lang="en-US" altLang="ko-KR" sz="1400" dirty="0"/>
              <a:t>b</a:t>
            </a:r>
            <a:r>
              <a:rPr lang="ko-KR" altLang="en-US" sz="1400" dirty="0"/>
              <a:t>앞 까지의 사이의 문자열을 추출하고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subString</a:t>
            </a:r>
            <a:r>
              <a:rPr lang="en-US" altLang="ko-KR" sz="1400" dirty="0"/>
              <a:t>(int a)</a:t>
            </a:r>
            <a:r>
              <a:rPr lang="ko-KR" altLang="en-US" sz="1400" dirty="0"/>
              <a:t>는 </a:t>
            </a:r>
            <a:r>
              <a:rPr lang="en-US" altLang="ko-KR" sz="1400" dirty="0"/>
              <a:t>a</a:t>
            </a:r>
            <a:r>
              <a:rPr lang="ko-KR" altLang="en-US" sz="1400" dirty="0"/>
              <a:t>부터 끝까지 문자열을 추출한다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StringSubstringExample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주민등록번호를 저장한 문자열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 = "880815-1234567 ";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첫 번째 숫자</a:t>
            </a:r>
            <a:r>
              <a:rPr lang="en-US" altLang="ko-KR" sz="1400" dirty="0"/>
              <a:t>(</a:t>
            </a:r>
            <a:r>
              <a:rPr lang="ko-KR" altLang="en-US" sz="1400" dirty="0"/>
              <a:t>생년월일</a:t>
            </a:r>
            <a:r>
              <a:rPr lang="en-US" altLang="ko-KR" sz="1400" dirty="0"/>
              <a:t>)</a:t>
            </a:r>
            <a:r>
              <a:rPr lang="ko-KR" altLang="en-US" sz="1400" dirty="0"/>
              <a:t>를 추출 </a:t>
            </a:r>
            <a:r>
              <a:rPr lang="en-US" altLang="ko-KR" sz="1400" dirty="0"/>
              <a:t>(0</a:t>
            </a:r>
            <a:r>
              <a:rPr lang="ko-KR" altLang="en-US" sz="1400" dirty="0"/>
              <a:t>부터 </a:t>
            </a:r>
            <a:r>
              <a:rPr lang="en-US" altLang="ko-KR" sz="1400" dirty="0"/>
              <a:t>6</a:t>
            </a:r>
            <a:r>
              <a:rPr lang="ko-KR" altLang="en-US" sz="1400" dirty="0"/>
              <a:t>번째 인덱스까지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String </a:t>
            </a:r>
            <a:r>
              <a:rPr lang="en-US" altLang="ko-KR" sz="1400" dirty="0" err="1"/>
              <a:t>firstNum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ssn.substring</a:t>
            </a:r>
            <a:r>
              <a:rPr lang="en-US" altLang="ko-KR" sz="1400" dirty="0"/>
              <a:t>(0, 6);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firstNum</a:t>
            </a:r>
            <a:r>
              <a:rPr lang="en-US" altLang="ko-KR" sz="1400" dirty="0"/>
              <a:t>);       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번째 숫자</a:t>
            </a:r>
            <a:r>
              <a:rPr lang="en-US" altLang="ko-KR" sz="1400" dirty="0"/>
              <a:t>(</a:t>
            </a:r>
            <a:r>
              <a:rPr lang="ko-KR" altLang="en-US" sz="1400" dirty="0"/>
              <a:t>고유번호</a:t>
            </a:r>
            <a:r>
              <a:rPr lang="en-US" altLang="ko-KR" sz="1400" dirty="0"/>
              <a:t>)</a:t>
            </a:r>
            <a:r>
              <a:rPr lang="ko-KR" altLang="en-US" sz="1400" dirty="0"/>
              <a:t>를 추출 </a:t>
            </a:r>
            <a:r>
              <a:rPr lang="en-US" altLang="ko-KR" sz="1400" dirty="0"/>
              <a:t>(7</a:t>
            </a:r>
            <a:r>
              <a:rPr lang="ko-KR" altLang="en-US" sz="1400" dirty="0"/>
              <a:t>번째 인덱스부터 끝까지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String </a:t>
            </a:r>
            <a:r>
              <a:rPr lang="en-US" altLang="ko-KR" sz="1400" dirty="0" err="1"/>
              <a:t>secondNum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ssn.substring</a:t>
            </a:r>
            <a:r>
              <a:rPr lang="en-US" altLang="ko-KR" sz="1400" dirty="0"/>
              <a:t>(7);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secondNum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0D8E4F3-1099-4969-ACAB-8EC3D7F34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121428"/>
              </p:ext>
            </p:extLst>
          </p:nvPr>
        </p:nvGraphicFramePr>
        <p:xfrm>
          <a:off x="3915121" y="257939"/>
          <a:ext cx="8127994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1878463543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1383413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803177894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696605045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385242369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76750741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894953876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3620154595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850996378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78548397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4207667702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88868545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6460126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4125243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03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404318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141F9735-CCC7-0F2F-3604-F872BE931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62" y="3172767"/>
            <a:ext cx="1373509" cy="100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02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21F5C-0E9D-C6A6-6CCC-26DDD979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37E452-AE71-CB2C-3478-093C92AE5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알파벳 소</a:t>
            </a:r>
            <a:r>
              <a:rPr lang="en-US" altLang="ko-KR" sz="1400" dirty="0"/>
              <a:t>.</a:t>
            </a:r>
            <a:r>
              <a:rPr lang="ko-KR" altLang="en-US" sz="1400" dirty="0"/>
              <a:t>대문자 변경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toLowerCase</a:t>
            </a:r>
            <a:r>
              <a:rPr lang="en-US" altLang="ko-KR" sz="1400" dirty="0"/>
              <a:t>(), </a:t>
            </a:r>
            <a:r>
              <a:rPr lang="en-US" altLang="ko-KR" sz="1400" dirty="0" err="1"/>
              <a:t>toUpperCase</a:t>
            </a:r>
            <a:r>
              <a:rPr lang="en-US" altLang="ko-KR" sz="1400" dirty="0"/>
              <a:t>())</a:t>
            </a:r>
          </a:p>
          <a:p>
            <a:pPr marL="0" indent="0">
              <a:buNone/>
            </a:pPr>
            <a:r>
              <a:rPr lang="ko-KR" altLang="en-US" sz="1400" dirty="0"/>
              <a:t>소문자 변경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toLowerCase</a:t>
            </a:r>
            <a:r>
              <a:rPr lang="en-US" altLang="ko-KR" sz="1400" dirty="0"/>
              <a:t>()</a:t>
            </a:r>
          </a:p>
          <a:p>
            <a:pPr marL="0" indent="0">
              <a:buNone/>
            </a:pPr>
            <a:r>
              <a:rPr lang="ko-KR" altLang="en-US" sz="1400" dirty="0"/>
              <a:t>대문자 변경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toUpperCase</a:t>
            </a:r>
            <a:r>
              <a:rPr lang="en-US" altLang="ko-KR" sz="1400" dirty="0"/>
              <a:t>()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StringToLowerUpperCaseExample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개의 문자열을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str1 = "Java Programming";</a:t>
            </a:r>
          </a:p>
          <a:p>
            <a:pPr marL="0" indent="0">
              <a:buNone/>
            </a:pPr>
            <a:r>
              <a:rPr lang="en-US" altLang="ko-KR" sz="1400" dirty="0"/>
              <a:t>        String str2 = "JAVA Programming";       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문자열이 동일한지 비교 </a:t>
            </a:r>
            <a:r>
              <a:rPr lang="en-US" altLang="ko-KR" sz="1400" dirty="0"/>
              <a:t>(</a:t>
            </a:r>
            <a:r>
              <a:rPr lang="ko-KR" altLang="en-US" sz="1400" dirty="0"/>
              <a:t>대소문자 구분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(str1.equals(str2));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문자열을 소문자로 변환한 후 비교 </a:t>
            </a:r>
            <a:r>
              <a:rPr lang="en-US" altLang="ko-KR" sz="1400" dirty="0"/>
              <a:t>(</a:t>
            </a:r>
            <a:r>
              <a:rPr lang="ko-KR" altLang="en-US" sz="1400" dirty="0"/>
              <a:t>대소문자 구분 없이 비교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String lowerStr1 = str1.toLowerCase();</a:t>
            </a:r>
          </a:p>
          <a:p>
            <a:pPr marL="0" indent="0">
              <a:buNone/>
            </a:pPr>
            <a:r>
              <a:rPr lang="en-US" altLang="ko-KR" sz="1400" dirty="0"/>
              <a:t>        String lowerStr2 = str2.toLowerCase();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(lowerStr1.equals(lowerStr2));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대소문자 구분 없이 두 문자열이 동일한지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(str1.equalsIgnoreCase(str2));                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61F8D0-3D48-B8B8-963A-9F8D7A45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296" y="2561726"/>
            <a:ext cx="1011819" cy="17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9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5943-0BDD-3B1D-D5B3-92D106F0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74CFCB-83C3-AE15-FB55-0A055B2C8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String </a:t>
            </a:r>
            <a:r>
              <a:rPr lang="ko-KR" altLang="en-US" sz="1400" b="1" dirty="0"/>
              <a:t>클래스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문자열 공백 잘라내기</a:t>
            </a:r>
            <a:r>
              <a:rPr lang="en-US" altLang="ko-KR" sz="1400" dirty="0"/>
              <a:t>(trim())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StringTrimExample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앞뒤 공백이 포함된 문자열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tel1 = "  02";</a:t>
            </a:r>
          </a:p>
          <a:p>
            <a:pPr marL="0" indent="0">
              <a:buNone/>
            </a:pPr>
            <a:r>
              <a:rPr lang="en-US" altLang="ko-KR" sz="1400" dirty="0"/>
              <a:t>        String tel2 = "123   ";</a:t>
            </a:r>
          </a:p>
          <a:p>
            <a:pPr marL="0" indent="0">
              <a:buNone/>
            </a:pPr>
            <a:r>
              <a:rPr lang="en-US" altLang="ko-KR" sz="1400" dirty="0"/>
              <a:t>        String tel3 = "   1234   ";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trim() </a:t>
            </a:r>
            <a:r>
              <a:rPr lang="ko-KR" altLang="en-US" sz="1400" dirty="0"/>
              <a:t>메서드를 사용하여 각 문자열의 앞뒤 공백을 제거하고 합침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</a:t>
            </a:r>
            <a:r>
              <a:rPr lang="en-US" altLang="ko-KR" sz="1400" dirty="0" err="1"/>
              <a:t>tel</a:t>
            </a:r>
            <a:r>
              <a:rPr lang="en-US" altLang="ko-KR" sz="1400" dirty="0"/>
              <a:t> = tel1.trim() + tel2.trim() + tel3.trim();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최종 전화번호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tel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03DAF2-5E87-8039-B1AE-14B9CF171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94" y="2883575"/>
            <a:ext cx="3329963" cy="54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37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3F02-6FDF-8BF6-85F9-DBED4DA0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C819FE-0187-1CEB-767E-25744D2B9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Wrapper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 기본 타입</a:t>
            </a:r>
            <a:r>
              <a:rPr lang="en-US" altLang="ko-KR" sz="1400" dirty="0"/>
              <a:t>(byte,</a:t>
            </a:r>
            <a:r>
              <a:rPr lang="ko-KR" altLang="en-US" sz="1400" dirty="0"/>
              <a:t> </a:t>
            </a:r>
            <a:r>
              <a:rPr lang="en-US" altLang="ko-KR" sz="1400" dirty="0"/>
              <a:t>char,</a:t>
            </a:r>
            <a:r>
              <a:rPr lang="ko-KR" altLang="en-US" sz="1400" dirty="0"/>
              <a:t> </a:t>
            </a:r>
            <a:r>
              <a:rPr lang="en-US" altLang="ko-KR" sz="1400" dirty="0"/>
              <a:t>short,</a:t>
            </a:r>
            <a:r>
              <a:rPr lang="ko-KR" altLang="en-US" sz="1400" dirty="0"/>
              <a:t> </a:t>
            </a:r>
            <a:r>
              <a:rPr lang="en-US" altLang="ko-KR" sz="1400" dirty="0"/>
              <a:t>int</a:t>
            </a:r>
            <a:r>
              <a:rPr lang="ko-KR" altLang="en-US" sz="1400" dirty="0"/>
              <a:t> </a:t>
            </a:r>
            <a:r>
              <a:rPr lang="en-US" altLang="ko-KR" sz="1400" dirty="0"/>
              <a:t>,long,</a:t>
            </a:r>
            <a:r>
              <a:rPr lang="ko-KR" altLang="en-US" sz="1400" dirty="0"/>
              <a:t> </a:t>
            </a:r>
            <a:r>
              <a:rPr lang="en-US" altLang="ko-KR" sz="1400" dirty="0"/>
              <a:t>float, double,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)</a:t>
            </a:r>
            <a:r>
              <a:rPr lang="ko-KR" altLang="en-US" sz="1400" dirty="0"/>
              <a:t>의 값의 값을 내부에 포장하는 객체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포장 객체는 기본 타입 값을 객체로 생성해서 관리할 때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기본 타입의 값을 포장 객체로 만드는 것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Boxing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포장 객체에서 기본 타입의 값을 얻어내는 방법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Unboxing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 err="1">
                <a:sym typeface="Wingdings" panose="05000000000000000000" pitchFamily="2" charset="2"/>
              </a:rPr>
              <a:t>박싱된</a:t>
            </a:r>
            <a:r>
              <a:rPr lang="ko-KR" altLang="en-US" sz="1400" dirty="0">
                <a:sym typeface="Wingdings" panose="05000000000000000000" pitchFamily="2" charset="2"/>
              </a:rPr>
              <a:t> 포장 객체에서 다시 기본 타입의 값을 얻어내기 위해서는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‘</a:t>
            </a:r>
            <a:r>
              <a:rPr lang="ko-KR" altLang="en-US" sz="1400" dirty="0">
                <a:sym typeface="Wingdings" panose="05000000000000000000" pitchFamily="2" charset="2"/>
              </a:rPr>
              <a:t>기본 타입 이름 </a:t>
            </a:r>
            <a:r>
              <a:rPr lang="en-US" altLang="ko-KR" sz="1400" dirty="0">
                <a:sym typeface="Wingdings" panose="05000000000000000000" pitchFamily="2" charset="2"/>
              </a:rPr>
              <a:t>+ </a:t>
            </a:r>
            <a:r>
              <a:rPr lang="en-US" altLang="ko-KR" sz="1400" dirty="0" err="1">
                <a:sym typeface="Wingdings" panose="05000000000000000000" pitchFamily="2" charset="2"/>
              </a:rPr>
              <a:t>valueOf</a:t>
            </a:r>
            <a:r>
              <a:rPr lang="en-US" altLang="ko-KR" sz="1400" dirty="0">
                <a:sym typeface="Wingdings" panose="05000000000000000000" pitchFamily="2" charset="2"/>
              </a:rPr>
              <a:t>();’ </a:t>
            </a:r>
            <a:r>
              <a:rPr lang="ko-KR" altLang="en-US" sz="1400" dirty="0">
                <a:sym typeface="Wingdings" panose="05000000000000000000" pitchFamily="2" charset="2"/>
              </a:rPr>
              <a:t>메소드를 이용한다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Integer obj1 = new Integer(100);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value1 = obj1.intValue(); //100</a:t>
            </a:r>
            <a:r>
              <a:rPr lang="ko-KR" altLang="en-US" sz="1400" dirty="0">
                <a:sym typeface="Wingdings" panose="05000000000000000000" pitchFamily="2" charset="2"/>
              </a:rPr>
              <a:t>리턴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9F6D9F4-D9DA-21E3-70C4-58CC28947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326427"/>
              </p:ext>
            </p:extLst>
          </p:nvPr>
        </p:nvGraphicFramePr>
        <p:xfrm>
          <a:off x="6178487" y="1012546"/>
          <a:ext cx="5536698" cy="3017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68349">
                  <a:extLst>
                    <a:ext uri="{9D8B030D-6E8A-4147-A177-3AD203B41FA5}">
                      <a16:colId xmlns:a16="http://schemas.microsoft.com/office/drawing/2014/main" val="3634329170"/>
                    </a:ext>
                  </a:extLst>
                </a:gridCol>
                <a:gridCol w="2768349">
                  <a:extLst>
                    <a:ext uri="{9D8B030D-6E8A-4147-A177-3AD203B41FA5}">
                      <a16:colId xmlns:a16="http://schemas.microsoft.com/office/drawing/2014/main" val="4291175090"/>
                    </a:ext>
                  </a:extLst>
                </a:gridCol>
              </a:tblGrid>
              <a:tr h="221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 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포장 클래스</a:t>
                      </a:r>
                      <a:endParaRPr lang="en-US" altLang="ko-K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737610"/>
                  </a:ext>
                </a:extLst>
              </a:tr>
              <a:tr h="22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byte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Byte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597816"/>
                  </a:ext>
                </a:extLst>
              </a:tr>
              <a:tr h="22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char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Char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442113"/>
                  </a:ext>
                </a:extLst>
              </a:tr>
              <a:tr h="22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short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Short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94205"/>
                  </a:ext>
                </a:extLst>
              </a:tr>
              <a:tr h="22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44929"/>
                  </a:ext>
                </a:extLst>
              </a:tr>
              <a:tr h="22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long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Long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668631"/>
                  </a:ext>
                </a:extLst>
              </a:tr>
              <a:tr h="22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float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Float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201527"/>
                  </a:ext>
                </a:extLst>
              </a:tr>
              <a:tr h="22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double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Double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799357"/>
                  </a:ext>
                </a:extLst>
              </a:tr>
              <a:tr h="22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booelean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Boolean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347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16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EC52-6BB4-10D0-21CC-1DFD4697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00138B-B8F0-91CF-953E-F438391F9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BoxingUnBoxingExample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Boxing: </a:t>
            </a:r>
            <a:r>
              <a:rPr lang="ko-KR" altLang="en-US" sz="1400" dirty="0"/>
              <a:t>기본 타입 값을 객체로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Integer obj1 = new Integer(100);          // </a:t>
            </a:r>
            <a:r>
              <a:rPr lang="ko-KR" altLang="en-US" sz="1400" dirty="0"/>
              <a:t>정수 </a:t>
            </a:r>
            <a:r>
              <a:rPr lang="en-US" altLang="ko-KR" sz="1400" dirty="0"/>
              <a:t>100</a:t>
            </a:r>
            <a:r>
              <a:rPr lang="ko-KR" altLang="en-US" sz="1400" dirty="0"/>
              <a:t>을 </a:t>
            </a:r>
            <a:r>
              <a:rPr lang="en-US" altLang="ko-KR" sz="1400" dirty="0"/>
              <a:t>Integer </a:t>
            </a:r>
            <a:r>
              <a:rPr lang="ko-KR" altLang="en-US" sz="1400" dirty="0"/>
              <a:t>객체로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Integer obj2 = new Integer("200");        // 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"200"</a:t>
            </a:r>
            <a:r>
              <a:rPr lang="ko-KR" altLang="en-US" sz="1400" dirty="0"/>
              <a:t>을 </a:t>
            </a:r>
            <a:r>
              <a:rPr lang="en-US" altLang="ko-KR" sz="1400" dirty="0"/>
              <a:t>Integer </a:t>
            </a:r>
            <a:r>
              <a:rPr lang="ko-KR" altLang="en-US" sz="1400" dirty="0"/>
              <a:t>객체로 변환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Unboxing: </a:t>
            </a:r>
            <a:r>
              <a:rPr lang="ko-KR" altLang="en-US" sz="1400" dirty="0"/>
              <a:t>객체에서 기본 타입 값으로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value1 = obj1.intValue();  // Integer </a:t>
            </a:r>
            <a:r>
              <a:rPr lang="ko-KR" altLang="en-US" sz="1400" dirty="0"/>
              <a:t>객체에서 </a:t>
            </a:r>
            <a:r>
              <a:rPr lang="en-US" altLang="ko-KR" sz="1400" dirty="0"/>
              <a:t>int </a:t>
            </a:r>
            <a:r>
              <a:rPr lang="ko-KR" altLang="en-US" sz="1400" dirty="0"/>
              <a:t>값 추출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value2 = obj2.intValue();  // Integer </a:t>
            </a:r>
            <a:r>
              <a:rPr lang="ko-KR" altLang="en-US" sz="1400" dirty="0"/>
              <a:t>객체에서 </a:t>
            </a:r>
            <a:r>
              <a:rPr lang="en-US" altLang="ko-KR" sz="1400" dirty="0"/>
              <a:t>int </a:t>
            </a:r>
            <a:r>
              <a:rPr lang="ko-KR" altLang="en-US" sz="1400" dirty="0"/>
              <a:t>값 추출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변환된 값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(value1);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(value2);</a:t>
            </a:r>
          </a:p>
          <a:p>
            <a:pPr marL="0" indent="0">
              <a:buNone/>
            </a:pPr>
            <a:r>
              <a:rPr lang="en-US" altLang="ko-KR" sz="1400" dirty="0"/>
              <a:t> 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5EF55F-3397-1907-8365-C57B6731B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22" y="2824916"/>
            <a:ext cx="744507" cy="85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41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AAA5-B20D-1399-2ACA-77CE4035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9BD131-D8B6-407B-B9EB-B5594C714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Wrapper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자동 </a:t>
            </a:r>
            <a:r>
              <a:rPr lang="ko-KR" altLang="en-US" sz="1400" dirty="0" err="1"/>
              <a:t>박싱과</a:t>
            </a:r>
            <a:r>
              <a:rPr lang="ko-KR" altLang="en-US" sz="1400" dirty="0"/>
              <a:t> 언박싱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자동 </a:t>
            </a:r>
            <a:r>
              <a:rPr lang="ko-KR" altLang="en-US" sz="1400" b="1" dirty="0" err="1"/>
              <a:t>박싱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생성자를 호출하지 않고 포장 객체에 </a:t>
            </a:r>
            <a:r>
              <a:rPr lang="ko-KR" altLang="en-US" sz="1400" dirty="0" err="1"/>
              <a:t>리터럴</a:t>
            </a:r>
            <a:r>
              <a:rPr lang="ko-KR" altLang="en-US" sz="1400" dirty="0"/>
              <a:t> 값으로 초기화하면 자동 </a:t>
            </a:r>
            <a:r>
              <a:rPr lang="ko-KR" altLang="en-US" sz="1400" dirty="0" err="1"/>
              <a:t>박싱된다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Integer obj = 100; // = Integer obj = new Integer(100);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자동 언박싱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자동 언박싱은 포장 객체가 기본 타입에 대입되거나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/>
              <a:t>포장 객체가 연산식에 포함되면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Integer obj = 100;</a:t>
            </a:r>
          </a:p>
          <a:p>
            <a:pPr marL="0" indent="0">
              <a:buNone/>
            </a:pPr>
            <a:r>
              <a:rPr lang="en-US" altLang="ko-KR" sz="1400" dirty="0"/>
              <a:t>int value = obj; //</a:t>
            </a:r>
            <a:r>
              <a:rPr lang="ko-KR" altLang="en-US" sz="1400" dirty="0"/>
              <a:t>자동 언박싱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value2 = obj + 100; //</a:t>
            </a:r>
            <a:r>
              <a:rPr lang="ko-KR" altLang="en-US" sz="1400" dirty="0"/>
              <a:t>자동 언박싱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641406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7099-0EFA-C5E1-EA74-C0B50022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0C157-8622-D545-229A-F1A5B099E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AutoBoxingUnBoxingExample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자동 </a:t>
            </a:r>
            <a:r>
              <a:rPr lang="en-US" altLang="ko-KR" sz="1400" dirty="0"/>
              <a:t>Boxing: int </a:t>
            </a:r>
            <a:r>
              <a:rPr lang="ko-KR" altLang="en-US" sz="1400" dirty="0"/>
              <a:t>값 </a:t>
            </a:r>
            <a:r>
              <a:rPr lang="en-US" altLang="ko-KR" sz="1400" dirty="0"/>
              <a:t>100</a:t>
            </a:r>
            <a:r>
              <a:rPr lang="ko-KR" altLang="en-US" sz="1400" dirty="0"/>
              <a:t>이 자동으로 </a:t>
            </a:r>
            <a:r>
              <a:rPr lang="en-US" altLang="ko-KR" sz="1400" dirty="0"/>
              <a:t>Integer </a:t>
            </a:r>
            <a:r>
              <a:rPr lang="ko-KR" altLang="en-US" sz="1400" dirty="0"/>
              <a:t>객체로 변환됨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Integer obj = 100;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Integer </a:t>
            </a:r>
            <a:r>
              <a:rPr lang="ko-KR" altLang="en-US" sz="1400" dirty="0"/>
              <a:t>객체에서 기본 타입</a:t>
            </a:r>
            <a:r>
              <a:rPr lang="en-US" altLang="ko-KR" sz="1400" dirty="0"/>
              <a:t>(int) </a:t>
            </a:r>
            <a:r>
              <a:rPr lang="ko-KR" altLang="en-US" sz="1400" dirty="0"/>
              <a:t>값 추출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("value: " + </a:t>
            </a:r>
            <a:r>
              <a:rPr lang="en-US" altLang="ko-KR" sz="1400" dirty="0" err="1"/>
              <a:t>obj.intValue</a:t>
            </a:r>
            <a:r>
              <a:rPr lang="en-US" altLang="ko-KR" sz="1400" dirty="0"/>
              <a:t>());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대입 시 자동 </a:t>
            </a:r>
            <a:r>
              <a:rPr lang="en-US" altLang="ko-KR" sz="1400" dirty="0"/>
              <a:t>Unboxing: Integer </a:t>
            </a:r>
            <a:r>
              <a:rPr lang="ko-KR" altLang="en-US" sz="1400" dirty="0"/>
              <a:t>객체가 자동으로 </a:t>
            </a:r>
            <a:r>
              <a:rPr lang="en-US" altLang="ko-KR" sz="1400" dirty="0"/>
              <a:t>int </a:t>
            </a:r>
            <a:r>
              <a:rPr lang="ko-KR" altLang="en-US" sz="1400" dirty="0"/>
              <a:t>값으로 변환되어 대입됨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value = obj;  	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("value: " + value);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연산 시 자동 </a:t>
            </a:r>
            <a:r>
              <a:rPr lang="en-US" altLang="ko-KR" sz="1400" dirty="0"/>
              <a:t>Unboxing: Integer </a:t>
            </a:r>
            <a:r>
              <a:rPr lang="ko-KR" altLang="en-US" sz="1400" dirty="0"/>
              <a:t>객체가 자동으로 </a:t>
            </a:r>
            <a:r>
              <a:rPr lang="en-US" altLang="ko-KR" sz="1400" dirty="0"/>
              <a:t>int </a:t>
            </a:r>
            <a:r>
              <a:rPr lang="ko-KR" altLang="en-US" sz="1400" dirty="0"/>
              <a:t>값으로 변환되어 연산에 사용됨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 = obj + 100;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("result: " + result);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B9F342-7E73-E655-E469-1E5DAE08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142" y="2740937"/>
            <a:ext cx="1555195" cy="117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0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A2FFE-A46D-F27E-ED5D-3A10DFDE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1763BC-B169-0C89-D51C-5A9871FB1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Math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Math </a:t>
            </a:r>
            <a:r>
              <a:rPr lang="ko-KR" altLang="en-US" sz="1400" dirty="0"/>
              <a:t>클래스는 수학 계산과 관련된 메소드를 제공한다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모두 정적 메소드를 제공하므로 바로 사용이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ED7978-9BCF-F26B-A3CE-5C832D7C1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262963"/>
              </p:ext>
            </p:extLst>
          </p:nvPr>
        </p:nvGraphicFramePr>
        <p:xfrm>
          <a:off x="0" y="1308141"/>
          <a:ext cx="12192000" cy="528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87551437"/>
                    </a:ext>
                  </a:extLst>
                </a:gridCol>
                <a:gridCol w="2229853">
                  <a:extLst>
                    <a:ext uri="{9D8B030D-6E8A-4147-A177-3AD203B41FA5}">
                      <a16:colId xmlns:a16="http://schemas.microsoft.com/office/drawing/2014/main" val="435062954"/>
                    </a:ext>
                  </a:extLst>
                </a:gridCol>
                <a:gridCol w="3866147">
                  <a:extLst>
                    <a:ext uri="{9D8B030D-6E8A-4147-A177-3AD203B41FA5}">
                      <a16:colId xmlns:a16="http://schemas.microsoft.com/office/drawing/2014/main" val="28510436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68339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메소드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예제 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리턴값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580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int abs(int a)</a:t>
                      </a:r>
                    </a:p>
                    <a:p>
                      <a:pPr latinLnBrk="1"/>
                      <a:r>
                        <a:rPr lang="en-US" altLang="ko-KR" sz="1600" dirty="0"/>
                        <a:t>double abs(double a)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절대값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 v1 = </a:t>
                      </a:r>
                      <a:r>
                        <a:rPr lang="en-US" sz="1600" dirty="0" err="1"/>
                        <a:t>Math.abs</a:t>
                      </a:r>
                      <a:r>
                        <a:rPr lang="en-US" sz="1600" dirty="0"/>
                        <a:t>(-5);</a:t>
                      </a:r>
                    </a:p>
                    <a:p>
                      <a:r>
                        <a:rPr lang="fr-FR" altLang="ko-KR" sz="1600" dirty="0"/>
                        <a:t>double v2 = Math.abs(-3.14);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v1 = 5</a:t>
                      </a:r>
                    </a:p>
                    <a:p>
                      <a:pPr latinLnBrk="1"/>
                      <a:r>
                        <a:rPr lang="en-US" altLang="ko-KR" sz="1600" dirty="0"/>
                        <a:t>v2 = 3.14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double ceil(double a)	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올림값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600" dirty="0"/>
                        <a:t>double v3 = Math.ceil(5.3);</a:t>
                      </a:r>
                    </a:p>
                    <a:p>
                      <a:pPr latinLnBrk="1"/>
                      <a:r>
                        <a:rPr lang="fr-FR" altLang="ko-KR" sz="1600" dirty="0"/>
                        <a:t>double v4 = Math.ceil(-5.3);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v3 = 6.0</a:t>
                      </a:r>
                    </a:p>
                    <a:p>
                      <a:pPr latinLnBrk="1"/>
                      <a:r>
                        <a:rPr lang="en-US" altLang="ko-KR" sz="1600" dirty="0"/>
                        <a:t>v4 = -5.0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801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double floor(double a)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버림값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double v5 = </a:t>
                      </a:r>
                      <a:r>
                        <a:rPr lang="en-US" altLang="ko-KR" sz="1600" dirty="0" err="1"/>
                        <a:t>Math.floor</a:t>
                      </a:r>
                      <a:r>
                        <a:rPr lang="en-US" altLang="ko-KR" sz="1600" dirty="0"/>
                        <a:t>(5.3);</a:t>
                      </a:r>
                    </a:p>
                    <a:p>
                      <a:pPr latinLnBrk="1"/>
                      <a:r>
                        <a:rPr lang="en-US" altLang="ko-KR" sz="1600" dirty="0"/>
                        <a:t>double v6 = </a:t>
                      </a:r>
                      <a:r>
                        <a:rPr lang="en-US" altLang="ko-KR" sz="1600" dirty="0" err="1"/>
                        <a:t>Math.floor</a:t>
                      </a:r>
                      <a:r>
                        <a:rPr lang="en-US" altLang="ko-KR" sz="1600" dirty="0"/>
                        <a:t>(-5.3);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v5 = 5.0</a:t>
                      </a:r>
                    </a:p>
                    <a:p>
                      <a:pPr latinLnBrk="1"/>
                      <a:r>
                        <a:rPr lang="en-US" altLang="ko-KR" sz="1600" dirty="0"/>
                        <a:t>v6 = -6.0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52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600" dirty="0"/>
                        <a:t>int max(int a, int b</a:t>
                      </a:r>
                    </a:p>
                    <a:p>
                      <a:pPr latinLnBrk="1"/>
                      <a:r>
                        <a:rPr lang="fr-FR" altLang="ko-KR" sz="1600" dirty="0"/>
                        <a:t>double max(double a, double b)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최대값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altLang="ko-KR" sz="1600"/>
                        <a:t>int v7 = Math.max(5, 9);</a:t>
                      </a:r>
                    </a:p>
                    <a:p>
                      <a:r>
                        <a:rPr lang="fr-FR" altLang="ko-KR" sz="1600"/>
                        <a:t>double v8 = Math.max(5.3, 2.5);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v7 = 9</a:t>
                      </a:r>
                    </a:p>
                    <a:p>
                      <a:pPr latinLnBrk="1"/>
                      <a:r>
                        <a:rPr lang="en-US" altLang="ko-KR" sz="1600" dirty="0"/>
                        <a:t>v8 = 5.3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56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sv-SE" altLang="ko-KR" sz="1600" dirty="0"/>
                        <a:t>int min(int a, int b)</a:t>
                      </a:r>
                    </a:p>
                    <a:p>
                      <a:pPr latinLnBrk="1"/>
                      <a:r>
                        <a:rPr lang="fr-FR" altLang="ko-KR" sz="1600" dirty="0"/>
                        <a:t>double min(double a, double b)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최소값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int v9 = </a:t>
                      </a:r>
                      <a:r>
                        <a:rPr lang="en-US" altLang="ko-KR" sz="1600" dirty="0" err="1"/>
                        <a:t>Math.min</a:t>
                      </a:r>
                      <a:r>
                        <a:rPr lang="en-US" altLang="ko-KR" sz="1600" dirty="0"/>
                        <a:t>(5, 9);</a:t>
                      </a:r>
                    </a:p>
                    <a:p>
                      <a:pPr latinLnBrk="1"/>
                      <a:r>
                        <a:rPr lang="fr-FR" altLang="ko-KR" sz="1600" dirty="0"/>
                        <a:t>double v10 = Math.min(5.3, 2.5);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v9 = 5</a:t>
                      </a:r>
                    </a:p>
                    <a:p>
                      <a:pPr latinLnBrk="1"/>
                      <a:r>
                        <a:rPr lang="en-US" altLang="ko-KR" sz="1600" dirty="0"/>
                        <a:t>v10 = 2.5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68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double random()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랜덤값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double v11 = </a:t>
                      </a:r>
                      <a:r>
                        <a:rPr lang="en-US" sz="1600" dirty="0" err="1"/>
                        <a:t>Math.random</a:t>
                      </a:r>
                      <a:r>
                        <a:rPr lang="en-US" sz="1600" dirty="0"/>
                        <a:t>();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 &lt;= v11 &lt; 1.0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50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double </a:t>
                      </a:r>
                      <a:r>
                        <a:rPr lang="en-US" altLang="ko-KR" sz="1600" dirty="0" err="1"/>
                        <a:t>rint</a:t>
                      </a:r>
                      <a:r>
                        <a:rPr lang="en-US" altLang="ko-KR" sz="1600" dirty="0"/>
                        <a:t>(double a)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가까운 정수의 </a:t>
                      </a:r>
                      <a:r>
                        <a:rPr lang="ko-KR" altLang="en-US" sz="1600" dirty="0" err="1"/>
                        <a:t>실수값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600" dirty="0"/>
                        <a:t>double v12 = Math.rint(5.3);</a:t>
                      </a:r>
                    </a:p>
                    <a:p>
                      <a:pPr latinLnBrk="1"/>
                      <a:r>
                        <a:rPr lang="fr-FR" altLang="ko-KR" sz="1600" dirty="0"/>
                        <a:t>double v13 = Math.rint(5.7);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v12 = 5.0</a:t>
                      </a:r>
                    </a:p>
                    <a:p>
                      <a:pPr latinLnBrk="1"/>
                      <a:r>
                        <a:rPr lang="en-US" altLang="ko-KR" sz="1600" dirty="0"/>
                        <a:t>v13 = 6.0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37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long round(double a)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반올림값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long v14 = </a:t>
                      </a:r>
                      <a:r>
                        <a:rPr lang="en-US" altLang="ko-KR" sz="1600" dirty="0" err="1"/>
                        <a:t>Math.round</a:t>
                      </a:r>
                      <a:r>
                        <a:rPr lang="en-US" altLang="ko-KR" sz="1600" dirty="0"/>
                        <a:t>(5.3);	v14 = 5</a:t>
                      </a:r>
                    </a:p>
                    <a:p>
                      <a:r>
                        <a:rPr lang="en-US" altLang="ko-KR" sz="1600" dirty="0"/>
                        <a:t>long v15 = </a:t>
                      </a:r>
                      <a:r>
                        <a:rPr lang="en-US" altLang="ko-KR" sz="1600" dirty="0" err="1"/>
                        <a:t>Math.round</a:t>
                      </a:r>
                      <a:r>
                        <a:rPr lang="en-US" altLang="ko-KR" sz="1600" dirty="0"/>
                        <a:t>(5.7);	v15 = 6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v14 = 5</a:t>
                      </a:r>
                    </a:p>
                    <a:p>
                      <a:pPr latinLnBrk="1"/>
                      <a:r>
                        <a:rPr lang="en-US" altLang="ko-KR" sz="1600" dirty="0"/>
                        <a:t>v15 = 6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817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489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2AF2-3043-F90C-C3E9-BA438774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0A5361-93DA-643A-7C22-5FC51D095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1~6</a:t>
            </a:r>
            <a:r>
              <a:rPr lang="ko-KR" altLang="en-US" sz="1400" b="1" dirty="0"/>
              <a:t>사이 랜덤 수 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Math</a:t>
            </a:r>
            <a:r>
              <a:rPr lang="ko-KR" altLang="en-US" sz="1400" dirty="0"/>
              <a:t>클래스는 </a:t>
            </a:r>
            <a:r>
              <a:rPr lang="en-US" altLang="ko-KR" sz="1400" dirty="0" err="1"/>
              <a:t>ramdom</a:t>
            </a:r>
            <a:r>
              <a:rPr lang="en-US" altLang="ko-KR" sz="1400" dirty="0"/>
              <a:t>()</a:t>
            </a:r>
            <a:r>
              <a:rPr lang="ko-KR" altLang="en-US" sz="1400" dirty="0"/>
              <a:t>이라는 메소드는 </a:t>
            </a:r>
            <a:r>
              <a:rPr lang="en-US" altLang="ko-KR" sz="1400" dirty="0"/>
              <a:t>0.0</a:t>
            </a:r>
            <a:r>
              <a:rPr lang="ko-KR" altLang="en-US" sz="1400" dirty="0"/>
              <a:t>과 </a:t>
            </a:r>
            <a:r>
              <a:rPr lang="en-US" altLang="ko-KR" sz="1400" dirty="0"/>
              <a:t>1.0</a:t>
            </a:r>
            <a:r>
              <a:rPr lang="ko-KR" altLang="en-US" sz="1400" dirty="0"/>
              <a:t>사이에 속하는</a:t>
            </a:r>
            <a:r>
              <a:rPr lang="en-US" altLang="ko-KR" sz="1400" dirty="0"/>
              <a:t>double</a:t>
            </a:r>
            <a:r>
              <a:rPr lang="ko-KR" altLang="en-US" sz="1400" dirty="0"/>
              <a:t>타입의 난수 하나를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이때 </a:t>
            </a:r>
            <a:r>
              <a:rPr lang="en-US" altLang="ko-KR" sz="1400" dirty="0"/>
              <a:t>0.0</a:t>
            </a:r>
            <a:r>
              <a:rPr lang="ko-KR" altLang="en-US" sz="1400" dirty="0"/>
              <a:t>은 범위에 포함되고 </a:t>
            </a:r>
            <a:r>
              <a:rPr lang="en-US" altLang="ko-KR" sz="1400" dirty="0"/>
              <a:t>1.0</a:t>
            </a:r>
            <a:r>
              <a:rPr lang="ko-KR" altLang="en-US" sz="1400" dirty="0"/>
              <a:t>은 포함되지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0.0 &lt;= 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 &lt;1.0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이때  </a:t>
            </a:r>
            <a:r>
              <a:rPr lang="en-US" altLang="ko-KR" sz="1400" dirty="0"/>
              <a:t>0.0</a:t>
            </a:r>
            <a:r>
              <a:rPr lang="ko-KR" altLang="en-US" sz="1400" dirty="0"/>
              <a:t>부터 </a:t>
            </a:r>
            <a:r>
              <a:rPr lang="en-US" altLang="ko-KR" sz="1400" dirty="0"/>
              <a:t>1.0</a:t>
            </a:r>
            <a:r>
              <a:rPr lang="ko-KR" altLang="en-US" sz="1400" dirty="0"/>
              <a:t>사이의 정수를 얻기 위해 각 변에 </a:t>
            </a:r>
            <a:r>
              <a:rPr lang="en-US" altLang="ko-KR" sz="1400" dirty="0"/>
              <a:t>6</a:t>
            </a:r>
            <a:r>
              <a:rPr lang="ko-KR" altLang="en-US" sz="1400" dirty="0"/>
              <a:t>을 </a:t>
            </a:r>
            <a:r>
              <a:rPr lang="ko-KR" altLang="en-US" sz="1400" dirty="0" err="1"/>
              <a:t>곱한후</a:t>
            </a:r>
            <a:r>
              <a:rPr lang="ko-KR" altLang="en-US" sz="1400" dirty="0"/>
              <a:t> </a:t>
            </a:r>
            <a:r>
              <a:rPr lang="en-US" altLang="ko-KR" sz="1400" dirty="0"/>
              <a:t>1</a:t>
            </a:r>
            <a:r>
              <a:rPr lang="ko-KR" altLang="en-US" sz="1400" dirty="0"/>
              <a:t>을 더한다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0.0 * 6 + 1 &lt;= 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()*6 + 1 &lt; 1.0*6 + 1 </a:t>
            </a:r>
            <a:r>
              <a:rPr lang="en-US" altLang="ko-KR" sz="1400" dirty="0">
                <a:sym typeface="Wingdings" panose="05000000000000000000" pitchFamily="2" charset="2"/>
              </a:rPr>
              <a:t> 1.0 &lt;= 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()*6 + 1 &lt; 7.0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1~6</a:t>
            </a:r>
            <a:r>
              <a:rPr lang="ko-KR" altLang="en-US" sz="1400" dirty="0">
                <a:sym typeface="Wingdings" panose="05000000000000000000" pitchFamily="2" charset="2"/>
              </a:rPr>
              <a:t>사이의 값은 정수이므로 </a:t>
            </a:r>
            <a:r>
              <a:rPr lang="en-US" altLang="ko-KR" sz="1400" dirty="0">
                <a:sym typeface="Wingdings" panose="05000000000000000000" pitchFamily="2" charset="2"/>
              </a:rPr>
              <a:t>int</a:t>
            </a:r>
            <a:r>
              <a:rPr lang="ko-KR" altLang="en-US" sz="1400" dirty="0">
                <a:sym typeface="Wingdings" panose="05000000000000000000" pitchFamily="2" charset="2"/>
              </a:rPr>
              <a:t>타입으로 강제 타입변환을 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따라서 연산식은 다음과 같다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num = (int) (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 * 6) + 1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altLang="ko-KR" sz="1400" dirty="0">
                <a:sym typeface="Wingdings" panose="05000000000000000000" pitchFamily="2" charset="2"/>
              </a:rPr>
              <a:t>1 &lt;= (int) (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 * 6) + 1 &lt; 7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public class </a:t>
            </a:r>
            <a:r>
              <a:rPr lang="en-US" altLang="ko-KR" sz="1400" dirty="0" err="1">
                <a:sym typeface="Wingdings" panose="05000000000000000000" pitchFamily="2" charset="2"/>
              </a:rPr>
              <a:t>MathRandomExample</a:t>
            </a:r>
            <a:r>
              <a:rPr lang="en-US" altLang="ko-KR" sz="1400" dirty="0">
                <a:sym typeface="Wingdings" panose="05000000000000000000" pitchFamily="2" charset="2"/>
              </a:rPr>
              <a:t> 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public static void main(String[] </a:t>
            </a:r>
            <a:r>
              <a:rPr lang="en-US" altLang="ko-KR" sz="1400" dirty="0" err="1">
                <a:sym typeface="Wingdings" panose="05000000000000000000" pitchFamily="2" charset="2"/>
              </a:rPr>
              <a:t>args</a:t>
            </a:r>
            <a:r>
              <a:rPr lang="en-US" altLang="ko-KR" sz="1400" dirty="0">
                <a:sym typeface="Wingdings" panose="05000000000000000000" pitchFamily="2" charset="2"/>
              </a:rPr>
              <a:t>) 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	int num = (int) (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()*6) + 1;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	</a:t>
            </a:r>
            <a:r>
              <a:rPr lang="en-US" altLang="ko-KR" sz="1400" dirty="0" err="1">
                <a:sym typeface="Wingdings" panose="05000000000000000000" pitchFamily="2" charset="2"/>
              </a:rPr>
              <a:t>System.out.println</a:t>
            </a:r>
            <a:r>
              <a:rPr lang="en-US" altLang="ko-KR" sz="1400" dirty="0">
                <a:sym typeface="Wingdings" panose="05000000000000000000" pitchFamily="2" charset="2"/>
              </a:rPr>
              <a:t>("</a:t>
            </a:r>
            <a:r>
              <a:rPr lang="ko-KR" altLang="en-US" sz="1400" dirty="0">
                <a:sym typeface="Wingdings" panose="05000000000000000000" pitchFamily="2" charset="2"/>
              </a:rPr>
              <a:t>주사위 눈</a:t>
            </a:r>
            <a:r>
              <a:rPr lang="en-US" altLang="ko-KR" sz="1400" dirty="0">
                <a:sym typeface="Wingdings" panose="05000000000000000000" pitchFamily="2" charset="2"/>
              </a:rPr>
              <a:t>: " + num);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}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E4A232-5AE3-7FD2-48D6-0E84B8E8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2915CB-832E-F9AE-ED02-A5B864B84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596" y="4895283"/>
            <a:ext cx="1968722" cy="73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43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9FB86-2DE4-E5EC-A529-FB32A08E4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83A7EB-25AA-E8BD-0ECC-83F942573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/>
              <a:t>java.util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패키지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 err="1"/>
              <a:t>java.util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패키지는 프로그램 개발에서 자주 사용되는 자료구조와 날짜 정보를 제공해주는 유용한 </a:t>
            </a:r>
            <a:r>
              <a:rPr lang="en-US" altLang="ko-KR" sz="1400" dirty="0"/>
              <a:t>API</a:t>
            </a:r>
            <a:r>
              <a:rPr lang="ko-KR" altLang="en-US" sz="1400" dirty="0"/>
              <a:t>를 포함한다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자료구조는 다음 장에서 자세히 다루고 이번 장에는 날짜 정보를 제공해주는 </a:t>
            </a:r>
            <a:r>
              <a:rPr lang="en-US" altLang="ko-KR" sz="1400" dirty="0"/>
              <a:t>API</a:t>
            </a:r>
            <a:r>
              <a:rPr lang="ko-KR" altLang="en-US" sz="1400" dirty="0"/>
              <a:t>를 알아본다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Date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날짜 표현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Date now = new Date();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Date </a:t>
            </a:r>
            <a:r>
              <a:rPr lang="ko-KR" altLang="en-US" sz="1400" dirty="0"/>
              <a:t>객체의 </a:t>
            </a:r>
            <a:r>
              <a:rPr lang="en-US" altLang="ko-KR" sz="1400" dirty="0" err="1"/>
              <a:t>toString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메소드는 </a:t>
            </a:r>
            <a:r>
              <a:rPr lang="ko-KR" altLang="en-US" sz="1400" dirty="0" err="1"/>
              <a:t>영문으로된</a:t>
            </a:r>
            <a:r>
              <a:rPr lang="ko-KR" altLang="en-US" sz="1400" dirty="0"/>
              <a:t> 날짜를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원하는 형식의 문자열을 </a:t>
            </a:r>
            <a:r>
              <a:rPr lang="ko-KR" altLang="en-US" sz="1400" dirty="0" err="1"/>
              <a:t>반환받고</a:t>
            </a:r>
            <a:r>
              <a:rPr lang="ko-KR" altLang="en-US" sz="1400" dirty="0"/>
              <a:t> 싶다면 </a:t>
            </a:r>
            <a:r>
              <a:rPr lang="en-US" altLang="ko-KR" sz="1400" dirty="0" err="1"/>
              <a:t>java.text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 err="1"/>
              <a:t>SimpleDateFormat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클래스를 이용할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 err="1"/>
              <a:t>SimpleDateFormat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sdf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SimpleDateFormat</a:t>
            </a:r>
            <a:r>
              <a:rPr lang="en-US" altLang="ko-KR" sz="1400" dirty="0"/>
              <a:t>(“</a:t>
            </a:r>
            <a:r>
              <a:rPr lang="en-US" altLang="ko-KR" sz="1400" dirty="0" err="1"/>
              <a:t>yyyy</a:t>
            </a:r>
            <a:r>
              <a:rPr lang="ko-KR" altLang="en-US" sz="1400" dirty="0"/>
              <a:t>년 </a:t>
            </a:r>
            <a:r>
              <a:rPr lang="en-US" altLang="ko-KR" sz="1400" dirty="0"/>
              <a:t>MM</a:t>
            </a:r>
            <a:r>
              <a:rPr lang="ko-KR" altLang="en-US" sz="1400" dirty="0"/>
              <a:t>월 </a:t>
            </a:r>
            <a:r>
              <a:rPr lang="en-US" altLang="ko-KR" sz="1400" dirty="0"/>
              <a:t>dd</a:t>
            </a:r>
            <a:r>
              <a:rPr lang="ko-KR" altLang="en-US" sz="1400" dirty="0"/>
              <a:t>일 </a:t>
            </a:r>
            <a:r>
              <a:rPr lang="en-US" altLang="ko-KR" sz="1400" dirty="0" err="1"/>
              <a:t>hh</a:t>
            </a:r>
            <a:r>
              <a:rPr lang="ko-KR" altLang="en-US" sz="1400" dirty="0"/>
              <a:t>시 </a:t>
            </a:r>
            <a:r>
              <a:rPr lang="en-US" altLang="ko-KR" sz="1400" dirty="0"/>
              <a:t>mm</a:t>
            </a:r>
            <a:r>
              <a:rPr lang="ko-KR" altLang="en-US" sz="1400" dirty="0"/>
              <a:t>분 </a:t>
            </a:r>
            <a:r>
              <a:rPr lang="en-US" altLang="ko-KR" sz="1400" dirty="0"/>
              <a:t>ss</a:t>
            </a:r>
            <a:r>
              <a:rPr lang="ko-KR" altLang="en-US" sz="1400" dirty="0"/>
              <a:t>초</a:t>
            </a:r>
            <a:r>
              <a:rPr lang="en-US" altLang="ko-KR" sz="1400" dirty="0"/>
              <a:t>”);</a:t>
            </a:r>
          </a:p>
          <a:p>
            <a:pPr marL="0" indent="0">
              <a:buNone/>
            </a:pPr>
            <a:r>
              <a:rPr lang="en-US" altLang="ko-KR" sz="1400" dirty="0" err="1"/>
              <a:t>SimpleDateFormat</a:t>
            </a:r>
            <a:r>
              <a:rPr lang="en-US" altLang="ko-KR" sz="1400" dirty="0"/>
              <a:t> </a:t>
            </a:r>
            <a:r>
              <a:rPr lang="ko-KR" altLang="en-US" sz="1400" dirty="0"/>
              <a:t>생성자의 </a:t>
            </a:r>
            <a:r>
              <a:rPr lang="ko-KR" altLang="en-US" sz="1400" dirty="0" err="1"/>
              <a:t>매개값은</a:t>
            </a:r>
            <a:r>
              <a:rPr lang="ko-KR" altLang="en-US" sz="1400" dirty="0"/>
              <a:t> 형식 문자열이다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 err="1"/>
              <a:t>yyyy</a:t>
            </a:r>
            <a:r>
              <a:rPr lang="en-US" altLang="ko-KR" sz="1400" dirty="0"/>
              <a:t>: 4</a:t>
            </a:r>
            <a:r>
              <a:rPr lang="ko-KR" altLang="en-US" sz="1400" dirty="0"/>
              <a:t>자리 연도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MM: 2</a:t>
            </a:r>
            <a:r>
              <a:rPr lang="ko-KR" altLang="en-US" sz="1400" dirty="0"/>
              <a:t>자리 월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dd: 2</a:t>
            </a:r>
            <a:r>
              <a:rPr lang="ko-KR" altLang="en-US" sz="1400" dirty="0"/>
              <a:t>자리 일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SimpleDateFormat</a:t>
            </a:r>
            <a:r>
              <a:rPr lang="ko-KR" altLang="en-US" sz="1400" dirty="0"/>
              <a:t>객체를 얻었다면 </a:t>
            </a:r>
            <a:r>
              <a:rPr lang="en-US" altLang="ko-KR" sz="1400" dirty="0"/>
              <a:t>format()</a:t>
            </a:r>
            <a:r>
              <a:rPr lang="ko-KR" altLang="en-US" sz="1400" dirty="0"/>
              <a:t>메소드를 호출해서 원하는 형식의 날짜 정보를 얻을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String </a:t>
            </a:r>
            <a:r>
              <a:rPr lang="en-US" altLang="ko-KR" sz="1400" dirty="0" err="1"/>
              <a:t>strNow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sdf.format</a:t>
            </a:r>
            <a:r>
              <a:rPr lang="en-US" altLang="ko-KR" sz="1400" dirty="0"/>
              <a:t>(now);</a:t>
            </a:r>
          </a:p>
        </p:txBody>
      </p:sp>
    </p:spTree>
    <p:extLst>
      <p:ext uri="{BB962C8B-B14F-4D97-AF65-F5344CB8AC3E}">
        <p14:creationId xmlns:p14="http://schemas.microsoft.com/office/powerpoint/2010/main" val="951893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6BBF5-0FA9-D943-221A-C6D16028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D49673-9FBD-2F6F-0C6E-7CA97B9EB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java.text</a:t>
            </a:r>
            <a:r>
              <a:rPr lang="en-US" altLang="ko-KR" sz="1400" dirty="0"/>
              <a:t>.*;  // </a:t>
            </a:r>
            <a:r>
              <a:rPr lang="en-US" altLang="ko-KR" sz="1400" dirty="0" err="1"/>
              <a:t>SimpleDateFormat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 사용을 위한 </a:t>
            </a:r>
            <a:r>
              <a:rPr lang="en-US" altLang="ko-KR" sz="1400" dirty="0"/>
              <a:t>import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.*;  // Date </a:t>
            </a:r>
            <a:r>
              <a:rPr lang="ko-KR" altLang="en-US" sz="1400" dirty="0"/>
              <a:t>클래스 사용을 위한 </a:t>
            </a:r>
            <a:r>
              <a:rPr lang="en-US" altLang="ko-KR" sz="1400" dirty="0"/>
              <a:t>import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DateExample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현재 날짜 및 시간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Date now = new Date();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Date </a:t>
            </a:r>
            <a:r>
              <a:rPr lang="ko-KR" altLang="en-US" sz="1400" dirty="0"/>
              <a:t>객체를 문자열로 변환 </a:t>
            </a:r>
            <a:r>
              <a:rPr lang="en-US" altLang="ko-KR" sz="1400" dirty="0"/>
              <a:t>(</a:t>
            </a:r>
            <a:r>
              <a:rPr lang="ko-KR" altLang="en-US" sz="1400" dirty="0"/>
              <a:t>기본 형식으로 출력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String strNow1 = </a:t>
            </a:r>
            <a:r>
              <a:rPr lang="en-US" altLang="ko-KR" sz="1400" dirty="0" err="1"/>
              <a:t>now.toString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(strNow1);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날짜 형식을 지정한 </a:t>
            </a:r>
            <a:r>
              <a:rPr lang="en-US" altLang="ko-KR" sz="1400" dirty="0" err="1"/>
              <a:t>SimpleDateFormat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SimpleDateFormat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sdf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SimpleDateFormat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yyyy</a:t>
            </a:r>
            <a:r>
              <a:rPr lang="ko-KR" altLang="en-US" sz="1400" dirty="0"/>
              <a:t>년 </a:t>
            </a:r>
            <a:r>
              <a:rPr lang="en-US" altLang="ko-KR" sz="1400" dirty="0"/>
              <a:t>MM</a:t>
            </a:r>
            <a:r>
              <a:rPr lang="ko-KR" altLang="en-US" sz="1400" dirty="0"/>
              <a:t>월 </a:t>
            </a:r>
            <a:r>
              <a:rPr lang="en-US" altLang="ko-KR" sz="1400" dirty="0"/>
              <a:t>dd</a:t>
            </a:r>
            <a:r>
              <a:rPr lang="ko-KR" altLang="en-US" sz="1400" dirty="0"/>
              <a:t>일 </a:t>
            </a:r>
            <a:r>
              <a:rPr lang="en-US" altLang="ko-KR" sz="1400" dirty="0" err="1"/>
              <a:t>hh</a:t>
            </a:r>
            <a:r>
              <a:rPr lang="ko-KR" altLang="en-US" sz="1400" dirty="0"/>
              <a:t>시 </a:t>
            </a:r>
            <a:r>
              <a:rPr lang="en-US" altLang="ko-KR" sz="1400" dirty="0"/>
              <a:t>mm</a:t>
            </a:r>
            <a:r>
              <a:rPr lang="ko-KR" altLang="en-US" sz="1400" dirty="0"/>
              <a:t>분 </a:t>
            </a:r>
            <a:r>
              <a:rPr lang="en-US" altLang="ko-KR" sz="1400" dirty="0"/>
              <a:t>ss</a:t>
            </a:r>
            <a:r>
              <a:rPr lang="ko-KR" altLang="en-US" sz="1400" dirty="0"/>
              <a:t>초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현재 날짜와 시간을 지정된 형식으로 </a:t>
            </a:r>
            <a:r>
              <a:rPr lang="ko-KR" altLang="en-US" sz="1400" dirty="0" err="1"/>
              <a:t>포맷팅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strNow2 = </a:t>
            </a:r>
            <a:r>
              <a:rPr lang="en-US" altLang="ko-KR" sz="1400" dirty="0" err="1"/>
              <a:t>sdf.format</a:t>
            </a:r>
            <a:r>
              <a:rPr lang="en-US" altLang="ko-KR" sz="1400" dirty="0"/>
              <a:t>(now);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(strNow2);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D35DD5-54BA-3F9B-2B54-198AA746D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53" y="2853803"/>
            <a:ext cx="3778832" cy="80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14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25E3-8876-9527-6E3A-5FBF9F34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EE8FE-5F73-55BD-D71F-57310104E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Calendar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달력을 표현한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Calendar </a:t>
            </a:r>
            <a:r>
              <a:rPr lang="ko-KR" altLang="en-US" sz="1400" dirty="0"/>
              <a:t>클래스는 추상 클래스이므로 </a:t>
            </a:r>
            <a:r>
              <a:rPr lang="en-US" altLang="ko-KR" sz="1400" dirty="0"/>
              <a:t>new </a:t>
            </a:r>
            <a:r>
              <a:rPr lang="ko-KR" altLang="en-US" sz="1400" dirty="0"/>
              <a:t>연산자를 사용해 인스턴스를 생성할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 err="1"/>
              <a:t>getInstance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메소드를 이용해 운영체제에 설정되어 있는 시간대를 기준으로 한 객체를 얻을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Calendar now = </a:t>
            </a:r>
            <a:r>
              <a:rPr lang="en-US" altLang="ko-KR" sz="1400" dirty="0" err="1"/>
              <a:t>Calendar.getInstance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객체를 얻었다면 </a:t>
            </a:r>
            <a:r>
              <a:rPr lang="en-US" altLang="ko-KR" sz="1400" dirty="0"/>
              <a:t>get()</a:t>
            </a:r>
            <a:r>
              <a:rPr lang="ko-KR" altLang="en-US" sz="1400" dirty="0"/>
              <a:t>메소드를 이용해서 날짜와 시간에 대한 정보를 읽을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year     = </a:t>
            </a:r>
            <a:r>
              <a:rPr lang="en-US" altLang="ko-KR" sz="1400" dirty="0" err="1"/>
              <a:t>now.get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Calendar.YEAR</a:t>
            </a:r>
            <a:r>
              <a:rPr lang="en-US" altLang="ko-KR" sz="1400" dirty="0"/>
              <a:t>);         // </a:t>
            </a:r>
            <a:r>
              <a:rPr lang="ko-KR" altLang="en-US" sz="1400" dirty="0"/>
              <a:t>연도를 리턴  </a:t>
            </a:r>
          </a:p>
          <a:p>
            <a:pPr marL="0" indent="0">
              <a:buNone/>
            </a:pPr>
            <a:r>
              <a:rPr lang="en-US" altLang="ko-KR" sz="1400" dirty="0"/>
              <a:t>int month    = </a:t>
            </a:r>
            <a:r>
              <a:rPr lang="en-US" altLang="ko-KR" sz="1400" dirty="0" err="1"/>
              <a:t>now.get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Calendar.MONTH</a:t>
            </a:r>
            <a:r>
              <a:rPr lang="en-US" altLang="ko-KR" sz="1400" dirty="0"/>
              <a:t>) + 1;    // </a:t>
            </a:r>
            <a:r>
              <a:rPr lang="ko-KR" altLang="en-US" sz="1400" dirty="0"/>
              <a:t>월을 리턴  </a:t>
            </a:r>
          </a:p>
          <a:p>
            <a:pPr marL="0" indent="0">
              <a:buNone/>
            </a:pPr>
            <a:r>
              <a:rPr lang="en-US" altLang="ko-KR" sz="1400" dirty="0"/>
              <a:t>int day      = </a:t>
            </a:r>
            <a:r>
              <a:rPr lang="en-US" altLang="ko-KR" sz="1400" dirty="0" err="1"/>
              <a:t>now.get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Calendar.DAY_OF_MONTH</a:t>
            </a:r>
            <a:r>
              <a:rPr lang="en-US" altLang="ko-KR" sz="1400" dirty="0"/>
              <a:t>); // </a:t>
            </a:r>
            <a:r>
              <a:rPr lang="ko-KR" altLang="en-US" sz="1400" dirty="0"/>
              <a:t>일을 리턴  </a:t>
            </a:r>
          </a:p>
          <a:p>
            <a:pPr marL="0" indent="0">
              <a:buNone/>
            </a:pPr>
            <a:r>
              <a:rPr lang="en-US" altLang="ko-KR" sz="1400" dirty="0"/>
              <a:t>String week  = </a:t>
            </a:r>
            <a:r>
              <a:rPr lang="en-US" altLang="ko-KR" sz="1400" dirty="0" err="1"/>
              <a:t>now.get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Calendar.DAY_OF_WEEK</a:t>
            </a:r>
            <a:r>
              <a:rPr lang="en-US" altLang="ko-KR" sz="1400" dirty="0"/>
              <a:t>);  // </a:t>
            </a:r>
            <a:r>
              <a:rPr lang="ko-KR" altLang="en-US" sz="1400" dirty="0"/>
              <a:t>요일을 리턴  </a:t>
            </a:r>
          </a:p>
          <a:p>
            <a:pPr marL="0" indent="0">
              <a:buNone/>
            </a:pPr>
            <a:r>
              <a:rPr lang="en-US" altLang="ko-KR" sz="1400" dirty="0"/>
              <a:t>String </a:t>
            </a:r>
            <a:r>
              <a:rPr lang="en-US" altLang="ko-KR" sz="1400" dirty="0" err="1"/>
              <a:t>amPm</a:t>
            </a:r>
            <a:r>
              <a:rPr lang="en-US" altLang="ko-KR" sz="1400" dirty="0"/>
              <a:t>  = </a:t>
            </a:r>
            <a:r>
              <a:rPr lang="en-US" altLang="ko-KR" sz="1400" dirty="0" err="1"/>
              <a:t>now.get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Calendar.AM_PM</a:t>
            </a:r>
            <a:r>
              <a:rPr lang="en-US" altLang="ko-KR" sz="1400" dirty="0"/>
              <a:t>);        // </a:t>
            </a:r>
            <a:r>
              <a:rPr lang="ko-KR" altLang="en-US" sz="1400" dirty="0"/>
              <a:t>오전</a:t>
            </a:r>
            <a:r>
              <a:rPr lang="en-US" altLang="ko-KR" sz="1400" dirty="0"/>
              <a:t>/</a:t>
            </a:r>
            <a:r>
              <a:rPr lang="ko-KR" altLang="en-US" sz="1400" dirty="0"/>
              <a:t>오후를 리턴  </a:t>
            </a:r>
          </a:p>
          <a:p>
            <a:pPr marL="0" indent="0">
              <a:buNone/>
            </a:pPr>
            <a:r>
              <a:rPr lang="en-US" altLang="ko-KR" sz="1400" dirty="0"/>
              <a:t>int hour     = </a:t>
            </a:r>
            <a:r>
              <a:rPr lang="en-US" altLang="ko-KR" sz="1400" dirty="0" err="1"/>
              <a:t>now.get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Calendar.HOUR</a:t>
            </a:r>
            <a:r>
              <a:rPr lang="en-US" altLang="ko-KR" sz="1400" dirty="0"/>
              <a:t>);         // </a:t>
            </a:r>
            <a:r>
              <a:rPr lang="ko-KR" altLang="en-US" sz="1400" dirty="0"/>
              <a:t>시를 리턴  </a:t>
            </a:r>
          </a:p>
          <a:p>
            <a:pPr marL="0" indent="0">
              <a:buNone/>
            </a:pPr>
            <a:r>
              <a:rPr lang="en-US" altLang="ko-KR" sz="1400" dirty="0"/>
              <a:t>int minute   = </a:t>
            </a:r>
            <a:r>
              <a:rPr lang="en-US" altLang="ko-KR" sz="1400" dirty="0" err="1"/>
              <a:t>now.get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Calendar.MINUTE</a:t>
            </a:r>
            <a:r>
              <a:rPr lang="en-US" altLang="ko-KR" sz="1400" dirty="0"/>
              <a:t>);       // </a:t>
            </a:r>
            <a:r>
              <a:rPr lang="ko-KR" altLang="en-US" sz="1400" dirty="0"/>
              <a:t>분을 리턴  </a:t>
            </a:r>
          </a:p>
          <a:p>
            <a:pPr marL="0" indent="0">
              <a:buNone/>
            </a:pPr>
            <a:r>
              <a:rPr lang="en-US" altLang="ko-KR" sz="1400" dirty="0"/>
              <a:t>int second   = </a:t>
            </a:r>
            <a:r>
              <a:rPr lang="en-US" altLang="ko-KR" sz="1400" dirty="0" err="1"/>
              <a:t>now.get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Calendar.SECOND</a:t>
            </a:r>
            <a:r>
              <a:rPr lang="en-US" altLang="ko-KR" sz="1400" dirty="0"/>
              <a:t>);       // </a:t>
            </a:r>
            <a:r>
              <a:rPr lang="ko-KR" altLang="en-US" sz="1400" dirty="0"/>
              <a:t>초를 리턴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119513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F13E-9068-8163-CBCC-7EB13E42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93DA6-CCFA-009B-8754-05E376062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 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8FE09B-3B4C-E94E-4E83-7D45FF8BE61A}"/>
              </a:ext>
            </a:extLst>
          </p:cNvPr>
          <p:cNvSpPr txBox="1"/>
          <p:nvPr/>
        </p:nvSpPr>
        <p:spPr>
          <a:xfrm>
            <a:off x="0" y="0"/>
            <a:ext cx="6681457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import </a:t>
            </a:r>
            <a:r>
              <a:rPr lang="en-US" altLang="ko-KR" sz="1200" dirty="0" err="1"/>
              <a:t>java.util</a:t>
            </a:r>
            <a:r>
              <a:rPr lang="en-US" altLang="ko-KR" sz="1200" dirty="0"/>
              <a:t>.*;</a:t>
            </a:r>
          </a:p>
          <a:p>
            <a:endParaRPr lang="en-US" altLang="ko-KR" sz="1200" dirty="0"/>
          </a:p>
          <a:p>
            <a:r>
              <a:rPr lang="en-US" altLang="ko-KR" sz="1200" dirty="0"/>
              <a:t>public class </a:t>
            </a:r>
            <a:r>
              <a:rPr lang="en-US" altLang="ko-KR" sz="1200" dirty="0" err="1"/>
              <a:t>CalendarExample</a:t>
            </a:r>
            <a:r>
              <a:rPr lang="en-US" altLang="ko-KR" sz="1200" dirty="0"/>
              <a:t> {</a:t>
            </a:r>
          </a:p>
          <a:p>
            <a:r>
              <a:rPr lang="en-US" altLang="ko-KR" sz="1200" dirty="0"/>
              <a:t>    public static void main(String[] </a:t>
            </a:r>
            <a:r>
              <a:rPr lang="en-US" altLang="ko-KR" sz="1200" dirty="0" err="1"/>
              <a:t>args</a:t>
            </a:r>
            <a:r>
              <a:rPr lang="en-US" altLang="ko-KR" sz="1200" dirty="0"/>
              <a:t>) {</a:t>
            </a:r>
          </a:p>
          <a:p>
            <a:r>
              <a:rPr lang="en-US" altLang="ko-KR" sz="1200" dirty="0"/>
              <a:t>        // Calendar </a:t>
            </a:r>
            <a:r>
              <a:rPr lang="ko-KR" altLang="en-US" sz="1200" dirty="0"/>
              <a:t>객체 생성 및 현재 날짜 및 시간 가져오기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Calendar now = </a:t>
            </a:r>
            <a:r>
              <a:rPr lang="en-US" altLang="ko-KR" sz="1200" dirty="0" err="1"/>
              <a:t>Calendar.getInstance</a:t>
            </a:r>
            <a:r>
              <a:rPr lang="en-US" altLang="ko-KR" sz="1200" dirty="0"/>
              <a:t>();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  // </a:t>
            </a:r>
            <a:r>
              <a:rPr lang="ko-KR" altLang="en-US" sz="1200" dirty="0"/>
              <a:t>연도</a:t>
            </a:r>
            <a:r>
              <a:rPr lang="en-US" altLang="ko-KR" sz="1200" dirty="0"/>
              <a:t>, </a:t>
            </a:r>
            <a:r>
              <a:rPr lang="ko-KR" altLang="en-US" sz="1200" dirty="0"/>
              <a:t>월</a:t>
            </a:r>
            <a:r>
              <a:rPr lang="en-US" altLang="ko-KR" sz="1200" dirty="0"/>
              <a:t>, </a:t>
            </a:r>
            <a:r>
              <a:rPr lang="ko-KR" altLang="en-US" sz="1200" dirty="0"/>
              <a:t>일 정보 가져오기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int year = </a:t>
            </a:r>
            <a:r>
              <a:rPr lang="en-US" altLang="ko-KR" sz="1200" dirty="0" err="1"/>
              <a:t>now.get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Calendar.YEAR</a:t>
            </a:r>
            <a:r>
              <a:rPr lang="en-US" altLang="ko-KR" sz="1200" dirty="0"/>
              <a:t>);                // </a:t>
            </a:r>
            <a:r>
              <a:rPr lang="ko-KR" altLang="en-US" sz="1200" dirty="0"/>
              <a:t>현재 연도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int month = </a:t>
            </a:r>
            <a:r>
              <a:rPr lang="en-US" altLang="ko-KR" sz="1200" dirty="0" err="1"/>
              <a:t>now.get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Calendar.MONTH</a:t>
            </a:r>
            <a:r>
              <a:rPr lang="en-US" altLang="ko-KR" sz="1200" dirty="0"/>
              <a:t>) + 1;          // </a:t>
            </a:r>
            <a:r>
              <a:rPr lang="ko-KR" altLang="en-US" sz="1200" dirty="0"/>
              <a:t>월 </a:t>
            </a:r>
            <a:r>
              <a:rPr lang="en-US" altLang="ko-KR" sz="1200" dirty="0"/>
              <a:t>(0</a:t>
            </a:r>
            <a:r>
              <a:rPr lang="ko-KR" altLang="en-US" sz="1200" dirty="0"/>
              <a:t>부터 시작하므로 </a:t>
            </a:r>
            <a:r>
              <a:rPr lang="en-US" altLang="ko-KR" sz="1200" dirty="0"/>
              <a:t>+1 </a:t>
            </a:r>
            <a:r>
              <a:rPr lang="ko-KR" altLang="en-US" sz="1200" dirty="0"/>
              <a:t>필요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 int day = </a:t>
            </a:r>
            <a:r>
              <a:rPr lang="en-US" altLang="ko-KR" sz="1200" dirty="0" err="1"/>
              <a:t>now.get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Calendar.DAY_OF_MONTH</a:t>
            </a:r>
            <a:r>
              <a:rPr lang="en-US" altLang="ko-KR" sz="1200" dirty="0"/>
              <a:t>);         // </a:t>
            </a:r>
            <a:r>
              <a:rPr lang="ko-KR" altLang="en-US" sz="1200" dirty="0"/>
              <a:t>현재 일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// </a:t>
            </a:r>
            <a:r>
              <a:rPr lang="ko-KR" altLang="en-US" sz="1200" dirty="0"/>
              <a:t>요일 정보 가져오기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int week = </a:t>
            </a:r>
            <a:r>
              <a:rPr lang="en-US" altLang="ko-KR" sz="1200" dirty="0" err="1"/>
              <a:t>now.get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Calendar.DAY_OF_WEEK</a:t>
            </a:r>
            <a:r>
              <a:rPr lang="en-US" altLang="ko-KR" sz="1200" dirty="0"/>
              <a:t>);         // </a:t>
            </a:r>
            <a:r>
              <a:rPr lang="ko-KR" altLang="en-US" sz="1200" dirty="0"/>
              <a:t>요일 </a:t>
            </a:r>
            <a:r>
              <a:rPr lang="en-US" altLang="ko-KR" sz="1200" dirty="0"/>
              <a:t>(1:</a:t>
            </a:r>
            <a:r>
              <a:rPr lang="ko-KR" altLang="en-US" sz="1200" dirty="0"/>
              <a:t>일요일</a:t>
            </a:r>
            <a:r>
              <a:rPr lang="en-US" altLang="ko-KR" sz="1200" dirty="0"/>
              <a:t>, 2:</a:t>
            </a:r>
            <a:r>
              <a:rPr lang="ko-KR" altLang="en-US" sz="1200" dirty="0"/>
              <a:t>월요일</a:t>
            </a:r>
            <a:r>
              <a:rPr lang="en-US" altLang="ko-KR" sz="1200" dirty="0"/>
              <a:t>, ...)</a:t>
            </a:r>
          </a:p>
          <a:p>
            <a:r>
              <a:rPr lang="en-US" altLang="ko-KR" sz="1200" dirty="0"/>
              <a:t>        String </a:t>
            </a:r>
            <a:r>
              <a:rPr lang="en-US" altLang="ko-KR" sz="1200" dirty="0" err="1"/>
              <a:t>strWeek</a:t>
            </a:r>
            <a:r>
              <a:rPr lang="en-US" altLang="ko-KR" sz="1200" dirty="0"/>
              <a:t> = null;                            // </a:t>
            </a:r>
            <a:r>
              <a:rPr lang="ko-KR" altLang="en-US" sz="1200" dirty="0"/>
              <a:t>요일 문자열로 변환하기 위한 변수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switch (week) {</a:t>
            </a:r>
          </a:p>
          <a:p>
            <a:r>
              <a:rPr lang="en-US" altLang="ko-KR" sz="1200" dirty="0"/>
              <a:t>            case </a:t>
            </a:r>
            <a:r>
              <a:rPr lang="en-US" altLang="ko-KR" sz="1200" dirty="0" err="1"/>
              <a:t>Calendar.MONDAY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            </a:t>
            </a:r>
            <a:r>
              <a:rPr lang="en-US" altLang="ko-KR" sz="1200" dirty="0" err="1"/>
              <a:t>strWeek</a:t>
            </a:r>
            <a:r>
              <a:rPr lang="en-US" altLang="ko-KR" sz="1200" dirty="0"/>
              <a:t> = "</a:t>
            </a:r>
            <a:r>
              <a:rPr lang="ko-KR" altLang="en-US" sz="1200" dirty="0"/>
              <a:t>월</a:t>
            </a:r>
            <a:r>
              <a:rPr lang="en-US" altLang="ko-KR" sz="1200" dirty="0"/>
              <a:t>";</a:t>
            </a:r>
          </a:p>
          <a:p>
            <a:r>
              <a:rPr lang="en-US" altLang="ko-KR" sz="1200" dirty="0"/>
              <a:t>                break;</a:t>
            </a:r>
          </a:p>
          <a:p>
            <a:r>
              <a:rPr lang="en-US" altLang="ko-KR" sz="1200" dirty="0"/>
              <a:t>            case </a:t>
            </a:r>
            <a:r>
              <a:rPr lang="en-US" altLang="ko-KR" sz="1200" dirty="0" err="1"/>
              <a:t>Calendar.TUESDAY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            </a:t>
            </a:r>
            <a:r>
              <a:rPr lang="en-US" altLang="ko-KR" sz="1200" dirty="0" err="1"/>
              <a:t>strWeek</a:t>
            </a:r>
            <a:r>
              <a:rPr lang="en-US" altLang="ko-KR" sz="1200" dirty="0"/>
              <a:t> = "</a:t>
            </a:r>
            <a:r>
              <a:rPr lang="ko-KR" altLang="en-US" sz="1200" dirty="0"/>
              <a:t>화</a:t>
            </a:r>
            <a:r>
              <a:rPr lang="en-US" altLang="ko-KR" sz="1200" dirty="0"/>
              <a:t>";</a:t>
            </a:r>
          </a:p>
          <a:p>
            <a:r>
              <a:rPr lang="en-US" altLang="ko-KR" sz="1200" dirty="0"/>
              <a:t>                break;</a:t>
            </a:r>
          </a:p>
          <a:p>
            <a:r>
              <a:rPr lang="en-US" altLang="ko-KR" sz="1200" dirty="0"/>
              <a:t>            case </a:t>
            </a:r>
            <a:r>
              <a:rPr lang="en-US" altLang="ko-KR" sz="1200" dirty="0" err="1"/>
              <a:t>Calendar.WEDNESDAY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            </a:t>
            </a:r>
            <a:r>
              <a:rPr lang="en-US" altLang="ko-KR" sz="1200" dirty="0" err="1"/>
              <a:t>strWeek</a:t>
            </a:r>
            <a:r>
              <a:rPr lang="en-US" altLang="ko-KR" sz="1200" dirty="0"/>
              <a:t> = "</a:t>
            </a:r>
            <a:r>
              <a:rPr lang="ko-KR" altLang="en-US" sz="1200" dirty="0"/>
              <a:t>수</a:t>
            </a:r>
            <a:r>
              <a:rPr lang="en-US" altLang="ko-KR" sz="1200" dirty="0"/>
              <a:t>";</a:t>
            </a:r>
          </a:p>
          <a:p>
            <a:r>
              <a:rPr lang="en-US" altLang="ko-KR" sz="1200" dirty="0"/>
              <a:t>                break;</a:t>
            </a:r>
          </a:p>
          <a:p>
            <a:r>
              <a:rPr lang="en-US" altLang="ko-KR" sz="1200" dirty="0"/>
              <a:t>            case </a:t>
            </a:r>
            <a:r>
              <a:rPr lang="en-US" altLang="ko-KR" sz="1200" dirty="0" err="1"/>
              <a:t>Calendar.THURSDAY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            </a:t>
            </a:r>
            <a:r>
              <a:rPr lang="en-US" altLang="ko-KR" sz="1200" dirty="0" err="1"/>
              <a:t>strWeek</a:t>
            </a:r>
            <a:r>
              <a:rPr lang="en-US" altLang="ko-KR" sz="1200" dirty="0"/>
              <a:t> = "</a:t>
            </a:r>
            <a:r>
              <a:rPr lang="ko-KR" altLang="en-US" sz="1200" dirty="0"/>
              <a:t>목</a:t>
            </a:r>
            <a:r>
              <a:rPr lang="en-US" altLang="ko-KR" sz="1200" dirty="0"/>
              <a:t>";</a:t>
            </a:r>
          </a:p>
          <a:p>
            <a:r>
              <a:rPr lang="en-US" altLang="ko-KR" sz="1200" dirty="0"/>
              <a:t>                break;</a:t>
            </a:r>
          </a:p>
          <a:p>
            <a:r>
              <a:rPr lang="en-US" altLang="ko-KR" sz="1200" dirty="0"/>
              <a:t>            case </a:t>
            </a:r>
            <a:r>
              <a:rPr lang="en-US" altLang="ko-KR" sz="1200" dirty="0" err="1"/>
              <a:t>Calendar.FRIDAY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            </a:t>
            </a:r>
            <a:r>
              <a:rPr lang="en-US" altLang="ko-KR" sz="1200" dirty="0" err="1"/>
              <a:t>strWeek</a:t>
            </a:r>
            <a:r>
              <a:rPr lang="en-US" altLang="ko-KR" sz="1200" dirty="0"/>
              <a:t> = "</a:t>
            </a:r>
            <a:r>
              <a:rPr lang="ko-KR" altLang="en-US" sz="1200" dirty="0"/>
              <a:t>금</a:t>
            </a:r>
            <a:r>
              <a:rPr lang="en-US" altLang="ko-KR" sz="1200" dirty="0"/>
              <a:t>";</a:t>
            </a:r>
          </a:p>
          <a:p>
            <a:r>
              <a:rPr lang="en-US" altLang="ko-KR" sz="1200" dirty="0"/>
              <a:t>                break;</a:t>
            </a:r>
          </a:p>
          <a:p>
            <a:r>
              <a:rPr lang="en-US" altLang="ko-KR" sz="1200" dirty="0"/>
              <a:t>            case </a:t>
            </a:r>
            <a:r>
              <a:rPr lang="en-US" altLang="ko-KR" sz="1200" dirty="0" err="1"/>
              <a:t>Calendar.SATURDAY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              </a:t>
            </a:r>
            <a:r>
              <a:rPr lang="en-US" altLang="ko-KR" sz="1200" dirty="0" err="1"/>
              <a:t>strWeek</a:t>
            </a:r>
            <a:r>
              <a:rPr lang="en-US" altLang="ko-KR" sz="1200" dirty="0"/>
              <a:t> = "</a:t>
            </a:r>
            <a:r>
              <a:rPr lang="ko-KR" altLang="en-US" sz="1200" dirty="0"/>
              <a:t>토</a:t>
            </a:r>
            <a:r>
              <a:rPr lang="en-US" altLang="ko-KR" sz="1200" dirty="0"/>
              <a:t>";</a:t>
            </a:r>
          </a:p>
          <a:p>
            <a:r>
              <a:rPr lang="en-US" altLang="ko-KR" sz="1200" dirty="0"/>
              <a:t>                break;</a:t>
            </a:r>
          </a:p>
          <a:p>
            <a:r>
              <a:rPr lang="en-US" altLang="ko-KR" sz="1200" dirty="0"/>
              <a:t>            default:</a:t>
            </a:r>
          </a:p>
          <a:p>
            <a:r>
              <a:rPr lang="en-US" altLang="ko-KR" sz="1200" dirty="0"/>
              <a:t>                </a:t>
            </a:r>
            <a:r>
              <a:rPr lang="en-US" altLang="ko-KR" sz="1200" dirty="0" err="1"/>
              <a:t>strWeek</a:t>
            </a:r>
            <a:r>
              <a:rPr lang="en-US" altLang="ko-KR" sz="1200" dirty="0"/>
              <a:t> = "</a:t>
            </a:r>
            <a:r>
              <a:rPr lang="ko-KR" altLang="en-US" sz="1200" dirty="0"/>
              <a:t>일</a:t>
            </a:r>
            <a:r>
              <a:rPr lang="en-US" altLang="ko-KR" sz="1200" dirty="0"/>
              <a:t>";</a:t>
            </a:r>
          </a:p>
          <a:p>
            <a:r>
              <a:rPr lang="en-US" altLang="ko-KR" sz="1200" dirty="0"/>
              <a:t>        }</a:t>
            </a:r>
            <a:endParaRPr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3A695-B802-3B56-7E3D-688325DC55A9}"/>
              </a:ext>
            </a:extLst>
          </p:cNvPr>
          <p:cNvSpPr txBox="1"/>
          <p:nvPr/>
        </p:nvSpPr>
        <p:spPr>
          <a:xfrm>
            <a:off x="6575834" y="0"/>
            <a:ext cx="5616166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// </a:t>
            </a:r>
            <a:r>
              <a:rPr lang="ko-KR" altLang="en-US" sz="1050" dirty="0"/>
              <a:t>오전</a:t>
            </a:r>
            <a:r>
              <a:rPr lang="en-US" altLang="ko-KR" sz="1050" dirty="0"/>
              <a:t>/</a:t>
            </a:r>
            <a:r>
              <a:rPr lang="ko-KR" altLang="en-US" sz="1050" dirty="0"/>
              <a:t>오후 구분 가져오기</a:t>
            </a:r>
          </a:p>
          <a:p>
            <a:r>
              <a:rPr lang="ko-KR" altLang="en-US" sz="1050" dirty="0"/>
              <a:t>        </a:t>
            </a:r>
            <a:r>
              <a:rPr lang="en-US" altLang="ko-KR" sz="1050" dirty="0"/>
              <a:t>int </a:t>
            </a:r>
            <a:r>
              <a:rPr lang="en-US" altLang="ko-KR" sz="1050" dirty="0" err="1"/>
              <a:t>amPm</a:t>
            </a:r>
            <a:r>
              <a:rPr lang="en-US" altLang="ko-KR" sz="1050" dirty="0"/>
              <a:t> = </a:t>
            </a:r>
            <a:r>
              <a:rPr lang="en-US" altLang="ko-KR" sz="1050" dirty="0" err="1"/>
              <a:t>now.get</a:t>
            </a:r>
            <a:r>
              <a:rPr lang="en-US" altLang="ko-KR" sz="1050" dirty="0"/>
              <a:t>(</a:t>
            </a:r>
            <a:r>
              <a:rPr lang="en-US" altLang="ko-KR" sz="1050" dirty="0" err="1"/>
              <a:t>Calendar.AM_PM</a:t>
            </a:r>
            <a:r>
              <a:rPr lang="en-US" altLang="ko-KR" sz="1050" dirty="0"/>
              <a:t>);               // </a:t>
            </a:r>
            <a:r>
              <a:rPr lang="ko-KR" altLang="en-US" sz="1050" dirty="0"/>
              <a:t>오전</a:t>
            </a:r>
            <a:r>
              <a:rPr lang="en-US" altLang="ko-KR" sz="1050" dirty="0"/>
              <a:t>/</a:t>
            </a:r>
            <a:r>
              <a:rPr lang="ko-KR" altLang="en-US" sz="1050" dirty="0"/>
              <a:t>오후 구분 </a:t>
            </a:r>
            <a:r>
              <a:rPr lang="en-US" altLang="ko-KR" sz="1050" dirty="0"/>
              <a:t>(0:AM, 1:PM)</a:t>
            </a:r>
          </a:p>
          <a:p>
            <a:r>
              <a:rPr lang="en-US" altLang="ko-KR" sz="1050" dirty="0"/>
              <a:t>        String </a:t>
            </a:r>
            <a:r>
              <a:rPr lang="en-US" altLang="ko-KR" sz="1050" dirty="0" err="1"/>
              <a:t>strAmPm</a:t>
            </a:r>
            <a:r>
              <a:rPr lang="en-US" altLang="ko-KR" sz="1050" dirty="0"/>
              <a:t> = null;                            // </a:t>
            </a:r>
            <a:r>
              <a:rPr lang="ko-KR" altLang="en-US" sz="1050" dirty="0"/>
              <a:t>오전</a:t>
            </a:r>
            <a:r>
              <a:rPr lang="en-US" altLang="ko-KR" sz="1050" dirty="0"/>
              <a:t>/</a:t>
            </a:r>
            <a:r>
              <a:rPr lang="ko-KR" altLang="en-US" sz="1050" dirty="0"/>
              <a:t>오후 문자열 저장 변수</a:t>
            </a:r>
          </a:p>
          <a:p>
            <a:r>
              <a:rPr lang="ko-KR" altLang="en-US" sz="1050" dirty="0"/>
              <a:t>        </a:t>
            </a:r>
            <a:r>
              <a:rPr lang="en-US" altLang="ko-KR" sz="1050" dirty="0"/>
              <a:t>if (</a:t>
            </a:r>
            <a:r>
              <a:rPr lang="en-US" altLang="ko-KR" sz="1050" dirty="0" err="1"/>
              <a:t>amPm</a:t>
            </a:r>
            <a:r>
              <a:rPr lang="en-US" altLang="ko-KR" sz="1050" dirty="0"/>
              <a:t> == Calendar.AM) {</a:t>
            </a:r>
          </a:p>
          <a:p>
            <a:r>
              <a:rPr lang="en-US" altLang="ko-KR" sz="1050" dirty="0"/>
              <a:t>            </a:t>
            </a:r>
            <a:r>
              <a:rPr lang="en-US" altLang="ko-KR" sz="1050" dirty="0" err="1"/>
              <a:t>strAmPm</a:t>
            </a:r>
            <a:r>
              <a:rPr lang="en-US" altLang="ko-KR" sz="1050" dirty="0"/>
              <a:t> = "</a:t>
            </a:r>
            <a:r>
              <a:rPr lang="ko-KR" altLang="en-US" sz="1050" dirty="0"/>
              <a:t>오전</a:t>
            </a:r>
            <a:r>
              <a:rPr lang="en-US" altLang="ko-KR" sz="1050" dirty="0"/>
              <a:t>";</a:t>
            </a:r>
          </a:p>
          <a:p>
            <a:r>
              <a:rPr lang="en-US" altLang="ko-KR" sz="1050" dirty="0"/>
              <a:t>        } else {</a:t>
            </a:r>
          </a:p>
          <a:p>
            <a:r>
              <a:rPr lang="en-US" altLang="ko-KR" sz="1050" dirty="0"/>
              <a:t>            </a:t>
            </a:r>
            <a:r>
              <a:rPr lang="en-US" altLang="ko-KR" sz="1050" dirty="0" err="1"/>
              <a:t>strAmPm</a:t>
            </a:r>
            <a:r>
              <a:rPr lang="en-US" altLang="ko-KR" sz="1050" dirty="0"/>
              <a:t> = "</a:t>
            </a:r>
            <a:r>
              <a:rPr lang="ko-KR" altLang="en-US" sz="1050" dirty="0"/>
              <a:t>오후</a:t>
            </a:r>
            <a:r>
              <a:rPr lang="en-US" altLang="ko-KR" sz="1050" dirty="0"/>
              <a:t>";</a:t>
            </a:r>
          </a:p>
          <a:p>
            <a:r>
              <a:rPr lang="en-US" altLang="ko-KR" sz="1050" dirty="0"/>
              <a:t>        }</a:t>
            </a:r>
          </a:p>
          <a:p>
            <a:endParaRPr lang="en-US" altLang="ko-KR" sz="1050" dirty="0"/>
          </a:p>
          <a:p>
            <a:r>
              <a:rPr lang="en-US" altLang="ko-KR" sz="1050" dirty="0"/>
              <a:t>        // </a:t>
            </a:r>
            <a:r>
              <a:rPr lang="ko-KR" altLang="en-US" sz="1050" dirty="0"/>
              <a:t>시</a:t>
            </a:r>
            <a:r>
              <a:rPr lang="en-US" altLang="ko-KR" sz="1050" dirty="0"/>
              <a:t>, </a:t>
            </a:r>
            <a:r>
              <a:rPr lang="ko-KR" altLang="en-US" sz="1050" dirty="0"/>
              <a:t>분</a:t>
            </a:r>
            <a:r>
              <a:rPr lang="en-US" altLang="ko-KR" sz="1050" dirty="0"/>
              <a:t>, </a:t>
            </a:r>
            <a:r>
              <a:rPr lang="ko-KR" altLang="en-US" sz="1050" dirty="0"/>
              <a:t>초 정보 가져오기</a:t>
            </a:r>
          </a:p>
          <a:p>
            <a:r>
              <a:rPr lang="ko-KR" altLang="en-US" sz="1050" dirty="0"/>
              <a:t>        </a:t>
            </a:r>
            <a:r>
              <a:rPr lang="en-US" altLang="ko-KR" sz="1050" dirty="0"/>
              <a:t>int hour = </a:t>
            </a:r>
            <a:r>
              <a:rPr lang="en-US" altLang="ko-KR" sz="1050" dirty="0" err="1"/>
              <a:t>now.get</a:t>
            </a:r>
            <a:r>
              <a:rPr lang="en-US" altLang="ko-KR" sz="1050" dirty="0"/>
              <a:t>(</a:t>
            </a:r>
            <a:r>
              <a:rPr lang="en-US" altLang="ko-KR" sz="1050" dirty="0" err="1"/>
              <a:t>Calendar.HOUR</a:t>
            </a:r>
            <a:r>
              <a:rPr lang="en-US" altLang="ko-KR" sz="1050" dirty="0"/>
              <a:t>);                // </a:t>
            </a:r>
            <a:r>
              <a:rPr lang="ko-KR" altLang="en-US" sz="1050" dirty="0"/>
              <a:t>시 </a:t>
            </a:r>
            <a:r>
              <a:rPr lang="en-US" altLang="ko-KR" sz="1050" dirty="0"/>
              <a:t>(12</a:t>
            </a:r>
            <a:r>
              <a:rPr lang="ko-KR" altLang="en-US" sz="1050" dirty="0"/>
              <a:t>시간제</a:t>
            </a:r>
            <a:r>
              <a:rPr lang="en-US" altLang="ko-KR" sz="1050" dirty="0"/>
              <a:t>)</a:t>
            </a:r>
          </a:p>
          <a:p>
            <a:r>
              <a:rPr lang="en-US" altLang="ko-KR" sz="1050" dirty="0"/>
              <a:t>        int minute = </a:t>
            </a:r>
            <a:r>
              <a:rPr lang="en-US" altLang="ko-KR" sz="1050" dirty="0" err="1"/>
              <a:t>now.get</a:t>
            </a:r>
            <a:r>
              <a:rPr lang="en-US" altLang="ko-KR" sz="1050" dirty="0"/>
              <a:t>(</a:t>
            </a:r>
            <a:r>
              <a:rPr lang="en-US" altLang="ko-KR" sz="1050" dirty="0" err="1"/>
              <a:t>Calendar.MINUTE</a:t>
            </a:r>
            <a:r>
              <a:rPr lang="en-US" altLang="ko-KR" sz="1050" dirty="0"/>
              <a:t>);            // </a:t>
            </a:r>
            <a:r>
              <a:rPr lang="ko-KR" altLang="en-US" sz="1050" dirty="0"/>
              <a:t>분</a:t>
            </a:r>
          </a:p>
          <a:p>
            <a:r>
              <a:rPr lang="ko-KR" altLang="en-US" sz="1050" dirty="0"/>
              <a:t>        </a:t>
            </a:r>
            <a:r>
              <a:rPr lang="en-US" altLang="ko-KR" sz="1050" dirty="0"/>
              <a:t>int second = </a:t>
            </a:r>
            <a:r>
              <a:rPr lang="en-US" altLang="ko-KR" sz="1050" dirty="0" err="1"/>
              <a:t>now.get</a:t>
            </a:r>
            <a:r>
              <a:rPr lang="en-US" altLang="ko-KR" sz="1050" dirty="0"/>
              <a:t>(</a:t>
            </a:r>
            <a:r>
              <a:rPr lang="en-US" altLang="ko-KR" sz="1050" dirty="0" err="1"/>
              <a:t>Calendar.SECOND</a:t>
            </a:r>
            <a:r>
              <a:rPr lang="en-US" altLang="ko-KR" sz="1050" dirty="0"/>
              <a:t>);            // </a:t>
            </a:r>
            <a:r>
              <a:rPr lang="ko-KR" altLang="en-US" sz="1050" dirty="0"/>
              <a:t>초</a:t>
            </a:r>
          </a:p>
          <a:p>
            <a:endParaRPr lang="ko-KR" altLang="en-US" sz="1050" dirty="0"/>
          </a:p>
          <a:p>
            <a:r>
              <a:rPr lang="ko-KR" altLang="en-US" sz="1050" dirty="0"/>
              <a:t>        </a:t>
            </a:r>
            <a:r>
              <a:rPr lang="en-US" altLang="ko-KR" sz="1050" dirty="0"/>
              <a:t>// </a:t>
            </a:r>
            <a:r>
              <a:rPr lang="ko-KR" altLang="en-US" sz="1050" dirty="0"/>
              <a:t>최종 결과 출력</a:t>
            </a:r>
          </a:p>
          <a:p>
            <a:r>
              <a:rPr lang="ko-KR" altLang="en-US" sz="1050" dirty="0"/>
              <a:t>        </a:t>
            </a:r>
            <a:r>
              <a:rPr lang="en-US" altLang="ko-KR" sz="1050" dirty="0" err="1"/>
              <a:t>System.out.print</a:t>
            </a:r>
            <a:r>
              <a:rPr lang="en-US" altLang="ko-KR" sz="1050" dirty="0"/>
              <a:t>(year + "</a:t>
            </a:r>
            <a:r>
              <a:rPr lang="ko-KR" altLang="en-US" sz="1050" dirty="0"/>
              <a:t>년 </a:t>
            </a:r>
            <a:r>
              <a:rPr lang="en-US" altLang="ko-KR" sz="1050" dirty="0"/>
              <a:t>");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System.out.print</a:t>
            </a:r>
            <a:r>
              <a:rPr lang="en-US" altLang="ko-KR" sz="1050" dirty="0"/>
              <a:t>(month + "</a:t>
            </a:r>
            <a:r>
              <a:rPr lang="ko-KR" altLang="en-US" sz="1050" dirty="0"/>
              <a:t>월 </a:t>
            </a:r>
            <a:r>
              <a:rPr lang="en-US" altLang="ko-KR" sz="1050" dirty="0"/>
              <a:t>");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System.out.println</a:t>
            </a:r>
            <a:r>
              <a:rPr lang="en-US" altLang="ko-KR" sz="1050" dirty="0"/>
              <a:t>(day + "</a:t>
            </a:r>
            <a:r>
              <a:rPr lang="ko-KR" altLang="en-US" sz="1050" dirty="0"/>
              <a:t>일 </a:t>
            </a:r>
            <a:r>
              <a:rPr lang="en-US" altLang="ko-KR" sz="1050" dirty="0"/>
              <a:t>");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System.out.print</a:t>
            </a:r>
            <a:r>
              <a:rPr lang="en-US" altLang="ko-KR" sz="1050" dirty="0"/>
              <a:t>(</a:t>
            </a:r>
            <a:r>
              <a:rPr lang="en-US" altLang="ko-KR" sz="1050" dirty="0" err="1"/>
              <a:t>strWeek</a:t>
            </a:r>
            <a:r>
              <a:rPr lang="en-US" altLang="ko-KR" sz="1050" dirty="0"/>
              <a:t> + "</a:t>
            </a:r>
            <a:r>
              <a:rPr lang="ko-KR" altLang="en-US" sz="1050" dirty="0"/>
              <a:t>요일 </a:t>
            </a:r>
            <a:r>
              <a:rPr lang="en-US" altLang="ko-KR" sz="1050" dirty="0"/>
              <a:t>");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System.out.println</a:t>
            </a:r>
            <a:r>
              <a:rPr lang="en-US" altLang="ko-KR" sz="1050" dirty="0"/>
              <a:t>(</a:t>
            </a:r>
            <a:r>
              <a:rPr lang="en-US" altLang="ko-KR" sz="1050" dirty="0" err="1"/>
              <a:t>strAmPm</a:t>
            </a:r>
            <a:r>
              <a:rPr lang="en-US" altLang="ko-KR" sz="1050" dirty="0"/>
              <a:t> + " ");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System.out.print</a:t>
            </a:r>
            <a:r>
              <a:rPr lang="en-US" altLang="ko-KR" sz="1050" dirty="0"/>
              <a:t>(hour + "</a:t>
            </a:r>
            <a:r>
              <a:rPr lang="ko-KR" altLang="en-US" sz="1050" dirty="0"/>
              <a:t>시 </a:t>
            </a:r>
            <a:r>
              <a:rPr lang="en-US" altLang="ko-KR" sz="1050" dirty="0"/>
              <a:t>");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System.out.print</a:t>
            </a:r>
            <a:r>
              <a:rPr lang="en-US" altLang="ko-KR" sz="1050" dirty="0"/>
              <a:t>(minute + "</a:t>
            </a:r>
            <a:r>
              <a:rPr lang="ko-KR" altLang="en-US" sz="1050" dirty="0"/>
              <a:t>분 </a:t>
            </a:r>
            <a:r>
              <a:rPr lang="en-US" altLang="ko-KR" sz="1050" dirty="0"/>
              <a:t>");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System.out.println</a:t>
            </a:r>
            <a:r>
              <a:rPr lang="en-US" altLang="ko-KR" sz="1050" dirty="0"/>
              <a:t>(second + "</a:t>
            </a:r>
            <a:r>
              <a:rPr lang="ko-KR" altLang="en-US" sz="1050" dirty="0"/>
              <a:t>초 </a:t>
            </a:r>
            <a:r>
              <a:rPr lang="en-US" altLang="ko-KR" sz="1050" dirty="0"/>
              <a:t>");</a:t>
            </a:r>
          </a:p>
          <a:p>
            <a:r>
              <a:rPr lang="en-US" altLang="ko-KR" sz="1050" dirty="0"/>
              <a:t>    }</a:t>
            </a:r>
          </a:p>
          <a:p>
            <a:r>
              <a:rPr lang="en-US" altLang="ko-KR" sz="1050" dirty="0"/>
              <a:t>}</a:t>
            </a:r>
            <a:endParaRPr lang="ko-KR" altLang="en-US" sz="10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3E893B-F96E-CB85-DB72-F85AAFBF1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008" y="4614720"/>
            <a:ext cx="2530125" cy="145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0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5361</Words>
  <Application>Microsoft Office PowerPoint</Application>
  <PresentationFormat>와이드스크린</PresentationFormat>
  <Paragraphs>857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맑은 고딕</vt:lpstr>
      <vt:lpstr>Arial</vt:lpstr>
      <vt:lpstr>Wingdings</vt:lpstr>
      <vt:lpstr>Office 테마</vt:lpstr>
      <vt:lpstr>기본 API 클래스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7</cp:revision>
  <dcterms:created xsi:type="dcterms:W3CDTF">2024-11-16T10:25:19Z</dcterms:created>
  <dcterms:modified xsi:type="dcterms:W3CDTF">2024-12-17T15:41:39Z</dcterms:modified>
</cp:coreProperties>
</file>