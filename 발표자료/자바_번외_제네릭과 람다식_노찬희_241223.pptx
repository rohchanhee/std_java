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6" d="100"/>
          <a:sy n="106" d="100"/>
        </p:scale>
        <p:origin x="79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71EBCA-29E8-4EE1-972E-0576C90FD810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120D14-E29B-4DBE-868C-C9891809B8F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165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120D14-E29B-4DBE-868C-C9891809B8F3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371690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0A95239-5CF3-0163-4E77-E0461FDBED1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94A31259-BD30-935B-D387-45B3E31CC79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3B1B8A-95EC-EFA9-2920-F63B2B794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B867E84-F464-7617-2A4F-F6CB0B59B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5798FA4-C784-B71C-1800-E764323172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2075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845901-A360-9685-C9D0-142CCDAAEB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BAC0030-103B-F0B2-93BB-09A79E01C11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228B7FC-CFE9-A1B1-61A3-F690FB838D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E0150-4E12-697A-4C86-B3AB0DC6C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45CCAB7-DF93-BE29-9512-E931DEC4FC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22980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183D85-5E19-97F2-3064-601817BE8D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C769AC2-8D3A-E503-0482-84BE500F2B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F72415A-9B8A-1649-C3DB-B58BBFADC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C6FC505-307D-710D-9B2D-8CD38D4C5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A3321C3-40EB-C385-F7BC-33EDC2F9D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149210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1528D41-6C2A-BB83-569C-9F7D19BDBF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D94FD90-E620-EBF8-5ABA-7933243C656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E9E51A9-2C81-17B9-B136-1C00D6A2912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D3AE586-D237-B216-A46C-449CFC72FF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1630C6-7555-6475-8C0D-1D67E0BAD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E3BA23D-2DDE-3FBF-2D07-2F703F8CB4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92059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5D3E44-57FE-E878-C3F0-147004A6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987131D-3D2B-012E-A66A-8E30E2C96A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47805DF5-0FA8-8FFD-652A-4F33E38C34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3DBA8AD-906A-39ED-3BB7-936A94C385E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435706EB-24D1-CC6F-9DC1-9DFF86CE7EE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B27AF02-54A9-DB68-4741-6CDD9D48F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D37EAC82-DBD9-3C65-8485-01FAEC07C2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1875241-56BC-92B7-7AC9-8908C8B06D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91097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A70CEC6-0EEB-F7D8-36FB-4CC361E9D4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E1C994-75C3-F586-18DE-655E1E3301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C1E02ED-170A-9378-D809-F1E89D2E1D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DAB6E09-B1CE-D992-28A9-996C95F7E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34623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52E4D4D0-30C2-1A42-7BFD-1FCA28A8EF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CF1FF2AF-E9CE-7DFF-5AB8-DE9CAA593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5AE1EF6-009E-CE70-1756-A209BB24C6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151203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817FCAC-EDB7-E9D5-ACAE-6AF29CD044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7512EA7-D4FB-75D4-59FD-A5BC9D6113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94957F2-9394-A780-CD79-49FA956211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02FB6710-7882-05E9-DCB6-7A9000DF29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97288B3-2C9D-FB46-0008-8096860808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02C2E2B-662C-8684-8B5B-5A9887E37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23022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0E97221-A3FD-730E-D90A-5379E3100C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CB98F2B0-6718-BABD-16A1-3EB697FB5A6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A66ACBD-FC1B-641F-5CC6-7756D2C293F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DD54DB35-05A7-D287-0E02-E2FD660D8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148E70F-9E5A-C63A-CFFD-86F3F05AD0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531C41B3-2B05-16A1-4C36-8851832D32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0824627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2776D03-4244-CDB4-A0AA-6EC97D300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E9DE395-258F-131A-3FCC-3D6C79B518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DAB054D-722A-59C1-7F26-0E4C5550E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1C49381-C005-307D-0F92-EB858DFDD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B1F4D8C-6A57-4311-1EE8-A9FD58E15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189295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91A65F19-A2F8-5263-A730-DB27A39D38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3B4B96C3-41E6-B4B6-F577-19B3AFBC31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5920CEF-7883-1C42-98F3-FAF3D0EB08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FABB99E-F997-25BB-1DDC-CA167E4A7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17C83B0-6BCA-922E-441D-02F2FBE123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0415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E3F1C1FB-C942-1B7F-03B1-F1EBC277F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6B46AF7-8D50-FA89-32E4-80BDD30464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FF720A-8206-2226-991F-692E888E52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C0DED9-6D52-4114-887A-5B887536C1D4}" type="datetimeFigureOut">
              <a:rPr lang="ko-KR" altLang="en-US" smtClean="0"/>
              <a:t>2024-12-23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5208A6F-441C-48ED-B698-20ABF185A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F60F683-D894-398B-528C-A866529589A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96A77F-F07F-4B77-92D5-DC19F1E5415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13879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36F0C12-5D4E-6E9B-D505-E45EE684260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 altLang="en-US" dirty="0"/>
              <a:t>제네릭과 </a:t>
            </a:r>
            <a:r>
              <a:rPr lang="ko-KR" altLang="en-US" dirty="0" err="1"/>
              <a:t>람다식</a:t>
            </a:r>
            <a:endParaRPr lang="ko-KR" altLang="en-US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D4ABD2CA-D85E-35E0-EF91-C329042963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 altLang="en-US" dirty="0"/>
              <a:t>노찬희</a:t>
            </a:r>
          </a:p>
        </p:txBody>
      </p:sp>
    </p:spTree>
    <p:extLst>
      <p:ext uri="{BB962C8B-B14F-4D97-AF65-F5344CB8AC3E}">
        <p14:creationId xmlns:p14="http://schemas.microsoft.com/office/powerpoint/2010/main" val="7583561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19EE5B-A781-399B-FE3E-668C18E60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제네릭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제네릭</a:t>
            </a:r>
            <a:r>
              <a:rPr lang="en-US" altLang="ko-KR" sz="1400" dirty="0"/>
              <a:t>(Generic)</a:t>
            </a:r>
            <a:r>
              <a:rPr lang="ko-KR" altLang="en-US" sz="1400" dirty="0"/>
              <a:t>이란 결정되지 않은 타입을 파라미터로 처리하고 실제 사용할 때 파라미터를 구체적인 타입으로 대체시키는 기능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</a:t>
            </a:r>
            <a:r>
              <a:rPr lang="en-US" altLang="ko-KR" sz="1400" dirty="0"/>
              <a:t>Box &lt;T&gt;{</a:t>
            </a:r>
          </a:p>
          <a:p>
            <a:pPr marL="0" indent="0">
              <a:buNone/>
            </a:pPr>
            <a:r>
              <a:rPr lang="en-US" altLang="ko-KR" sz="1400" dirty="0"/>
              <a:t>	public T content;		&lt;T&gt;</a:t>
            </a:r>
            <a:r>
              <a:rPr lang="ko-KR" altLang="en-US" sz="1400" dirty="0"/>
              <a:t>는 </a:t>
            </a:r>
            <a:r>
              <a:rPr lang="en-US" altLang="ko-KR" sz="1400" dirty="0"/>
              <a:t>Box</a:t>
            </a:r>
            <a:r>
              <a:rPr lang="ko-KR" altLang="en-US" sz="1400" dirty="0"/>
              <a:t>객체가 생성될 시점에 다른 타입으로 대체된다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Box&lt;String&gt; box = new Box&lt;String&gt;();</a:t>
            </a:r>
          </a:p>
          <a:p>
            <a:pPr marL="0" indent="0">
              <a:buNone/>
            </a:pPr>
            <a:r>
              <a:rPr lang="en-US" altLang="ko-KR" sz="1400" dirty="0" err="1"/>
              <a:t>box.content</a:t>
            </a:r>
            <a:r>
              <a:rPr lang="en-US" altLang="ko-KR" sz="1400" dirty="0"/>
              <a:t> = “</a:t>
            </a:r>
            <a:r>
              <a:rPr lang="ko-KR" altLang="en-US" sz="1400" dirty="0"/>
              <a:t>안녕하세요</a:t>
            </a:r>
            <a:r>
              <a:rPr lang="en-US" altLang="ko-KR" sz="1400" dirty="0"/>
              <a:t>”;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Box&lt;Integer&gt; box = new Box&lt;Integer&gt;();</a:t>
            </a:r>
          </a:p>
          <a:p>
            <a:pPr marL="0" indent="0">
              <a:buNone/>
            </a:pPr>
            <a:r>
              <a:rPr lang="en-US" altLang="ko-KR" sz="1400" dirty="0" err="1"/>
              <a:t>box.content</a:t>
            </a:r>
            <a:r>
              <a:rPr lang="en-US" altLang="ko-KR" sz="1400" dirty="0"/>
              <a:t> = 100;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-&lt;T&gt;</a:t>
            </a:r>
            <a:r>
              <a:rPr lang="ko-KR" altLang="en-US" sz="1400" dirty="0"/>
              <a:t>에서 </a:t>
            </a:r>
            <a:r>
              <a:rPr lang="en-US" altLang="ko-KR" sz="1400" dirty="0"/>
              <a:t>T</a:t>
            </a:r>
            <a:r>
              <a:rPr lang="ko-KR" altLang="en-US" sz="1400" dirty="0"/>
              <a:t>는 단지 이름이기 때문에 어떠한 알파벳이 들어가도 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-&lt;T&gt;</a:t>
            </a:r>
            <a:r>
              <a:rPr lang="ko-KR" altLang="en-US" sz="1400" dirty="0"/>
              <a:t>의 대체타입은 클래스 및 인터페이스이다</a:t>
            </a:r>
            <a:r>
              <a:rPr lang="en-US" altLang="ko-KR" sz="1400" dirty="0"/>
              <a:t>, (</a:t>
            </a:r>
            <a:r>
              <a:rPr lang="ko-KR" altLang="en-US" sz="1400" dirty="0"/>
              <a:t>기본타입 </a:t>
            </a:r>
            <a:r>
              <a:rPr lang="en-US" altLang="ko-KR" sz="1400" dirty="0"/>
              <a:t>X)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객체 생성시 생성자에는 파라미터 생략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Box&lt;String&gt; box = new Box&lt;String&gt;();	=	Box&lt;String&gt; box = new Box&lt;&gt;();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3675757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F31A75-58A1-339C-5643-86AA47319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D1CAFD-1147-07DB-AA7E-86479DCAB8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GenericExample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Box </a:t>
            </a:r>
            <a:r>
              <a:rPr lang="ko-KR" altLang="en-US" sz="1400" dirty="0"/>
              <a:t>객체 생성 </a:t>
            </a:r>
            <a:r>
              <a:rPr lang="en-US" altLang="ko-KR" sz="1400" dirty="0"/>
              <a:t>(String </a:t>
            </a:r>
            <a:r>
              <a:rPr lang="ko-KR" altLang="en-US" sz="1400" dirty="0"/>
              <a:t>타입으로 제네릭 지정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Box&lt;String&gt; box1 = new Box&lt;&gt;();</a:t>
            </a:r>
          </a:p>
          <a:p>
            <a:pPr marL="0" indent="0">
              <a:buNone/>
            </a:pPr>
            <a:r>
              <a:rPr lang="en-US" altLang="ko-KR" sz="1400" dirty="0"/>
              <a:t>        box1.content = "</a:t>
            </a:r>
            <a:r>
              <a:rPr lang="ko-KR" altLang="en-US" sz="1400" dirty="0"/>
              <a:t>안녕하세요</a:t>
            </a:r>
            <a:r>
              <a:rPr lang="en-US" altLang="ko-KR" sz="1400" dirty="0"/>
              <a:t>"; // </a:t>
            </a:r>
            <a:r>
              <a:rPr lang="ko-KR" altLang="en-US" sz="1400" dirty="0"/>
              <a:t>문자열 데이터를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String str = box1.content;  // </a:t>
            </a:r>
            <a:r>
              <a:rPr lang="ko-KR" altLang="en-US" sz="1400" dirty="0"/>
              <a:t>저장된 문자열을 꺼냄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(str);     </a:t>
            </a:r>
            <a:endParaRPr lang="ko-KR" altLang="en-US" sz="1400" dirty="0"/>
          </a:p>
          <a:p>
            <a:pPr marL="0" indent="0">
              <a:buNone/>
            </a:pPr>
            <a:endParaRPr lang="ko-KR" altLang="en-US" sz="1400" dirty="0"/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// Box </a:t>
            </a:r>
            <a:r>
              <a:rPr lang="ko-KR" altLang="en-US" sz="1400" dirty="0"/>
              <a:t>객체 생성 </a:t>
            </a:r>
            <a:r>
              <a:rPr lang="en-US" altLang="ko-KR" sz="1400" dirty="0"/>
              <a:t>(Integer </a:t>
            </a:r>
            <a:r>
              <a:rPr lang="ko-KR" altLang="en-US" sz="1400" dirty="0"/>
              <a:t>타입으로 제네릭 지정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    Box&lt;Integer&gt; box2 = new Box&lt;&gt;();</a:t>
            </a:r>
          </a:p>
          <a:p>
            <a:pPr marL="0" indent="0">
              <a:buNone/>
            </a:pPr>
            <a:r>
              <a:rPr lang="en-US" altLang="ko-KR" sz="1400" dirty="0"/>
              <a:t>        box2.content = 100;        // </a:t>
            </a:r>
            <a:r>
              <a:rPr lang="ko-KR" altLang="en-US" sz="1400" dirty="0"/>
              <a:t>정수 데이터를 저장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value = box2.content;  // </a:t>
            </a:r>
            <a:r>
              <a:rPr lang="ko-KR" altLang="en-US" sz="1400" dirty="0"/>
              <a:t>저장된 정수를 꺼냄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(value);  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11C7473-DF5F-2499-4C20-B28D44CBDAD6}"/>
              </a:ext>
            </a:extLst>
          </p:cNvPr>
          <p:cNvSpPr txBox="1"/>
          <p:nvPr/>
        </p:nvSpPr>
        <p:spPr>
          <a:xfrm>
            <a:off x="0" y="0"/>
            <a:ext cx="3192855" cy="73866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Box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T</a:t>
            </a:r>
            <a:r>
              <a:rPr lang="ko-KR" altLang="en-US" sz="1400" dirty="0"/>
              <a:t>&gt; {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content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38DCA7B5-5A9D-AA24-D741-01E66A660C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0189" y="2816807"/>
            <a:ext cx="1488211" cy="7528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49020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C0C058-034A-0BCD-9BA0-1993A8262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59D8AE-2DFB-A416-7696-A5CC7EC5A5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제네릭 타입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결정되지 않은 타입을 파라미터로 가지는 클래스</a:t>
            </a:r>
            <a:r>
              <a:rPr lang="en-US" altLang="ko-KR" sz="1400" dirty="0"/>
              <a:t>/</a:t>
            </a:r>
            <a:r>
              <a:rPr lang="ko-KR" altLang="en-US" sz="1400" dirty="0"/>
              <a:t>인터페이스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</a:t>
            </a:r>
            <a:r>
              <a:rPr lang="ko-KR" altLang="en-US" sz="1400" dirty="0"/>
              <a:t> </a:t>
            </a:r>
            <a:r>
              <a:rPr lang="en-US" altLang="ko-KR" sz="1400" dirty="0"/>
              <a:t>class</a:t>
            </a:r>
            <a:r>
              <a:rPr lang="ko-KR" altLang="en-US" sz="1400" dirty="0"/>
              <a:t> 클래스이름</a:t>
            </a:r>
            <a:r>
              <a:rPr lang="en-US" altLang="ko-KR" sz="1400" dirty="0"/>
              <a:t>&lt;T&gt;{...}</a:t>
            </a:r>
          </a:p>
          <a:p>
            <a:pPr marL="0" indent="0">
              <a:buNone/>
            </a:pPr>
            <a:r>
              <a:rPr lang="en-US" altLang="ko-KR" sz="1400" dirty="0"/>
              <a:t>public interface </a:t>
            </a:r>
            <a:r>
              <a:rPr lang="ko-KR" altLang="en-US" sz="1400" dirty="0"/>
              <a:t>인터페이스이름</a:t>
            </a:r>
            <a:r>
              <a:rPr lang="en-US" altLang="ko-KR" sz="1400" dirty="0"/>
              <a:t>&lt;T&gt;{...}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일반적으로 타입 파라미터는 대문자 알파벳 한 글자로 표현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외부에서 </a:t>
            </a:r>
            <a:r>
              <a:rPr lang="ko-KR" altLang="en-US" sz="1400" dirty="0" err="1"/>
              <a:t>제네릭타입을</a:t>
            </a:r>
            <a:r>
              <a:rPr lang="ko-KR" altLang="en-US" sz="1400" dirty="0"/>
              <a:t> 사용하려면 구체적인 타입을 </a:t>
            </a:r>
            <a:r>
              <a:rPr lang="ko-KR" altLang="en-US" sz="1400" dirty="0" err="1"/>
              <a:t>정해야됨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만약 타입을 정하지 않으면 최상위 클래스인 </a:t>
            </a:r>
            <a:r>
              <a:rPr lang="en-US" altLang="ko-KR" sz="1400" dirty="0"/>
              <a:t>Object</a:t>
            </a:r>
            <a:r>
              <a:rPr lang="ko-KR" altLang="en-US" sz="1400" dirty="0"/>
              <a:t>클래스로 간주함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public &lt;T&gt; Box&lt;T&gt; boxing(T t){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파라미터 타입</a:t>
            </a:r>
            <a:r>
              <a:rPr lang="en-US" altLang="ko-KR" sz="1400" dirty="0"/>
              <a:t>: &lt;T&gt;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반환형</a:t>
            </a:r>
            <a:r>
              <a:rPr lang="en-US" altLang="ko-KR" sz="1400" dirty="0"/>
              <a:t>: Box&lt;T&gt;</a:t>
            </a:r>
          </a:p>
          <a:p>
            <a:pPr marL="0" indent="0">
              <a:buNone/>
            </a:pPr>
            <a:r>
              <a:rPr lang="en-US" altLang="ko-KR" sz="1400" dirty="0"/>
              <a:t>	//</a:t>
            </a:r>
            <a:r>
              <a:rPr lang="ko-KR" altLang="en-US" sz="1400" dirty="0"/>
              <a:t>매개 변수</a:t>
            </a:r>
            <a:r>
              <a:rPr lang="en-US" altLang="ko-KR" sz="1400" dirty="0"/>
              <a:t>: T </a:t>
            </a:r>
            <a:r>
              <a:rPr lang="en-US" altLang="ko-KR" sz="1400" dirty="0" err="1"/>
              <a:t>t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4913522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3E9FEE-54DD-5A6C-5AD9-65D28DE7C4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F760D49-BC7F-8E70-29D7-33D1C1198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 </a:t>
            </a: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EB8303D-85D2-6EC8-48EA-155672BE80B7}"/>
              </a:ext>
            </a:extLst>
          </p:cNvPr>
          <p:cNvSpPr txBox="1"/>
          <p:nvPr/>
        </p:nvSpPr>
        <p:spPr>
          <a:xfrm>
            <a:off x="0" y="0"/>
            <a:ext cx="16183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C665548-C3BE-46BF-FA9D-F932831CD8D1}"/>
              </a:ext>
            </a:extLst>
          </p:cNvPr>
          <p:cNvSpPr txBox="1"/>
          <p:nvPr/>
        </p:nvSpPr>
        <p:spPr>
          <a:xfrm>
            <a:off x="1618307" y="0"/>
            <a:ext cx="1618307" cy="52322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public class Tv {</a:t>
            </a:r>
          </a:p>
          <a:p>
            <a:r>
              <a:rPr lang="en-US" altLang="ko-KR" sz="14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B350A5-1390-B7B6-0008-139C02959E4E}"/>
              </a:ext>
            </a:extLst>
          </p:cNvPr>
          <p:cNvSpPr txBox="1"/>
          <p:nvPr/>
        </p:nvSpPr>
        <p:spPr>
          <a:xfrm>
            <a:off x="6550182" y="0"/>
            <a:ext cx="5641818" cy="28931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//제네릭 타입</a:t>
            </a:r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Product</a:t>
            </a:r>
            <a:r>
              <a:rPr lang="ko-KR" altLang="en-US" sz="1400" dirty="0"/>
              <a:t>&lt;K, </a:t>
            </a:r>
            <a:r>
              <a:rPr lang="ko-KR" altLang="en-US" sz="1400" dirty="0" err="1"/>
              <a:t>M</a:t>
            </a:r>
            <a:r>
              <a:rPr lang="ko-KR" altLang="en-US" sz="1400" dirty="0"/>
              <a:t>&gt; {</a:t>
            </a:r>
          </a:p>
          <a:p>
            <a:r>
              <a:rPr lang="ko-KR" altLang="en-US" sz="1400" dirty="0"/>
              <a:t>	//필드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private</a:t>
            </a:r>
            <a:r>
              <a:rPr lang="ko-KR" altLang="en-US" sz="1400" dirty="0"/>
              <a:t> K </a:t>
            </a:r>
            <a:r>
              <a:rPr lang="ko-KR" altLang="en-US" sz="1400" dirty="0" err="1"/>
              <a:t>kind</a:t>
            </a:r>
            <a:r>
              <a:rPr lang="ko-KR" altLang="en-US" sz="1400" dirty="0"/>
              <a:t>;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private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model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/>
              <a:t>	//메소드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K </a:t>
            </a:r>
            <a:r>
              <a:rPr lang="ko-KR" altLang="en-US" sz="1400" dirty="0" err="1"/>
              <a:t>getKind</a:t>
            </a:r>
            <a:r>
              <a:rPr lang="ko-KR" altLang="en-US" sz="1400" dirty="0"/>
              <a:t>() {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this.kind</a:t>
            </a:r>
            <a:r>
              <a:rPr lang="ko-KR" altLang="en-US" sz="1400" dirty="0"/>
              <a:t>; }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getModel</a:t>
            </a:r>
            <a:r>
              <a:rPr lang="ko-KR" altLang="en-US" sz="1400" dirty="0"/>
              <a:t>() { 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this.model</a:t>
            </a:r>
            <a:r>
              <a:rPr lang="ko-KR" altLang="en-US" sz="1400" dirty="0"/>
              <a:t>; }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setKind</a:t>
            </a:r>
            <a:r>
              <a:rPr lang="ko-KR" altLang="en-US" sz="1400" dirty="0"/>
              <a:t>(K </a:t>
            </a:r>
            <a:r>
              <a:rPr lang="ko-KR" altLang="en-US" sz="1400" dirty="0" err="1"/>
              <a:t>kind</a:t>
            </a:r>
            <a:r>
              <a:rPr lang="ko-KR" altLang="en-US" sz="1400" dirty="0"/>
              <a:t>) { </a:t>
            </a:r>
            <a:r>
              <a:rPr lang="ko-KR" altLang="en-US" sz="1400" dirty="0" err="1"/>
              <a:t>this.kind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kind</a:t>
            </a:r>
            <a:r>
              <a:rPr lang="ko-KR" altLang="en-US" sz="1400" dirty="0"/>
              <a:t>; }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setModel</a:t>
            </a:r>
            <a:r>
              <a:rPr lang="ko-KR" altLang="en-US" sz="1400" dirty="0"/>
              <a:t>(</a:t>
            </a:r>
            <a:r>
              <a:rPr lang="ko-KR" altLang="en-US" sz="1400" dirty="0" err="1"/>
              <a:t>M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model</a:t>
            </a:r>
            <a:r>
              <a:rPr lang="ko-KR" altLang="en-US" sz="1400" dirty="0"/>
              <a:t>) { </a:t>
            </a:r>
            <a:r>
              <a:rPr lang="ko-KR" altLang="en-US" sz="1400" dirty="0" err="1"/>
              <a:t>this.model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model</a:t>
            </a:r>
            <a:r>
              <a:rPr lang="ko-KR" altLang="en-US" sz="1400" dirty="0"/>
              <a:t>; }</a:t>
            </a:r>
          </a:p>
          <a:p>
            <a:r>
              <a:rPr lang="ko-KR" altLang="en-US" sz="1400" dirty="0"/>
              <a:t>}</a:t>
            </a:r>
          </a:p>
          <a:p>
            <a:endParaRPr lang="ko-KR" altLang="en-US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2C4B885-616E-F227-29B0-E5E046426BD5}"/>
              </a:ext>
            </a:extLst>
          </p:cNvPr>
          <p:cNvSpPr txBox="1"/>
          <p:nvPr/>
        </p:nvSpPr>
        <p:spPr>
          <a:xfrm>
            <a:off x="-19616" y="523220"/>
            <a:ext cx="6115616" cy="59093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GenericExample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    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{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K는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Tv로</a:t>
            </a:r>
            <a:r>
              <a:rPr lang="ko-KR" altLang="en-US" sz="1400" dirty="0"/>
              <a:t> 대체, </a:t>
            </a:r>
            <a:r>
              <a:rPr lang="ko-KR" altLang="en-US" sz="1400" dirty="0" err="1"/>
              <a:t>M은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String으로</a:t>
            </a:r>
            <a:r>
              <a:rPr lang="ko-KR" altLang="en-US" sz="1400" dirty="0"/>
              <a:t> 대체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Product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Tv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&gt; product1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Product</a:t>
            </a:r>
            <a:r>
              <a:rPr lang="ko-KR" altLang="en-US" sz="1400" dirty="0"/>
              <a:t>&lt;&gt;();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Setter에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Tv와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Stirng을</a:t>
            </a:r>
            <a:r>
              <a:rPr lang="ko-KR" altLang="en-US" sz="1400" dirty="0"/>
              <a:t> 제공</a:t>
            </a:r>
          </a:p>
          <a:p>
            <a:r>
              <a:rPr lang="ko-KR" altLang="en-US" sz="1400" dirty="0"/>
              <a:t>        product1.setKind(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Tv</a:t>
            </a:r>
            <a:r>
              <a:rPr lang="ko-KR" altLang="en-US" sz="1400" dirty="0"/>
              <a:t>()); // </a:t>
            </a:r>
            <a:r>
              <a:rPr lang="ko-KR" altLang="en-US" sz="1400" dirty="0" err="1"/>
              <a:t>Tv</a:t>
            </a:r>
            <a:r>
              <a:rPr lang="ko-KR" altLang="en-US" sz="1400" dirty="0"/>
              <a:t> 객체를 </a:t>
            </a:r>
            <a:r>
              <a:rPr lang="ko-KR" altLang="en-US" sz="1400" dirty="0" err="1"/>
              <a:t>kind에</a:t>
            </a:r>
            <a:r>
              <a:rPr lang="ko-KR" altLang="en-US" sz="1400" dirty="0"/>
              <a:t> 저장</a:t>
            </a:r>
          </a:p>
          <a:p>
            <a:r>
              <a:rPr lang="ko-KR" altLang="en-US" sz="1400" dirty="0"/>
              <a:t>        product1.setModel("</a:t>
            </a:r>
            <a:r>
              <a:rPr lang="ko-KR" altLang="en-US" sz="1400" dirty="0" err="1"/>
              <a:t>스마트Tv</a:t>
            </a:r>
            <a:r>
              <a:rPr lang="ko-KR" altLang="en-US" sz="1400" dirty="0"/>
              <a:t>"); // "</a:t>
            </a:r>
            <a:r>
              <a:rPr lang="ko-KR" altLang="en-US" sz="1400" dirty="0" err="1"/>
              <a:t>스마트Tv"를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model에</a:t>
            </a:r>
            <a:r>
              <a:rPr lang="ko-KR" altLang="en-US" sz="1400" dirty="0"/>
              <a:t> 저장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Getter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리턴값은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Tv와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String이</a:t>
            </a:r>
            <a:r>
              <a:rPr lang="ko-KR" altLang="en-US" sz="1400" dirty="0"/>
              <a:t> 됨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Tv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tv</a:t>
            </a:r>
            <a:r>
              <a:rPr lang="ko-KR" altLang="en-US" sz="1400" dirty="0"/>
              <a:t> = product1.getKind(); // </a:t>
            </a:r>
            <a:r>
              <a:rPr lang="ko-KR" altLang="en-US" sz="1400" dirty="0" err="1"/>
              <a:t>kind에서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Tv</a:t>
            </a:r>
            <a:r>
              <a:rPr lang="ko-KR" altLang="en-US" sz="1400" dirty="0"/>
              <a:t> 객체 반환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tvModel</a:t>
            </a:r>
            <a:r>
              <a:rPr lang="ko-KR" altLang="en-US" sz="1400" dirty="0"/>
              <a:t> = product1.getModel(); // </a:t>
            </a:r>
            <a:r>
              <a:rPr lang="ko-KR" altLang="en-US" sz="1400" dirty="0" err="1"/>
              <a:t>model에서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 반환</a:t>
            </a:r>
          </a:p>
          <a:p>
            <a:r>
              <a:rPr lang="ko-KR" altLang="en-US" sz="1400" dirty="0"/>
              <a:t>        </a:t>
            </a:r>
            <a:r>
              <a:rPr lang="en-US" altLang="ko-KR" sz="1400" dirty="0"/>
              <a:t>	</a:t>
            </a:r>
          </a:p>
          <a:p>
            <a:endParaRPr lang="en-US" altLang="ko-KR" sz="1400" dirty="0"/>
          </a:p>
          <a:p>
            <a:endParaRPr lang="ko-KR" altLang="en-US" sz="1400" dirty="0"/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K는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Car로</a:t>
            </a:r>
            <a:r>
              <a:rPr lang="ko-KR" altLang="en-US" sz="1400" dirty="0"/>
              <a:t> 대체, </a:t>
            </a:r>
            <a:r>
              <a:rPr lang="ko-KR" altLang="en-US" sz="1400" dirty="0" err="1"/>
              <a:t>M은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String으로</a:t>
            </a:r>
            <a:r>
              <a:rPr lang="ko-KR" altLang="en-US" sz="1400" dirty="0"/>
              <a:t> 대체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Product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Car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&gt; product2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Product</a:t>
            </a:r>
            <a:r>
              <a:rPr lang="ko-KR" altLang="en-US" sz="1400" dirty="0"/>
              <a:t>&lt;&gt;();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Setter에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String을</a:t>
            </a:r>
            <a:r>
              <a:rPr lang="ko-KR" altLang="en-US" sz="1400" dirty="0"/>
              <a:t> 제공</a:t>
            </a:r>
          </a:p>
          <a:p>
            <a:r>
              <a:rPr lang="ko-KR" altLang="en-US" sz="1400" dirty="0"/>
              <a:t>        product2.setKind(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</a:t>
            </a:r>
            <a:r>
              <a:rPr lang="ko-KR" altLang="en-US" sz="1400" dirty="0"/>
              <a:t>()); // </a:t>
            </a:r>
            <a:r>
              <a:rPr lang="ko-KR" altLang="en-US" sz="1400" dirty="0" err="1"/>
              <a:t>Car</a:t>
            </a:r>
            <a:r>
              <a:rPr lang="ko-KR" altLang="en-US" sz="1400" dirty="0"/>
              <a:t> 객체를 </a:t>
            </a:r>
            <a:r>
              <a:rPr lang="ko-KR" altLang="en-US" sz="1400" dirty="0" err="1"/>
              <a:t>kind에</a:t>
            </a:r>
            <a:r>
              <a:rPr lang="ko-KR" altLang="en-US" sz="1400" dirty="0"/>
              <a:t> 저장</a:t>
            </a:r>
          </a:p>
          <a:p>
            <a:r>
              <a:rPr lang="ko-KR" altLang="en-US" sz="1400" dirty="0"/>
              <a:t>        product2.setModel("</a:t>
            </a:r>
            <a:r>
              <a:rPr lang="ko-KR" altLang="en-US" sz="1400" dirty="0" err="1"/>
              <a:t>SUV자동차</a:t>
            </a:r>
            <a:r>
              <a:rPr lang="ko-KR" altLang="en-US" sz="1400" dirty="0"/>
              <a:t>"); // "</a:t>
            </a:r>
            <a:r>
              <a:rPr lang="ko-KR" altLang="en-US" sz="1400" dirty="0" err="1"/>
              <a:t>SUV자동차"를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model에</a:t>
            </a:r>
            <a:r>
              <a:rPr lang="ko-KR" altLang="en-US" sz="1400" dirty="0"/>
              <a:t> 저장</a:t>
            </a:r>
          </a:p>
          <a:p>
            <a:r>
              <a:rPr lang="ko-KR" altLang="en-US" sz="1400" dirty="0"/>
              <a:t>        </a:t>
            </a:r>
          </a:p>
          <a:p>
            <a:r>
              <a:rPr lang="ko-KR" altLang="en-US" sz="1400" dirty="0"/>
              <a:t>        // </a:t>
            </a:r>
            <a:r>
              <a:rPr lang="ko-KR" altLang="en-US" sz="1400" dirty="0" err="1"/>
              <a:t>Getter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리턴값은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Car와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String이</a:t>
            </a:r>
            <a:r>
              <a:rPr lang="ko-KR" altLang="en-US" sz="1400" dirty="0"/>
              <a:t> 됨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Car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</a:t>
            </a:r>
            <a:r>
              <a:rPr lang="ko-KR" altLang="en-US" sz="1400" dirty="0"/>
              <a:t> = product2.getKind(); // </a:t>
            </a:r>
            <a:r>
              <a:rPr lang="ko-KR" altLang="en-US" sz="1400" dirty="0" err="1"/>
              <a:t>kind에서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</a:t>
            </a:r>
            <a:r>
              <a:rPr lang="ko-KR" altLang="en-US" sz="1400" dirty="0"/>
              <a:t> 객체 반환</a:t>
            </a:r>
          </a:p>
          <a:p>
            <a:r>
              <a:rPr lang="ko-KR" altLang="en-US" sz="1400" dirty="0"/>
              <a:t>       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carModel</a:t>
            </a:r>
            <a:r>
              <a:rPr lang="ko-KR" altLang="en-US" sz="1400" dirty="0"/>
              <a:t> = product2.getModel(); // </a:t>
            </a:r>
            <a:r>
              <a:rPr lang="ko-KR" altLang="en-US" sz="1400" dirty="0" err="1"/>
              <a:t>model에서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 반환</a:t>
            </a:r>
          </a:p>
          <a:p>
            <a:r>
              <a:rPr lang="ko-KR" altLang="en-US" sz="1400" dirty="0"/>
              <a:t>    }</a:t>
            </a:r>
          </a:p>
          <a:p>
            <a:r>
              <a:rPr lang="ko-KR" alt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1379066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E0B041-F413-D723-40DA-3D0F9C763F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762627-1034-7B17-9964-7652D9D181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제네릭 메소드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타입 파라미터를 갖고 있는 메소드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리턴 타입 앞에 타입 파라미터를 정의한다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// </a:t>
            </a:r>
            <a:r>
              <a:rPr lang="ko-KR" altLang="en-US" sz="1400" dirty="0"/>
              <a:t>제네릭 메소드 정의</a:t>
            </a:r>
          </a:p>
          <a:p>
            <a:pPr marL="0" indent="0">
              <a:buNone/>
            </a:pPr>
            <a:r>
              <a:rPr lang="en-US" altLang="ko-KR" sz="1400" dirty="0"/>
              <a:t>public static &lt;T&gt; Box&lt;T&gt; boxing(T t) {</a:t>
            </a:r>
          </a:p>
          <a:p>
            <a:pPr marL="0" indent="0">
              <a:buNone/>
            </a:pPr>
            <a:r>
              <a:rPr lang="en-US" altLang="ko-KR" sz="1400" dirty="0"/>
              <a:t>    Box&lt;T&gt; box = new Box&lt;T&gt;(); // Box </a:t>
            </a:r>
            <a:r>
              <a:rPr lang="ko-KR" altLang="en-US" sz="1400" dirty="0"/>
              <a:t>객체를 생성</a:t>
            </a:r>
            <a:r>
              <a:rPr lang="en-US" altLang="ko-KR" sz="1400" dirty="0"/>
              <a:t>, </a:t>
            </a:r>
            <a:r>
              <a:rPr lang="ko-KR" altLang="en-US" sz="1400" dirty="0"/>
              <a:t>타입은 전달받은 </a:t>
            </a:r>
            <a:r>
              <a:rPr lang="en-US" altLang="ko-KR" sz="1400" dirty="0"/>
              <a:t>T</a:t>
            </a:r>
            <a:r>
              <a:rPr lang="ko-KR" altLang="en-US" sz="1400" dirty="0"/>
              <a:t>로 지정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box.set</a:t>
            </a:r>
            <a:r>
              <a:rPr lang="en-US" altLang="ko-KR" sz="1400" dirty="0"/>
              <a:t>(t); // </a:t>
            </a:r>
            <a:r>
              <a:rPr lang="ko-KR" altLang="en-US" sz="1400" dirty="0"/>
              <a:t>전달받은 값 </a:t>
            </a:r>
            <a:r>
              <a:rPr lang="en-US" altLang="ko-KR" sz="1400" dirty="0"/>
              <a:t>t</a:t>
            </a:r>
            <a:r>
              <a:rPr lang="ko-KR" altLang="en-US" sz="1400" dirty="0"/>
              <a:t>를 </a:t>
            </a:r>
            <a:r>
              <a:rPr lang="en-US" altLang="ko-KR" sz="1400" dirty="0"/>
              <a:t>Box </a:t>
            </a:r>
            <a:r>
              <a:rPr lang="ko-KR" altLang="en-US" sz="1400" dirty="0"/>
              <a:t>객체에 저장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return box; // Box </a:t>
            </a:r>
            <a:r>
              <a:rPr lang="ko-KR" altLang="en-US" sz="1400" dirty="0"/>
              <a:t>객체 반환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제네릭 메소드 호출 </a:t>
            </a:r>
            <a:r>
              <a:rPr lang="en-US" altLang="ko-KR" sz="1400" dirty="0"/>
              <a:t>(Integer </a:t>
            </a:r>
            <a:r>
              <a:rPr lang="ko-KR" altLang="en-US" sz="1400" dirty="0"/>
              <a:t>타입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Box&lt;Integer&gt; box1 = boxing(100); // boxing </a:t>
            </a:r>
            <a:r>
              <a:rPr lang="ko-KR" altLang="en-US" sz="1400" dirty="0"/>
              <a:t>메소드를 호출해 </a:t>
            </a:r>
            <a:r>
              <a:rPr lang="en-US" altLang="ko-KR" sz="1400" dirty="0"/>
              <a:t>Integer </a:t>
            </a:r>
            <a:r>
              <a:rPr lang="ko-KR" altLang="en-US" sz="1400" dirty="0"/>
              <a:t>값 저장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int 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 = box1.get(); // </a:t>
            </a:r>
            <a:r>
              <a:rPr lang="ko-KR" altLang="en-US" sz="1400" dirty="0"/>
              <a:t>저장된 </a:t>
            </a:r>
            <a:r>
              <a:rPr lang="en-US" altLang="ko-KR" sz="1400" dirty="0"/>
              <a:t>Integer </a:t>
            </a:r>
            <a:r>
              <a:rPr lang="ko-KR" altLang="en-US" sz="1400" dirty="0"/>
              <a:t>값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intValue</a:t>
            </a:r>
            <a:r>
              <a:rPr lang="en-US" altLang="ko-KR" sz="1400" dirty="0"/>
              <a:t>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100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// </a:t>
            </a:r>
            <a:r>
              <a:rPr lang="ko-KR" altLang="en-US" sz="1400" dirty="0"/>
              <a:t>제네릭 메소드 호출 </a:t>
            </a:r>
            <a:r>
              <a:rPr lang="en-US" altLang="ko-KR" sz="1400" dirty="0"/>
              <a:t>(String </a:t>
            </a:r>
            <a:r>
              <a:rPr lang="ko-KR" altLang="en-US" sz="1400" dirty="0"/>
              <a:t>타입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    Box&lt;String&gt; box2 = boxing("</a:t>
            </a:r>
            <a:r>
              <a:rPr lang="ko-KR" altLang="en-US" sz="1400" dirty="0"/>
              <a:t>홍길동</a:t>
            </a:r>
            <a:r>
              <a:rPr lang="en-US" altLang="ko-KR" sz="1400" dirty="0"/>
              <a:t>"); // boxing </a:t>
            </a:r>
            <a:r>
              <a:rPr lang="ko-KR" altLang="en-US" sz="1400" dirty="0"/>
              <a:t>메소드를 호출해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값 저장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String </a:t>
            </a:r>
            <a:r>
              <a:rPr lang="en-US" altLang="ko-KR" sz="1400" dirty="0" err="1"/>
              <a:t>strValue</a:t>
            </a:r>
            <a:r>
              <a:rPr lang="en-US" altLang="ko-KR" sz="1400" dirty="0"/>
              <a:t> = box2.get(); // </a:t>
            </a:r>
            <a:r>
              <a:rPr lang="ko-KR" altLang="en-US" sz="1400" dirty="0"/>
              <a:t>저장된 </a:t>
            </a:r>
            <a:r>
              <a:rPr lang="en-US" altLang="ko-KR" sz="1400" dirty="0"/>
              <a:t>String </a:t>
            </a:r>
            <a:r>
              <a:rPr lang="ko-KR" altLang="en-US" sz="1400" dirty="0"/>
              <a:t>값 반환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</a:t>
            </a:r>
            <a:r>
              <a:rPr lang="en-US" altLang="ko-KR" sz="1400" dirty="0" err="1"/>
              <a:t>strValue</a:t>
            </a:r>
            <a:r>
              <a:rPr lang="en-US" altLang="ko-KR" sz="1400" dirty="0"/>
              <a:t>); // </a:t>
            </a:r>
            <a:r>
              <a:rPr lang="ko-KR" altLang="en-US" sz="1400" dirty="0"/>
              <a:t>출력</a:t>
            </a:r>
            <a:r>
              <a:rPr lang="en-US" altLang="ko-KR" sz="1400" dirty="0"/>
              <a:t>: </a:t>
            </a:r>
            <a:r>
              <a:rPr lang="ko-KR" altLang="en-US" sz="1400" dirty="0"/>
              <a:t>홍길동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58B672-828C-093F-78A9-13740C3EE5C3}"/>
              </a:ext>
            </a:extLst>
          </p:cNvPr>
          <p:cNvSpPr txBox="1"/>
          <p:nvPr/>
        </p:nvSpPr>
        <p:spPr>
          <a:xfrm>
            <a:off x="8633988" y="0"/>
            <a:ext cx="3558012" cy="224676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Box</a:t>
            </a:r>
            <a:r>
              <a:rPr lang="ko-KR" altLang="en-US" sz="1400" dirty="0"/>
              <a:t>&lt;</a:t>
            </a:r>
            <a:r>
              <a:rPr lang="ko-KR" altLang="en-US" sz="1400" dirty="0" err="1"/>
              <a:t>T</a:t>
            </a:r>
            <a:r>
              <a:rPr lang="ko-KR" altLang="en-US" sz="1400" dirty="0"/>
              <a:t>&gt; {</a:t>
            </a:r>
          </a:p>
          <a:p>
            <a:r>
              <a:rPr lang="ko-KR" altLang="en-US" sz="1400" dirty="0"/>
              <a:t>	// 필드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private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;</a:t>
            </a:r>
          </a:p>
          <a:p>
            <a:endParaRPr lang="ko-KR" altLang="en-US" sz="1400" dirty="0"/>
          </a:p>
          <a:p>
            <a:r>
              <a:rPr lang="ko-KR" altLang="en-US" sz="1400" dirty="0"/>
              <a:t>	// </a:t>
            </a:r>
            <a:r>
              <a:rPr lang="ko-KR" altLang="en-US" sz="1400" dirty="0" err="1"/>
              <a:t>Getter</a:t>
            </a:r>
            <a:r>
              <a:rPr lang="ko-KR" altLang="en-US" sz="1400" dirty="0"/>
              <a:t> 메소드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get</a:t>
            </a:r>
            <a:r>
              <a:rPr lang="ko-KR" altLang="en-US" sz="1400" dirty="0"/>
              <a:t>() {</a:t>
            </a:r>
            <a:r>
              <a:rPr lang="ko-KR" altLang="en-US" sz="1400" dirty="0" err="1"/>
              <a:t>return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;}</a:t>
            </a:r>
          </a:p>
          <a:p>
            <a:endParaRPr lang="ko-KR" altLang="en-US" sz="1400" dirty="0"/>
          </a:p>
          <a:p>
            <a:r>
              <a:rPr lang="ko-KR" altLang="en-US" sz="1400" dirty="0"/>
              <a:t>	// </a:t>
            </a:r>
            <a:r>
              <a:rPr lang="ko-KR" altLang="en-US" sz="1400" dirty="0" err="1"/>
              <a:t>Setter</a:t>
            </a:r>
            <a:r>
              <a:rPr lang="ko-KR" altLang="en-US" sz="1400" dirty="0"/>
              <a:t> 메소드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set</a:t>
            </a:r>
            <a:r>
              <a:rPr lang="ko-KR" altLang="en-US" sz="1400" dirty="0"/>
              <a:t>(</a:t>
            </a:r>
            <a:r>
              <a:rPr lang="ko-KR" altLang="en-US" sz="1400" dirty="0" err="1"/>
              <a:t>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) {this.t = </a:t>
            </a:r>
            <a:r>
              <a:rPr lang="ko-KR" altLang="en-US" sz="1400" dirty="0" err="1"/>
              <a:t>t</a:t>
            </a:r>
            <a:r>
              <a:rPr lang="ko-KR" altLang="en-US" sz="1400" dirty="0"/>
              <a:t>;}</a:t>
            </a:r>
          </a:p>
          <a:p>
            <a:r>
              <a:rPr lang="ko-KR" altLang="en-US" sz="1400" dirty="0"/>
              <a:t>}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2D038C86-4E55-E2BE-6C5C-10077A839B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63559" y="3768610"/>
            <a:ext cx="1156156" cy="842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05274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071A97-C825-FB97-8CF2-3957317469B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BB31646-0FAF-9699-F835-6CB9C6BAF6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ko-KR" altLang="en-US" sz="1400" b="1" dirty="0"/>
              <a:t>함수형 프로그래밍</a:t>
            </a:r>
            <a:r>
              <a:rPr lang="en-US" altLang="ko-KR" sz="1400" b="1" dirty="0"/>
              <a:t>(functional programming)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함수를 데이터처럼 전달하고 조합하여 문제를 해결하는 프로그래밍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데이터 처리부는 데이터만 가지고 있고</a:t>
            </a:r>
            <a:r>
              <a:rPr lang="en-US" altLang="ko-KR" sz="1400" dirty="0"/>
              <a:t>, </a:t>
            </a:r>
            <a:r>
              <a:rPr lang="ko-KR" altLang="en-US" sz="1400" dirty="0"/>
              <a:t>처리 방법은 외부에서 제공된 함수에 의존함</a:t>
            </a:r>
            <a:r>
              <a:rPr lang="en-US" altLang="ko-KR" sz="1400" dirty="0"/>
              <a:t>(</a:t>
            </a:r>
            <a:r>
              <a:rPr lang="ko-KR" altLang="en-US" sz="1400" dirty="0" err="1"/>
              <a:t>처리부</a:t>
            </a:r>
            <a:r>
              <a:rPr lang="en-US" altLang="ko-KR" sz="1400" dirty="0"/>
              <a:t>/</a:t>
            </a:r>
            <a:r>
              <a:rPr lang="ko-KR" altLang="en-US" sz="1400" dirty="0"/>
              <a:t>로직 분리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동일한 데이터라도 함수마다 결과가 다를 수 있다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 err="1"/>
              <a:t>람다식</a:t>
            </a:r>
            <a:r>
              <a:rPr lang="en-US" altLang="ko-KR" sz="1400" b="1" dirty="0"/>
              <a:t>: (</a:t>
            </a:r>
            <a:r>
              <a:rPr lang="ko-KR" altLang="en-US" sz="1400" b="1" dirty="0"/>
              <a:t>매개변수</a:t>
            </a:r>
            <a:r>
              <a:rPr lang="en-US" altLang="ko-KR" sz="1400" b="1" dirty="0"/>
              <a:t>, ...) -&gt;{</a:t>
            </a:r>
            <a:r>
              <a:rPr lang="ko-KR" altLang="en-US" sz="1400" b="1" dirty="0"/>
              <a:t>처리 내용</a:t>
            </a:r>
            <a:r>
              <a:rPr lang="en-US" altLang="ko-KR" sz="1400" b="1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데이터 처리부에 함수를 전달하기 위한 매개변수를 가진 중괄호 블록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익명 함수를 간단히 표현한 것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 Calculable </a:t>
            </a:r>
            <a:r>
              <a:rPr lang="ko-KR" altLang="en-US" sz="1400" dirty="0"/>
              <a:t>인터페이스</a:t>
            </a:r>
            <a:r>
              <a:rPr lang="en-US" altLang="ko-KR" sz="1400" dirty="0"/>
              <a:t>			    	</a:t>
            </a:r>
            <a:r>
              <a:rPr lang="ko-KR" altLang="en-US" sz="1400" dirty="0"/>
              <a:t>익명 구현 객체</a:t>
            </a:r>
            <a:r>
              <a:rPr lang="en-US" altLang="ko-KR" sz="1400" dirty="0"/>
              <a:t>			       </a:t>
            </a:r>
            <a:r>
              <a:rPr lang="ko-KR" altLang="en-US" sz="1400" dirty="0" err="1"/>
              <a:t>람다식</a:t>
            </a:r>
            <a:r>
              <a:rPr lang="en-US" altLang="ko-KR" sz="1400" dirty="0"/>
              <a:t>	</a:t>
            </a:r>
          </a:p>
          <a:p>
            <a:pPr marL="0" indent="0">
              <a:buNone/>
            </a:pPr>
            <a:r>
              <a:rPr lang="en-US" altLang="ko-KR" sz="1400" dirty="0"/>
              <a:t>public interface Calculable{</a:t>
            </a:r>
          </a:p>
          <a:p>
            <a:pPr marL="0" indent="0">
              <a:buNone/>
            </a:pPr>
            <a:r>
              <a:rPr lang="en-US" altLang="ko-KR" sz="1400" dirty="0"/>
              <a:t>	void calculate(int x, int y)   </a:t>
            </a:r>
            <a:r>
              <a:rPr lang="en-US" altLang="ko-KR" sz="1400" dirty="0">
                <a:sym typeface="Wingdings" panose="05000000000000000000" pitchFamily="2" charset="2"/>
              </a:rPr>
              <a:t> 					      		  (</a:t>
            </a:r>
            <a:r>
              <a:rPr lang="en-US" altLang="ko-KR" sz="1400" dirty="0" err="1">
                <a:sym typeface="Wingdings" panose="05000000000000000000" pitchFamily="2" charset="2"/>
              </a:rPr>
              <a:t>x,y</a:t>
            </a:r>
            <a:r>
              <a:rPr lang="en-US" altLang="ko-KR" sz="1400" dirty="0">
                <a:sym typeface="Wingdings" panose="05000000000000000000" pitchFamily="2" charset="2"/>
              </a:rPr>
              <a:t>) -&gt;{</a:t>
            </a:r>
            <a:r>
              <a:rPr lang="en-US" altLang="ko-KR" sz="1400" dirty="0" err="1">
                <a:sym typeface="Wingdings" panose="05000000000000000000" pitchFamily="2" charset="2"/>
              </a:rPr>
              <a:t>x+y</a:t>
            </a:r>
            <a:r>
              <a:rPr lang="en-US" altLang="ko-KR" sz="1400" dirty="0">
                <a:sym typeface="Wingdings" panose="05000000000000000000" pitchFamily="2" charset="2"/>
              </a:rPr>
              <a:t>}; 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익명 구현 객체를 람다식으로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인터페이스의 추상 메소드는 </a:t>
            </a:r>
            <a:r>
              <a:rPr lang="en-US" altLang="ko-KR" sz="1400" dirty="0"/>
              <a:t>(</a:t>
            </a:r>
            <a:r>
              <a:rPr lang="en-US" altLang="ko-KR" sz="1400" dirty="0" err="1"/>
              <a:t>x,y</a:t>
            </a:r>
            <a:r>
              <a:rPr lang="en-US" altLang="ko-KR" sz="1400" dirty="0"/>
              <a:t>)</a:t>
            </a:r>
            <a:r>
              <a:rPr lang="ko-KR" altLang="en-US" sz="1400" dirty="0"/>
              <a:t>로 표현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실행 블록은 화살표</a:t>
            </a:r>
            <a:r>
              <a:rPr lang="en-US" altLang="ko-KR" sz="1400" dirty="0"/>
              <a:t> -&gt; </a:t>
            </a:r>
            <a:r>
              <a:rPr lang="ko-KR" altLang="en-US" sz="1400" dirty="0"/>
              <a:t>뒤에 표현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  <a:r>
              <a:rPr lang="en-US" altLang="ko-KR" sz="1400" dirty="0" err="1"/>
              <a:t>Calcuable</a:t>
            </a:r>
            <a:r>
              <a:rPr lang="en-US" altLang="ko-KR" sz="1400" dirty="0"/>
              <a:t> </a:t>
            </a:r>
            <a:r>
              <a:rPr lang="ko-KR" altLang="en-US" sz="1400" dirty="0"/>
              <a:t>매개변수를 가진 </a:t>
            </a:r>
            <a:r>
              <a:rPr lang="en-US" altLang="ko-KR" sz="1400" dirty="0"/>
              <a:t>action </a:t>
            </a:r>
            <a:r>
              <a:rPr lang="ko-KR" altLang="en-US" sz="1400" dirty="0"/>
              <a:t>메소드</a:t>
            </a:r>
            <a:r>
              <a:rPr lang="en-US" altLang="ko-KR" sz="1400" dirty="0"/>
              <a:t>			</a:t>
            </a:r>
            <a:r>
              <a:rPr lang="ko-KR" altLang="en-US" sz="1400" dirty="0" err="1"/>
              <a:t>람다식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</a:t>
            </a:r>
            <a:r>
              <a:rPr lang="ko-KR" altLang="en-US" sz="1400" dirty="0"/>
              <a:t> </a:t>
            </a:r>
            <a:r>
              <a:rPr lang="en-US" altLang="ko-KR" sz="1400" dirty="0"/>
              <a:t>void</a:t>
            </a:r>
            <a:r>
              <a:rPr lang="ko-KR" altLang="en-US" sz="1400" dirty="0"/>
              <a:t> </a:t>
            </a:r>
            <a:r>
              <a:rPr lang="en-US" altLang="ko-KR" sz="1400" dirty="0"/>
              <a:t>action</a:t>
            </a:r>
            <a:r>
              <a:rPr lang="ko-KR" altLang="en-US" sz="1400" dirty="0"/>
              <a:t> </a:t>
            </a:r>
            <a:r>
              <a:rPr lang="en-US" altLang="ko-KR" sz="1400" dirty="0"/>
              <a:t>(Calculable</a:t>
            </a:r>
            <a:r>
              <a:rPr lang="ko-KR" altLang="en-US" sz="1400" dirty="0"/>
              <a:t> </a:t>
            </a:r>
            <a:r>
              <a:rPr lang="en-US" altLang="ko-KR" sz="1400" dirty="0"/>
              <a:t>calculable){</a:t>
            </a:r>
          </a:p>
          <a:p>
            <a:pPr marL="0" indent="0">
              <a:buNone/>
            </a:pPr>
            <a:r>
              <a:rPr lang="en-US" altLang="ko-KR" sz="1400" dirty="0"/>
              <a:t>	int x = 10;</a:t>
            </a:r>
          </a:p>
          <a:p>
            <a:pPr marL="0" indent="0">
              <a:buNone/>
            </a:pPr>
            <a:r>
              <a:rPr lang="en-US" altLang="ko-KR" sz="1400" dirty="0"/>
              <a:t>	int y = 4;			</a:t>
            </a:r>
            <a:r>
              <a:rPr lang="en-US" altLang="ko-KR" sz="1400" dirty="0">
                <a:sym typeface="Wingdings" panose="05000000000000000000" pitchFamily="2" charset="2"/>
              </a:rPr>
              <a:t> 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	</a:t>
            </a:r>
            <a:r>
              <a:rPr lang="en-US" altLang="ko-KR" sz="1400" dirty="0" err="1"/>
              <a:t>calculable.calculate</a:t>
            </a:r>
            <a:r>
              <a:rPr lang="en-US" altLang="ko-KR" sz="1400" dirty="0"/>
              <a:t>(</a:t>
            </a:r>
            <a:r>
              <a:rPr lang="en-US" altLang="ko-KR" sz="1400" dirty="0" err="1"/>
              <a:t>x,y</a:t>
            </a:r>
            <a:r>
              <a:rPr lang="en-US" altLang="ko-KR" sz="1400" dirty="0"/>
              <a:t>);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3C8A0FF-0EFA-F569-103A-BC616F381B48}"/>
              </a:ext>
            </a:extLst>
          </p:cNvPr>
          <p:cNvSpPr txBox="1"/>
          <p:nvPr/>
        </p:nvSpPr>
        <p:spPr>
          <a:xfrm>
            <a:off x="4409040" y="2838262"/>
            <a:ext cx="411932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new</a:t>
            </a:r>
            <a:r>
              <a:rPr lang="ko-KR" altLang="en-US" sz="1300" dirty="0"/>
              <a:t> </a:t>
            </a:r>
            <a:r>
              <a:rPr lang="en-US" altLang="ko-KR" sz="1300" dirty="0"/>
              <a:t>Calculable(){</a:t>
            </a:r>
          </a:p>
          <a:p>
            <a:r>
              <a:rPr lang="en-US" altLang="ko-KR" sz="1300" dirty="0"/>
              <a:t>	@Override</a:t>
            </a:r>
          </a:p>
          <a:p>
            <a:r>
              <a:rPr lang="en-US" altLang="ko-KR" sz="1300" dirty="0"/>
              <a:t>	public void calculate(int x, int y){</a:t>
            </a:r>
            <a:r>
              <a:rPr lang="en-US" altLang="ko-KR" sz="1300" dirty="0" err="1"/>
              <a:t>x+y</a:t>
            </a:r>
            <a:r>
              <a:rPr lang="en-US" altLang="ko-KR" sz="1300" dirty="0"/>
              <a:t>;}</a:t>
            </a:r>
          </a:p>
          <a:p>
            <a:r>
              <a:rPr lang="en-US" altLang="ko-KR" sz="1300" dirty="0"/>
              <a:t>}</a:t>
            </a:r>
            <a:endParaRPr lang="ko-KR" altLang="en-US" sz="13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2742702-15C4-9ACB-6A6D-A903E94C49E4}"/>
              </a:ext>
            </a:extLst>
          </p:cNvPr>
          <p:cNvSpPr txBox="1"/>
          <p:nvPr/>
        </p:nvSpPr>
        <p:spPr>
          <a:xfrm>
            <a:off x="4507119" y="5676524"/>
            <a:ext cx="3016311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action( (</a:t>
            </a:r>
            <a:r>
              <a:rPr lang="en-US" altLang="ko-KR" sz="1300" dirty="0" err="1"/>
              <a:t>x,y</a:t>
            </a:r>
            <a:r>
              <a:rPr lang="en-US" altLang="ko-KR" sz="1300" dirty="0"/>
              <a:t>)-&gt;{</a:t>
            </a:r>
          </a:p>
          <a:p>
            <a:r>
              <a:rPr lang="en-US" altLang="ko-KR" sz="1300" dirty="0"/>
              <a:t>	int result = </a:t>
            </a:r>
            <a:r>
              <a:rPr lang="en-US" altLang="ko-KR" sz="1300" dirty="0" err="1"/>
              <a:t>x+y</a:t>
            </a:r>
            <a:r>
              <a:rPr lang="en-US" altLang="ko-KR" sz="1300" dirty="0"/>
              <a:t>;</a:t>
            </a:r>
          </a:p>
          <a:p>
            <a:r>
              <a:rPr lang="en-US" altLang="ko-KR" sz="1300" dirty="0"/>
              <a:t>	</a:t>
            </a:r>
            <a:r>
              <a:rPr lang="en-US" altLang="ko-KR" sz="1300" dirty="0" err="1"/>
              <a:t>System.out.println</a:t>
            </a:r>
            <a:r>
              <a:rPr lang="en-US" altLang="ko-KR" sz="1300" dirty="0"/>
              <a:t>(result);</a:t>
            </a:r>
          </a:p>
          <a:p>
            <a:r>
              <a:rPr lang="en-US" altLang="ko-KR" sz="1300" dirty="0"/>
              <a:t>});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75EA99E-D4D2-1527-74E4-98803AA79C1D}"/>
              </a:ext>
            </a:extLst>
          </p:cNvPr>
          <p:cNvSpPr txBox="1"/>
          <p:nvPr/>
        </p:nvSpPr>
        <p:spPr>
          <a:xfrm>
            <a:off x="7767873" y="5884273"/>
            <a:ext cx="475910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300" dirty="0"/>
              <a:t>-</a:t>
            </a:r>
            <a:r>
              <a:rPr lang="en-US" altLang="ko-KR" sz="1200" dirty="0" err="1"/>
              <a:t>calculable.calculate</a:t>
            </a:r>
            <a:r>
              <a:rPr lang="en-US" altLang="ko-KR" sz="1200" dirty="0"/>
              <a:t>(</a:t>
            </a:r>
            <a:r>
              <a:rPr lang="en-US" altLang="ko-KR" sz="1200" dirty="0" err="1"/>
              <a:t>x,y</a:t>
            </a:r>
            <a:r>
              <a:rPr lang="en-US" altLang="ko-KR" sz="1200" dirty="0"/>
              <a:t>) </a:t>
            </a:r>
            <a:r>
              <a:rPr lang="ko-KR" altLang="en-US" sz="1200" dirty="0" err="1"/>
              <a:t>실행시</a:t>
            </a:r>
            <a:r>
              <a:rPr lang="ko-KR" altLang="en-US" sz="1200" dirty="0"/>
              <a:t> 람다식의 중괄호 블록 실행</a:t>
            </a:r>
            <a:endParaRPr lang="en-US" altLang="ko-KR" sz="1200" dirty="0"/>
          </a:p>
          <a:p>
            <a:endParaRPr lang="en-US" altLang="ko-KR" sz="1200" dirty="0"/>
          </a:p>
        </p:txBody>
      </p:sp>
    </p:spTree>
    <p:extLst>
      <p:ext uri="{BB962C8B-B14F-4D97-AF65-F5344CB8AC3E}">
        <p14:creationId xmlns:p14="http://schemas.microsoft.com/office/powerpoint/2010/main" val="110407841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6CEC01-E3EE-A49A-6043-E2289E48ED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6591933-5347-6B46-8811-0D5CCF2987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ko-KR" altLang="en-US" sz="1400" b="1" dirty="0" err="1"/>
              <a:t>람다식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단 인터페이스의 익명 구현 객체를 람다식으로 표현할 때 </a:t>
            </a:r>
            <a:r>
              <a:rPr lang="ko-KR" altLang="en-US" sz="1400" b="1" dirty="0"/>
              <a:t>인터페이스는 단 하나의 추상 메소드만 </a:t>
            </a:r>
            <a:r>
              <a:rPr lang="ko-KR" altLang="en-US" sz="1400" dirty="0" err="1"/>
              <a:t>가져야함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인터페이스가 단 하나의 추상 메소드를 가질 때</a:t>
            </a:r>
            <a:r>
              <a:rPr lang="en-US" altLang="ko-KR" sz="1400" dirty="0"/>
              <a:t>, </a:t>
            </a:r>
            <a:r>
              <a:rPr lang="ko-KR" altLang="en-US" sz="1400" dirty="0"/>
              <a:t>이를 함수형 인터페이스</a:t>
            </a:r>
            <a:r>
              <a:rPr lang="en-US" altLang="ko-KR" sz="1400" dirty="0"/>
              <a:t>(functional interface)</a:t>
            </a:r>
            <a:r>
              <a:rPr lang="ko-KR" altLang="en-US" sz="1400" dirty="0"/>
              <a:t>라고 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함수형 인터페이스를 보장하기 위해서 </a:t>
            </a:r>
            <a:r>
              <a:rPr lang="en-US" altLang="ko-KR" sz="1400" dirty="0"/>
              <a:t>@FunctionalInterface </a:t>
            </a:r>
            <a:r>
              <a:rPr lang="ko-KR" altLang="en-US" sz="1400" dirty="0" err="1"/>
              <a:t>어노테이션을</a:t>
            </a:r>
            <a:r>
              <a:rPr lang="ko-KR" altLang="en-US" sz="1400" dirty="0"/>
              <a:t> 붙임</a:t>
            </a:r>
            <a:r>
              <a:rPr lang="en-US" altLang="ko-KR" sz="1400" dirty="0"/>
              <a:t>(</a:t>
            </a:r>
            <a:r>
              <a:rPr lang="ko-KR" altLang="en-US" sz="1400" dirty="0"/>
              <a:t>선택사항</a:t>
            </a:r>
            <a:r>
              <a:rPr lang="en-US" altLang="ko-KR" sz="1400" dirty="0"/>
              <a:t>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public class </a:t>
            </a:r>
            <a:r>
              <a:rPr lang="en-US" altLang="ko-KR" sz="1400" dirty="0" err="1"/>
              <a:t>LambdaExample</a:t>
            </a:r>
            <a:r>
              <a:rPr lang="en-US" altLang="ko-KR" sz="1400" dirty="0"/>
              <a:t> {</a:t>
            </a:r>
          </a:p>
          <a:p>
            <a:pPr marL="0" indent="0">
              <a:buNone/>
            </a:pPr>
            <a:r>
              <a:rPr lang="en-US" altLang="ko-KR" sz="1400" dirty="0"/>
              <a:t>    public static void main(String[] </a:t>
            </a:r>
            <a:r>
              <a:rPr lang="en-US" altLang="ko-KR" sz="1400" dirty="0" err="1"/>
              <a:t>args</a:t>
            </a:r>
            <a:r>
              <a:rPr lang="en-US" altLang="ko-KR" sz="1400" dirty="0"/>
              <a:t>) {</a:t>
            </a:r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숫자의 합을 계산하는 </a:t>
            </a:r>
            <a:r>
              <a:rPr lang="ko-KR" altLang="en-US" sz="1400" dirty="0" err="1"/>
              <a:t>람다식</a:t>
            </a:r>
            <a:r>
              <a:rPr lang="ko-KR" altLang="en-US" sz="1400" dirty="0"/>
              <a:t>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action((x, y) -&gt; {</a:t>
            </a:r>
          </a:p>
          <a:p>
            <a:pPr marL="0" indent="0">
              <a:buNone/>
            </a:pPr>
            <a:r>
              <a:rPr lang="en-US" altLang="ko-KR" sz="1400" dirty="0"/>
              <a:t>            int result = x + y; // </a:t>
            </a:r>
            <a:r>
              <a:rPr lang="ko-KR" altLang="en-US" sz="1400" dirty="0"/>
              <a:t>두 숫자의 합 계산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("result: " + result);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});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    // </a:t>
            </a:r>
            <a:r>
              <a:rPr lang="ko-KR" altLang="en-US" sz="1400" dirty="0"/>
              <a:t>두 숫자의 차를 계산하는 </a:t>
            </a:r>
            <a:r>
              <a:rPr lang="ko-KR" altLang="en-US" sz="1400" dirty="0" err="1"/>
              <a:t>람다식</a:t>
            </a:r>
            <a:r>
              <a:rPr lang="ko-KR" altLang="en-US" sz="1400" dirty="0"/>
              <a:t> 전달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action((x, y) -&gt; {</a:t>
            </a:r>
          </a:p>
          <a:p>
            <a:pPr marL="0" indent="0">
              <a:buNone/>
            </a:pPr>
            <a:r>
              <a:rPr lang="en-US" altLang="ko-KR" sz="1400" dirty="0"/>
              <a:t>            int result = x - y; // </a:t>
            </a:r>
            <a:r>
              <a:rPr lang="ko-KR" altLang="en-US" sz="1400" dirty="0"/>
              <a:t>두 숫자의 차 계산</a:t>
            </a:r>
          </a:p>
          <a:p>
            <a:pPr marL="0" indent="0">
              <a:buNone/>
            </a:pPr>
            <a:r>
              <a:rPr lang="ko-KR" altLang="en-US" sz="1400" dirty="0"/>
              <a:t>            </a:t>
            </a:r>
            <a:r>
              <a:rPr lang="en-US" altLang="ko-KR" sz="1400" dirty="0" err="1"/>
              <a:t>System.out.println</a:t>
            </a:r>
            <a:r>
              <a:rPr lang="en-US" altLang="ko-KR" sz="1400" dirty="0"/>
              <a:t>("result: " + result); // </a:t>
            </a:r>
            <a:r>
              <a:rPr lang="ko-KR" altLang="en-US" sz="1400" dirty="0"/>
              <a:t>결과 출력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});</a:t>
            </a:r>
          </a:p>
          <a:p>
            <a:pPr marL="0" indent="0">
              <a:buNone/>
            </a:pPr>
            <a:r>
              <a:rPr lang="en-US" altLang="ko-KR" sz="1400" dirty="0"/>
              <a:t>    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    public static void action(Calculable calculable) {</a:t>
            </a:r>
          </a:p>
          <a:p>
            <a:pPr marL="0" indent="0">
              <a:buNone/>
            </a:pPr>
            <a:r>
              <a:rPr lang="en-US" altLang="ko-KR" sz="1400" dirty="0"/>
              <a:t>        int x = 10; // </a:t>
            </a:r>
            <a:r>
              <a:rPr lang="ko-KR" altLang="en-US" sz="1400" dirty="0"/>
              <a:t>첫 번째 숫자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/>
              <a:t>int y = 4;  // </a:t>
            </a:r>
            <a:r>
              <a:rPr lang="ko-KR" altLang="en-US" sz="1400" dirty="0"/>
              <a:t>두 번째 숫자</a:t>
            </a:r>
          </a:p>
          <a:p>
            <a:pPr marL="0" indent="0">
              <a:buNone/>
            </a:pPr>
            <a:r>
              <a:rPr lang="ko-KR" altLang="en-US" sz="1400" dirty="0"/>
              <a:t>        </a:t>
            </a:r>
            <a:r>
              <a:rPr lang="en-US" altLang="ko-KR" sz="1400" dirty="0" err="1"/>
              <a:t>calculable.calculate</a:t>
            </a:r>
            <a:r>
              <a:rPr lang="en-US" altLang="ko-KR" sz="1400" dirty="0"/>
              <a:t>(x, y); // </a:t>
            </a:r>
            <a:r>
              <a:rPr lang="ko-KR" altLang="en-US" sz="1400" dirty="0"/>
              <a:t>전달받은 </a:t>
            </a:r>
            <a:r>
              <a:rPr lang="ko-KR" altLang="en-US" sz="1400" dirty="0" err="1"/>
              <a:t>람다식</a:t>
            </a:r>
            <a:r>
              <a:rPr lang="ko-KR" altLang="en-US" sz="1400" dirty="0"/>
              <a:t> 실행</a:t>
            </a:r>
          </a:p>
          <a:p>
            <a:pPr marL="0" indent="0">
              <a:buNone/>
            </a:pPr>
            <a:r>
              <a:rPr lang="ko-KR" altLang="en-US" sz="1400" dirty="0"/>
              <a:t>    </a:t>
            </a:r>
            <a:r>
              <a:rPr lang="en-US" altLang="ko-KR" sz="1400" dirty="0"/>
              <a:t>}</a:t>
            </a:r>
          </a:p>
          <a:p>
            <a:pPr marL="0" indent="0">
              <a:buNone/>
            </a:pPr>
            <a:r>
              <a:rPr lang="en-US" altLang="ko-KR" sz="1400" dirty="0"/>
              <a:t>}</a:t>
            </a:r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6E439F-2493-4522-BF08-17AEC77791EB}"/>
              </a:ext>
            </a:extLst>
          </p:cNvPr>
          <p:cNvSpPr txBox="1"/>
          <p:nvPr/>
        </p:nvSpPr>
        <p:spPr>
          <a:xfrm>
            <a:off x="8944069" y="1282090"/>
            <a:ext cx="3247931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@FunctionalInterface</a:t>
            </a:r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interface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Calculable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	//추상 메소드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calculate</a:t>
            </a:r>
            <a:r>
              <a:rPr lang="ko-KR" altLang="en-US" sz="1400" dirty="0"/>
              <a:t>(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x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int</a:t>
            </a:r>
            <a:r>
              <a:rPr lang="ko-KR" altLang="en-US" sz="1400" dirty="0"/>
              <a:t>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);</a:t>
            </a:r>
          </a:p>
          <a:p>
            <a:r>
              <a:rPr lang="ko-KR" altLang="en-US" sz="1400" dirty="0"/>
              <a:t>}</a:t>
            </a:r>
          </a:p>
          <a:p>
            <a:endParaRPr lang="ko-KR" altLang="en-US" sz="1400"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AD0E7F84-84F8-53C2-7DF2-4061942C3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52710" y="4393614"/>
            <a:ext cx="1368110" cy="737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92982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B9DC28-BFC1-F51E-0317-DB94726D3A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7D7EDA-AC0D-558B-CC1D-022BDF8228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매개변수가 없는 </a:t>
            </a:r>
            <a:r>
              <a:rPr lang="ko-KR" altLang="en-US" sz="1400" b="1" dirty="0" err="1"/>
              <a:t>람다식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함수형 인터페이스의 추상 메소드에 매개변수가 없을 경우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실행문이 두 개 이상일 경우에 중괄호 생략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15F68-1122-819B-88FA-D73DD02E7002}"/>
              </a:ext>
            </a:extLst>
          </p:cNvPr>
          <p:cNvSpPr txBox="1"/>
          <p:nvPr/>
        </p:nvSpPr>
        <p:spPr>
          <a:xfrm>
            <a:off x="0" y="943451"/>
            <a:ext cx="2405959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400" dirty="0"/>
              <a:t>@FunctionalInterface</a:t>
            </a:r>
          </a:p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interface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Workable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work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712116D-5297-BFCF-0076-25D970956E06}"/>
              </a:ext>
            </a:extLst>
          </p:cNvPr>
          <p:cNvSpPr txBox="1"/>
          <p:nvPr/>
        </p:nvSpPr>
        <p:spPr>
          <a:xfrm>
            <a:off x="2405959" y="943450"/>
            <a:ext cx="4420354" cy="138499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public class Person {</a:t>
            </a:r>
          </a:p>
          <a:p>
            <a:r>
              <a:rPr lang="en-US" altLang="ko-KR" sz="1400" dirty="0"/>
              <a:t>	public void action(Workable workable) {</a:t>
            </a:r>
          </a:p>
          <a:p>
            <a:r>
              <a:rPr lang="en-US" altLang="ko-KR" sz="1400" dirty="0"/>
              <a:t>		</a:t>
            </a:r>
            <a:r>
              <a:rPr lang="en-US" altLang="ko-KR" sz="1400" dirty="0" err="1"/>
              <a:t>workable.work</a:t>
            </a:r>
            <a:r>
              <a:rPr lang="en-US" altLang="ko-KR" sz="1400" dirty="0"/>
              <a:t>();</a:t>
            </a:r>
          </a:p>
          <a:p>
            <a:r>
              <a:rPr lang="en-US" altLang="ko-KR" sz="1400" dirty="0"/>
              <a:t>	}</a:t>
            </a:r>
          </a:p>
          <a:p>
            <a:r>
              <a:rPr lang="en-US" altLang="ko-KR" sz="1400" dirty="0"/>
              <a:t>}</a:t>
            </a:r>
          </a:p>
          <a:p>
            <a:endParaRPr lang="en-US" altLang="ko-KR" sz="14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B740F95-1A38-F9AA-6E20-D428B4874CA3}"/>
              </a:ext>
            </a:extLst>
          </p:cNvPr>
          <p:cNvSpPr txBox="1"/>
          <p:nvPr/>
        </p:nvSpPr>
        <p:spPr>
          <a:xfrm>
            <a:off x="0" y="2715785"/>
            <a:ext cx="6425698" cy="33239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LambdaExample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{</a:t>
            </a:r>
          </a:p>
          <a:p>
            <a:r>
              <a:rPr lang="ko-KR" altLang="en-US" sz="1400" dirty="0"/>
              <a:t>		</a:t>
            </a:r>
            <a:r>
              <a:rPr lang="ko-KR" altLang="en-US" sz="1400" dirty="0" err="1"/>
              <a:t>Person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person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Person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		</a:t>
            </a:r>
          </a:p>
          <a:p>
            <a:r>
              <a:rPr lang="ko-KR" altLang="en-US" sz="1400" dirty="0"/>
              <a:t>		//실행문이 두개 이상인 경우 중괄호 필요</a:t>
            </a:r>
          </a:p>
          <a:p>
            <a:r>
              <a:rPr lang="ko-KR" altLang="en-US" sz="1400" dirty="0"/>
              <a:t>		</a:t>
            </a:r>
            <a:r>
              <a:rPr lang="ko-KR" altLang="en-US" sz="1400" dirty="0" err="1"/>
              <a:t>person.action</a:t>
            </a:r>
            <a:r>
              <a:rPr lang="ko-KR" altLang="en-US" sz="1400" dirty="0"/>
              <a:t>(() -&gt; {</a:t>
            </a:r>
          </a:p>
          <a:p>
            <a:r>
              <a:rPr lang="ko-KR" altLang="en-US" sz="1400" dirty="0"/>
              <a:t>			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("출근을 합니다.");</a:t>
            </a:r>
          </a:p>
          <a:p>
            <a:r>
              <a:rPr lang="ko-KR" altLang="en-US" sz="1400" dirty="0"/>
              <a:t>			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("프로그래밍을 합니다.");</a:t>
            </a:r>
          </a:p>
          <a:p>
            <a:r>
              <a:rPr lang="ko-KR" altLang="en-US" sz="1400" dirty="0"/>
              <a:t>		});</a:t>
            </a:r>
          </a:p>
          <a:p>
            <a:r>
              <a:rPr lang="ko-KR" altLang="en-US" sz="1400" dirty="0"/>
              <a:t>		</a:t>
            </a:r>
          </a:p>
          <a:p>
            <a:r>
              <a:rPr lang="ko-KR" altLang="en-US" sz="1400" dirty="0"/>
              <a:t>		//실행문이 </a:t>
            </a:r>
            <a:r>
              <a:rPr lang="ko-KR" altLang="en-US" sz="1400" dirty="0" err="1"/>
              <a:t>한개일</a:t>
            </a:r>
            <a:r>
              <a:rPr lang="ko-KR" altLang="en-US" sz="1400" dirty="0"/>
              <a:t> 경우 중괄호 생략 가능</a:t>
            </a:r>
          </a:p>
          <a:p>
            <a:r>
              <a:rPr lang="ko-KR" altLang="en-US" sz="1400" dirty="0"/>
              <a:t>		</a:t>
            </a:r>
            <a:r>
              <a:rPr lang="ko-KR" altLang="en-US" sz="1400" dirty="0" err="1"/>
              <a:t>person.action</a:t>
            </a:r>
            <a:r>
              <a:rPr lang="ko-KR" altLang="en-US" sz="1400" dirty="0"/>
              <a:t>(() -&gt; </a:t>
            </a:r>
            <a:r>
              <a:rPr lang="ko-KR" altLang="en-US" sz="1400" dirty="0" err="1"/>
              <a:t>System.out.println</a:t>
            </a:r>
            <a:r>
              <a:rPr lang="ko-KR" altLang="en-US" sz="1400" dirty="0"/>
              <a:t>("퇴근합니다."));</a:t>
            </a:r>
          </a:p>
          <a:p>
            <a:r>
              <a:rPr lang="ko-KR" altLang="en-US" sz="1400" dirty="0"/>
              <a:t>	}</a:t>
            </a:r>
          </a:p>
          <a:p>
            <a:r>
              <a:rPr lang="ko-KR" altLang="en-US" sz="1400" dirty="0"/>
              <a:t>}</a:t>
            </a:r>
          </a:p>
          <a:p>
            <a:endParaRPr lang="ko-KR" altLang="en-US" sz="1400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98E675C-EDA7-3EE4-9433-3F006CEE57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74256" y="2715785"/>
            <a:ext cx="2804615" cy="138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9537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50D65A-A44B-7B55-5BD5-49DCBCDF9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1C4A5CC-FAA5-F335-ECAE-EEB11CE580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매개변수가 있는 </a:t>
            </a:r>
            <a:r>
              <a:rPr lang="ko-KR" altLang="en-US" sz="1400" b="1" dirty="0" err="1"/>
              <a:t>람다식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함수형 인터페이스의 추상 메소드에 매개변수가 있는 경우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매개변수 선언할 때 타입 생략 가능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실행문이 두 개 이상일 경우에 중괄호 생략 가능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8ACD4A0-3E40-812F-BE4C-2C0A35A98EAA}"/>
              </a:ext>
            </a:extLst>
          </p:cNvPr>
          <p:cNvSpPr txBox="1"/>
          <p:nvPr/>
        </p:nvSpPr>
        <p:spPr>
          <a:xfrm>
            <a:off x="0" y="1359910"/>
            <a:ext cx="3965418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@FunctionalInterface</a:t>
            </a:r>
          </a:p>
          <a:p>
            <a:r>
              <a:rPr lang="en-US" altLang="ko-KR" sz="1400" dirty="0"/>
              <a:t>public interface Workable {</a:t>
            </a:r>
          </a:p>
          <a:p>
            <a:r>
              <a:rPr lang="en-US" altLang="ko-KR" sz="1400" dirty="0"/>
              <a:t>	void work(String name, String job);</a:t>
            </a:r>
          </a:p>
          <a:p>
            <a:r>
              <a:rPr lang="en-US" altLang="ko-KR" sz="14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CE17D5-0B39-B7CC-4A20-555B411A26B3}"/>
              </a:ext>
            </a:extLst>
          </p:cNvPr>
          <p:cNvSpPr txBox="1"/>
          <p:nvPr/>
        </p:nvSpPr>
        <p:spPr>
          <a:xfrm>
            <a:off x="3965418" y="1359909"/>
            <a:ext cx="3250194" cy="95410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400" dirty="0"/>
              <a:t>@FunctionalInterface</a:t>
            </a:r>
          </a:p>
          <a:p>
            <a:r>
              <a:rPr lang="en-US" altLang="ko-KR" sz="1400" dirty="0"/>
              <a:t>public interface </a:t>
            </a:r>
            <a:r>
              <a:rPr lang="en-US" altLang="ko-KR" sz="1400" dirty="0" err="1"/>
              <a:t>Speakable</a:t>
            </a:r>
            <a:r>
              <a:rPr lang="en-US" altLang="ko-KR" sz="1400" dirty="0"/>
              <a:t> {</a:t>
            </a:r>
          </a:p>
          <a:p>
            <a:r>
              <a:rPr lang="en-US" altLang="ko-KR" sz="1400" dirty="0"/>
              <a:t>	void speak(String content);</a:t>
            </a:r>
          </a:p>
          <a:p>
            <a:r>
              <a:rPr lang="en-US" altLang="ko-KR" sz="14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EAEFEF-E805-E7C3-EC70-D12561D3CC33}"/>
              </a:ext>
            </a:extLst>
          </p:cNvPr>
          <p:cNvSpPr txBox="1"/>
          <p:nvPr/>
        </p:nvSpPr>
        <p:spPr>
          <a:xfrm>
            <a:off x="7215612" y="1360289"/>
            <a:ext cx="4662535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public class Person {</a:t>
            </a:r>
          </a:p>
          <a:p>
            <a:r>
              <a:rPr lang="en-US" altLang="ko-KR" sz="1200" dirty="0"/>
              <a:t>	public void action1(Workable workable) {</a:t>
            </a:r>
          </a:p>
          <a:p>
            <a:r>
              <a:rPr lang="en-US" altLang="ko-KR" sz="1200" dirty="0"/>
              <a:t>		</a:t>
            </a:r>
            <a:r>
              <a:rPr lang="en-US" altLang="ko-KR" sz="1200" dirty="0" err="1"/>
              <a:t>workable.work</a:t>
            </a:r>
            <a:r>
              <a:rPr lang="en-US" altLang="ko-KR" sz="1200" dirty="0"/>
              <a:t>("</a:t>
            </a:r>
            <a:r>
              <a:rPr lang="ko-KR" altLang="en-US" sz="1200" dirty="0"/>
              <a:t>홍길동</a:t>
            </a:r>
            <a:r>
              <a:rPr lang="en-US" altLang="ko-KR" sz="1200" dirty="0"/>
              <a:t>", "</a:t>
            </a:r>
            <a:r>
              <a:rPr lang="ko-KR" altLang="en-US" sz="1200" dirty="0"/>
              <a:t>프로그래밍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	</a:t>
            </a:r>
          </a:p>
          <a:p>
            <a:r>
              <a:rPr lang="en-US" altLang="ko-KR" sz="1200" dirty="0"/>
              <a:t>	public void action2(</a:t>
            </a:r>
            <a:r>
              <a:rPr lang="en-US" altLang="ko-KR" sz="1200" dirty="0" err="1"/>
              <a:t>Speakable</a:t>
            </a:r>
            <a:r>
              <a:rPr lang="en-US" altLang="ko-KR" sz="1200" dirty="0"/>
              <a:t> </a:t>
            </a:r>
            <a:r>
              <a:rPr lang="en-US" altLang="ko-KR" sz="1200" dirty="0" err="1"/>
              <a:t>speakable</a:t>
            </a:r>
            <a:r>
              <a:rPr lang="en-US" altLang="ko-KR" sz="1200" dirty="0"/>
              <a:t>) {</a:t>
            </a:r>
          </a:p>
          <a:p>
            <a:r>
              <a:rPr lang="en-US" altLang="ko-KR" sz="1200" dirty="0"/>
              <a:t>		</a:t>
            </a:r>
            <a:r>
              <a:rPr lang="en-US" altLang="ko-KR" sz="1200" dirty="0" err="1"/>
              <a:t>speakable.speak</a:t>
            </a:r>
            <a:r>
              <a:rPr lang="en-US" altLang="ko-KR" sz="1200" dirty="0"/>
              <a:t>("</a:t>
            </a:r>
            <a:r>
              <a:rPr lang="ko-KR" altLang="en-US" sz="1200" dirty="0"/>
              <a:t>안녕하세요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7B2D4-126C-A9E7-B7D9-16E7C71FC469}"/>
              </a:ext>
            </a:extLst>
          </p:cNvPr>
          <p:cNvSpPr txBox="1"/>
          <p:nvPr/>
        </p:nvSpPr>
        <p:spPr>
          <a:xfrm>
            <a:off x="0" y="3257014"/>
            <a:ext cx="8627952" cy="36009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1200" dirty="0"/>
              <a:t>public class </a:t>
            </a:r>
            <a:r>
              <a:rPr lang="en-US" altLang="ko-KR" sz="1200" dirty="0" err="1"/>
              <a:t>LambdaExample</a:t>
            </a:r>
            <a:r>
              <a:rPr lang="en-US" altLang="ko-KR" sz="1200" dirty="0"/>
              <a:t> {</a:t>
            </a:r>
          </a:p>
          <a:p>
            <a:r>
              <a:rPr lang="en-US" altLang="ko-KR" sz="1200" dirty="0"/>
              <a:t>	public static void main(String[] </a:t>
            </a:r>
            <a:r>
              <a:rPr lang="en-US" altLang="ko-KR" sz="1200" dirty="0" err="1"/>
              <a:t>args</a:t>
            </a:r>
            <a:r>
              <a:rPr lang="en-US" altLang="ko-KR" sz="1200" dirty="0"/>
              <a:t>) {</a:t>
            </a:r>
          </a:p>
          <a:p>
            <a:r>
              <a:rPr lang="en-US" altLang="ko-KR" sz="1200" dirty="0"/>
              <a:t>		Person </a:t>
            </a:r>
            <a:r>
              <a:rPr lang="en-US" altLang="ko-KR" sz="1200" dirty="0" err="1"/>
              <a:t>person</a:t>
            </a:r>
            <a:r>
              <a:rPr lang="en-US" altLang="ko-KR" sz="1200" dirty="0"/>
              <a:t> = new Person();</a:t>
            </a:r>
          </a:p>
          <a:p>
            <a:r>
              <a:rPr lang="en-US" altLang="ko-KR" sz="1200" dirty="0"/>
              <a:t>		</a:t>
            </a:r>
          </a:p>
          <a:p>
            <a:r>
              <a:rPr lang="en-US" altLang="ko-KR" sz="1200" dirty="0"/>
              <a:t>		//</a:t>
            </a:r>
            <a:r>
              <a:rPr lang="ko-KR" altLang="en-US" sz="1200" dirty="0"/>
              <a:t>매개변수가 두 개일 경우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/>
              <a:t>person.action1((name, job) -&gt; {</a:t>
            </a:r>
          </a:p>
          <a:p>
            <a:r>
              <a:rPr lang="en-US" altLang="ko-KR" sz="1200" dirty="0"/>
              <a:t>			</a:t>
            </a:r>
            <a:r>
              <a:rPr lang="en-US" altLang="ko-KR" sz="1200" dirty="0" err="1"/>
              <a:t>System.out.print</a:t>
            </a:r>
            <a:r>
              <a:rPr lang="en-US" altLang="ko-KR" sz="1200" dirty="0"/>
              <a:t>(name + "</a:t>
            </a:r>
            <a:r>
              <a:rPr lang="ko-KR" altLang="en-US" sz="1200" dirty="0"/>
              <a:t>이 </a:t>
            </a:r>
            <a:r>
              <a:rPr lang="en-US" altLang="ko-KR" sz="1200" dirty="0"/>
              <a:t>");</a:t>
            </a:r>
          </a:p>
          <a:p>
            <a:r>
              <a:rPr lang="en-US" altLang="ko-KR" sz="1200" dirty="0"/>
              <a:t>			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(job + "</a:t>
            </a:r>
            <a:r>
              <a:rPr lang="ko-KR" altLang="en-US" sz="1200" dirty="0"/>
              <a:t>을 합니다</a:t>
            </a:r>
            <a:r>
              <a:rPr lang="en-US" altLang="ko-KR" sz="1200" dirty="0"/>
              <a:t>.");</a:t>
            </a:r>
          </a:p>
          <a:p>
            <a:r>
              <a:rPr lang="en-US" altLang="ko-KR" sz="1200" dirty="0"/>
              <a:t>		});</a:t>
            </a:r>
          </a:p>
          <a:p>
            <a:r>
              <a:rPr lang="en-US" altLang="ko-KR" sz="1200" dirty="0"/>
              <a:t>		person.action1((name, job) -&gt;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(name + "</a:t>
            </a:r>
            <a:r>
              <a:rPr lang="ko-KR" altLang="en-US" sz="1200" dirty="0"/>
              <a:t>이 </a:t>
            </a:r>
            <a:r>
              <a:rPr lang="en-US" altLang="ko-KR" sz="1200" dirty="0"/>
              <a:t>" + job + "</a:t>
            </a:r>
            <a:r>
              <a:rPr lang="ko-KR" altLang="en-US" sz="1200" dirty="0"/>
              <a:t>을 하지 않습니다</a:t>
            </a:r>
            <a:r>
              <a:rPr lang="en-US" altLang="ko-KR" sz="1200" dirty="0"/>
              <a:t>."));</a:t>
            </a:r>
          </a:p>
          <a:p>
            <a:r>
              <a:rPr lang="en-US" altLang="ko-KR" sz="1200" dirty="0"/>
              <a:t>		</a:t>
            </a:r>
          </a:p>
          <a:p>
            <a:r>
              <a:rPr lang="en-US" altLang="ko-KR" sz="1200" dirty="0"/>
              <a:t>		//</a:t>
            </a:r>
            <a:r>
              <a:rPr lang="ko-KR" altLang="en-US" sz="1200" dirty="0"/>
              <a:t>매개변수가 한 개일 경우</a:t>
            </a:r>
          </a:p>
          <a:p>
            <a:r>
              <a:rPr lang="ko-KR" altLang="en-US" sz="1200" dirty="0"/>
              <a:t>		</a:t>
            </a:r>
            <a:r>
              <a:rPr lang="en-US" altLang="ko-KR" sz="1200" dirty="0"/>
              <a:t>person.action2(word -&gt; {</a:t>
            </a:r>
          </a:p>
          <a:p>
            <a:r>
              <a:rPr lang="en-US" altLang="ko-KR" sz="1200" dirty="0"/>
              <a:t>			</a:t>
            </a:r>
            <a:r>
              <a:rPr lang="en-US" altLang="ko-KR" sz="1200" dirty="0" err="1"/>
              <a:t>System.out.print</a:t>
            </a:r>
            <a:r>
              <a:rPr lang="en-US" altLang="ko-KR" sz="1200" dirty="0"/>
              <a:t>("\"" + word + "\"");</a:t>
            </a:r>
          </a:p>
          <a:p>
            <a:r>
              <a:rPr lang="en-US" altLang="ko-KR" sz="1200" dirty="0"/>
              <a:t>			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</a:t>
            </a:r>
            <a:r>
              <a:rPr lang="ko-KR" altLang="en-US" sz="1200" dirty="0"/>
              <a:t>라고 말합니다</a:t>
            </a:r>
            <a:r>
              <a:rPr lang="en-US" altLang="ko-KR" sz="1200" dirty="0"/>
              <a:t>.");</a:t>
            </a:r>
          </a:p>
          <a:p>
            <a:r>
              <a:rPr lang="en-US" altLang="ko-KR" sz="1200" dirty="0"/>
              <a:t>		});</a:t>
            </a:r>
          </a:p>
          <a:p>
            <a:r>
              <a:rPr lang="en-US" altLang="ko-KR" sz="1200" dirty="0"/>
              <a:t>		person.action2(word -&gt; </a:t>
            </a:r>
            <a:r>
              <a:rPr lang="en-US" altLang="ko-KR" sz="1200" dirty="0" err="1"/>
              <a:t>System.out.println</a:t>
            </a:r>
            <a:r>
              <a:rPr lang="en-US" altLang="ko-KR" sz="1200" dirty="0"/>
              <a:t>("\"" + word + "\"</a:t>
            </a:r>
            <a:r>
              <a:rPr lang="ko-KR" altLang="en-US" sz="1200" dirty="0"/>
              <a:t>라고 외칩니다</a:t>
            </a:r>
            <a:r>
              <a:rPr lang="en-US" altLang="ko-KR" sz="1200" dirty="0"/>
              <a:t>."));</a:t>
            </a:r>
          </a:p>
          <a:p>
            <a:r>
              <a:rPr lang="en-US" altLang="ko-KR" sz="1200" dirty="0"/>
              <a:t>	}</a:t>
            </a:r>
          </a:p>
          <a:p>
            <a:r>
              <a:rPr lang="en-US" altLang="ko-KR" sz="1200" dirty="0"/>
              <a:t>}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759E11B5-FFA3-E1C5-034A-3B744072FA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8835" y="4580454"/>
            <a:ext cx="2809312" cy="954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175023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768F39-7686-FA8E-D160-FC527FE0B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FF3BEC2-267D-CDBD-8D2B-2B77AD617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 err="1"/>
              <a:t>리턴값이</a:t>
            </a:r>
            <a:r>
              <a:rPr lang="ko-KR" altLang="en-US" sz="1400" b="1" dirty="0"/>
              <a:t> 있는 </a:t>
            </a:r>
            <a:r>
              <a:rPr lang="ko-KR" altLang="en-US" sz="1400" b="1" dirty="0" err="1"/>
              <a:t>람다식</a:t>
            </a:r>
            <a:r>
              <a:rPr lang="ko-KR" altLang="en-US" sz="1400" b="1" dirty="0"/>
              <a:t> 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함수형 인터페이스의 추상 메소드에 </a:t>
            </a:r>
            <a:r>
              <a:rPr lang="ko-KR" altLang="en-US" sz="1400" dirty="0" err="1"/>
              <a:t>리턴값이</a:t>
            </a:r>
            <a:r>
              <a:rPr lang="ko-KR" altLang="en-US" sz="1400" dirty="0"/>
              <a:t> 있을 경우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-return</a:t>
            </a:r>
            <a:r>
              <a:rPr lang="ko-KR" altLang="en-US" sz="1400" dirty="0"/>
              <a:t>문이 하나 있을 경우 중괄호와 함께 </a:t>
            </a:r>
            <a:r>
              <a:rPr lang="en-US" altLang="ko-KR" sz="1400" dirty="0"/>
              <a:t>return</a:t>
            </a:r>
            <a:r>
              <a:rPr lang="ko-KR" altLang="en-US" sz="1400" dirty="0"/>
              <a:t>키워드 생략 가능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F8BAAC-D4FA-A7BC-0800-0A92AC936552}"/>
              </a:ext>
            </a:extLst>
          </p:cNvPr>
          <p:cNvSpPr txBox="1"/>
          <p:nvPr/>
        </p:nvSpPr>
        <p:spPr>
          <a:xfrm>
            <a:off x="0" y="948690"/>
            <a:ext cx="370286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1200" dirty="0"/>
              <a:t>@FunctionalInterface</a:t>
            </a:r>
          </a:p>
          <a:p>
            <a:r>
              <a:rPr lang="fr-FR" altLang="ko-KR" sz="1200" dirty="0"/>
              <a:t>public interface Calcuable {</a:t>
            </a:r>
          </a:p>
          <a:p>
            <a:r>
              <a:rPr lang="fr-FR" altLang="ko-KR" sz="1200" dirty="0"/>
              <a:t>	double calc(double x, double y);</a:t>
            </a:r>
          </a:p>
          <a:p>
            <a:r>
              <a:rPr lang="fr-FR" altLang="ko-KR" sz="12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8FD194-894D-43B7-CB2B-C15925683646}"/>
              </a:ext>
            </a:extLst>
          </p:cNvPr>
          <p:cNvSpPr txBox="1"/>
          <p:nvPr/>
        </p:nvSpPr>
        <p:spPr>
          <a:xfrm>
            <a:off x="3702867" y="940018"/>
            <a:ext cx="573989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1200" dirty="0"/>
              <a:t>public class Person {</a:t>
            </a:r>
          </a:p>
          <a:p>
            <a:r>
              <a:rPr lang="fr-FR" altLang="ko-KR" sz="1200" dirty="0"/>
              <a:t>	public void action(Calcuable calcuable) {</a:t>
            </a:r>
          </a:p>
          <a:p>
            <a:r>
              <a:rPr lang="fr-FR" altLang="ko-KR" sz="1200" dirty="0"/>
              <a:t>		double result = calcuable.calc(10, 4);</a:t>
            </a:r>
          </a:p>
          <a:p>
            <a:r>
              <a:rPr lang="fr-FR" altLang="ko-KR" sz="1200" dirty="0"/>
              <a:t>		System.out.println("</a:t>
            </a:r>
            <a:r>
              <a:rPr lang="ko-KR" altLang="en-US" sz="1200" dirty="0"/>
              <a:t>결과</a:t>
            </a:r>
            <a:r>
              <a:rPr lang="en-US" altLang="ko-KR" sz="1200" dirty="0"/>
              <a:t>: " + </a:t>
            </a:r>
            <a:r>
              <a:rPr lang="fr-FR" altLang="ko-KR" sz="1200" dirty="0"/>
              <a:t>result);</a:t>
            </a:r>
          </a:p>
          <a:p>
            <a:r>
              <a:rPr lang="fr-FR" altLang="ko-KR" sz="1200" dirty="0"/>
              <a:t>	}</a:t>
            </a:r>
          </a:p>
          <a:p>
            <a:r>
              <a:rPr lang="fr-FR" altLang="ko-KR" sz="12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56A0757-630A-1B3D-2677-C7AC88D61F63}"/>
              </a:ext>
            </a:extLst>
          </p:cNvPr>
          <p:cNvSpPr txBox="1"/>
          <p:nvPr/>
        </p:nvSpPr>
        <p:spPr>
          <a:xfrm>
            <a:off x="0" y="1779687"/>
            <a:ext cx="4689695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LambdaExample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static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(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[] </a:t>
            </a:r>
            <a:r>
              <a:rPr lang="ko-KR" altLang="en-US" sz="1200" dirty="0" err="1"/>
              <a:t>args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 = </a:t>
            </a:r>
            <a:r>
              <a:rPr lang="ko-KR" altLang="en-US" sz="1200" dirty="0" err="1"/>
              <a:t>new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		</a:t>
            </a:r>
          </a:p>
          <a:p>
            <a:r>
              <a:rPr lang="ko-KR" altLang="en-US" sz="1200" dirty="0"/>
              <a:t>		//실행문이 두 개 이상일 경우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person.action</a:t>
            </a:r>
            <a:r>
              <a:rPr lang="ko-KR" altLang="en-US" sz="1200" dirty="0"/>
              <a:t>((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 -&gt; {</a:t>
            </a:r>
          </a:p>
          <a:p>
            <a:r>
              <a:rPr lang="ko-KR" altLang="en-US" sz="1200" dirty="0"/>
              <a:t>			</a:t>
            </a:r>
            <a:r>
              <a:rPr lang="ko-KR" altLang="en-US" sz="1200" dirty="0" err="1"/>
              <a:t>double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result</a:t>
            </a:r>
            <a:r>
              <a:rPr lang="ko-KR" altLang="en-US" sz="1200" dirty="0"/>
              <a:t> = </a:t>
            </a:r>
            <a:r>
              <a:rPr lang="ko-KR" altLang="en-US" sz="1200" dirty="0" err="1"/>
              <a:t>x</a:t>
            </a:r>
            <a:r>
              <a:rPr lang="ko-KR" altLang="en-US" sz="1200" dirty="0"/>
              <a:t> +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		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result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	});</a:t>
            </a:r>
          </a:p>
          <a:p>
            <a:r>
              <a:rPr lang="ko-KR" altLang="en-US" sz="1200" dirty="0"/>
              <a:t>		</a:t>
            </a:r>
          </a:p>
          <a:p>
            <a:r>
              <a:rPr lang="ko-KR" altLang="en-US" sz="1200" dirty="0"/>
              <a:t>		//</a:t>
            </a:r>
            <a:r>
              <a:rPr lang="ko-KR" altLang="en-US" sz="1200" dirty="0" err="1"/>
              <a:t>리턴문</a:t>
            </a:r>
            <a:r>
              <a:rPr lang="ko-KR" altLang="en-US" sz="1200" dirty="0"/>
              <a:t> 하나만 있을 경우(</a:t>
            </a:r>
            <a:r>
              <a:rPr lang="ko-KR" altLang="en-US" sz="1200" dirty="0" err="1"/>
              <a:t>연산식</a:t>
            </a:r>
            <a:r>
              <a:rPr lang="ko-KR" altLang="en-US" sz="1200" dirty="0"/>
              <a:t>)</a:t>
            </a:r>
          </a:p>
          <a:p>
            <a:r>
              <a:rPr lang="ko-KR" altLang="en-US" sz="1200" dirty="0"/>
              <a:t>		//</a:t>
            </a:r>
            <a:r>
              <a:rPr lang="ko-KR" altLang="en-US" sz="1200" dirty="0" err="1"/>
              <a:t>person.action</a:t>
            </a:r>
            <a:r>
              <a:rPr lang="ko-KR" altLang="en-US" sz="1200" dirty="0"/>
              <a:t>((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 -&gt; {</a:t>
            </a:r>
          </a:p>
          <a:p>
            <a:r>
              <a:rPr lang="ko-KR" altLang="en-US" sz="1200" dirty="0"/>
              <a:t>		//	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 +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	//});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person.action</a:t>
            </a:r>
            <a:r>
              <a:rPr lang="ko-KR" altLang="en-US" sz="1200" dirty="0"/>
              <a:t>((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 -&gt; 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 +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));</a:t>
            </a:r>
          </a:p>
          <a:p>
            <a:r>
              <a:rPr lang="ko-KR" altLang="en-US" sz="1200" dirty="0"/>
              <a:t>		</a:t>
            </a:r>
          </a:p>
          <a:p>
            <a:r>
              <a:rPr lang="ko-KR" altLang="en-US" sz="1200" dirty="0"/>
              <a:t>		//</a:t>
            </a:r>
            <a:r>
              <a:rPr lang="ko-KR" altLang="en-US" sz="1200" dirty="0" err="1"/>
              <a:t>리턴문</a:t>
            </a:r>
            <a:r>
              <a:rPr lang="ko-KR" altLang="en-US" sz="1200" dirty="0"/>
              <a:t> 하나만 있을 경우(메소드 호출)</a:t>
            </a:r>
          </a:p>
          <a:p>
            <a:r>
              <a:rPr lang="ko-KR" altLang="en-US" sz="1200" dirty="0"/>
              <a:t>		//</a:t>
            </a:r>
            <a:r>
              <a:rPr lang="ko-KR" altLang="en-US" sz="1200" dirty="0" err="1"/>
              <a:t>person.action</a:t>
            </a:r>
            <a:r>
              <a:rPr lang="ko-KR" altLang="en-US" sz="1200" dirty="0"/>
              <a:t>((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 -&gt; {</a:t>
            </a:r>
          </a:p>
          <a:p>
            <a:r>
              <a:rPr lang="ko-KR" altLang="en-US" sz="1200" dirty="0"/>
              <a:t>		//	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sum</a:t>
            </a:r>
            <a:r>
              <a:rPr lang="ko-KR" altLang="en-US" sz="1200" dirty="0"/>
              <a:t>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	//});		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person.action</a:t>
            </a:r>
            <a:r>
              <a:rPr lang="ko-KR" altLang="en-US" sz="1200" dirty="0"/>
              <a:t>((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 -&gt; </a:t>
            </a:r>
            <a:r>
              <a:rPr lang="ko-KR" altLang="en-US" sz="1200" dirty="0" err="1"/>
              <a:t>sum</a:t>
            </a:r>
            <a:r>
              <a:rPr lang="ko-KR" altLang="en-US" sz="1200" dirty="0"/>
              <a:t>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));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	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static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double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sum</a:t>
            </a:r>
            <a:r>
              <a:rPr lang="ko-KR" altLang="en-US" sz="1200" dirty="0"/>
              <a:t>(</a:t>
            </a:r>
            <a:r>
              <a:rPr lang="ko-KR" altLang="en-US" sz="1200" dirty="0" err="1"/>
              <a:t>double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x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double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(</a:t>
            </a:r>
            <a:r>
              <a:rPr lang="ko-KR" altLang="en-US" sz="1200" dirty="0" err="1"/>
              <a:t>x</a:t>
            </a:r>
            <a:r>
              <a:rPr lang="ko-KR" altLang="en-US" sz="1200" dirty="0"/>
              <a:t> + </a:t>
            </a:r>
            <a:r>
              <a:rPr lang="ko-KR" altLang="en-US" sz="1200" dirty="0" err="1"/>
              <a:t>y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}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D479260C-F06F-EA0E-B7FD-275236B56B5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0841" y="3624872"/>
            <a:ext cx="1121923" cy="10927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651495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7B9697-1047-E70E-A62F-5C75BD5547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B8B40D-1519-833B-7554-1441266D04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메소드 참조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메소드를 참조해서 람다식에서 불필요한 매개변수를 제거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 </a:t>
            </a:r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단순히 두 개의 값을 </a:t>
            </a:r>
            <a:r>
              <a:rPr lang="en-US" altLang="ko-KR" sz="1400" dirty="0" err="1"/>
              <a:t>Math.max</a:t>
            </a:r>
            <a:r>
              <a:rPr lang="en-US" altLang="ko-KR" sz="1400" dirty="0"/>
              <a:t>() </a:t>
            </a:r>
            <a:r>
              <a:rPr lang="ko-KR" altLang="en-US" sz="1400" dirty="0"/>
              <a:t>메소드의 </a:t>
            </a:r>
            <a:r>
              <a:rPr lang="ko-KR" altLang="en-US" sz="1400" dirty="0" err="1"/>
              <a:t>매개값으로</a:t>
            </a:r>
            <a:r>
              <a:rPr lang="ko-KR" altLang="en-US" sz="1400" dirty="0"/>
              <a:t> 전달하는 역할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(left, right) -&gt; </a:t>
            </a:r>
            <a:r>
              <a:rPr lang="en-US" altLang="ko-KR" sz="1400" dirty="0" err="1"/>
              <a:t>Math.max</a:t>
            </a:r>
            <a:r>
              <a:rPr lang="en-US" altLang="ko-KR" sz="1400" dirty="0"/>
              <a:t>(left, right)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메소드 참조를 이용하여 </a:t>
            </a:r>
            <a:r>
              <a:rPr lang="ko-KR" altLang="en-US" sz="1400" dirty="0" err="1"/>
              <a:t>깔금하게</a:t>
            </a:r>
            <a:r>
              <a:rPr lang="ko-KR" altLang="en-US" sz="1400" dirty="0"/>
              <a:t> 처리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Math :: max; 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b="1" dirty="0"/>
              <a:t>정적 메소드와 인스턴스 메소드 참조</a:t>
            </a: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정적 메소드를 참조할 경우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</a:t>
            </a:r>
            <a:r>
              <a:rPr lang="en-US" altLang="ko-KR" sz="1400" dirty="0"/>
              <a:t>:: </a:t>
            </a:r>
            <a:r>
              <a:rPr lang="ko-KR" altLang="en-US" sz="1400" dirty="0"/>
              <a:t>메소드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인스턴스 메소드를 참조할 경우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참조변수 </a:t>
            </a:r>
            <a:r>
              <a:rPr lang="en-US" altLang="ko-KR" sz="1400" dirty="0"/>
              <a:t>:: </a:t>
            </a:r>
            <a:r>
              <a:rPr lang="ko-KR" altLang="en-US" sz="1400" dirty="0"/>
              <a:t>메소드</a:t>
            </a: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9252334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6E0904-8AC8-9124-9257-AA9202E70B0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7A415-0BD7-EDB6-8391-4A45AFCE83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 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2B6FFC-A3E0-D623-E601-834499786950}"/>
              </a:ext>
            </a:extLst>
          </p:cNvPr>
          <p:cNvSpPr txBox="1"/>
          <p:nvPr/>
        </p:nvSpPr>
        <p:spPr>
          <a:xfrm>
            <a:off x="0" y="8672"/>
            <a:ext cx="370286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1200" dirty="0"/>
              <a:t>@FunctionalInterface</a:t>
            </a:r>
          </a:p>
          <a:p>
            <a:r>
              <a:rPr lang="fr-FR" altLang="ko-KR" sz="1200" dirty="0"/>
              <a:t>public interface Calcuable {</a:t>
            </a:r>
          </a:p>
          <a:p>
            <a:r>
              <a:rPr lang="fr-FR" altLang="ko-KR" sz="1200" dirty="0"/>
              <a:t>	double calc(double x, double y);</a:t>
            </a:r>
          </a:p>
          <a:p>
            <a:r>
              <a:rPr lang="fr-FR" altLang="ko-KR" sz="12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85771F-96C1-50B5-2E17-2CBFFF034093}"/>
              </a:ext>
            </a:extLst>
          </p:cNvPr>
          <p:cNvSpPr txBox="1"/>
          <p:nvPr/>
        </p:nvSpPr>
        <p:spPr>
          <a:xfrm>
            <a:off x="3702867" y="0"/>
            <a:ext cx="5739897" cy="120032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1200" dirty="0"/>
              <a:t>public class Person {</a:t>
            </a:r>
          </a:p>
          <a:p>
            <a:r>
              <a:rPr lang="fr-FR" altLang="ko-KR" sz="1200" dirty="0"/>
              <a:t>	public void action(Calcuable calcuable) {</a:t>
            </a:r>
          </a:p>
          <a:p>
            <a:r>
              <a:rPr lang="fr-FR" altLang="ko-KR" sz="1200" dirty="0"/>
              <a:t>		double result = calcuable.calc(10, 4);</a:t>
            </a:r>
          </a:p>
          <a:p>
            <a:r>
              <a:rPr lang="fr-FR" altLang="ko-KR" sz="1200" dirty="0"/>
              <a:t>		System.out.println("</a:t>
            </a:r>
            <a:r>
              <a:rPr lang="ko-KR" altLang="en-US" sz="1200" dirty="0"/>
              <a:t>결과</a:t>
            </a:r>
            <a:r>
              <a:rPr lang="en-US" altLang="ko-KR" sz="1200" dirty="0"/>
              <a:t>: " + </a:t>
            </a:r>
            <a:r>
              <a:rPr lang="fr-FR" altLang="ko-KR" sz="1200" dirty="0"/>
              <a:t>result);</a:t>
            </a:r>
          </a:p>
          <a:p>
            <a:r>
              <a:rPr lang="fr-FR" altLang="ko-KR" sz="1200" dirty="0"/>
              <a:t>	}</a:t>
            </a:r>
          </a:p>
          <a:p>
            <a:r>
              <a:rPr lang="fr-FR" altLang="ko-KR" sz="1200" dirty="0"/>
              <a:t>}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CD6780-FD77-DB75-3019-C3EC9845745D}"/>
              </a:ext>
            </a:extLst>
          </p:cNvPr>
          <p:cNvSpPr txBox="1"/>
          <p:nvPr/>
        </p:nvSpPr>
        <p:spPr>
          <a:xfrm>
            <a:off x="6452103" y="1200329"/>
            <a:ext cx="5739897" cy="175432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fr-FR" altLang="ko-KR" sz="1200" dirty="0"/>
              <a:t>public class Computer {</a:t>
            </a:r>
          </a:p>
          <a:p>
            <a:r>
              <a:rPr lang="fr-FR" altLang="ko-KR" sz="1200" dirty="0"/>
              <a:t>	public static double staticMethod(double x, double y) {</a:t>
            </a:r>
          </a:p>
          <a:p>
            <a:r>
              <a:rPr lang="fr-FR" altLang="ko-KR" sz="1200" dirty="0"/>
              <a:t>		return x + y;</a:t>
            </a:r>
          </a:p>
          <a:p>
            <a:r>
              <a:rPr lang="fr-FR" altLang="ko-KR" sz="1200" dirty="0"/>
              <a:t>	}</a:t>
            </a:r>
          </a:p>
          <a:p>
            <a:r>
              <a:rPr lang="fr-FR" altLang="ko-KR" sz="1200" dirty="0"/>
              <a:t>	</a:t>
            </a:r>
          </a:p>
          <a:p>
            <a:r>
              <a:rPr lang="fr-FR" altLang="ko-KR" sz="1200" dirty="0"/>
              <a:t>	public double instanceMethod(double x, double y) {</a:t>
            </a:r>
          </a:p>
          <a:p>
            <a:r>
              <a:rPr lang="fr-FR" altLang="ko-KR" sz="1200" dirty="0"/>
              <a:t>		return x * y;</a:t>
            </a:r>
          </a:p>
          <a:p>
            <a:r>
              <a:rPr lang="fr-FR" altLang="ko-KR" sz="1200" dirty="0"/>
              <a:t>	}</a:t>
            </a:r>
          </a:p>
          <a:p>
            <a:r>
              <a:rPr lang="fr-FR" altLang="ko-KR" sz="12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69E4F4-625D-4AEC-6745-14633C0FC08F}"/>
              </a:ext>
            </a:extLst>
          </p:cNvPr>
          <p:cNvSpPr txBox="1"/>
          <p:nvPr/>
        </p:nvSpPr>
        <p:spPr>
          <a:xfrm>
            <a:off x="0" y="2252992"/>
            <a:ext cx="7025489" cy="46166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class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MethodReferenceExample</a:t>
            </a:r>
            <a:r>
              <a:rPr lang="ko-KR" altLang="en-US" sz="1400" dirty="0"/>
              <a:t> {</a:t>
            </a:r>
          </a:p>
          <a:p>
            <a:r>
              <a:rPr lang="ko-KR" altLang="en-US" sz="1400" dirty="0"/>
              <a:t>	</a:t>
            </a:r>
            <a:r>
              <a:rPr lang="ko-KR" altLang="en-US" sz="1400" dirty="0" err="1"/>
              <a:t>public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static</a:t>
            </a:r>
            <a:r>
              <a:rPr lang="ko-KR" altLang="en-US" sz="1400" dirty="0"/>
              <a:t> </a:t>
            </a:r>
            <a:r>
              <a:rPr lang="ko-KR" altLang="en-US" sz="1400" dirty="0" err="1"/>
              <a:t>void</a:t>
            </a:r>
            <a:r>
              <a:rPr lang="ko-KR" altLang="en-US" sz="1400" dirty="0"/>
              <a:t> </a:t>
            </a:r>
            <a:r>
              <a:rPr lang="ko-KR" altLang="en-US" sz="1400" dirty="0" err="1"/>
              <a:t>main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String</a:t>
            </a:r>
            <a:r>
              <a:rPr lang="ko-KR" altLang="en-US" sz="1400" dirty="0"/>
              <a:t>[] </a:t>
            </a:r>
            <a:r>
              <a:rPr lang="ko-KR" altLang="en-US" sz="1400" dirty="0" err="1"/>
              <a:t>args</a:t>
            </a:r>
            <a:r>
              <a:rPr lang="ko-KR" altLang="en-US" sz="1400" dirty="0"/>
              <a:t>) {</a:t>
            </a:r>
          </a:p>
          <a:p>
            <a:r>
              <a:rPr lang="ko-KR" altLang="en-US" sz="1400" dirty="0"/>
              <a:t>		</a:t>
            </a:r>
            <a:r>
              <a:rPr lang="ko-KR" altLang="en-US" sz="1400" dirty="0" err="1"/>
              <a:t>Person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person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</a:t>
            </a:r>
            <a:r>
              <a:rPr lang="ko-KR" altLang="en-US" sz="1400" dirty="0" err="1"/>
              <a:t>Person</a:t>
            </a:r>
            <a:r>
              <a:rPr lang="ko-KR" altLang="en-US" sz="1400" dirty="0"/>
              <a:t>();</a:t>
            </a:r>
          </a:p>
          <a:p>
            <a:r>
              <a:rPr lang="ko-KR" altLang="en-US" sz="1400" dirty="0"/>
              <a:t>		</a:t>
            </a:r>
          </a:p>
          <a:p>
            <a:r>
              <a:rPr lang="ko-KR" altLang="en-US" sz="1400" dirty="0"/>
              <a:t>		//정적 메소드일 경우</a:t>
            </a:r>
          </a:p>
          <a:p>
            <a:r>
              <a:rPr lang="ko-KR" altLang="en-US" sz="1400" dirty="0"/>
              <a:t>		//</a:t>
            </a:r>
            <a:r>
              <a:rPr lang="ko-KR" altLang="en-US" sz="1400" dirty="0" err="1"/>
              <a:t>람다식</a:t>
            </a:r>
            <a:endParaRPr lang="ko-KR" altLang="en-US" sz="1400" dirty="0"/>
          </a:p>
          <a:p>
            <a:r>
              <a:rPr lang="ko-KR" altLang="en-US" sz="1400" dirty="0"/>
              <a:t>		//</a:t>
            </a:r>
            <a:r>
              <a:rPr lang="ko-KR" altLang="en-US" sz="1400" dirty="0" err="1"/>
              <a:t>person.action</a:t>
            </a:r>
            <a:r>
              <a:rPr lang="ko-KR" altLang="en-US" sz="1400" dirty="0"/>
              <a:t>((</a:t>
            </a:r>
            <a:r>
              <a:rPr lang="ko-KR" altLang="en-US" sz="1400" dirty="0" err="1"/>
              <a:t>x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 -&gt; </a:t>
            </a:r>
            <a:r>
              <a:rPr lang="ko-KR" altLang="en-US" sz="1400" dirty="0" err="1"/>
              <a:t>Computer.staticMethod</a:t>
            </a:r>
            <a:r>
              <a:rPr lang="ko-KR" altLang="en-US" sz="1400" dirty="0"/>
              <a:t>(</a:t>
            </a:r>
            <a:r>
              <a:rPr lang="ko-KR" altLang="en-US" sz="1400" dirty="0" err="1"/>
              <a:t>x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));		</a:t>
            </a:r>
          </a:p>
          <a:p>
            <a:r>
              <a:rPr lang="ko-KR" altLang="en-US" sz="1400" dirty="0"/>
              <a:t>		//메소드 참조</a:t>
            </a:r>
          </a:p>
          <a:p>
            <a:r>
              <a:rPr lang="ko-KR" altLang="en-US" sz="1400" dirty="0"/>
              <a:t>		</a:t>
            </a:r>
            <a:r>
              <a:rPr lang="ko-KR" altLang="en-US" sz="1400" dirty="0" err="1"/>
              <a:t>person.action</a:t>
            </a:r>
            <a:r>
              <a:rPr lang="ko-KR" altLang="en-US" sz="1400" dirty="0"/>
              <a:t>(Computer :: </a:t>
            </a:r>
            <a:r>
              <a:rPr lang="ko-KR" altLang="en-US" sz="1400" dirty="0" err="1"/>
              <a:t>staticMethod</a:t>
            </a:r>
            <a:r>
              <a:rPr lang="ko-KR" altLang="en-US" sz="1400" dirty="0"/>
              <a:t>);</a:t>
            </a:r>
          </a:p>
          <a:p>
            <a:r>
              <a:rPr lang="ko-KR" altLang="en-US" sz="1400" dirty="0"/>
              <a:t>		</a:t>
            </a:r>
          </a:p>
          <a:p>
            <a:r>
              <a:rPr lang="ko-KR" altLang="en-US" sz="1400" dirty="0"/>
              <a:t>		//인스턴스 메소드일 경우</a:t>
            </a:r>
          </a:p>
          <a:p>
            <a:r>
              <a:rPr lang="ko-KR" altLang="en-US" sz="1400" dirty="0"/>
              <a:t>		Computer </a:t>
            </a:r>
            <a:r>
              <a:rPr lang="ko-KR" altLang="en-US" sz="1400" dirty="0" err="1"/>
              <a:t>com</a:t>
            </a:r>
            <a:r>
              <a:rPr lang="ko-KR" altLang="en-US" sz="1400" dirty="0"/>
              <a:t> = </a:t>
            </a:r>
            <a:r>
              <a:rPr lang="ko-KR" altLang="en-US" sz="1400" dirty="0" err="1"/>
              <a:t>new</a:t>
            </a:r>
            <a:r>
              <a:rPr lang="ko-KR" altLang="en-US" sz="1400" dirty="0"/>
              <a:t> Computer();</a:t>
            </a:r>
          </a:p>
          <a:p>
            <a:r>
              <a:rPr lang="ko-KR" altLang="en-US" sz="1400" dirty="0"/>
              <a:t>		//</a:t>
            </a:r>
            <a:r>
              <a:rPr lang="ko-KR" altLang="en-US" sz="1400" dirty="0" err="1"/>
              <a:t>람다식</a:t>
            </a:r>
            <a:endParaRPr lang="ko-KR" altLang="en-US" sz="1400" dirty="0"/>
          </a:p>
          <a:p>
            <a:r>
              <a:rPr lang="ko-KR" altLang="en-US" sz="1400" dirty="0"/>
              <a:t>		//</a:t>
            </a:r>
            <a:r>
              <a:rPr lang="ko-KR" altLang="en-US" sz="1400" dirty="0" err="1"/>
              <a:t>person.action</a:t>
            </a:r>
            <a:r>
              <a:rPr lang="ko-KR" altLang="en-US" sz="1400" dirty="0"/>
              <a:t>((</a:t>
            </a:r>
            <a:r>
              <a:rPr lang="ko-KR" altLang="en-US" sz="1400" dirty="0" err="1"/>
              <a:t>x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 -&gt; </a:t>
            </a:r>
            <a:r>
              <a:rPr lang="ko-KR" altLang="en-US" sz="1400" dirty="0" err="1"/>
              <a:t>com.instanceMethod</a:t>
            </a:r>
            <a:r>
              <a:rPr lang="ko-KR" altLang="en-US" sz="1400" dirty="0"/>
              <a:t>(</a:t>
            </a:r>
            <a:r>
              <a:rPr lang="ko-KR" altLang="en-US" sz="1400" dirty="0" err="1"/>
              <a:t>x</a:t>
            </a:r>
            <a:r>
              <a:rPr lang="ko-KR" altLang="en-US" sz="1400" dirty="0"/>
              <a:t>, </a:t>
            </a:r>
            <a:r>
              <a:rPr lang="ko-KR" altLang="en-US" sz="1400" dirty="0" err="1"/>
              <a:t>y</a:t>
            </a:r>
            <a:r>
              <a:rPr lang="ko-KR" altLang="en-US" sz="1400" dirty="0"/>
              <a:t>));		</a:t>
            </a:r>
          </a:p>
          <a:p>
            <a:r>
              <a:rPr lang="ko-KR" altLang="en-US" sz="1400" dirty="0"/>
              <a:t>		//메소드 참조</a:t>
            </a:r>
          </a:p>
          <a:p>
            <a:r>
              <a:rPr lang="ko-KR" altLang="en-US" sz="1400" dirty="0"/>
              <a:t>		</a:t>
            </a:r>
            <a:r>
              <a:rPr lang="ko-KR" altLang="en-US" sz="1400" dirty="0" err="1"/>
              <a:t>person.action</a:t>
            </a:r>
            <a:r>
              <a:rPr lang="ko-KR" altLang="en-US" sz="1400" dirty="0"/>
              <a:t>(</a:t>
            </a:r>
            <a:r>
              <a:rPr lang="ko-KR" altLang="en-US" sz="1400" dirty="0" err="1"/>
              <a:t>com</a:t>
            </a:r>
            <a:r>
              <a:rPr lang="ko-KR" altLang="en-US" sz="1400" dirty="0"/>
              <a:t> :: </a:t>
            </a:r>
            <a:r>
              <a:rPr lang="ko-KR" altLang="en-US" sz="1400" dirty="0" err="1"/>
              <a:t>instanceMethod</a:t>
            </a:r>
            <a:r>
              <a:rPr lang="ko-KR" altLang="en-US" sz="1400" dirty="0"/>
              <a:t>);</a:t>
            </a:r>
          </a:p>
          <a:p>
            <a:r>
              <a:rPr lang="ko-KR" altLang="en-US" sz="1400" dirty="0"/>
              <a:t>		</a:t>
            </a:r>
          </a:p>
          <a:p>
            <a:r>
              <a:rPr lang="ko-KR" altLang="en-US" sz="1400" dirty="0"/>
              <a:t>	}</a:t>
            </a:r>
          </a:p>
          <a:p>
            <a:r>
              <a:rPr lang="ko-KR" altLang="en-US" sz="1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5301820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4CE13-916A-5F77-F8E5-FCAFC959AB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FB4DF11-E9B6-CBBC-7570-D20D2FEA3F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ko-KR" altLang="en-US" sz="1400" b="1" dirty="0"/>
              <a:t>생성자 참조</a:t>
            </a: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ko-KR" altLang="en-US" sz="1400" dirty="0"/>
              <a:t>생성자 참조는 객체 생성을 의미함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람다식이 단순히 객체만 생성한다면 생성자 참조로 대치할 수 있다</a:t>
            </a:r>
            <a:r>
              <a:rPr lang="en-US" altLang="ko-KR" sz="1400" dirty="0"/>
              <a:t>.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ex)</a:t>
            </a:r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단순 객체 생성 </a:t>
            </a:r>
            <a:r>
              <a:rPr lang="ko-KR" altLang="en-US" sz="1400" dirty="0" err="1"/>
              <a:t>람다식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(</a:t>
            </a:r>
            <a:r>
              <a:rPr lang="en-US" altLang="ko-KR" sz="1400" dirty="0" err="1"/>
              <a:t>a,b</a:t>
            </a:r>
            <a:r>
              <a:rPr lang="en-US" altLang="ko-KR" sz="1400" dirty="0"/>
              <a:t>) -&gt; {return new </a:t>
            </a:r>
            <a:r>
              <a:rPr lang="ko-KR" altLang="en-US" sz="1400" dirty="0"/>
              <a:t>클래스</a:t>
            </a:r>
            <a:r>
              <a:rPr lang="en-US" altLang="ko-KR" sz="1400" dirty="0"/>
              <a:t>(</a:t>
            </a:r>
            <a:r>
              <a:rPr lang="en-US" altLang="ko-KR" sz="1400" dirty="0" err="1"/>
              <a:t>a,b</a:t>
            </a:r>
            <a:r>
              <a:rPr lang="en-US" altLang="ko-KR" sz="1400" dirty="0"/>
              <a:t>);}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//</a:t>
            </a:r>
            <a:r>
              <a:rPr lang="ko-KR" altLang="en-US" sz="1400" dirty="0"/>
              <a:t>생성자 참조로 표현</a:t>
            </a: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/>
              <a:t>클래스 </a:t>
            </a:r>
            <a:r>
              <a:rPr lang="en-US" altLang="ko-KR" sz="1400" dirty="0"/>
              <a:t>:: new</a:t>
            </a:r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r>
              <a:rPr lang="ko-KR" altLang="en-US" sz="1400" dirty="0" err="1"/>
              <a:t>오버로딩되어</a:t>
            </a:r>
            <a:r>
              <a:rPr lang="ko-KR" altLang="en-US" sz="1400" dirty="0"/>
              <a:t> 생성자가 여러 개인 경우</a:t>
            </a:r>
            <a:endParaRPr lang="en-US" altLang="ko-KR" sz="1400" dirty="0"/>
          </a:p>
          <a:p>
            <a:pPr marL="0" indent="0">
              <a:buNone/>
            </a:pPr>
            <a:r>
              <a:rPr lang="en-US" altLang="ko-KR" sz="1400" dirty="0"/>
              <a:t>-</a:t>
            </a:r>
            <a:r>
              <a:rPr lang="ko-KR" altLang="en-US" sz="1400" dirty="0"/>
              <a:t>컴파일러는 함수형 인터페이스의 추상 메소드와 동일한 매개변수를 가진 생성자를 찾아서 실행함</a:t>
            </a: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  <a:p>
            <a:pPr marL="0" indent="0">
              <a:buNone/>
            </a:pPr>
            <a:endParaRPr lang="en-US" altLang="ko-KR" sz="1400" dirty="0"/>
          </a:p>
        </p:txBody>
      </p:sp>
    </p:spTree>
    <p:extLst>
      <p:ext uri="{BB962C8B-B14F-4D97-AF65-F5344CB8AC3E}">
        <p14:creationId xmlns:p14="http://schemas.microsoft.com/office/powerpoint/2010/main" val="511664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DBF05F-D295-1D67-1A31-607BC3C14C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F16BE49-6466-0FC6-80AB-DDEDC6F004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altLang="ko-KR" sz="1400" b="1" dirty="0"/>
              <a:t> </a:t>
            </a:r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endParaRPr lang="en-US" altLang="ko-KR" sz="1400" b="1" dirty="0"/>
          </a:p>
          <a:p>
            <a:pPr marL="0" indent="0">
              <a:buNone/>
            </a:pPr>
            <a:r>
              <a:rPr lang="en-US" altLang="ko-KR" sz="1400" b="1" dirty="0"/>
              <a:t>-</a:t>
            </a:r>
            <a:r>
              <a:rPr lang="ko-KR" altLang="en-US" sz="1400" dirty="0"/>
              <a:t>생성자 참조는 매개변수 개수에 따라 실행되는 생성자가 다름</a:t>
            </a:r>
            <a:endParaRPr lang="en-US" altLang="ko-KR" sz="14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2FB78F6-4124-241C-BD36-1D3DEC036242}"/>
              </a:ext>
            </a:extLst>
          </p:cNvPr>
          <p:cNvSpPr txBox="1"/>
          <p:nvPr/>
        </p:nvSpPr>
        <p:spPr>
          <a:xfrm>
            <a:off x="0" y="8672"/>
            <a:ext cx="3702867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@FunctionalInterface</a:t>
            </a:r>
          </a:p>
          <a:p>
            <a:r>
              <a:rPr lang="en-US" altLang="ko-KR" sz="1200" dirty="0"/>
              <a:t>public interface Creatable1 {</a:t>
            </a:r>
          </a:p>
          <a:p>
            <a:r>
              <a:rPr lang="en-US" altLang="ko-KR" sz="1200" dirty="0"/>
              <a:t>	public Member create(String id);</a:t>
            </a:r>
          </a:p>
          <a:p>
            <a:r>
              <a:rPr lang="en-US" altLang="ko-KR" sz="1200" dirty="0"/>
              <a:t>}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07718AE-D9F0-B42A-9DD9-0BCBAAD3ADC0}"/>
              </a:ext>
            </a:extLst>
          </p:cNvPr>
          <p:cNvSpPr txBox="1"/>
          <p:nvPr/>
        </p:nvSpPr>
        <p:spPr>
          <a:xfrm>
            <a:off x="3702867" y="8672"/>
            <a:ext cx="4264183" cy="83099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en-US" altLang="ko-KR" sz="1200" dirty="0"/>
              <a:t>@FunctionalInterface</a:t>
            </a:r>
          </a:p>
          <a:p>
            <a:r>
              <a:rPr lang="en-US" altLang="ko-KR" sz="1200" dirty="0"/>
              <a:t>public interface Creatable2 {</a:t>
            </a:r>
          </a:p>
          <a:p>
            <a:r>
              <a:rPr lang="en-US" altLang="ko-KR" sz="1200" dirty="0"/>
              <a:t>	public Member create(String id, String name);</a:t>
            </a:r>
          </a:p>
          <a:p>
            <a:r>
              <a:rPr lang="en-US" altLang="ko-KR" sz="1200" dirty="0"/>
              <a:t>}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A67B0-B608-F8BE-A71F-4AA4D38BBC6B}"/>
              </a:ext>
            </a:extLst>
          </p:cNvPr>
          <p:cNvSpPr txBox="1"/>
          <p:nvPr/>
        </p:nvSpPr>
        <p:spPr>
          <a:xfrm>
            <a:off x="0" y="839669"/>
            <a:ext cx="6097508" cy="452431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private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private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</a:t>
            </a:r>
            <a:endParaRPr lang="en-US" altLang="ko-KR" sz="1200" dirty="0"/>
          </a:p>
          <a:p>
            <a:r>
              <a:rPr lang="en-US" altLang="ko-KR" sz="1200" dirty="0"/>
              <a:t>	//</a:t>
            </a:r>
            <a:r>
              <a:rPr lang="ko-KR" altLang="en-US" sz="1200" dirty="0"/>
              <a:t>매개변수가 하나인 생성자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(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		this.id =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System.out.println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(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)");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	</a:t>
            </a:r>
            <a:endParaRPr lang="en-US" altLang="ko-KR" sz="1200" dirty="0"/>
          </a:p>
          <a:p>
            <a:r>
              <a:rPr lang="en-US" altLang="ko-KR" sz="1200" dirty="0"/>
              <a:t>	//</a:t>
            </a:r>
            <a:r>
              <a:rPr lang="ko-KR" altLang="en-US" sz="1200" dirty="0"/>
              <a:t>매개변수가 두개인 생성자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(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		this.id =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	this.name =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System.out.println</a:t>
            </a:r>
            <a:r>
              <a:rPr lang="ko-KR" altLang="en-US" sz="1200" dirty="0"/>
              <a:t>("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(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)");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	</a:t>
            </a:r>
            <a:endParaRPr lang="en-US" altLang="ko-KR" sz="1200" dirty="0"/>
          </a:p>
          <a:p>
            <a:r>
              <a:rPr lang="en-US" altLang="ko-KR" sz="1200" dirty="0"/>
              <a:t>	//</a:t>
            </a:r>
            <a:r>
              <a:rPr lang="ko-KR" altLang="en-US" sz="1200" dirty="0"/>
              <a:t>필드 내용을 출력하게끔 재정의</a:t>
            </a:r>
          </a:p>
          <a:p>
            <a:r>
              <a:rPr lang="ko-KR" altLang="en-US" sz="1200" dirty="0"/>
              <a:t>	@Override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toString</a:t>
            </a:r>
            <a:r>
              <a:rPr lang="ko-KR" altLang="en-US" sz="1200" dirty="0"/>
              <a:t>()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info</a:t>
            </a:r>
            <a:r>
              <a:rPr lang="ko-KR" altLang="en-US" sz="1200" dirty="0"/>
              <a:t> = "{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: " +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 + ",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: " +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 + " }";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info</a:t>
            </a:r>
            <a:r>
              <a:rPr lang="ko-KR" altLang="en-US" sz="1200" dirty="0"/>
              <a:t>;		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}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FACCBFA-3F5D-63F3-8EA4-862FC61694CC}"/>
              </a:ext>
            </a:extLst>
          </p:cNvPr>
          <p:cNvSpPr txBox="1"/>
          <p:nvPr/>
        </p:nvSpPr>
        <p:spPr>
          <a:xfrm>
            <a:off x="6092984" y="848341"/>
            <a:ext cx="6097508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getMember1(Creatable1 </a:t>
            </a:r>
            <a:r>
              <a:rPr lang="ko-KR" altLang="en-US" sz="1200" dirty="0" err="1"/>
              <a:t>creatable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 = "</a:t>
            </a:r>
            <a:r>
              <a:rPr lang="ko-KR" altLang="en-US" sz="1200" dirty="0" err="1"/>
              <a:t>winter</a:t>
            </a:r>
            <a:r>
              <a:rPr lang="ko-KR" altLang="en-US" sz="1200" dirty="0"/>
              <a:t>";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= </a:t>
            </a:r>
            <a:r>
              <a:rPr lang="ko-KR" altLang="en-US" sz="1200" dirty="0" err="1"/>
              <a:t>creatable.create</a:t>
            </a:r>
            <a:r>
              <a:rPr lang="ko-KR" altLang="en-US" sz="1200" dirty="0"/>
              <a:t>(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	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getMember2(Creatable2 </a:t>
            </a:r>
            <a:r>
              <a:rPr lang="ko-KR" altLang="en-US" sz="1200" dirty="0" err="1"/>
              <a:t>creatable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 = "</a:t>
            </a:r>
            <a:r>
              <a:rPr lang="ko-KR" altLang="en-US" sz="1200" dirty="0" err="1"/>
              <a:t>winter</a:t>
            </a:r>
            <a:r>
              <a:rPr lang="ko-KR" altLang="en-US" sz="1200" dirty="0"/>
              <a:t>";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 = "한겨울";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= </a:t>
            </a:r>
            <a:r>
              <a:rPr lang="ko-KR" altLang="en-US" sz="1200" dirty="0" err="1"/>
              <a:t>creatable.create</a:t>
            </a:r>
            <a:r>
              <a:rPr lang="ko-KR" altLang="en-US" sz="1200" dirty="0"/>
              <a:t>(</a:t>
            </a:r>
            <a:r>
              <a:rPr lang="ko-KR" altLang="en-US" sz="1200" dirty="0" err="1"/>
              <a:t>id</a:t>
            </a:r>
            <a:r>
              <a:rPr lang="ko-KR" altLang="en-US" sz="1200" dirty="0"/>
              <a:t>, </a:t>
            </a:r>
            <a:r>
              <a:rPr lang="ko-KR" altLang="en-US" sz="1200" dirty="0" err="1"/>
              <a:t>name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return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400234E-5207-5248-CC14-557B9D21092B}"/>
              </a:ext>
            </a:extLst>
          </p:cNvPr>
          <p:cNvSpPr txBox="1"/>
          <p:nvPr/>
        </p:nvSpPr>
        <p:spPr>
          <a:xfrm>
            <a:off x="6092983" y="3534669"/>
            <a:ext cx="6102034" cy="267765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class</a:t>
            </a:r>
            <a:r>
              <a:rPr lang="ko-KR" altLang="en-US" sz="1200" dirty="0"/>
              <a:t> </a:t>
            </a:r>
            <a:r>
              <a:rPr lang="ko-KR" altLang="en-US" sz="1200" dirty="0" err="1"/>
              <a:t>ConstructorReferenceExample</a:t>
            </a:r>
            <a:r>
              <a:rPr lang="ko-KR" altLang="en-US" sz="1200" dirty="0"/>
              <a:t> {</a:t>
            </a:r>
          </a:p>
          <a:p>
            <a:r>
              <a:rPr lang="ko-KR" altLang="en-US" sz="1200" dirty="0"/>
              <a:t>	</a:t>
            </a:r>
            <a:r>
              <a:rPr lang="ko-KR" altLang="en-US" sz="1200" dirty="0" err="1"/>
              <a:t>public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static</a:t>
            </a:r>
            <a:r>
              <a:rPr lang="ko-KR" altLang="en-US" sz="1200" dirty="0"/>
              <a:t> </a:t>
            </a:r>
            <a:r>
              <a:rPr lang="ko-KR" altLang="en-US" sz="1200" dirty="0" err="1"/>
              <a:t>void</a:t>
            </a:r>
            <a:r>
              <a:rPr lang="ko-KR" altLang="en-US" sz="1200" dirty="0"/>
              <a:t> </a:t>
            </a:r>
            <a:r>
              <a:rPr lang="ko-KR" altLang="en-US" sz="1200" dirty="0" err="1"/>
              <a:t>main</a:t>
            </a:r>
            <a:r>
              <a:rPr lang="ko-KR" altLang="en-US" sz="1200" dirty="0"/>
              <a:t>(</a:t>
            </a:r>
            <a:r>
              <a:rPr lang="ko-KR" altLang="en-US" sz="1200" dirty="0" err="1"/>
              <a:t>String</a:t>
            </a:r>
            <a:r>
              <a:rPr lang="ko-KR" altLang="en-US" sz="1200" dirty="0"/>
              <a:t>[] </a:t>
            </a:r>
            <a:r>
              <a:rPr lang="ko-KR" altLang="en-US" sz="1200" dirty="0" err="1"/>
              <a:t>args</a:t>
            </a:r>
            <a:r>
              <a:rPr lang="ko-KR" altLang="en-US" sz="1200" dirty="0"/>
              <a:t>) {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 = </a:t>
            </a:r>
            <a:r>
              <a:rPr lang="ko-KR" altLang="en-US" sz="1200" dirty="0" err="1"/>
              <a:t>new</a:t>
            </a:r>
            <a:r>
              <a:rPr lang="ko-KR" altLang="en-US" sz="1200" dirty="0"/>
              <a:t> </a:t>
            </a:r>
            <a:r>
              <a:rPr lang="ko-KR" altLang="en-US" sz="1200" dirty="0" err="1"/>
              <a:t>Person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		</a:t>
            </a:r>
            <a:endParaRPr lang="en-US" altLang="ko-KR" sz="1200" dirty="0"/>
          </a:p>
          <a:p>
            <a:r>
              <a:rPr lang="en-US" altLang="ko-KR" sz="1200" dirty="0"/>
              <a:t>		//</a:t>
            </a:r>
            <a:r>
              <a:rPr lang="ko-KR" altLang="en-US" sz="1200" dirty="0"/>
              <a:t>생성자 참조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m1 = person.getMember1(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:: </a:t>
            </a:r>
            <a:r>
              <a:rPr lang="ko-KR" altLang="en-US" sz="1200" dirty="0" err="1"/>
              <a:t>new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System.out.println</a:t>
            </a:r>
            <a:r>
              <a:rPr lang="ko-KR" altLang="en-US" sz="1200" dirty="0"/>
              <a:t>(m1);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System.out.println</a:t>
            </a:r>
            <a:r>
              <a:rPr lang="ko-KR" altLang="en-US" sz="1200" dirty="0"/>
              <a:t>();</a:t>
            </a:r>
          </a:p>
          <a:p>
            <a:r>
              <a:rPr lang="ko-KR" altLang="en-US" sz="1200" dirty="0"/>
              <a:t>		</a:t>
            </a:r>
            <a:endParaRPr lang="en-US" altLang="ko-KR" sz="1200" dirty="0"/>
          </a:p>
          <a:p>
            <a:r>
              <a:rPr lang="en-US" altLang="ko-KR" sz="1200" dirty="0"/>
              <a:t>		//</a:t>
            </a:r>
            <a:r>
              <a:rPr lang="ko-KR" altLang="en-US" sz="1200" dirty="0"/>
              <a:t>생성자 참조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m2 = person.getMember2(</a:t>
            </a:r>
            <a:r>
              <a:rPr lang="ko-KR" altLang="en-US" sz="1200" dirty="0" err="1"/>
              <a:t>Member</a:t>
            </a:r>
            <a:r>
              <a:rPr lang="ko-KR" altLang="en-US" sz="1200" dirty="0"/>
              <a:t> :: </a:t>
            </a:r>
            <a:r>
              <a:rPr lang="ko-KR" altLang="en-US" sz="1200" dirty="0" err="1"/>
              <a:t>new</a:t>
            </a:r>
            <a:r>
              <a:rPr lang="ko-KR" altLang="en-US" sz="1200" dirty="0"/>
              <a:t>);</a:t>
            </a:r>
          </a:p>
          <a:p>
            <a:r>
              <a:rPr lang="ko-KR" altLang="en-US" sz="1200" dirty="0"/>
              <a:t>		</a:t>
            </a:r>
            <a:r>
              <a:rPr lang="ko-KR" altLang="en-US" sz="1200" dirty="0" err="1"/>
              <a:t>System.out.println</a:t>
            </a:r>
            <a:r>
              <a:rPr lang="ko-KR" altLang="en-US" sz="1200" dirty="0"/>
              <a:t>(m2);</a:t>
            </a:r>
          </a:p>
          <a:p>
            <a:r>
              <a:rPr lang="ko-KR" altLang="en-US" sz="1200" dirty="0"/>
              <a:t>	}</a:t>
            </a:r>
          </a:p>
          <a:p>
            <a:r>
              <a:rPr lang="ko-KR" altLang="en-US" sz="1200" dirty="0"/>
              <a:t>}</a:t>
            </a:r>
          </a:p>
        </p:txBody>
      </p:sp>
      <p:pic>
        <p:nvPicPr>
          <p:cNvPr id="14" name="그림 13">
            <a:extLst>
              <a:ext uri="{FF2B5EF4-FFF2-40B4-BE49-F238E27FC236}">
                <a16:creationId xmlns:a16="http://schemas.microsoft.com/office/drawing/2014/main" id="{943CF036-BC82-1835-A0A6-7AE00045C1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5666" y="5454232"/>
            <a:ext cx="1947201" cy="9693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042784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261</TotalTime>
  <Words>2881</Words>
  <Application>Microsoft Office PowerPoint</Application>
  <PresentationFormat>와이드스크린</PresentationFormat>
  <Paragraphs>474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Wingdings</vt:lpstr>
      <vt:lpstr>Office 테마</vt:lpstr>
      <vt:lpstr>제네릭과 람다식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노찬희</dc:creator>
  <cp:lastModifiedBy>노찬희</cp:lastModifiedBy>
  <cp:revision>13</cp:revision>
  <dcterms:created xsi:type="dcterms:W3CDTF">2024-11-16T10:25:19Z</dcterms:created>
  <dcterms:modified xsi:type="dcterms:W3CDTF">2024-12-23T13:04:50Z</dcterms:modified>
</cp:coreProperties>
</file>