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6D983D4-F772-8E92-046D-AB64B1C083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3CE59B4-AF2B-C13D-41E7-FAE3FD7BD7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331CE5-E978-4913-AE07-F10E80E74899}" type="datetimeFigureOut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E126EF-DE4C-16C8-2E69-A4226760CB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85740C-BE7C-5671-15B1-30F0567793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DFAA9-30BF-4541-AF0C-17704E7A2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222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C78AEE-F6BF-49C8-B298-0CAFAA85661B}" type="datetimeFigureOut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4B260-9828-4FF4-9307-A89F91FEF8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0608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95239-5CF3-0163-4E77-E0461FDBE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A31259-BD30-935B-D387-45B3E31C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B1B8A-95EC-EFA9-2920-F63B2B79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0CB3-9E1B-4598-B0A0-3138011CC0F6}" type="datetime1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67E84-F464-7617-2A4F-F6CB0B59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98FA4-C784-B71C-1800-E7643231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20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45901-A360-9685-C9D0-142CCDAA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C0030-103B-F0B2-93BB-09A79E01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8B7FC-CFE9-A1B1-61A3-F690FB83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1ABEB-CE84-4A2C-A1F9-18F9EB93844E}" type="datetime1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E0150-4E12-697A-4C86-B3AB0DC6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CCAB7-DF93-BE29-9512-E931DEC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9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D85-5E19-97F2-3064-601817BE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69AC2-8D3A-E503-0482-84BE500F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2415A-9B8A-1649-C3DB-B58BBFA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CE4C-BEF1-4AA7-8CAD-EAA111DBC9E0}" type="datetime1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FC505-307D-710D-9B2D-8CD38D4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321C3-40EB-C385-F7BC-33EDC2F9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2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8D41-6C2A-BB83-569C-9F7D19BD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4FD90-E620-EBF8-5ABA-7933243C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E51A9-2C81-17B9-B136-1C00D6A29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3AE586-D237-B216-A46C-449CFC72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5FEC3-CFDE-4055-AC0C-FF7DB933E96A}" type="datetime1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630C6-7555-6475-8C0D-1D67E0BA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BA23D-2DDE-3FBF-2D07-2F703F8C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0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D3E44-57FE-E878-C3F0-147004A6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87131D-3D2B-012E-A66A-8E30E2C9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805DF5-0FA8-8FFD-652A-4F33E38C3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DBA8AD-906A-39ED-3BB7-936A94C3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5706EB-24D1-CC6F-9DC1-9DFF86CE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7AF02-54A9-DB68-4741-6CDD9D48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ADA5-9AB1-43A4-A15E-7D36BAD53B08}" type="datetime1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7EAC82-DBD9-3C65-8485-01FAEC07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75241-56BC-92B7-7AC9-8908C8B0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09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CEC6-0EEB-F7D8-36FB-4CC361E9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E1C994-75C3-F586-18DE-655E1E33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C403-795D-4A20-B664-25DE2C7433B1}" type="datetime1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1E02ED-170A-9378-D809-F1E89D2E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AB6E09-B1CE-D992-28A9-996C95F7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6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E4D4D0-30C2-1A42-7BFD-1FCA28A8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E1877-D8AB-46E1-BC5B-B670F821935A}" type="datetime1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1FF2AF-E9CE-7DFF-5AB8-DE9CAA59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E1EF6-009E-CE70-1756-A209BB24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2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FCAC-EDB7-E9D5-ACAE-6AF29CD0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12EA7-D4FB-75D4-59FD-A5BC9D61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957F2-9394-A780-CD79-49FA95621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B6710-7882-05E9-DCB6-7A9000D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F742E-E7E0-4659-9A22-D4C510522FBC}" type="datetime1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7288B3-2C9D-FB46-0008-80968608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C2E2B-662C-8684-8B5B-5A9887E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2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97221-A3FD-730E-D90A-5379E310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98F2B0-6718-BABD-16A1-3EB697FB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6ACBD-FC1B-641F-5CC6-7756D2C2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4DB35-05A7-D287-0E02-E2FD660D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6C0-22A0-42E2-9B0D-E23CA7E7301F}" type="datetime1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8E70F-9E5A-C63A-CFFD-86F3F05A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C41B3-2B05-16A1-4C36-8851832D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6D03-4244-CDB4-A0AA-6EC97D30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DE395-258F-131A-3FCC-3D6C79B5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B054D-722A-59C1-7F26-0E4C5550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AC21-A5A6-42C4-A00D-402B6516144F}" type="datetime1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49381-C005-307D-0F92-EB858DF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F4D8C-6A57-4311-1EE8-A9FD58E1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2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A65F19-A2F8-5263-A730-DB27A39D3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4B96C3-41E6-B4B6-F577-19B3AFBC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20CEF-7883-1C42-98F3-FAF3D0EB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DABD-3D93-44AB-8C74-0A13D14DAE0A}" type="datetime1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ABB99E-F997-25BB-1DDC-CA167E4A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C83B0-6BCA-922E-441D-02F2FBE1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4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1C1FB-C942-1B7F-03B1-F1EBC27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B46AF7-8D50-FA89-32E4-80BDD304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F720A-8206-2226-991F-692E888E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A833C-F30C-41E3-A0EE-EB54A9E4736C}" type="datetime1">
              <a:rPr lang="ko-KR" altLang="en-US" smtClean="0"/>
              <a:t>2024-11-25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08A6F-441C-48ED-B698-20ABF185A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0F683-D894-398B-528C-A86652958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38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F0C12-5D4E-6E9B-D505-E45EE6842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상속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BD2CA-D85E-35E0-EF91-C32904296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노찬희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8637B3-35D5-D26F-69FB-D6C6967A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3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상속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현실에서 상속</a:t>
            </a:r>
            <a:r>
              <a:rPr lang="en-US" altLang="ko-KR" sz="1400" dirty="0"/>
              <a:t>(inheritance)</a:t>
            </a:r>
            <a:r>
              <a:rPr lang="ko-KR" altLang="en-US" sz="1400" dirty="0"/>
              <a:t>은 부모가 자식에게 물려주는 행위를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자식은 상속을 통해서 부모가 물려준 것을 자연스럽게 이용할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객체 지향 프로그래밍에서도 부모 클래스의 멤버를 자식 클래스에게 물려줄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부모 클래스를 상위 클래스라고 부르고</a:t>
            </a:r>
            <a:r>
              <a:rPr lang="en-US" altLang="ko-KR" sz="1400" dirty="0"/>
              <a:t>, </a:t>
            </a:r>
            <a:r>
              <a:rPr lang="ko-KR" altLang="en-US" sz="1400" dirty="0"/>
              <a:t>자식 클래스를 하위 클래스라고 부른다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클래스 상속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클래스 상속은 </a:t>
            </a:r>
            <a:r>
              <a:rPr lang="en-US" altLang="ko-KR" sz="1400" dirty="0"/>
              <a:t>extends </a:t>
            </a:r>
            <a:r>
              <a:rPr lang="ko-KR" altLang="en-US" sz="1400" dirty="0"/>
              <a:t>키워드를 이용해서 기술한다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class </a:t>
            </a:r>
            <a:r>
              <a:rPr lang="ko-KR" altLang="en-US" sz="1400" dirty="0"/>
              <a:t>자식클래스 </a:t>
            </a:r>
            <a:r>
              <a:rPr lang="en-US" altLang="ko-KR" sz="1400" dirty="0"/>
              <a:t>extends </a:t>
            </a:r>
            <a:r>
              <a:rPr lang="ko-KR" altLang="en-US" sz="1400" dirty="0"/>
              <a:t>부모클래스</a:t>
            </a: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	...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class </a:t>
            </a:r>
            <a:r>
              <a:rPr lang="en-US" altLang="ko-KR" sz="1400" dirty="0" err="1"/>
              <a:t>SportsCar</a:t>
            </a:r>
            <a:r>
              <a:rPr lang="en-US" altLang="ko-KR" sz="1400" dirty="0"/>
              <a:t> extends Car{</a:t>
            </a:r>
          </a:p>
          <a:p>
            <a:pPr marL="0" indent="0">
              <a:buNone/>
            </a:pPr>
            <a:r>
              <a:rPr lang="en-US" altLang="ko-KR" sz="1400" dirty="0"/>
              <a:t>	...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자바에서는 여러 개의 부모 클래스를 상속할 수 없다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그러므로 </a:t>
            </a:r>
            <a:r>
              <a:rPr lang="en-US" altLang="ko-KR" sz="1400" dirty="0"/>
              <a:t>extends </a:t>
            </a:r>
            <a:r>
              <a:rPr lang="ko-KR" altLang="en-US" sz="1400" dirty="0"/>
              <a:t>뒤에는 단 하나의 부모 클래스만 와야 한다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4F37F2-CC3F-5C9C-AECE-1C06AB03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7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CF2D1-12F3-C410-1735-816690C5A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476B0D-DBAB-8E8D-BB03-8508DE262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CellPhone</a:t>
            </a:r>
            <a:r>
              <a:rPr lang="en-US" altLang="ko-KR" sz="1400" dirty="0"/>
              <a:t> {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model; // </a:t>
            </a:r>
            <a:r>
              <a:rPr lang="ko-KR" altLang="en-US" sz="1400" dirty="0"/>
              <a:t>핸드폰 모델명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color; // </a:t>
            </a:r>
            <a:r>
              <a:rPr lang="ko-KR" altLang="en-US" sz="1400" dirty="0"/>
              <a:t>핸드폰 색상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powerOn</a:t>
            </a:r>
            <a:r>
              <a:rPr lang="en-US" altLang="ko-KR" sz="1400" dirty="0"/>
              <a:t>() {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전원을 켭니다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전원 켜기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  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void </a:t>
            </a:r>
            <a:r>
              <a:rPr lang="en-US" altLang="ko-KR" sz="1400" dirty="0" err="1"/>
              <a:t>powerOff</a:t>
            </a:r>
            <a:r>
              <a:rPr lang="en-US" altLang="ko-KR" sz="1400" dirty="0"/>
              <a:t>() {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전원을 끕니다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전원 끄기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void bell() {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벨이</a:t>
            </a:r>
            <a:r>
              <a:rPr lang="ko-KR" altLang="en-US" sz="1400" dirty="0"/>
              <a:t> 울립니다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벨소리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  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void </a:t>
            </a:r>
            <a:r>
              <a:rPr lang="en-US" altLang="ko-KR" sz="1400" dirty="0" err="1"/>
              <a:t>sendVoice</a:t>
            </a:r>
            <a:r>
              <a:rPr lang="en-US" altLang="ko-KR" sz="1400" dirty="0"/>
              <a:t>(String message) {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자기</a:t>
            </a:r>
            <a:r>
              <a:rPr lang="en-US" altLang="ko-KR" sz="1400" dirty="0"/>
              <a:t>: " + message); // </a:t>
            </a:r>
            <a:r>
              <a:rPr lang="ko-KR" altLang="en-US" sz="1400" dirty="0"/>
              <a:t>송신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  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void </a:t>
            </a:r>
            <a:r>
              <a:rPr lang="en-US" altLang="ko-KR" sz="1400" dirty="0" err="1"/>
              <a:t>receiveVoice</a:t>
            </a:r>
            <a:r>
              <a:rPr lang="en-US" altLang="ko-KR" sz="1400" dirty="0"/>
              <a:t>(String message) {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상대방</a:t>
            </a:r>
            <a:r>
              <a:rPr lang="en-US" altLang="ko-KR" sz="1400" dirty="0"/>
              <a:t>: " + message); // </a:t>
            </a:r>
            <a:r>
              <a:rPr lang="ko-KR" altLang="en-US" sz="1400" dirty="0"/>
              <a:t>수신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  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void </a:t>
            </a:r>
            <a:r>
              <a:rPr lang="en-US" altLang="ko-KR" sz="1400" dirty="0" err="1"/>
              <a:t>hangUp</a:t>
            </a:r>
            <a:r>
              <a:rPr lang="en-US" altLang="ko-KR" sz="1400" dirty="0"/>
              <a:t>() {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전화를 끊습니다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통화 종료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5FBEB1-762C-2AB9-9B5B-FFB2EA5E6948}"/>
              </a:ext>
            </a:extLst>
          </p:cNvPr>
          <p:cNvSpPr txBox="1"/>
          <p:nvPr/>
        </p:nvSpPr>
        <p:spPr>
          <a:xfrm>
            <a:off x="6871579" y="0"/>
            <a:ext cx="532042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public class </a:t>
            </a:r>
            <a:r>
              <a:rPr lang="en-US" altLang="ko-KR" sz="1400" dirty="0" err="1"/>
              <a:t>DmbCellPhone</a:t>
            </a:r>
            <a:r>
              <a:rPr lang="en-US" altLang="ko-KR" sz="1400" dirty="0"/>
              <a:t> extends </a:t>
            </a:r>
            <a:r>
              <a:rPr lang="en-US" altLang="ko-KR" sz="1400" dirty="0" err="1"/>
              <a:t>CellPhone</a:t>
            </a:r>
            <a:r>
              <a:rPr lang="en-US" altLang="ko-KR" sz="1400" dirty="0"/>
              <a:t> {</a:t>
            </a:r>
          </a:p>
          <a:p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int channel; // DMB </a:t>
            </a:r>
            <a:r>
              <a:rPr lang="ko-KR" altLang="en-US" sz="1400" dirty="0"/>
              <a:t>채널 번호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 err="1"/>
              <a:t>DmbCellPhone</a:t>
            </a:r>
            <a:r>
              <a:rPr lang="en-US" altLang="ko-KR" sz="1400" dirty="0"/>
              <a:t>(String model, String color, int channel) {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this.model</a:t>
            </a:r>
            <a:r>
              <a:rPr lang="en-US" altLang="ko-KR" sz="1400" dirty="0"/>
              <a:t> = model; // </a:t>
            </a:r>
            <a:r>
              <a:rPr lang="ko-KR" altLang="en-US" sz="1400" dirty="0"/>
              <a:t>부모 클래스의 </a:t>
            </a:r>
            <a:r>
              <a:rPr lang="en-US" altLang="ko-KR" sz="1400" dirty="0"/>
              <a:t>model </a:t>
            </a:r>
            <a:r>
              <a:rPr lang="ko-KR" altLang="en-US" sz="1400" dirty="0"/>
              <a:t>필드 초기화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this.color</a:t>
            </a:r>
            <a:r>
              <a:rPr lang="en-US" altLang="ko-KR" sz="1400" dirty="0"/>
              <a:t> = color; // </a:t>
            </a:r>
            <a:r>
              <a:rPr lang="ko-KR" altLang="en-US" sz="1400" dirty="0"/>
              <a:t>부모 클래스의 </a:t>
            </a:r>
            <a:r>
              <a:rPr lang="en-US" altLang="ko-KR" sz="1400" dirty="0"/>
              <a:t>color </a:t>
            </a:r>
            <a:r>
              <a:rPr lang="ko-KR" altLang="en-US" sz="1400" dirty="0"/>
              <a:t>필드 초기화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this.channel</a:t>
            </a:r>
            <a:r>
              <a:rPr lang="en-US" altLang="ko-KR" sz="1400" dirty="0"/>
              <a:t> = channel; // DMB </a:t>
            </a:r>
            <a:r>
              <a:rPr lang="ko-KR" altLang="en-US" sz="1400" dirty="0"/>
              <a:t>채널 번호 초기화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// </a:t>
            </a:r>
            <a:r>
              <a:rPr lang="ko-KR" altLang="en-US" sz="1400" dirty="0"/>
              <a:t>메소드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turnOnDmb</a:t>
            </a:r>
            <a:r>
              <a:rPr lang="en-US" altLang="ko-KR" sz="1400" dirty="0"/>
              <a:t>() {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채널 </a:t>
            </a:r>
            <a:r>
              <a:rPr lang="en-US" altLang="ko-KR" sz="1400" dirty="0"/>
              <a:t>" + channel + "</a:t>
            </a:r>
            <a:r>
              <a:rPr lang="ko-KR" altLang="en-US" sz="1400" dirty="0"/>
              <a:t>번 </a:t>
            </a:r>
            <a:r>
              <a:rPr lang="en-US" altLang="ko-KR" sz="1400" dirty="0"/>
              <a:t>DMB </a:t>
            </a:r>
            <a:r>
              <a:rPr lang="ko-KR" altLang="en-US" sz="1400" dirty="0"/>
              <a:t>방송 수신을 시작합니다</a:t>
            </a:r>
            <a:r>
              <a:rPr lang="en-US" altLang="ko-KR" sz="1400" dirty="0"/>
              <a:t>."); // DMB </a:t>
            </a:r>
            <a:r>
              <a:rPr lang="ko-KR" altLang="en-US" sz="1400" dirty="0"/>
              <a:t>방송 시작 메시지 출력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}   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void </a:t>
            </a:r>
            <a:r>
              <a:rPr lang="en-US" altLang="ko-KR" sz="1400" dirty="0" err="1"/>
              <a:t>changeChannelDmb</a:t>
            </a:r>
            <a:r>
              <a:rPr lang="en-US" altLang="ko-KR" sz="1400" dirty="0"/>
              <a:t>(int channel) {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this.channel</a:t>
            </a:r>
            <a:r>
              <a:rPr lang="en-US" altLang="ko-KR" sz="1400" dirty="0"/>
              <a:t> = channel; // </a:t>
            </a:r>
            <a:r>
              <a:rPr lang="ko-KR" altLang="en-US" sz="1400" dirty="0"/>
              <a:t>채널 변경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채널 </a:t>
            </a:r>
            <a:r>
              <a:rPr lang="en-US" altLang="ko-KR" sz="1400" dirty="0"/>
              <a:t>" + channel + "</a:t>
            </a:r>
            <a:r>
              <a:rPr lang="ko-KR" altLang="en-US" sz="1400" dirty="0"/>
              <a:t>번으로 바꿉니다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채널 변경 메시지 출력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void </a:t>
            </a:r>
            <a:r>
              <a:rPr lang="en-US" altLang="ko-KR" sz="1400" dirty="0" err="1"/>
              <a:t>turnOffDmb</a:t>
            </a:r>
            <a:r>
              <a:rPr lang="en-US" altLang="ko-KR" sz="1400" dirty="0"/>
              <a:t>() {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("DMB </a:t>
            </a:r>
            <a:r>
              <a:rPr lang="ko-KR" altLang="en-US" sz="1400" dirty="0"/>
              <a:t>방송 수신을 멈춥니다</a:t>
            </a:r>
            <a:r>
              <a:rPr lang="en-US" altLang="ko-KR" sz="1400" dirty="0"/>
              <a:t>."); // DMB </a:t>
            </a:r>
            <a:r>
              <a:rPr lang="ko-KR" altLang="en-US" sz="1400" dirty="0"/>
              <a:t>방송 종료 메시지 출력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}   </a:t>
            </a:r>
          </a:p>
          <a:p>
            <a:r>
              <a:rPr lang="en-US" altLang="ko-KR" sz="1400" dirty="0"/>
              <a:t>}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510993-06F1-4F1E-2398-71C650B3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173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11AB3-03A1-CC94-2780-F3B74CA02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D0C6C6-79B2-4764-D745-839EBE293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package sec01.exam01;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DmbCellPhoneExample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DmbCellPhone</a:t>
            </a:r>
            <a:r>
              <a:rPr lang="en-US" altLang="ko-KR" sz="1400" dirty="0"/>
              <a:t>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DmbCellPhone</a:t>
            </a:r>
            <a:r>
              <a:rPr lang="en-US" altLang="ko-KR" sz="1400" dirty="0"/>
              <a:t> </a:t>
            </a:r>
            <a:r>
              <a:rPr lang="en-US" altLang="ko-KR" sz="1400" dirty="0" err="1"/>
              <a:t>dmbCellPhone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DmbCellPhone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자바폰</a:t>
            </a:r>
            <a:r>
              <a:rPr lang="en-US" altLang="ko-KR" sz="1400" dirty="0"/>
              <a:t>", "</a:t>
            </a:r>
            <a:r>
              <a:rPr lang="ko-KR" altLang="en-US" sz="1400" dirty="0"/>
              <a:t>검정</a:t>
            </a:r>
            <a:r>
              <a:rPr lang="en-US" altLang="ko-KR" sz="1400" dirty="0"/>
              <a:t>", 10);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CellPhone</a:t>
            </a:r>
            <a:r>
              <a:rPr lang="ko-KR" altLang="en-US" sz="1400" dirty="0"/>
              <a:t>으로부터 상속 받은 필드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모델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dmbCellPhone.model</a:t>
            </a:r>
            <a:r>
              <a:rPr lang="en-US" altLang="ko-KR" sz="1400" dirty="0"/>
              <a:t>); // </a:t>
            </a:r>
            <a:r>
              <a:rPr lang="ko-KR" altLang="en-US" sz="1400" dirty="0"/>
              <a:t>부모 클래스의 </a:t>
            </a:r>
            <a:r>
              <a:rPr lang="en-US" altLang="ko-KR" sz="1400" dirty="0"/>
              <a:t>model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색상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dmbCellPhone.color</a:t>
            </a:r>
            <a:r>
              <a:rPr lang="en-US" altLang="ko-KR" sz="1400" dirty="0"/>
              <a:t>); // </a:t>
            </a:r>
            <a:r>
              <a:rPr lang="ko-KR" altLang="en-US" sz="1400" dirty="0"/>
              <a:t>부모 클래스의 </a:t>
            </a:r>
            <a:r>
              <a:rPr lang="en-US" altLang="ko-KR" sz="1400" dirty="0"/>
              <a:t>color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en-US" altLang="ko-KR" sz="1400" dirty="0" err="1"/>
              <a:t>DmbCellPhone</a:t>
            </a:r>
            <a:r>
              <a:rPr lang="ko-KR" altLang="en-US" sz="1400" dirty="0"/>
              <a:t>의 필드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채널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dmbCellPhone.channel</a:t>
            </a:r>
            <a:r>
              <a:rPr lang="en-US" altLang="ko-KR" sz="1400" dirty="0"/>
              <a:t>); // </a:t>
            </a:r>
            <a:r>
              <a:rPr lang="ko-KR" altLang="en-US" sz="1400" dirty="0"/>
              <a:t>자식 클래스의 </a:t>
            </a:r>
            <a:r>
              <a:rPr lang="en-US" altLang="ko-KR" sz="1400" dirty="0"/>
              <a:t>channel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en-US" altLang="ko-KR" sz="1400" dirty="0" err="1"/>
              <a:t>CellPhone</a:t>
            </a:r>
            <a:r>
              <a:rPr lang="ko-KR" altLang="en-US" sz="1400" dirty="0"/>
              <a:t>으로부터 상속 받은 메소드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dmbCellPhone.powerOn</a:t>
            </a:r>
            <a:r>
              <a:rPr lang="en-US" altLang="ko-KR" sz="1400" dirty="0"/>
              <a:t>(); // </a:t>
            </a:r>
            <a:r>
              <a:rPr lang="ko-KR" altLang="en-US" sz="1400" dirty="0"/>
              <a:t>전원 켜기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dmbCellPhone.bell</a:t>
            </a:r>
            <a:r>
              <a:rPr lang="en-US" altLang="ko-KR" sz="1400" dirty="0"/>
              <a:t>(); // </a:t>
            </a:r>
            <a:r>
              <a:rPr lang="ko-KR" altLang="en-US" sz="1400" dirty="0"/>
              <a:t>벨 울리기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dmbCellPhone.sendVoice</a:t>
            </a:r>
            <a:r>
              <a:rPr lang="en-US" altLang="ko-KR" sz="1400" dirty="0"/>
              <a:t>("</a:t>
            </a:r>
            <a:r>
              <a:rPr lang="ko-KR" altLang="en-US" sz="1400" dirty="0"/>
              <a:t>여보세요</a:t>
            </a:r>
            <a:r>
              <a:rPr lang="en-US" altLang="ko-KR" sz="1400" dirty="0"/>
              <a:t>"); // </a:t>
            </a:r>
            <a:r>
              <a:rPr lang="ko-KR" altLang="en-US" sz="1400" dirty="0"/>
              <a:t>송신 메시지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dmbCellPhone.receiveVoice</a:t>
            </a:r>
            <a:r>
              <a:rPr lang="en-US" altLang="ko-KR" sz="1400" dirty="0"/>
              <a:t>("</a:t>
            </a:r>
            <a:r>
              <a:rPr lang="ko-KR" altLang="en-US" sz="1400" dirty="0"/>
              <a:t>안녕하세요</a:t>
            </a:r>
            <a:r>
              <a:rPr lang="en-US" altLang="ko-KR" sz="1400" dirty="0"/>
              <a:t>! </a:t>
            </a:r>
            <a:r>
              <a:rPr lang="ko-KR" altLang="en-US" sz="1400" dirty="0"/>
              <a:t>저는 홍길동인데요</a:t>
            </a:r>
            <a:r>
              <a:rPr lang="en-US" altLang="ko-KR" sz="1400" dirty="0"/>
              <a:t>"); // </a:t>
            </a:r>
            <a:r>
              <a:rPr lang="ko-KR" altLang="en-US" sz="1400" dirty="0"/>
              <a:t>수신 메시지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dmbCellPhone.sendVoice</a:t>
            </a:r>
            <a:r>
              <a:rPr lang="en-US" altLang="ko-KR" sz="1400" dirty="0"/>
              <a:t>("</a:t>
            </a:r>
            <a:r>
              <a:rPr lang="ko-KR" altLang="en-US" sz="1400" dirty="0"/>
              <a:t>아</a:t>
            </a:r>
            <a:r>
              <a:rPr lang="en-US" altLang="ko-KR" sz="1400" dirty="0"/>
              <a:t>~ </a:t>
            </a:r>
            <a:r>
              <a:rPr lang="ko-KR" altLang="en-US" sz="1400" dirty="0"/>
              <a:t>예 반갑습니다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송신 메시지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dmbCellPhone.hangUp</a:t>
            </a:r>
            <a:r>
              <a:rPr lang="en-US" altLang="ko-KR" sz="1400" dirty="0"/>
              <a:t>(); // </a:t>
            </a:r>
            <a:r>
              <a:rPr lang="ko-KR" altLang="en-US" sz="1400" dirty="0"/>
              <a:t>통화 종료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en-US" altLang="ko-KR" sz="1400" dirty="0" err="1"/>
              <a:t>DmbCellPhone</a:t>
            </a:r>
            <a:r>
              <a:rPr lang="ko-KR" altLang="en-US" sz="1400" dirty="0"/>
              <a:t>의 메소드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dmbCellPhone.turnOnDmb</a:t>
            </a:r>
            <a:r>
              <a:rPr lang="en-US" altLang="ko-KR" sz="1400" dirty="0"/>
              <a:t>(); // DMB </a:t>
            </a:r>
            <a:r>
              <a:rPr lang="ko-KR" altLang="en-US" sz="1400" dirty="0"/>
              <a:t>방송 수신 시작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dmbCellPhone.changeChannelDmb</a:t>
            </a:r>
            <a:r>
              <a:rPr lang="en-US" altLang="ko-KR" sz="1400" dirty="0"/>
              <a:t>(12); // </a:t>
            </a:r>
            <a:r>
              <a:rPr lang="ko-KR" altLang="en-US" sz="1400" dirty="0"/>
              <a:t>채널 변경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dmbCellPhone.turnOffDmb</a:t>
            </a:r>
            <a:r>
              <a:rPr lang="en-US" altLang="ko-KR" sz="1400" dirty="0"/>
              <a:t>(); // DMB </a:t>
            </a:r>
            <a:r>
              <a:rPr lang="ko-KR" altLang="en-US" sz="1400" dirty="0"/>
              <a:t>방송 수신 종료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F6A55E-7555-86C1-BBC4-F2230D3E0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672" y="1728481"/>
            <a:ext cx="3678159" cy="340103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448140-ED17-7700-D2C0-455ECC874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213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A43CB-E2DE-72BE-E3E4-73DF27DE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59F001-CDD1-76B1-40B1-4AC4B595D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부모 생성자 호출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이전 코드에서 자식 객체만을 생성한 것 같지만</a:t>
            </a:r>
            <a:r>
              <a:rPr lang="en-US" altLang="ko-KR" sz="1400" dirty="0"/>
              <a:t>, </a:t>
            </a:r>
          </a:p>
          <a:p>
            <a:pPr marL="0" indent="0">
              <a:buNone/>
            </a:pPr>
            <a:r>
              <a:rPr lang="ko-KR" altLang="en-US" sz="1400" dirty="0"/>
              <a:t>자바에서는 자식 객체를 생성하면 부모 객체가 먼저 생성되고 그 다음에 자식 객체가 생성된다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예를들어</a:t>
            </a:r>
            <a:r>
              <a:rPr lang="ko-KR" altLang="en-US" sz="1400" dirty="0"/>
              <a:t> </a:t>
            </a:r>
            <a:r>
              <a:rPr lang="en-US" altLang="ko-KR" sz="1400" dirty="0" err="1"/>
              <a:t>DmbCellPhone</a:t>
            </a:r>
            <a:r>
              <a:rPr lang="en-US" altLang="ko-KR" sz="1400" dirty="0"/>
              <a:t>(</a:t>
            </a:r>
            <a:r>
              <a:rPr lang="ko-KR" altLang="en-US" sz="1400" dirty="0"/>
              <a:t>자식 클래스</a:t>
            </a:r>
            <a:r>
              <a:rPr lang="en-US" altLang="ko-KR" sz="1400" dirty="0"/>
              <a:t>)</a:t>
            </a:r>
            <a:r>
              <a:rPr lang="ko-KR" altLang="en-US" sz="1400" dirty="0"/>
              <a:t>의 생성자가 명시적으로 선언되지 않았다면 컴파일러는 다음과 같은 생성자를 선언한다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public </a:t>
            </a:r>
            <a:r>
              <a:rPr lang="en-US" altLang="ko-KR" sz="1400" dirty="0" err="1"/>
              <a:t>DmbCellPhone</a:t>
            </a:r>
            <a:r>
              <a:rPr lang="en-US" altLang="ko-KR" sz="1400" dirty="0"/>
              <a:t>(){</a:t>
            </a:r>
          </a:p>
          <a:p>
            <a:pPr marL="0" indent="0">
              <a:buNone/>
            </a:pPr>
            <a:r>
              <a:rPr lang="en-US" altLang="ko-KR" sz="1400" dirty="0"/>
              <a:t>	super();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super();</a:t>
            </a:r>
            <a:r>
              <a:rPr lang="ko-KR" altLang="en-US" sz="1400" dirty="0"/>
              <a:t>란 부모의 생성자를 호출하는 것이다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하지만 매개 변수가 있는 생성자의 경우 생성자를 직접 명시해야 하는데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이때 부모 클래스의 필드를 생성자의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하고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super(</a:t>
            </a:r>
            <a:r>
              <a:rPr lang="ko-KR" altLang="en-US" sz="1400" dirty="0" err="1"/>
              <a:t>매개값</a:t>
            </a:r>
            <a:r>
              <a:rPr lang="en-US" altLang="ko-KR" sz="1400" dirty="0"/>
              <a:t>, ...);</a:t>
            </a:r>
            <a:r>
              <a:rPr lang="ko-KR" altLang="en-US" sz="1400" dirty="0"/>
              <a:t>로 명시적으로 호출해야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</a:t>
            </a:r>
            <a:r>
              <a:rPr lang="en-US" altLang="ko-KR" sz="1400" dirty="0" err="1"/>
              <a:t>DmbCellPhone</a:t>
            </a:r>
            <a:r>
              <a:rPr lang="en-US" altLang="ko-KR" sz="1400" dirty="0"/>
              <a:t>(String model, String color, int channel ){</a:t>
            </a:r>
          </a:p>
          <a:p>
            <a:pPr marL="0" indent="0">
              <a:buNone/>
            </a:pPr>
            <a:r>
              <a:rPr lang="en-US" altLang="ko-KR" sz="1400" dirty="0"/>
              <a:t>	super(</a:t>
            </a:r>
            <a:r>
              <a:rPr lang="en-US" altLang="ko-KR" sz="1400" dirty="0" err="1"/>
              <a:t>model,color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this.channel</a:t>
            </a:r>
            <a:r>
              <a:rPr lang="en-US" altLang="ko-KR" sz="1400" dirty="0"/>
              <a:t> = channel;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127FC0E-6050-6EC7-C8EB-43FF6DC3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34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FF11E-D1A6-0716-CDCE-AFC64BC0C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867741-8F6E-E49B-F6F6-045638DB9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People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String name; // </a:t>
            </a:r>
            <a:r>
              <a:rPr lang="ko-KR" altLang="en-US" sz="1400" dirty="0"/>
              <a:t>이름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String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;  // </a:t>
            </a:r>
            <a:r>
              <a:rPr lang="ko-KR" altLang="en-US" sz="1400" dirty="0"/>
              <a:t>주민등록번호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People(String name, String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this.name = name; // </a:t>
            </a:r>
            <a:r>
              <a:rPr lang="ko-KR" altLang="en-US" sz="1400" dirty="0"/>
              <a:t>이름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this.ssn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;   // </a:t>
            </a:r>
            <a:r>
              <a:rPr lang="ko-KR" altLang="en-US" sz="1400" dirty="0"/>
              <a:t>주민등록번호 초기화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Student extends People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int </a:t>
            </a:r>
            <a:r>
              <a:rPr lang="en-US" altLang="ko-KR" sz="1400" dirty="0" err="1"/>
              <a:t>studentNo</a:t>
            </a:r>
            <a:r>
              <a:rPr lang="en-US" altLang="ko-KR" sz="1400" dirty="0"/>
              <a:t>; // </a:t>
            </a:r>
            <a:r>
              <a:rPr lang="ko-KR" altLang="en-US" sz="1400" dirty="0"/>
              <a:t>학번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Student(String name, String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, int </a:t>
            </a:r>
            <a:r>
              <a:rPr lang="en-US" altLang="ko-KR" sz="1400" dirty="0" err="1"/>
              <a:t>studentNo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super(name, 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); // </a:t>
            </a:r>
            <a:r>
              <a:rPr lang="ko-KR" altLang="en-US" sz="1400" dirty="0"/>
              <a:t>부모 클래스 </a:t>
            </a:r>
            <a:r>
              <a:rPr lang="en-US" altLang="ko-KR" sz="1400" dirty="0"/>
              <a:t>People</a:t>
            </a:r>
            <a:r>
              <a:rPr lang="ko-KR" altLang="en-US" sz="1400" dirty="0"/>
              <a:t>의 생성자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this.studentNo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studentNo</a:t>
            </a:r>
            <a:r>
              <a:rPr lang="en-US" altLang="ko-KR" sz="1400" dirty="0"/>
              <a:t>; // </a:t>
            </a:r>
            <a:r>
              <a:rPr lang="ko-KR" altLang="en-US" sz="1400" dirty="0"/>
              <a:t>학번 초기화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1999C67-626C-2056-7BF4-C2E948C0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875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27F8B-AF16-4800-9861-7270F5ECC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E8C3F-D484-5325-F570-9EB02D97D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StudentExample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Student </a:t>
            </a:r>
            <a:r>
              <a:rPr lang="en-US" altLang="ko-KR" sz="1400" dirty="0" err="1"/>
              <a:t>student</a:t>
            </a:r>
            <a:r>
              <a:rPr lang="en-US" altLang="ko-KR" sz="1400" dirty="0"/>
              <a:t> = new Student("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", "123456-1234567", 1);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("name : " + student.name);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ssn</a:t>
            </a:r>
            <a:r>
              <a:rPr lang="en-US" altLang="ko-KR" sz="1400" dirty="0"/>
              <a:t> : " + </a:t>
            </a:r>
            <a:r>
              <a:rPr lang="en-US" altLang="ko-KR" sz="1400" dirty="0" err="1"/>
              <a:t>student.ssn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studentNo</a:t>
            </a:r>
            <a:r>
              <a:rPr lang="en-US" altLang="ko-KR" sz="1400" dirty="0"/>
              <a:t> : " + </a:t>
            </a:r>
            <a:r>
              <a:rPr lang="en-US" altLang="ko-KR" sz="1400" dirty="0" err="1"/>
              <a:t>student.studentNo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A671AA-C478-4FDB-512C-5759F3D7E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1570" y="2970031"/>
            <a:ext cx="2345839" cy="91793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95F076-8432-FA49-347D-4857B94E4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423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2A191-B5A2-380F-C723-092D782A9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22FF40-5121-7B10-7077-FF471DEF9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메소드 재정의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자식 클래스는 부모 클래스로부터 받은 메소드를 재정의해서 사용할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메소드 </a:t>
            </a:r>
            <a:r>
              <a:rPr lang="ko-KR" altLang="en-US" sz="1400" dirty="0" err="1"/>
              <a:t>오버라이딩</a:t>
            </a:r>
            <a:r>
              <a:rPr lang="en-US" altLang="ko-KR" sz="1400" dirty="0"/>
              <a:t>(Overriding)</a:t>
            </a:r>
            <a:r>
              <a:rPr lang="ko-KR" altLang="en-US" sz="1400" dirty="0"/>
              <a:t>이라고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메소드 재정의 방법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부모의 메소드와 동일한 </a:t>
            </a:r>
            <a:r>
              <a:rPr lang="ko-KR" altLang="en-US" sz="1400" dirty="0" err="1"/>
              <a:t>리턴타입</a:t>
            </a:r>
            <a:r>
              <a:rPr lang="en-US" altLang="ko-KR" sz="1400" dirty="0"/>
              <a:t>, </a:t>
            </a:r>
            <a:r>
              <a:rPr lang="ko-KR" altLang="en-US" sz="1400" dirty="0"/>
              <a:t>메소드 이름</a:t>
            </a:r>
            <a:r>
              <a:rPr lang="en-US" altLang="ko-KR" sz="1400" dirty="0"/>
              <a:t>, </a:t>
            </a:r>
            <a:r>
              <a:rPr lang="ko-KR" altLang="en-US" sz="1400" dirty="0"/>
              <a:t>매개 변수 목록을 가져야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접근 제한을 더 상위 단계로 재정의할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새로운 예외를 처리할 수 없다</a:t>
            </a:r>
            <a:r>
              <a:rPr lang="en-US" altLang="ko-KR" sz="1400" dirty="0"/>
              <a:t>. (</a:t>
            </a:r>
            <a:r>
              <a:rPr lang="ko-KR" altLang="en-US" sz="1400" dirty="0"/>
              <a:t>예외는 </a:t>
            </a:r>
            <a:r>
              <a:rPr lang="en-US" altLang="ko-KR" sz="1400" dirty="0"/>
              <a:t>10</a:t>
            </a:r>
            <a:r>
              <a:rPr lang="ko-KR" altLang="en-US" sz="1400" dirty="0"/>
              <a:t>장에서 자세히 다룬다</a:t>
            </a:r>
            <a:r>
              <a:rPr lang="en-US" altLang="ko-KR" sz="1400" dirty="0"/>
              <a:t>.)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메소드가 재정의되었다면 부모 객체의 메소드는 숨겨지기 때문에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자식 객체에서 메소드를 호출하면 재정의된 자식 메소드가 호출된다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double </a:t>
            </a:r>
            <a:r>
              <a:rPr lang="en-US" altLang="ko-KR" sz="1400" dirty="0" err="1"/>
              <a:t>areaCircle</a:t>
            </a:r>
            <a:r>
              <a:rPr lang="en-US" altLang="ko-KR" sz="1400" dirty="0"/>
              <a:t>(double r) {</a:t>
            </a:r>
          </a:p>
          <a:p>
            <a:pPr marL="0" indent="0">
              <a:buNone/>
            </a:pPr>
            <a:r>
              <a:rPr lang="en-US" altLang="ko-KR" sz="1400" dirty="0" err="1"/>
              <a:t>System.out.println</a:t>
            </a:r>
            <a:r>
              <a:rPr lang="en-US" altLang="ko-KR" sz="1400" dirty="0"/>
              <a:t>("Computer </a:t>
            </a:r>
            <a:r>
              <a:rPr lang="ko-KR" altLang="en-US" sz="1400" dirty="0"/>
              <a:t>객체의 </a:t>
            </a:r>
            <a:r>
              <a:rPr lang="en-US" altLang="ko-KR" sz="1400" dirty="0" err="1"/>
              <a:t>areaCircle</a:t>
            </a:r>
            <a:r>
              <a:rPr lang="en-US" altLang="ko-KR" sz="1400" dirty="0"/>
              <a:t>() </a:t>
            </a:r>
            <a:r>
              <a:rPr lang="ko-KR" altLang="en-US" sz="1400" dirty="0"/>
              <a:t>실행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	return </a:t>
            </a:r>
            <a:r>
              <a:rPr lang="en-US" altLang="ko-KR" sz="1400" dirty="0" err="1"/>
              <a:t>Math.PI</a:t>
            </a:r>
            <a:r>
              <a:rPr lang="en-US" altLang="ko-KR" sz="1400" dirty="0"/>
              <a:t> * r * r;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0B9C416-CADA-D2FA-4A23-8B0506B1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309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15226-7CD5-DA26-C5FF-7D39EE820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06266E-35FD-117E-CF9E-05C4AF725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Calculator {</a:t>
            </a:r>
          </a:p>
          <a:p>
            <a:pPr marL="0" indent="0">
              <a:buNone/>
            </a:pPr>
            <a:r>
              <a:rPr lang="en-US" altLang="ko-KR" sz="1400" dirty="0"/>
              <a:t>    double </a:t>
            </a:r>
            <a:r>
              <a:rPr lang="en-US" altLang="ko-KR" sz="1400" dirty="0" err="1"/>
              <a:t>areaCircle</a:t>
            </a:r>
            <a:r>
              <a:rPr lang="en-US" altLang="ko-KR" sz="1400" dirty="0"/>
              <a:t>(double r) {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("Calculator </a:t>
            </a:r>
            <a:r>
              <a:rPr lang="ko-KR" altLang="en-US" sz="1400" dirty="0"/>
              <a:t>객체의 </a:t>
            </a:r>
            <a:r>
              <a:rPr lang="en-US" altLang="ko-KR" sz="1400" dirty="0" err="1"/>
              <a:t>areaCircle</a:t>
            </a:r>
            <a:r>
              <a:rPr lang="en-US" altLang="ko-KR" sz="1400" dirty="0"/>
              <a:t>() </a:t>
            </a:r>
            <a:r>
              <a:rPr lang="ko-KR" altLang="en-US" sz="1400" dirty="0"/>
              <a:t>실행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return 3.14159 * r * r; // </a:t>
            </a:r>
            <a:r>
              <a:rPr lang="ko-KR" altLang="en-US" sz="1400" dirty="0"/>
              <a:t>원의 면적 계산 </a:t>
            </a:r>
            <a:r>
              <a:rPr lang="en-US" altLang="ko-KR" sz="1400" dirty="0"/>
              <a:t>(</a:t>
            </a:r>
            <a:r>
              <a:rPr lang="el-GR" altLang="ko-KR" sz="1400" dirty="0"/>
              <a:t>π * </a:t>
            </a:r>
            <a:r>
              <a:rPr lang="en-US" altLang="ko-KR" sz="1400" dirty="0"/>
              <a:t>r²)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Computer extends Calculator {</a:t>
            </a:r>
          </a:p>
          <a:p>
            <a:pPr marL="0" indent="0">
              <a:buNone/>
            </a:pPr>
            <a:r>
              <a:rPr lang="en-US" altLang="ko-KR" sz="1400" dirty="0"/>
              <a:t>    @Override</a:t>
            </a:r>
          </a:p>
          <a:p>
            <a:pPr marL="0" indent="0">
              <a:buNone/>
            </a:pPr>
            <a:r>
              <a:rPr lang="en-US" altLang="ko-KR" sz="1400" dirty="0"/>
              <a:t>    double </a:t>
            </a:r>
            <a:r>
              <a:rPr lang="en-US" altLang="ko-KR" sz="1400" dirty="0" err="1"/>
              <a:t>areaCircle</a:t>
            </a:r>
            <a:r>
              <a:rPr lang="en-US" altLang="ko-KR" sz="1400" dirty="0"/>
              <a:t>(double r)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("Computer </a:t>
            </a:r>
            <a:r>
              <a:rPr lang="ko-KR" altLang="en-US" sz="1400" dirty="0"/>
              <a:t>객체의 </a:t>
            </a:r>
            <a:r>
              <a:rPr lang="en-US" altLang="ko-KR" sz="1400" dirty="0" err="1"/>
              <a:t>areaCircle</a:t>
            </a:r>
            <a:r>
              <a:rPr lang="en-US" altLang="ko-KR" sz="1400" dirty="0"/>
              <a:t>() </a:t>
            </a:r>
            <a:r>
              <a:rPr lang="ko-KR" altLang="en-US" sz="1400" dirty="0"/>
              <a:t>실행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return </a:t>
            </a:r>
            <a:r>
              <a:rPr lang="en-US" altLang="ko-KR" sz="1400" dirty="0" err="1"/>
              <a:t>Math.PI</a:t>
            </a:r>
            <a:r>
              <a:rPr lang="en-US" altLang="ko-KR" sz="1400" dirty="0"/>
              <a:t> * r * r; // </a:t>
            </a:r>
            <a:r>
              <a:rPr lang="en-US" altLang="ko-KR" sz="1400" dirty="0" err="1"/>
              <a:t>Math.PI</a:t>
            </a:r>
            <a:r>
              <a:rPr lang="ko-KR" altLang="en-US" sz="1400" dirty="0"/>
              <a:t>를 사용해 원의 면적 계산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630E0D-61ED-254B-B1F9-1D26537DA983}"/>
              </a:ext>
            </a:extLst>
          </p:cNvPr>
          <p:cNvSpPr txBox="1"/>
          <p:nvPr/>
        </p:nvSpPr>
        <p:spPr>
          <a:xfrm>
            <a:off x="6391747" y="289711"/>
            <a:ext cx="580025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public class </a:t>
            </a:r>
            <a:r>
              <a:rPr lang="en-US" altLang="ko-KR" sz="1400" dirty="0" err="1"/>
              <a:t>ComputerExample</a:t>
            </a:r>
            <a:r>
              <a:rPr lang="en-US" altLang="ko-KR" sz="1400" dirty="0"/>
              <a:t> {</a:t>
            </a:r>
          </a:p>
          <a:p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r>
              <a:rPr lang="en-US" altLang="ko-KR" sz="1400" dirty="0"/>
              <a:t>        int r = 10;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// Calculator </a:t>
            </a:r>
            <a:r>
              <a:rPr lang="ko-KR" altLang="en-US" sz="1400" dirty="0"/>
              <a:t>객체 사용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Calculator </a:t>
            </a:r>
            <a:r>
              <a:rPr lang="en-US" altLang="ko-KR" sz="1400" dirty="0" err="1"/>
              <a:t>calculator</a:t>
            </a:r>
            <a:r>
              <a:rPr lang="en-US" altLang="ko-KR" sz="1400" dirty="0"/>
              <a:t> = new Calculator();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원면적</a:t>
            </a:r>
            <a:r>
              <a:rPr lang="ko-KR" altLang="en-US" sz="1400" dirty="0"/>
              <a:t> 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calculator.areaCircle</a:t>
            </a:r>
            <a:r>
              <a:rPr lang="en-US" altLang="ko-KR" sz="1400" dirty="0"/>
              <a:t>(r));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// Computer </a:t>
            </a:r>
            <a:r>
              <a:rPr lang="ko-KR" altLang="en-US" sz="1400" dirty="0"/>
              <a:t>객체 사용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Computer </a:t>
            </a:r>
            <a:r>
              <a:rPr lang="en-US" altLang="ko-KR" sz="1400" dirty="0" err="1"/>
              <a:t>computer</a:t>
            </a:r>
            <a:r>
              <a:rPr lang="en-US" altLang="ko-KR" sz="1400" dirty="0"/>
              <a:t> = new Computer();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원면적</a:t>
            </a:r>
            <a:r>
              <a:rPr lang="ko-KR" altLang="en-US" sz="1400" dirty="0"/>
              <a:t> 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computer.areaCircle</a:t>
            </a:r>
            <a:r>
              <a:rPr lang="en-US" altLang="ko-KR" sz="1400" dirty="0"/>
              <a:t>(r));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}</a:t>
            </a:r>
          </a:p>
          <a:p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504DEFA-55D7-F54B-E332-076659DFD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350" y="4540926"/>
            <a:ext cx="3887299" cy="157016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4912C7-E282-DDC6-8A9B-DCEC5072B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818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B510D-339D-AEBD-DB0A-F94FD3D5F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DE3733-718A-0102-EF44-9B677B2B9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부모 메소드 호출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자식 클래스에서 부모 클래스를 재정의하게 되면 부모 클래스의 메소드는 숨겨지고 재정의된 자식 메소드만 사용된다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그러나</a:t>
            </a:r>
            <a:r>
              <a:rPr lang="en-US" altLang="ko-KR" sz="1400" dirty="0"/>
              <a:t> super</a:t>
            </a:r>
            <a:r>
              <a:rPr lang="ko-KR" altLang="en-US" sz="1400" dirty="0"/>
              <a:t>키워드를 통해 부모 메소드를 호출할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super.</a:t>
            </a:r>
            <a:r>
              <a:rPr lang="ko-KR" altLang="en-US" sz="1400" dirty="0" err="1"/>
              <a:t>부모메소드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A10348-32A8-0C90-23B1-39127F769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48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F9E85-5413-956D-F383-E1A5C6C7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9703A0-319A-6782-3547-4FBE65543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Airplane {</a:t>
            </a:r>
          </a:p>
          <a:p>
            <a:pPr marL="0" indent="0">
              <a:buNone/>
            </a:pPr>
            <a:r>
              <a:rPr lang="en-US" altLang="ko-KR" sz="1400" dirty="0"/>
              <a:t>    public void land() { // </a:t>
            </a:r>
            <a:r>
              <a:rPr lang="ko-KR" altLang="en-US" sz="1400" dirty="0"/>
              <a:t>착륙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착륙합니다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착륙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public void fly() { // </a:t>
            </a:r>
            <a:r>
              <a:rPr lang="ko-KR" altLang="en-US" sz="1400" dirty="0"/>
              <a:t>비행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일반비행합니다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일반 비행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public void </a:t>
            </a:r>
            <a:r>
              <a:rPr lang="en-US" altLang="ko-KR" sz="1400" dirty="0" err="1"/>
              <a:t>takeOff</a:t>
            </a:r>
            <a:r>
              <a:rPr lang="en-US" altLang="ko-KR" sz="1400" dirty="0"/>
              <a:t>() { // </a:t>
            </a:r>
            <a:r>
              <a:rPr lang="ko-KR" altLang="en-US" sz="1400" dirty="0"/>
              <a:t>이륙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이륙합니다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이륙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SupersonicAirplane</a:t>
            </a:r>
            <a:r>
              <a:rPr lang="en-US" altLang="ko-KR" sz="1400" dirty="0"/>
              <a:t> extends Airplane {</a:t>
            </a:r>
          </a:p>
          <a:p>
            <a:pPr marL="0" indent="0">
              <a:buNone/>
            </a:pPr>
            <a:r>
              <a:rPr lang="en-US" altLang="ko-KR" sz="1400" dirty="0"/>
              <a:t>    public static final int NORMAL = 1; // </a:t>
            </a:r>
            <a:r>
              <a:rPr lang="ko-KR" altLang="en-US" sz="1400" dirty="0"/>
              <a:t>일반 비행 모드 상수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static final int SUPERSONIC = 2; // </a:t>
            </a:r>
            <a:r>
              <a:rPr lang="ko-KR" altLang="en-US" sz="1400" dirty="0"/>
              <a:t>초음속 비행 모드 상수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int </a:t>
            </a:r>
            <a:r>
              <a:rPr lang="en-US" altLang="ko-KR" sz="1400" dirty="0" err="1"/>
              <a:t>flyMode</a:t>
            </a:r>
            <a:r>
              <a:rPr lang="en-US" altLang="ko-KR" sz="1400" dirty="0"/>
              <a:t> = NORMAL; // </a:t>
            </a:r>
            <a:r>
              <a:rPr lang="ko-KR" altLang="en-US" sz="1400" dirty="0"/>
              <a:t>현재 비행 모드</a:t>
            </a:r>
            <a:r>
              <a:rPr lang="en-US" altLang="ko-KR" sz="1400" dirty="0"/>
              <a:t>, </a:t>
            </a:r>
            <a:r>
              <a:rPr lang="ko-KR" altLang="en-US" sz="1400" dirty="0"/>
              <a:t>기본값은 </a:t>
            </a:r>
            <a:r>
              <a:rPr lang="en-US" altLang="ko-KR" sz="1400" dirty="0"/>
              <a:t>NORMAL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@Override</a:t>
            </a:r>
          </a:p>
          <a:p>
            <a:pPr marL="0" indent="0">
              <a:buNone/>
            </a:pPr>
            <a:r>
              <a:rPr lang="en-US" altLang="ko-KR" sz="1400" dirty="0"/>
              <a:t>    public void fly() { // </a:t>
            </a:r>
            <a:r>
              <a:rPr lang="ko-KR" altLang="en-US" sz="1400" dirty="0"/>
              <a:t>비행 메소드 재정의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</a:t>
            </a:r>
            <a:r>
              <a:rPr lang="en-US" altLang="ko-KR" sz="1400" dirty="0" err="1"/>
              <a:t>flyMode</a:t>
            </a:r>
            <a:r>
              <a:rPr lang="en-US" altLang="ko-KR" sz="1400" dirty="0"/>
              <a:t> == SUPERSONIC) { // </a:t>
            </a:r>
            <a:r>
              <a:rPr lang="ko-KR" altLang="en-US" sz="1400" dirty="0"/>
              <a:t>초음속 비행 모드인 경우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초음속비행합니다</a:t>
            </a:r>
            <a:r>
              <a:rPr lang="en-US" altLang="ko-KR" sz="1400" dirty="0"/>
              <a:t>."); // </a:t>
            </a:r>
            <a:r>
              <a:rPr lang="ko-KR" altLang="en-US" sz="1400" dirty="0"/>
              <a:t>초음속 비행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else {</a:t>
            </a:r>
          </a:p>
          <a:p>
            <a:pPr marL="0" indent="0">
              <a:buNone/>
            </a:pPr>
            <a:r>
              <a:rPr lang="en-US" altLang="ko-KR" sz="1400" dirty="0"/>
              <a:t>            // Airplane </a:t>
            </a:r>
            <a:r>
              <a:rPr lang="ko-KR" altLang="en-US" sz="1400" dirty="0"/>
              <a:t>객체의 </a:t>
            </a:r>
            <a:r>
              <a:rPr lang="en-US" altLang="ko-KR" sz="1400" dirty="0"/>
              <a:t>fly() </a:t>
            </a:r>
            <a:r>
              <a:rPr lang="ko-KR" altLang="en-US" sz="1400" dirty="0"/>
              <a:t>메소드 호출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super.fly</a:t>
            </a:r>
            <a:r>
              <a:rPr lang="en-US" altLang="ko-KR" sz="1400" dirty="0"/>
              <a:t>(); // </a:t>
            </a:r>
            <a:r>
              <a:rPr lang="ko-KR" altLang="en-US" sz="1400" dirty="0"/>
              <a:t>일반 비행 수행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0FB0CA-3FD8-0B0F-7F17-46DC7F428FD6}"/>
              </a:ext>
            </a:extLst>
          </p:cNvPr>
          <p:cNvSpPr txBox="1"/>
          <p:nvPr/>
        </p:nvSpPr>
        <p:spPr>
          <a:xfrm>
            <a:off x="4451287" y="72428"/>
            <a:ext cx="774071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public class </a:t>
            </a:r>
            <a:r>
              <a:rPr lang="en-US" altLang="ko-KR" sz="1400" dirty="0" err="1"/>
              <a:t>SupersonicAirplaneExample</a:t>
            </a:r>
            <a:r>
              <a:rPr lang="en-US" altLang="ko-KR" sz="1400" dirty="0"/>
              <a:t> {</a:t>
            </a:r>
          </a:p>
          <a:p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SupersonicAirplane</a:t>
            </a:r>
            <a:r>
              <a:rPr lang="en-US" altLang="ko-KR" sz="1400" dirty="0"/>
              <a:t> </a:t>
            </a:r>
            <a:r>
              <a:rPr lang="en-US" altLang="ko-KR" sz="1400" dirty="0" err="1"/>
              <a:t>sa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SupersonicAirplane</a:t>
            </a:r>
            <a:r>
              <a:rPr lang="en-US" altLang="ko-KR" sz="1400" dirty="0"/>
              <a:t>(); // </a:t>
            </a:r>
            <a:r>
              <a:rPr lang="en-US" altLang="ko-KR" sz="1400" dirty="0" err="1"/>
              <a:t>SupersonicAirplane</a:t>
            </a:r>
            <a:r>
              <a:rPr lang="en-US" altLang="ko-KR" sz="1400" dirty="0"/>
              <a:t> </a:t>
            </a:r>
            <a:r>
              <a:rPr lang="ko-KR" altLang="en-US" sz="1400" dirty="0"/>
              <a:t>객체 생성</a:t>
            </a:r>
          </a:p>
          <a:p>
            <a:r>
              <a:rPr lang="ko-KR" altLang="en-US" sz="1400" dirty="0"/>
              <a:t>        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sa.takeOff</a:t>
            </a:r>
            <a:r>
              <a:rPr lang="en-US" altLang="ko-KR" sz="1400" dirty="0"/>
              <a:t>(); // </a:t>
            </a:r>
            <a:r>
              <a:rPr lang="ko-KR" altLang="en-US" sz="1400" dirty="0"/>
              <a:t>이륙합니다 출력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sa.fly</a:t>
            </a:r>
            <a:r>
              <a:rPr lang="en-US" altLang="ko-KR" sz="1400" dirty="0"/>
              <a:t>(); // </a:t>
            </a:r>
            <a:r>
              <a:rPr lang="ko-KR" altLang="en-US" sz="1400" dirty="0"/>
              <a:t>일반 비행 수행</a:t>
            </a:r>
          </a:p>
          <a:p>
            <a:r>
              <a:rPr lang="ko-KR" altLang="en-US" sz="1400" dirty="0"/>
              <a:t>        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sa.flyMode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SupersonicAirplane.SUPERSONIC</a:t>
            </a:r>
            <a:r>
              <a:rPr lang="en-US" altLang="ko-KR" sz="1400" dirty="0"/>
              <a:t>; // </a:t>
            </a:r>
            <a:r>
              <a:rPr lang="ko-KR" altLang="en-US" sz="1400" dirty="0"/>
              <a:t>비행 모드를 초음속 비행 모드로 변경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sa.fly</a:t>
            </a:r>
            <a:r>
              <a:rPr lang="en-US" altLang="ko-KR" sz="1400" dirty="0"/>
              <a:t>(); // </a:t>
            </a:r>
            <a:r>
              <a:rPr lang="ko-KR" altLang="en-US" sz="1400" dirty="0"/>
              <a:t>초음속 비행 실행</a:t>
            </a:r>
          </a:p>
          <a:p>
            <a:r>
              <a:rPr lang="ko-KR" altLang="en-US" sz="1400" dirty="0"/>
              <a:t>        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sa.flyMode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SupersonicAirplane.NORMAL</a:t>
            </a:r>
            <a:r>
              <a:rPr lang="en-US" altLang="ko-KR" sz="1400" dirty="0"/>
              <a:t>; // </a:t>
            </a:r>
            <a:r>
              <a:rPr lang="ko-KR" altLang="en-US" sz="1400" dirty="0"/>
              <a:t>비행 모드를 일반 비행 모드로 변경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sa.fly</a:t>
            </a:r>
            <a:r>
              <a:rPr lang="en-US" altLang="ko-KR" sz="1400" dirty="0"/>
              <a:t>(); // </a:t>
            </a:r>
            <a:r>
              <a:rPr lang="ko-KR" altLang="en-US" sz="1400" dirty="0"/>
              <a:t>일반 비행 수행</a:t>
            </a:r>
          </a:p>
          <a:p>
            <a:r>
              <a:rPr lang="ko-KR" altLang="en-US" sz="1400" dirty="0"/>
              <a:t>        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sa.land</a:t>
            </a:r>
            <a:r>
              <a:rPr lang="en-US" altLang="ko-KR" sz="1400" dirty="0"/>
              <a:t>(); // </a:t>
            </a:r>
            <a:r>
              <a:rPr lang="ko-KR" altLang="en-US" sz="1400" dirty="0"/>
              <a:t>착륙합니다 출력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}</a:t>
            </a:r>
          </a:p>
          <a:p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37F5FD-5B84-6D13-FF86-E0CB14F0D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234" y="4377963"/>
            <a:ext cx="1527376" cy="128950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815F90-B44F-147D-6A2E-CE9C9A48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103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B24C4-AAF6-6AD7-6F28-33A98293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589E53-3A80-EA9B-C708-1DCECD1E8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final </a:t>
            </a:r>
            <a:r>
              <a:rPr lang="ko-KR" altLang="en-US" sz="1400" b="1" dirty="0"/>
              <a:t>클래스와 </a:t>
            </a:r>
            <a:r>
              <a:rPr lang="en-US" altLang="ko-KR" sz="1400" b="1" dirty="0"/>
              <a:t>final </a:t>
            </a:r>
            <a:r>
              <a:rPr lang="ko-KR" altLang="en-US" sz="1400" b="1" dirty="0"/>
              <a:t>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이전 장에서 </a:t>
            </a:r>
            <a:r>
              <a:rPr lang="en-US" altLang="ko-KR" sz="1400" dirty="0"/>
              <a:t>final </a:t>
            </a:r>
            <a:r>
              <a:rPr lang="ko-KR" altLang="en-US" sz="1400" dirty="0"/>
              <a:t>키워드는 클래스</a:t>
            </a:r>
            <a:r>
              <a:rPr lang="en-US" altLang="ko-KR" sz="1400" dirty="0"/>
              <a:t>, </a:t>
            </a:r>
            <a:r>
              <a:rPr lang="ko-KR" altLang="en-US" sz="1400" dirty="0"/>
              <a:t>필드</a:t>
            </a:r>
            <a:r>
              <a:rPr lang="en-US" altLang="ko-KR" sz="1400" dirty="0"/>
              <a:t>, </a:t>
            </a:r>
            <a:r>
              <a:rPr lang="ko-KR" altLang="en-US" sz="1400" dirty="0"/>
              <a:t>메소드에서 해당 선언이 최종 상태이고 수정될 수 없음을 뜻했다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하지만 클래스와 메소드를 선언할 때 </a:t>
            </a:r>
            <a:r>
              <a:rPr lang="en-US" altLang="ko-KR" sz="1400" dirty="0"/>
              <a:t>final</a:t>
            </a:r>
            <a:r>
              <a:rPr lang="ko-KR" altLang="en-US" sz="1400" dirty="0"/>
              <a:t>키워드가 지정되면 상속과 관련이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클래스에 </a:t>
            </a:r>
            <a:r>
              <a:rPr lang="en-US" altLang="ko-KR" sz="1400" dirty="0"/>
              <a:t>final </a:t>
            </a:r>
            <a:r>
              <a:rPr lang="ko-KR" altLang="en-US" sz="1400" dirty="0"/>
              <a:t>키워드를 붙이면 더 이상 상속이 불가능하다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메소드에 </a:t>
            </a:r>
            <a:r>
              <a:rPr lang="en-US" altLang="ko-KR" sz="1400" dirty="0"/>
              <a:t>final </a:t>
            </a:r>
            <a:r>
              <a:rPr lang="ko-KR" altLang="en-US" sz="1400" dirty="0"/>
              <a:t>키워드를 붙이면 더 이상 재정의가 불가능하다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public final class String{</a:t>
            </a:r>
          </a:p>
          <a:p>
            <a:pPr marL="0" indent="0">
              <a:buNone/>
            </a:pPr>
            <a:r>
              <a:rPr lang="en-US" altLang="ko-KR" sz="1400" dirty="0"/>
              <a:t>	...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NewString</a:t>
            </a:r>
            <a:r>
              <a:rPr lang="en-US" altLang="ko-KR" sz="1400" dirty="0"/>
              <a:t> extends String{ //String</a:t>
            </a:r>
            <a:r>
              <a:rPr lang="ko-KR" altLang="en-US" sz="1400" dirty="0"/>
              <a:t>클래스가 </a:t>
            </a:r>
            <a:r>
              <a:rPr lang="en-US" altLang="ko-KR" sz="1400" dirty="0"/>
              <a:t>final</a:t>
            </a:r>
            <a:r>
              <a:rPr lang="ko-KR" altLang="en-US" sz="1400" dirty="0"/>
              <a:t>로 선언되어 있으므로 오류 발생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...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42699B9-60B6-4E8E-B857-90273C79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257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5A0A4-F5DB-2D32-BDAC-7EA431C8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4BF5F4-9D93-0E30-C9A5-F81A43468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b="1" dirty="0"/>
              <a:t>final </a:t>
            </a:r>
            <a:r>
              <a:rPr lang="ko-KR" altLang="en-US" sz="1400" b="1" dirty="0"/>
              <a:t>클래스와 </a:t>
            </a:r>
            <a:r>
              <a:rPr lang="en-US" altLang="ko-KR" sz="1400" b="1" dirty="0"/>
              <a:t>final </a:t>
            </a:r>
            <a:r>
              <a:rPr lang="ko-KR" altLang="en-US" sz="1400" b="1" dirty="0"/>
              <a:t>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메소드를 선언할 때 </a:t>
            </a:r>
            <a:r>
              <a:rPr lang="en-US" altLang="ko-KR" sz="1400" dirty="0"/>
              <a:t>final </a:t>
            </a:r>
            <a:r>
              <a:rPr lang="ko-KR" altLang="en-US" sz="1400" dirty="0"/>
              <a:t>키워드를 붙이면 재정의 할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즉 부모 클래스를 상속해서 자식 클래스를 선언할 때 부모 클래스에 선언된 </a:t>
            </a:r>
            <a:r>
              <a:rPr lang="en-US" altLang="ko-KR" sz="1400" dirty="0"/>
              <a:t>final </a:t>
            </a:r>
            <a:r>
              <a:rPr lang="ko-KR" altLang="en-US" sz="1400" dirty="0"/>
              <a:t>메소드는 자식 클래스에서 재정의 할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Car 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int speed;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void </a:t>
            </a:r>
            <a:r>
              <a:rPr lang="en-US" altLang="ko-KR" sz="1400" dirty="0" err="1"/>
              <a:t>speedUp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		speed += 1;</a:t>
            </a:r>
          </a:p>
          <a:p>
            <a:pPr marL="0" indent="0">
              <a:buNone/>
            </a:pPr>
            <a:r>
              <a:rPr lang="en-US" altLang="ko-KR" sz="1400" dirty="0"/>
              <a:t>	}		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//final 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final void stop()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차를 멈춤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		speed = 0;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7A2C89-B4B4-DCA5-FAAA-23986F3A752A}"/>
              </a:ext>
            </a:extLst>
          </p:cNvPr>
          <p:cNvSpPr txBox="1"/>
          <p:nvPr/>
        </p:nvSpPr>
        <p:spPr>
          <a:xfrm>
            <a:off x="6237837" y="1828801"/>
            <a:ext cx="50971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400" dirty="0"/>
          </a:p>
          <a:p>
            <a:r>
              <a:rPr lang="en-US" altLang="ko-KR" sz="1400" dirty="0"/>
              <a:t>public class </a:t>
            </a:r>
            <a:r>
              <a:rPr lang="en-US" altLang="ko-KR" sz="1400" dirty="0" err="1"/>
              <a:t>SportsCar</a:t>
            </a:r>
            <a:r>
              <a:rPr lang="en-US" altLang="ko-KR" sz="1400" dirty="0"/>
              <a:t> extends Car {</a:t>
            </a:r>
          </a:p>
          <a:p>
            <a:r>
              <a:rPr lang="en-US" altLang="ko-KR" sz="1400" dirty="0"/>
              <a:t>	@Override</a:t>
            </a:r>
          </a:p>
          <a:p>
            <a:r>
              <a:rPr lang="en-US" altLang="ko-KR" sz="1400" dirty="0"/>
              <a:t>	public void </a:t>
            </a:r>
            <a:r>
              <a:rPr lang="en-US" altLang="ko-KR" sz="1400" dirty="0" err="1"/>
              <a:t>speedUp</a:t>
            </a:r>
            <a:r>
              <a:rPr lang="en-US" altLang="ko-KR" sz="1400" dirty="0"/>
              <a:t>() {</a:t>
            </a:r>
          </a:p>
          <a:p>
            <a:r>
              <a:rPr lang="en-US" altLang="ko-KR" sz="1400" dirty="0"/>
              <a:t>		speed += 10;</a:t>
            </a:r>
          </a:p>
          <a:p>
            <a:r>
              <a:rPr lang="en-US" altLang="ko-KR" sz="1400" dirty="0"/>
              <a:t>	}</a:t>
            </a:r>
          </a:p>
          <a:p>
            <a:r>
              <a:rPr lang="en-US" altLang="ko-KR" sz="1400" dirty="0"/>
              <a:t>	</a:t>
            </a:r>
          </a:p>
          <a:p>
            <a:r>
              <a:rPr lang="en-US" altLang="ko-KR" sz="1400" dirty="0"/>
              <a:t>	//</a:t>
            </a:r>
            <a:r>
              <a:rPr lang="ko-KR" altLang="en-US" sz="1400" dirty="0" err="1"/>
              <a:t>오버라이딩을</a:t>
            </a:r>
            <a:r>
              <a:rPr lang="ko-KR" altLang="en-US" sz="1400" dirty="0"/>
              <a:t> 할 수 없음</a:t>
            </a:r>
          </a:p>
          <a:p>
            <a:r>
              <a:rPr lang="ko-KR" altLang="en-US" sz="1400" dirty="0"/>
              <a:t>	</a:t>
            </a:r>
            <a:r>
              <a:rPr lang="en-US" altLang="ko-KR" sz="1400" dirty="0"/>
              <a:t>/*</a:t>
            </a:r>
          </a:p>
          <a:p>
            <a:r>
              <a:rPr lang="en-US" altLang="ko-KR" sz="1400" dirty="0"/>
              <a:t>	@Override</a:t>
            </a:r>
          </a:p>
          <a:p>
            <a:r>
              <a:rPr lang="en-US" altLang="ko-KR" sz="1400" dirty="0"/>
              <a:t>	public void stop() {</a:t>
            </a:r>
          </a:p>
          <a:p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스포츠카를 멈춤</a:t>
            </a:r>
            <a:r>
              <a:rPr lang="en-US" altLang="ko-KR" sz="1400" dirty="0"/>
              <a:t>");</a:t>
            </a:r>
          </a:p>
          <a:p>
            <a:r>
              <a:rPr lang="en-US" altLang="ko-KR" sz="1400" dirty="0"/>
              <a:t>		speed = 0;</a:t>
            </a:r>
          </a:p>
          <a:p>
            <a:r>
              <a:rPr lang="en-US" altLang="ko-KR" sz="1400" dirty="0"/>
              <a:t>	}</a:t>
            </a:r>
          </a:p>
          <a:p>
            <a:r>
              <a:rPr lang="en-US" altLang="ko-KR" sz="1400" dirty="0"/>
              <a:t>	*/</a:t>
            </a:r>
          </a:p>
          <a:p>
            <a:r>
              <a:rPr lang="en-US" altLang="ko-KR" sz="1400" dirty="0"/>
              <a:t>}</a:t>
            </a:r>
          </a:p>
          <a:p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F4B7A8-4AEF-5BE1-60A1-F3E2B88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195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4E180-2FEE-6712-4049-02CD9AAD5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5FDCD7-C782-C9CB-DC0A-ABD0A57CC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타입 변환과 </a:t>
            </a:r>
            <a:r>
              <a:rPr lang="ko-KR" altLang="en-US" sz="1400" b="1" dirty="0" err="1"/>
              <a:t>다형성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다형성은 사용 방법은 동일하지만 다양한 객체를 이용해서 다양한 실행결과가 나오도록 하는 성질이다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예를 들어 자동차가 타이어를 사용하는 방법은 동일하지만 어떤 타이어를 </a:t>
            </a:r>
            <a:r>
              <a:rPr lang="ko-KR" altLang="en-US" sz="1400" dirty="0" err="1"/>
              <a:t>사용하느냐에</a:t>
            </a:r>
            <a:r>
              <a:rPr lang="ko-KR" altLang="en-US" sz="1400" dirty="0"/>
              <a:t> 따라 주행 성능이 달라질 수 있다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0E0E34-11B3-A8DA-49CB-C518F6D46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248" y="2200368"/>
            <a:ext cx="7619503" cy="324981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458966E-779E-1CE6-967F-1E9C19FB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966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78C49-E405-D2A7-33DD-CE36FE9C8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A8A484-CDAF-AFE5-5E7E-642C10676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자동 타입 변환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타입 변환이란 다른 타입을 변하는 행위를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기본 타입의 변화는 </a:t>
            </a:r>
            <a:r>
              <a:rPr lang="en-US" altLang="ko-KR" sz="1400" dirty="0"/>
              <a:t>2</a:t>
            </a:r>
            <a:r>
              <a:rPr lang="ko-KR" altLang="en-US" sz="1400" dirty="0"/>
              <a:t>장에서 다뤘듯이</a:t>
            </a:r>
            <a:r>
              <a:rPr lang="en-US" altLang="ko-KR" sz="1400" dirty="0"/>
              <a:t>, </a:t>
            </a:r>
            <a:r>
              <a:rPr lang="ko-KR" altLang="en-US" sz="1400" dirty="0"/>
              <a:t>클래스도 마찬가지로 타입 변환이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클래스의 변환은 상속 관계에 있는 클래스 사이에서 발생한다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자동 타입 변환은 프로그램 실행 도중에 자동적으로 타입 변환이 일어나는 것을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자동 타입 변환의 개념은 자식은 부모의 특징과 기능을 상속받기 때문에 부모와 동일하게 취급될 수 있다는 것이다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class Animal{ ... }</a:t>
            </a:r>
          </a:p>
          <a:p>
            <a:pPr marL="0" indent="0">
              <a:buNone/>
            </a:pPr>
            <a:r>
              <a:rPr lang="en-US" altLang="ko-KR" sz="1400" dirty="0"/>
              <a:t>class Cat extends Animal{ ...}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Cat </a:t>
            </a:r>
            <a:r>
              <a:rPr lang="en-US" altLang="ko-KR" sz="1400" dirty="0" err="1"/>
              <a:t>cat</a:t>
            </a:r>
            <a:r>
              <a:rPr lang="en-US" altLang="ko-KR" sz="1400" dirty="0"/>
              <a:t> = new Cat();</a:t>
            </a:r>
          </a:p>
          <a:p>
            <a:pPr marL="0" indent="0">
              <a:buNone/>
            </a:pPr>
            <a:r>
              <a:rPr lang="en-US" altLang="ko-KR" sz="1400" dirty="0"/>
              <a:t>Animal </a:t>
            </a:r>
            <a:r>
              <a:rPr lang="en-US" altLang="ko-KR" sz="1400" dirty="0" err="1"/>
              <a:t>animal</a:t>
            </a:r>
            <a:r>
              <a:rPr lang="en-US" altLang="ko-KR" sz="1400" dirty="0"/>
              <a:t> = cat;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따라서 </a:t>
            </a:r>
            <a:r>
              <a:rPr lang="en-US" altLang="ko-KR" sz="1400" dirty="0"/>
              <a:t>cat == animal //true</a:t>
            </a:r>
            <a:r>
              <a:rPr lang="ko-KR" altLang="en-US" sz="1400" dirty="0"/>
              <a:t>이다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5A25F3-72D5-8980-2EA3-B710E0F3A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921" y="1276821"/>
            <a:ext cx="2570999" cy="98654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9445181-D2D0-C9B1-8289-1025B5BC5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113" y="3556409"/>
            <a:ext cx="4705350" cy="207645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EAE220-6E89-2CF3-A920-CE143802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695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C0385-A617-3BB9-244B-E8FEF1C5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EDDF23-B7F1-CCF4-FE99-62CC14645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자동 타입 변환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또한 바로 위의 부모가 아니더라도 상속 계층에서 상위 타입이라면 자동 타입 변환이 일어날 수 있다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부모 타입으로 자동 타입 변환된 이후에는 부모 클래스에 선언된 필드와 메소드만 접근이 가능하다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그러나 예외가 있는데</a:t>
            </a:r>
            <a:r>
              <a:rPr lang="en-US" altLang="ko-KR" sz="1400" dirty="0"/>
              <a:t>, </a:t>
            </a:r>
            <a:r>
              <a:rPr lang="ko-KR" altLang="en-US" sz="1400" dirty="0"/>
              <a:t>메소드가 자식 클래스에서 재정의 되었다면 자식 클래스의 메소드가 대신 호출된다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이것은 다형성과 관련이 있기  때문에 매우 중요한 성질이다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0157E0-8A2E-2C5B-153E-B176D0F83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511" y="1289530"/>
            <a:ext cx="5544977" cy="285194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01A96A-D869-79BD-6B00-4252644C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816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CD255-F92F-9DCB-51FE-82917F747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E2916F-F73B-740C-3DC7-ED99271BE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Child extends Parent {</a:t>
            </a:r>
          </a:p>
          <a:p>
            <a:pPr marL="0" indent="0">
              <a:buNone/>
            </a:pPr>
            <a:r>
              <a:rPr lang="en-US" altLang="ko-KR" sz="1400" dirty="0"/>
              <a:t>    @Override</a:t>
            </a:r>
          </a:p>
          <a:p>
            <a:pPr marL="0" indent="0">
              <a:buNone/>
            </a:pPr>
            <a:r>
              <a:rPr lang="en-US" altLang="ko-KR" sz="1400" dirty="0"/>
              <a:t>    public void method2() { // Parent </a:t>
            </a:r>
            <a:r>
              <a:rPr lang="ko-KR" altLang="en-US" sz="1400" dirty="0"/>
              <a:t>클래스의 </a:t>
            </a:r>
            <a:r>
              <a:rPr lang="en-US" altLang="ko-KR" sz="1400" dirty="0"/>
              <a:t>method2()</a:t>
            </a:r>
            <a:r>
              <a:rPr lang="ko-KR" altLang="en-US" sz="1400" dirty="0"/>
              <a:t>를 재정의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("Child-method2()"); // Child </a:t>
            </a:r>
            <a:r>
              <a:rPr lang="ko-KR" altLang="en-US" sz="1400" dirty="0"/>
              <a:t>클래스에서 재정의된 동작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public void method3() { // Child </a:t>
            </a:r>
            <a:r>
              <a:rPr lang="ko-KR" altLang="en-US" sz="1400" dirty="0"/>
              <a:t>클래스에만 존재하는 새로운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("Child-method3()"); // method3() </a:t>
            </a:r>
            <a:r>
              <a:rPr lang="ko-KR" altLang="en-US" sz="1400" dirty="0"/>
              <a:t>실행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ChildExample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Child </a:t>
            </a:r>
            <a:r>
              <a:rPr lang="en-US" altLang="ko-KR" sz="1400" dirty="0" err="1"/>
              <a:t>child</a:t>
            </a:r>
            <a:r>
              <a:rPr lang="en-US" altLang="ko-KR" sz="1400" dirty="0"/>
              <a:t> = new Child(); // Child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Parent </a:t>
            </a:r>
            <a:r>
              <a:rPr lang="en-US" altLang="ko-KR" sz="1400" dirty="0" err="1"/>
              <a:t>parent</a:t>
            </a:r>
            <a:r>
              <a:rPr lang="en-US" altLang="ko-KR" sz="1400" dirty="0"/>
              <a:t> = child; // Parent </a:t>
            </a:r>
            <a:r>
              <a:rPr lang="ko-KR" altLang="en-US" sz="1400" dirty="0"/>
              <a:t>타입으로 </a:t>
            </a:r>
            <a:r>
              <a:rPr lang="en-US" altLang="ko-KR" sz="1400" dirty="0"/>
              <a:t>Child </a:t>
            </a:r>
            <a:r>
              <a:rPr lang="ko-KR" altLang="en-US" sz="1400" dirty="0"/>
              <a:t>객체 참조 </a:t>
            </a:r>
            <a:r>
              <a:rPr lang="en-US" altLang="ko-KR" sz="1400" dirty="0"/>
              <a:t>(</a:t>
            </a:r>
            <a:r>
              <a:rPr lang="ko-KR" altLang="en-US" sz="1400" dirty="0"/>
              <a:t>업캐스팅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parent.method1(); // Parent </a:t>
            </a:r>
            <a:r>
              <a:rPr lang="ko-KR" altLang="en-US" sz="1400" dirty="0"/>
              <a:t>클래스의 </a:t>
            </a:r>
            <a:r>
              <a:rPr lang="en-US" altLang="ko-KR" sz="1400" dirty="0"/>
              <a:t>method1()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parent.method2(); // Child </a:t>
            </a:r>
            <a:r>
              <a:rPr lang="ko-KR" altLang="en-US" sz="1400" dirty="0"/>
              <a:t>클래스에서 재정의된 </a:t>
            </a:r>
            <a:r>
              <a:rPr lang="en-US" altLang="ko-KR" sz="1400" dirty="0"/>
              <a:t>method2()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parent.method3(); // (</a:t>
            </a:r>
            <a:r>
              <a:rPr lang="ko-KR" altLang="en-US" sz="1400" dirty="0"/>
              <a:t>호출 불가능</a:t>
            </a:r>
            <a:r>
              <a:rPr lang="en-US" altLang="ko-KR" sz="1400" dirty="0"/>
              <a:t>) Parent </a:t>
            </a:r>
            <a:r>
              <a:rPr lang="ko-KR" altLang="en-US" sz="1400" dirty="0"/>
              <a:t>타입에는 </a:t>
            </a:r>
            <a:r>
              <a:rPr lang="en-US" altLang="ko-KR" sz="1400" dirty="0"/>
              <a:t>method3()</a:t>
            </a:r>
            <a:r>
              <a:rPr lang="ko-KR" altLang="en-US" sz="1400" dirty="0"/>
              <a:t>가 정의되어 있지 않음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4EA3A3-7E11-B6D5-49F8-DE1B67D4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879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22E17-37C2-BD53-9B4B-C08C5B96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749838-B311-0BCA-98A9-B46CD1AD0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Parent {</a:t>
            </a:r>
          </a:p>
          <a:p>
            <a:pPr marL="0" indent="0">
              <a:buNone/>
            </a:pPr>
            <a:r>
              <a:rPr lang="en-US" altLang="ko-KR" sz="1400" dirty="0"/>
              <a:t>    public void method1() { // Parent </a:t>
            </a:r>
            <a:r>
              <a:rPr lang="ko-KR" altLang="en-US" sz="1400" dirty="0"/>
              <a:t>클래스의 메소드</a:t>
            </a:r>
            <a:r>
              <a:rPr lang="en-US" altLang="ko-KR" sz="1400" dirty="0"/>
              <a:t>1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("Parent-method1()"); // method1() </a:t>
            </a:r>
            <a:r>
              <a:rPr lang="ko-KR" altLang="en-US" sz="1400" dirty="0"/>
              <a:t>실행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public void method2() { // Parent </a:t>
            </a:r>
            <a:r>
              <a:rPr lang="ko-KR" altLang="en-US" sz="1400" dirty="0"/>
              <a:t>클래스의 메소드</a:t>
            </a:r>
            <a:r>
              <a:rPr lang="en-US" altLang="ko-KR" sz="1400" dirty="0"/>
              <a:t>2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("Parent-method2()"); // method2() </a:t>
            </a:r>
            <a:r>
              <a:rPr lang="ko-KR" altLang="en-US" sz="1400" dirty="0"/>
              <a:t>실행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E2045E-2BEA-105A-A980-632606535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180" y="1213871"/>
            <a:ext cx="2042075" cy="7235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4B5A34-2D77-EAA1-593A-B99752844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679" y="3083412"/>
            <a:ext cx="6677025" cy="317182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2E5054F-6CC7-2B50-756D-8D2381F6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408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BAF93-3D26-6839-3AE4-DBCCA4D96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D954CA-1FBD-4159-D867-8B068C5DB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필드의 </a:t>
            </a:r>
            <a:r>
              <a:rPr lang="ko-KR" altLang="en-US" sz="1400" b="1" dirty="0" err="1"/>
              <a:t>다형성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그냥 자식 타입으로 사용하면 될 것을 굳이 부모 타입으로 변환해서 사용하는 이유는 다형성을 구현하기 위함이다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필드의 타입을 부모 타입으로 선언하면 다양한 자식 객체들이 저장될 수 있기 때문에 필드 사용 결과가 달라질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예를 들어 자동차를 구성하는 부품은 언제든지 교체할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부품은 고장 날 수 있고</a:t>
            </a:r>
            <a:r>
              <a:rPr lang="en-US" altLang="ko-KR" sz="1400" dirty="0"/>
              <a:t>, </a:t>
            </a:r>
            <a:r>
              <a:rPr lang="ko-KR" altLang="en-US" sz="1400" dirty="0"/>
              <a:t>성능이 더 좋은 부품으로 교체되기도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지향에서도 마찬가지이다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프로그램은 수많은 객체들이 서로 연결되고 각자의 역할을 하게 되는데</a:t>
            </a:r>
            <a:r>
              <a:rPr lang="en-US" altLang="ko-KR" sz="1400" dirty="0"/>
              <a:t>, </a:t>
            </a:r>
            <a:r>
              <a:rPr lang="ko-KR" altLang="en-US" sz="1400" dirty="0"/>
              <a:t>이 객체들은 다른 객체로 교체될 수 있어야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A98BE29-F01E-1FD4-F4C1-D765C4A53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04" y="3621385"/>
            <a:ext cx="6176976" cy="263456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14C3AC-1E36-5E8E-A8A9-7289B5CC6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289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25A68-C15D-B868-8593-23568BD2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BEB632-A16B-91C8-6ADC-7200E4B6D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필드의 </a:t>
            </a:r>
            <a:r>
              <a:rPr lang="ko-KR" altLang="en-US" sz="1400" b="1" dirty="0" err="1"/>
              <a:t>다형성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예를 들어 </a:t>
            </a:r>
            <a:r>
              <a:rPr lang="en-US" altLang="ko-KR" sz="1400" dirty="0"/>
              <a:t>4</a:t>
            </a:r>
            <a:r>
              <a:rPr lang="ko-KR" altLang="en-US" sz="1400" dirty="0"/>
              <a:t>개의 </a:t>
            </a:r>
            <a:r>
              <a:rPr lang="en-US" altLang="ko-KR" sz="1400" dirty="0"/>
              <a:t>Tire </a:t>
            </a:r>
            <a:r>
              <a:rPr lang="ko-KR" altLang="en-US" sz="1400" dirty="0"/>
              <a:t>필드를 갖는 </a:t>
            </a:r>
            <a:r>
              <a:rPr lang="en-US" altLang="ko-KR" sz="1400" dirty="0"/>
              <a:t>Car </a:t>
            </a:r>
            <a:r>
              <a:rPr lang="ko-KR" altLang="en-US" sz="1400" dirty="0"/>
              <a:t>클래스가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class Car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Tire </a:t>
            </a:r>
            <a:r>
              <a:rPr lang="en-US" altLang="ko-KR" sz="1400" dirty="0" err="1"/>
              <a:t>frontLeftTire</a:t>
            </a:r>
            <a:r>
              <a:rPr lang="en-US" altLang="ko-KR" sz="1400" dirty="0"/>
              <a:t> = new Tire(); // </a:t>
            </a:r>
            <a:r>
              <a:rPr lang="ko-KR" altLang="en-US" sz="1400" dirty="0"/>
              <a:t>앞 왼쪽 타이어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Tire </a:t>
            </a:r>
            <a:r>
              <a:rPr lang="en-US" altLang="ko-KR" sz="1400" dirty="0" err="1"/>
              <a:t>frontRightTire</a:t>
            </a:r>
            <a:r>
              <a:rPr lang="en-US" altLang="ko-KR" sz="1400" dirty="0"/>
              <a:t> = new Tire(); // </a:t>
            </a:r>
            <a:r>
              <a:rPr lang="ko-KR" altLang="en-US" sz="1400" dirty="0"/>
              <a:t>앞 오른쪽 타이어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Tire </a:t>
            </a:r>
            <a:r>
              <a:rPr lang="en-US" altLang="ko-KR" sz="1400" dirty="0" err="1"/>
              <a:t>backLeftTire</a:t>
            </a:r>
            <a:r>
              <a:rPr lang="en-US" altLang="ko-KR" sz="1400" dirty="0"/>
              <a:t> = new Tire(); // </a:t>
            </a:r>
            <a:r>
              <a:rPr lang="ko-KR" altLang="en-US" sz="1400" dirty="0"/>
              <a:t>뒤 왼쪽 타이어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Tire </a:t>
            </a:r>
            <a:r>
              <a:rPr lang="en-US" altLang="ko-KR" sz="1400" dirty="0" err="1"/>
              <a:t>backRightTire</a:t>
            </a:r>
            <a:r>
              <a:rPr lang="en-US" altLang="ko-KR" sz="1400" dirty="0"/>
              <a:t> = new Tire(); // </a:t>
            </a:r>
            <a:r>
              <a:rPr lang="ko-KR" altLang="en-US" sz="1400" dirty="0"/>
              <a:t>뒤 오른쪽 타이어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run()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자동차가 달립니다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 Car </a:t>
            </a:r>
            <a:r>
              <a:rPr lang="ko-KR" altLang="en-US" sz="1400" dirty="0"/>
              <a:t>객체 생성 및 타이어 교체</a:t>
            </a:r>
          </a:p>
          <a:p>
            <a:pPr marL="0" indent="0">
              <a:buNone/>
            </a:pPr>
            <a:r>
              <a:rPr lang="en-US" altLang="ko-KR" sz="1400" dirty="0"/>
              <a:t>Car </a:t>
            </a:r>
            <a:r>
              <a:rPr lang="en-US" altLang="ko-KR" sz="1400" dirty="0" err="1"/>
              <a:t>myCar</a:t>
            </a:r>
            <a:r>
              <a:rPr lang="en-US" altLang="ko-KR" sz="1400" dirty="0"/>
              <a:t> = new Car(); // Car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en-US" altLang="ko-KR" sz="1400" dirty="0" err="1"/>
              <a:t>myCar.frontRightTire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HankookTire</a:t>
            </a:r>
            <a:r>
              <a:rPr lang="en-US" altLang="ko-KR" sz="1400" dirty="0"/>
              <a:t>(); // </a:t>
            </a:r>
            <a:r>
              <a:rPr lang="ko-KR" altLang="en-US" sz="1400" dirty="0"/>
              <a:t>앞 오른쪽 타이어를 </a:t>
            </a:r>
            <a:r>
              <a:rPr lang="en-US" altLang="ko-KR" sz="1400" dirty="0" err="1"/>
              <a:t>HankookTire</a:t>
            </a:r>
            <a:r>
              <a:rPr lang="ko-KR" altLang="en-US" sz="1400" dirty="0"/>
              <a:t>로 교체</a:t>
            </a:r>
          </a:p>
          <a:p>
            <a:pPr marL="0" indent="0">
              <a:buNone/>
            </a:pPr>
            <a:r>
              <a:rPr lang="en-US" altLang="ko-KR" sz="1400" dirty="0" err="1"/>
              <a:t>myCar.backLeftTire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KumhoTire</a:t>
            </a:r>
            <a:r>
              <a:rPr lang="en-US" altLang="ko-KR" sz="1400" dirty="0"/>
              <a:t>(); // </a:t>
            </a:r>
            <a:r>
              <a:rPr lang="ko-KR" altLang="en-US" sz="1400" dirty="0"/>
              <a:t>뒤 왼쪽 타이어를 </a:t>
            </a:r>
            <a:r>
              <a:rPr lang="en-US" altLang="ko-KR" sz="1400" dirty="0" err="1"/>
              <a:t>KumhoTire</a:t>
            </a:r>
            <a:r>
              <a:rPr lang="ko-KR" altLang="en-US" sz="1400" dirty="0"/>
              <a:t>로 교체</a:t>
            </a:r>
          </a:p>
          <a:p>
            <a:pPr marL="0" indent="0">
              <a:buNone/>
            </a:pPr>
            <a:r>
              <a:rPr lang="en-US" altLang="ko-KR" sz="1400" dirty="0" err="1"/>
              <a:t>myCar.run</a:t>
            </a:r>
            <a:r>
              <a:rPr lang="en-US" altLang="ko-KR" sz="1400" dirty="0"/>
              <a:t>(); // </a:t>
            </a:r>
            <a:r>
              <a:rPr lang="ko-KR" altLang="en-US" sz="1400" dirty="0"/>
              <a:t>자동차 달리기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B0145E-FF54-0A63-F154-54B40A83EA39}"/>
              </a:ext>
            </a:extLst>
          </p:cNvPr>
          <p:cNvSpPr txBox="1"/>
          <p:nvPr/>
        </p:nvSpPr>
        <p:spPr>
          <a:xfrm>
            <a:off x="5214796" y="3204926"/>
            <a:ext cx="75023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만약 </a:t>
            </a:r>
            <a:r>
              <a:rPr lang="en-US" altLang="ko-KR" sz="1400" dirty="0" err="1"/>
              <a:t>frontLeftTire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backLeftTire</a:t>
            </a:r>
            <a:r>
              <a:rPr lang="ko-KR" altLang="en-US" sz="1400" dirty="0"/>
              <a:t>를 기존 </a:t>
            </a:r>
            <a:r>
              <a:rPr lang="en-US" altLang="ko-KR" sz="1400" dirty="0"/>
              <a:t>Tire</a:t>
            </a:r>
            <a:r>
              <a:rPr lang="ko-KR" altLang="en-US" sz="1400" dirty="0"/>
              <a:t>에서 </a:t>
            </a:r>
            <a:endParaRPr lang="en-US" altLang="ko-KR" sz="1400" dirty="0"/>
          </a:p>
          <a:p>
            <a:r>
              <a:rPr lang="en-US" altLang="ko-KR" sz="1400" dirty="0" err="1"/>
              <a:t>HankookTire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KumhoTire</a:t>
            </a:r>
            <a:r>
              <a:rPr lang="ko-KR" altLang="en-US" sz="1400" dirty="0"/>
              <a:t>로 교체할 이유가 생겼다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그러면 다음과 같은 코드를 사용해서 교체할 수 있는데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Tire </a:t>
            </a:r>
            <a:r>
              <a:rPr lang="ko-KR" altLang="en-US" sz="1400" dirty="0"/>
              <a:t>클래스 타입인 </a:t>
            </a:r>
            <a:r>
              <a:rPr lang="en-US" altLang="ko-KR" sz="1400" dirty="0" err="1"/>
              <a:t>frontLeftTire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backLeftTire</a:t>
            </a:r>
            <a:r>
              <a:rPr lang="ko-KR" altLang="en-US" sz="1400" dirty="0"/>
              <a:t>은 원래 </a:t>
            </a:r>
            <a:r>
              <a:rPr lang="en-US" altLang="ko-KR" sz="1400" dirty="0"/>
              <a:t>Tire </a:t>
            </a:r>
            <a:r>
              <a:rPr lang="ko-KR" altLang="en-US" sz="1400" dirty="0"/>
              <a:t>객체가 저장되어야 하지만</a:t>
            </a:r>
            <a:endParaRPr lang="en-US" altLang="ko-KR" sz="1400" dirty="0"/>
          </a:p>
          <a:p>
            <a:r>
              <a:rPr lang="en-US" altLang="ko-KR" sz="1400" dirty="0"/>
              <a:t>Tire</a:t>
            </a:r>
            <a:r>
              <a:rPr lang="ko-KR" altLang="en-US" sz="1400" dirty="0"/>
              <a:t>의 자식 객체인 에서 </a:t>
            </a:r>
            <a:r>
              <a:rPr lang="en-US" altLang="ko-KR" sz="1400" dirty="0" err="1"/>
              <a:t>HankookTire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KumhoTire</a:t>
            </a:r>
            <a:r>
              <a:rPr lang="ko-KR" altLang="en-US" sz="1400" dirty="0"/>
              <a:t>로 교체되어도 문제가 없다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왜냐하면 자식 타입은 부모 타입으로 자동 타입 변환이 되기 때문이다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8BF875-9395-C5B1-F4DD-C500A29AB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835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03868-CE00-F841-EA98-FE86544E4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23ED2B-F2A1-68D5-7E64-FDE1C03C7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public class Tire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int </a:t>
            </a:r>
            <a:r>
              <a:rPr lang="en-US" altLang="ko-KR" sz="1400" dirty="0" err="1"/>
              <a:t>maxRotation</a:t>
            </a:r>
            <a:r>
              <a:rPr lang="en-US" altLang="ko-KR" sz="1400" dirty="0"/>
              <a:t>; // </a:t>
            </a:r>
            <a:r>
              <a:rPr lang="ko-KR" altLang="en-US" sz="1400" dirty="0"/>
              <a:t>최대 </a:t>
            </a:r>
            <a:r>
              <a:rPr lang="ko-KR" altLang="en-US" sz="1400" dirty="0" err="1"/>
              <a:t>회전수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최대 수명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public int </a:t>
            </a:r>
            <a:r>
              <a:rPr lang="en-US" altLang="ko-KR" sz="1400" dirty="0" err="1"/>
              <a:t>accumulatedRotation</a:t>
            </a:r>
            <a:r>
              <a:rPr lang="en-US" altLang="ko-KR" sz="1400" dirty="0"/>
              <a:t>; // </a:t>
            </a:r>
            <a:r>
              <a:rPr lang="ko-KR" altLang="en-US" sz="1400" dirty="0"/>
              <a:t>누적 </a:t>
            </a:r>
            <a:r>
              <a:rPr lang="ko-KR" altLang="en-US" sz="1400" dirty="0" err="1"/>
              <a:t>회전수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String location; // </a:t>
            </a:r>
            <a:r>
              <a:rPr lang="ko-KR" altLang="en-US" sz="1400" dirty="0"/>
              <a:t>타이어의 위치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Tire(String location, int </a:t>
            </a:r>
            <a:r>
              <a:rPr lang="en-US" altLang="ko-KR" sz="1400" dirty="0" err="1"/>
              <a:t>maxRotation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this.location</a:t>
            </a:r>
            <a:r>
              <a:rPr lang="en-US" altLang="ko-KR" sz="1400" dirty="0"/>
              <a:t> = location; // </a:t>
            </a:r>
            <a:r>
              <a:rPr lang="ko-KR" altLang="en-US" sz="1400" dirty="0"/>
              <a:t>타이어 위치 초기화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this.maxRotation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maxRotation</a:t>
            </a:r>
            <a:r>
              <a:rPr lang="en-US" altLang="ko-KR" sz="1400" dirty="0"/>
              <a:t>; // </a:t>
            </a:r>
            <a:r>
              <a:rPr lang="ko-KR" altLang="en-US" sz="1400" dirty="0"/>
              <a:t>최대 </a:t>
            </a:r>
            <a:r>
              <a:rPr lang="ko-KR" altLang="en-US" sz="1400" dirty="0" err="1"/>
              <a:t>회전수</a:t>
            </a:r>
            <a:r>
              <a:rPr lang="ko-KR" altLang="en-US" sz="1400" dirty="0"/>
              <a:t> 초기화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roll() { // </a:t>
            </a:r>
            <a:r>
              <a:rPr lang="ko-KR" altLang="en-US" sz="1400" dirty="0"/>
              <a:t>타이어의 회전을 시뮬레이션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++</a:t>
            </a:r>
            <a:r>
              <a:rPr lang="en-US" altLang="ko-KR" sz="1400" dirty="0" err="1"/>
              <a:t>accumulatedRotation</a:t>
            </a:r>
            <a:r>
              <a:rPr lang="en-US" altLang="ko-KR" sz="1400" dirty="0"/>
              <a:t>; // </a:t>
            </a:r>
            <a:r>
              <a:rPr lang="ko-KR" altLang="en-US" sz="1400" dirty="0"/>
              <a:t>누적 </a:t>
            </a:r>
            <a:r>
              <a:rPr lang="ko-KR" altLang="en-US" sz="1400" dirty="0" err="1"/>
              <a:t>회전수</a:t>
            </a:r>
            <a:r>
              <a:rPr lang="ko-KR" altLang="en-US" sz="1400" dirty="0"/>
              <a:t> 증가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</a:t>
            </a:r>
            <a:r>
              <a:rPr lang="en-US" altLang="ko-KR" sz="1400" dirty="0" err="1"/>
              <a:t>accumulatedRotation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maxRotation</a:t>
            </a:r>
            <a:r>
              <a:rPr lang="en-US" altLang="ko-KR" sz="1400" dirty="0"/>
              <a:t>) { // </a:t>
            </a:r>
            <a:r>
              <a:rPr lang="ko-KR" altLang="en-US" sz="1400" dirty="0"/>
              <a:t>수명이 </a:t>
            </a:r>
            <a:r>
              <a:rPr lang="ko-KR" altLang="en-US" sz="1400" dirty="0" err="1"/>
              <a:t>남아있다면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(location + " Tire </a:t>
            </a:r>
            <a:r>
              <a:rPr lang="ko-KR" altLang="en-US" sz="1400" dirty="0"/>
              <a:t>수명</a:t>
            </a:r>
            <a:r>
              <a:rPr lang="en-US" altLang="ko-KR" sz="1400" dirty="0"/>
              <a:t>: " + (</a:t>
            </a:r>
            <a:r>
              <a:rPr lang="en-US" altLang="ko-KR" sz="1400" dirty="0" err="1"/>
              <a:t>maxRotation</a:t>
            </a:r>
            <a:r>
              <a:rPr lang="en-US" altLang="ko-KR" sz="1400" dirty="0"/>
              <a:t> - </a:t>
            </a:r>
            <a:r>
              <a:rPr lang="en-US" altLang="ko-KR" sz="1400" dirty="0" err="1"/>
              <a:t>accumulatedRotation</a:t>
            </a:r>
            <a:r>
              <a:rPr lang="en-US" altLang="ko-KR" sz="1400" dirty="0"/>
              <a:t>) + "</a:t>
            </a:r>
            <a:r>
              <a:rPr lang="ko-KR" altLang="en-US" sz="1400" dirty="0"/>
              <a:t>회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    return true; // </a:t>
            </a:r>
            <a:r>
              <a:rPr lang="ko-KR" altLang="en-US" sz="1400" dirty="0"/>
              <a:t>계속 사용할 수 있음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else { // </a:t>
            </a:r>
            <a:r>
              <a:rPr lang="ko-KR" altLang="en-US" sz="1400" dirty="0"/>
              <a:t>수명이 다한 경우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("*** " + location + " Tire </a:t>
            </a:r>
            <a:r>
              <a:rPr lang="ko-KR" altLang="en-US" sz="1400" dirty="0"/>
              <a:t>펑크 ***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    return false; // </a:t>
            </a:r>
            <a:r>
              <a:rPr lang="ko-KR" altLang="en-US" sz="1400" dirty="0"/>
              <a:t>타이어 사용 불가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5DAFF3-347C-9B8E-B5C1-81B9F742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322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8B240-CA08-90D2-69DC-95265479E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93EBEA-7863-B909-CDD4-B714355A8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Car {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Tire </a:t>
            </a:r>
            <a:r>
              <a:rPr lang="en-US" altLang="ko-KR" sz="1400" dirty="0" err="1"/>
              <a:t>frontLeftTire</a:t>
            </a:r>
            <a:r>
              <a:rPr lang="en-US" altLang="ko-KR" sz="1400" dirty="0"/>
              <a:t> = new Tire("</a:t>
            </a:r>
            <a:r>
              <a:rPr lang="ko-KR" altLang="en-US" sz="1400" dirty="0" err="1"/>
              <a:t>앞왼쪽</a:t>
            </a:r>
            <a:r>
              <a:rPr lang="en-US" altLang="ko-KR" sz="1400" dirty="0"/>
              <a:t>", 6); // </a:t>
            </a:r>
            <a:r>
              <a:rPr lang="ko-KR" altLang="en-US" sz="1400" dirty="0" err="1"/>
              <a:t>앞왼쪽</a:t>
            </a:r>
            <a:r>
              <a:rPr lang="ko-KR" altLang="en-US" sz="1400" dirty="0"/>
              <a:t> 타이어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Tire </a:t>
            </a:r>
            <a:r>
              <a:rPr lang="en-US" altLang="ko-KR" sz="1400" dirty="0" err="1"/>
              <a:t>frontRightTire</a:t>
            </a:r>
            <a:r>
              <a:rPr lang="en-US" altLang="ko-KR" sz="1400" dirty="0"/>
              <a:t> = new Tire("</a:t>
            </a:r>
            <a:r>
              <a:rPr lang="ko-KR" altLang="en-US" sz="1400" dirty="0" err="1"/>
              <a:t>앞오른쪽</a:t>
            </a:r>
            <a:r>
              <a:rPr lang="en-US" altLang="ko-KR" sz="1400" dirty="0"/>
              <a:t>", 2); // </a:t>
            </a:r>
            <a:r>
              <a:rPr lang="ko-KR" altLang="en-US" sz="1400" dirty="0" err="1"/>
              <a:t>앞오른쪽</a:t>
            </a:r>
            <a:r>
              <a:rPr lang="ko-KR" altLang="en-US" sz="1400" dirty="0"/>
              <a:t> 타이어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Tire </a:t>
            </a:r>
            <a:r>
              <a:rPr lang="en-US" altLang="ko-KR" sz="1400" dirty="0" err="1"/>
              <a:t>backLeftTire</a:t>
            </a:r>
            <a:r>
              <a:rPr lang="en-US" altLang="ko-KR" sz="1400" dirty="0"/>
              <a:t> = new Tire("</a:t>
            </a:r>
            <a:r>
              <a:rPr lang="ko-KR" altLang="en-US" sz="1400" dirty="0" err="1"/>
              <a:t>뒤왼쪽</a:t>
            </a:r>
            <a:r>
              <a:rPr lang="en-US" altLang="ko-KR" sz="1400" dirty="0"/>
              <a:t>", 3); // </a:t>
            </a:r>
            <a:r>
              <a:rPr lang="ko-KR" altLang="en-US" sz="1400" dirty="0" err="1"/>
              <a:t>뒤왼쪽</a:t>
            </a:r>
            <a:r>
              <a:rPr lang="ko-KR" altLang="en-US" sz="1400" dirty="0"/>
              <a:t> 타이어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Tire </a:t>
            </a:r>
            <a:r>
              <a:rPr lang="en-US" altLang="ko-KR" sz="1400" dirty="0" err="1"/>
              <a:t>backRightTire</a:t>
            </a:r>
            <a:r>
              <a:rPr lang="en-US" altLang="ko-KR" sz="1400" dirty="0"/>
              <a:t> = new Tire("</a:t>
            </a:r>
            <a:r>
              <a:rPr lang="ko-KR" altLang="en-US" sz="1400" dirty="0" err="1"/>
              <a:t>뒤오른쪽</a:t>
            </a:r>
            <a:r>
              <a:rPr lang="en-US" altLang="ko-KR" sz="1400" dirty="0"/>
              <a:t>", 4); // </a:t>
            </a:r>
            <a:r>
              <a:rPr lang="ko-KR" altLang="en-US" sz="1400" dirty="0" err="1"/>
              <a:t>뒤오른쪽</a:t>
            </a:r>
            <a:r>
              <a:rPr lang="ko-KR" altLang="en-US" sz="1400" dirty="0"/>
              <a:t> 타이어</a:t>
            </a:r>
            <a:endParaRPr lang="en-US" altLang="ko-KR" sz="1400" dirty="0"/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run()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("[</a:t>
            </a:r>
            <a:r>
              <a:rPr lang="ko-KR" altLang="en-US" sz="1400" dirty="0"/>
              <a:t>자동차가 달립니다</a:t>
            </a:r>
            <a:r>
              <a:rPr lang="en-US" altLang="ko-KR" sz="1400" dirty="0"/>
              <a:t>.]"); // </a:t>
            </a:r>
            <a:r>
              <a:rPr lang="ko-KR" altLang="en-US" sz="1400" dirty="0"/>
              <a:t>자동차가 달리기 시작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</a:t>
            </a:r>
            <a:r>
              <a:rPr lang="en-US" altLang="ko-KR" sz="1400" dirty="0" err="1"/>
              <a:t>frontLeftTire.roll</a:t>
            </a:r>
            <a:r>
              <a:rPr lang="en-US" altLang="ko-KR" sz="1400" dirty="0"/>
              <a:t>() == false) { // </a:t>
            </a:r>
            <a:r>
              <a:rPr lang="ko-KR" altLang="en-US" sz="1400" dirty="0" err="1"/>
              <a:t>앞왼쪽</a:t>
            </a:r>
            <a:r>
              <a:rPr lang="ko-KR" altLang="en-US" sz="1400" dirty="0"/>
              <a:t> 타이어 상태 확인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stop();</a:t>
            </a:r>
          </a:p>
          <a:p>
            <a:pPr marL="0" indent="0">
              <a:buNone/>
            </a:pPr>
            <a:r>
              <a:rPr lang="en-US" altLang="ko-KR" sz="1400" dirty="0"/>
              <a:t>            return 1; // </a:t>
            </a:r>
            <a:r>
              <a:rPr lang="ko-KR" altLang="en-US" sz="1400" dirty="0" err="1"/>
              <a:t>앞왼쪽</a:t>
            </a:r>
            <a:r>
              <a:rPr lang="ko-KR" altLang="en-US" sz="1400" dirty="0"/>
              <a:t> 타이어 문제 발생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if (</a:t>
            </a:r>
            <a:r>
              <a:rPr lang="en-US" altLang="ko-KR" sz="1400" dirty="0" err="1"/>
              <a:t>frontRightTire.roll</a:t>
            </a:r>
            <a:r>
              <a:rPr lang="en-US" altLang="ko-KR" sz="1400" dirty="0"/>
              <a:t>() == false) { // </a:t>
            </a:r>
            <a:r>
              <a:rPr lang="ko-KR" altLang="en-US" sz="1400" dirty="0" err="1"/>
              <a:t>앞오른쪽</a:t>
            </a:r>
            <a:r>
              <a:rPr lang="ko-KR" altLang="en-US" sz="1400" dirty="0"/>
              <a:t> 타이어 상태 확인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stop();</a:t>
            </a:r>
          </a:p>
          <a:p>
            <a:pPr marL="0" indent="0">
              <a:buNone/>
            </a:pPr>
            <a:r>
              <a:rPr lang="en-US" altLang="ko-KR" sz="1400" dirty="0"/>
              <a:t>            return 2; // </a:t>
            </a:r>
            <a:r>
              <a:rPr lang="ko-KR" altLang="en-US" sz="1400" dirty="0" err="1"/>
              <a:t>앞오른쪽</a:t>
            </a:r>
            <a:r>
              <a:rPr lang="ko-KR" altLang="en-US" sz="1400" dirty="0"/>
              <a:t> 타이어 문제 발생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if (</a:t>
            </a:r>
            <a:r>
              <a:rPr lang="en-US" altLang="ko-KR" sz="1400" dirty="0" err="1"/>
              <a:t>backLeftTire.roll</a:t>
            </a:r>
            <a:r>
              <a:rPr lang="en-US" altLang="ko-KR" sz="1400" dirty="0"/>
              <a:t>() == false) { // </a:t>
            </a:r>
            <a:r>
              <a:rPr lang="ko-KR" altLang="en-US" sz="1400" dirty="0" err="1"/>
              <a:t>뒤왼쪽</a:t>
            </a:r>
            <a:r>
              <a:rPr lang="ko-KR" altLang="en-US" sz="1400" dirty="0"/>
              <a:t> 타이어 상태 확인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stop();</a:t>
            </a:r>
          </a:p>
          <a:p>
            <a:pPr marL="0" indent="0">
              <a:buNone/>
            </a:pPr>
            <a:r>
              <a:rPr lang="en-US" altLang="ko-KR" sz="1400" dirty="0"/>
              <a:t>            return 3; // </a:t>
            </a:r>
            <a:r>
              <a:rPr lang="ko-KR" altLang="en-US" sz="1400" dirty="0" err="1"/>
              <a:t>뒤왼쪽</a:t>
            </a:r>
            <a:r>
              <a:rPr lang="ko-KR" altLang="en-US" sz="1400" dirty="0"/>
              <a:t> 타이어 문제 발생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if (</a:t>
            </a:r>
            <a:r>
              <a:rPr lang="en-US" altLang="ko-KR" sz="1400" dirty="0" err="1"/>
              <a:t>backRightTire.roll</a:t>
            </a:r>
            <a:r>
              <a:rPr lang="en-US" altLang="ko-KR" sz="1400" dirty="0"/>
              <a:t>() == false) { // </a:t>
            </a:r>
            <a:r>
              <a:rPr lang="ko-KR" altLang="en-US" sz="1400" dirty="0" err="1"/>
              <a:t>뒤오른쪽</a:t>
            </a:r>
            <a:r>
              <a:rPr lang="ko-KR" altLang="en-US" sz="1400" dirty="0"/>
              <a:t> 타이어 상태 확인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stop();</a:t>
            </a:r>
          </a:p>
          <a:p>
            <a:pPr marL="0" indent="0">
              <a:buNone/>
            </a:pPr>
            <a:r>
              <a:rPr lang="en-US" altLang="ko-KR" sz="1400" dirty="0"/>
              <a:t>            return 4; // </a:t>
            </a:r>
            <a:r>
              <a:rPr lang="ko-KR" altLang="en-US" sz="1400" dirty="0" err="1"/>
              <a:t>뒤오른쪽</a:t>
            </a:r>
            <a:r>
              <a:rPr lang="ko-KR" altLang="en-US" sz="1400" dirty="0"/>
              <a:t> 타이어 문제 발생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return 0; // </a:t>
            </a:r>
            <a:r>
              <a:rPr lang="ko-KR" altLang="en-US" sz="1400" dirty="0"/>
              <a:t>모든 타이어가 정상일 때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void stop()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("[</a:t>
            </a:r>
            <a:r>
              <a:rPr lang="ko-KR" altLang="en-US" sz="1400" dirty="0"/>
              <a:t>자동차가 멈춥니다</a:t>
            </a:r>
            <a:r>
              <a:rPr lang="en-US" altLang="ko-KR" sz="1400" dirty="0"/>
              <a:t>.]"); // </a:t>
            </a:r>
            <a:r>
              <a:rPr lang="ko-KR" altLang="en-US" sz="1400" dirty="0"/>
              <a:t>자동차 멈춤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DB85D8-54D4-8F7F-86EC-889D2586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039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CF83-B99E-EEE4-53CA-896617251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9E107-AB1C-182B-14CE-3708D7E74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HankookTire</a:t>
            </a:r>
            <a:r>
              <a:rPr lang="en-US" altLang="ko-KR" sz="1400" dirty="0"/>
              <a:t> extends Tire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</a:t>
            </a:r>
            <a:r>
              <a:rPr lang="en-US" altLang="ko-KR" sz="1400" dirty="0" err="1"/>
              <a:t>HankookTire</a:t>
            </a:r>
            <a:r>
              <a:rPr lang="en-US" altLang="ko-KR" sz="1400" dirty="0"/>
              <a:t>(String location, int </a:t>
            </a:r>
            <a:r>
              <a:rPr lang="en-US" altLang="ko-KR" sz="1400" dirty="0" err="1"/>
              <a:t>maxRotation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super(location, </a:t>
            </a:r>
            <a:r>
              <a:rPr lang="en-US" altLang="ko-KR" sz="1400" dirty="0" err="1"/>
              <a:t>maxRotation</a:t>
            </a:r>
            <a:r>
              <a:rPr lang="en-US" altLang="ko-KR" sz="1400" dirty="0"/>
              <a:t>); // </a:t>
            </a:r>
            <a:r>
              <a:rPr lang="ko-KR" altLang="en-US" sz="1400" dirty="0"/>
              <a:t>부모 클래스</a:t>
            </a:r>
            <a:r>
              <a:rPr lang="en-US" altLang="ko-KR" sz="1400" dirty="0"/>
              <a:t>(Tire)</a:t>
            </a:r>
            <a:r>
              <a:rPr lang="ko-KR" altLang="en-US" sz="1400" dirty="0"/>
              <a:t>의 생성자 호출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	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public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roll() { // roll </a:t>
            </a:r>
            <a:r>
              <a:rPr lang="ko-KR" altLang="en-US" sz="1400" dirty="0"/>
              <a:t>메소드 재정의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++</a:t>
            </a:r>
            <a:r>
              <a:rPr lang="en-US" altLang="ko-KR" sz="1400" dirty="0" err="1"/>
              <a:t>accumulatedRotation</a:t>
            </a:r>
            <a:r>
              <a:rPr lang="en-US" altLang="ko-KR" sz="1400" dirty="0"/>
              <a:t>; // </a:t>
            </a:r>
            <a:r>
              <a:rPr lang="ko-KR" altLang="en-US" sz="1400" dirty="0"/>
              <a:t>누적 </a:t>
            </a:r>
            <a:r>
              <a:rPr lang="ko-KR" altLang="en-US" sz="1400" dirty="0" err="1"/>
              <a:t>회전수</a:t>
            </a:r>
            <a:r>
              <a:rPr lang="ko-KR" altLang="en-US" sz="1400" dirty="0"/>
              <a:t> 증가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</a:t>
            </a:r>
            <a:r>
              <a:rPr lang="en-US" altLang="ko-KR" sz="1400" dirty="0" err="1"/>
              <a:t>accumulatedRotation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maxRotation</a:t>
            </a:r>
            <a:r>
              <a:rPr lang="en-US" altLang="ko-KR" sz="1400" dirty="0"/>
              <a:t>) { // </a:t>
            </a:r>
            <a:r>
              <a:rPr lang="ko-KR" altLang="en-US" sz="1400" dirty="0"/>
              <a:t>수명이 남아있는 경우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(location + " </a:t>
            </a:r>
            <a:r>
              <a:rPr lang="en-US" altLang="ko-KR" sz="1400" dirty="0" err="1"/>
              <a:t>HankookTire</a:t>
            </a:r>
            <a:r>
              <a:rPr lang="en-US" altLang="ko-KR" sz="1400" dirty="0"/>
              <a:t> </a:t>
            </a:r>
            <a:r>
              <a:rPr lang="ko-KR" altLang="en-US" sz="1400" dirty="0"/>
              <a:t>수명</a:t>
            </a:r>
            <a:r>
              <a:rPr lang="en-US" altLang="ko-KR" sz="1400" dirty="0"/>
              <a:t>: " + (</a:t>
            </a:r>
            <a:r>
              <a:rPr lang="en-US" altLang="ko-KR" sz="1400" dirty="0" err="1"/>
              <a:t>maxRotation</a:t>
            </a:r>
            <a:r>
              <a:rPr lang="en-US" altLang="ko-KR" sz="1400" dirty="0"/>
              <a:t> - </a:t>
            </a:r>
            <a:r>
              <a:rPr lang="en-US" altLang="ko-KR" sz="1400" dirty="0" err="1"/>
              <a:t>accumulatedRotation</a:t>
            </a:r>
            <a:r>
              <a:rPr lang="en-US" altLang="ko-KR" sz="1400" dirty="0"/>
              <a:t>) + "</a:t>
            </a:r>
            <a:r>
              <a:rPr lang="ko-KR" altLang="en-US" sz="1400" dirty="0"/>
              <a:t>회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    return true; // </a:t>
            </a:r>
            <a:r>
              <a:rPr lang="ko-KR" altLang="en-US" sz="1400" dirty="0"/>
              <a:t>정상 작동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else { // </a:t>
            </a:r>
            <a:r>
              <a:rPr lang="ko-KR" altLang="en-US" sz="1400" dirty="0"/>
              <a:t>수명이 다한 경우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("*** " + location + " </a:t>
            </a:r>
            <a:r>
              <a:rPr lang="en-US" altLang="ko-KR" sz="1400" dirty="0" err="1"/>
              <a:t>HankookTire</a:t>
            </a:r>
            <a:r>
              <a:rPr lang="en-US" altLang="ko-KR" sz="1400" dirty="0"/>
              <a:t> </a:t>
            </a:r>
            <a:r>
              <a:rPr lang="ko-KR" altLang="en-US" sz="1400" dirty="0"/>
              <a:t>펑크 ***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    return false; // </a:t>
            </a:r>
            <a:r>
              <a:rPr lang="ko-KR" altLang="en-US" sz="1400" dirty="0"/>
              <a:t>타이어 사용 불가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DAF66F-9FA5-53C6-8439-BE8E6F23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376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D943-D0B9-F6C5-67B3-03A2FFDDC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1AC5D6-F244-49F7-92FC-2BE6BDAD8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KumhoTire</a:t>
            </a:r>
            <a:r>
              <a:rPr lang="en-US" altLang="ko-KR" sz="1400" dirty="0"/>
              <a:t> extends Tire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</a:t>
            </a:r>
            <a:r>
              <a:rPr lang="en-US" altLang="ko-KR" sz="1400" dirty="0" err="1"/>
              <a:t>KumhoTire</a:t>
            </a:r>
            <a:r>
              <a:rPr lang="en-US" altLang="ko-KR" sz="1400" dirty="0"/>
              <a:t>(String location, int </a:t>
            </a:r>
            <a:r>
              <a:rPr lang="en-US" altLang="ko-KR" sz="1400" dirty="0" err="1"/>
              <a:t>maxRotation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super(location, </a:t>
            </a:r>
            <a:r>
              <a:rPr lang="en-US" altLang="ko-KR" sz="1400" dirty="0" err="1"/>
              <a:t>maxRotation</a:t>
            </a:r>
            <a:r>
              <a:rPr lang="en-US" altLang="ko-KR" sz="1400" dirty="0"/>
              <a:t>); // </a:t>
            </a:r>
            <a:r>
              <a:rPr lang="ko-KR" altLang="en-US" sz="1400" dirty="0"/>
              <a:t>부모 클래스</a:t>
            </a:r>
            <a:r>
              <a:rPr lang="en-US" altLang="ko-KR" sz="1400" dirty="0"/>
              <a:t>(Tire)</a:t>
            </a:r>
            <a:r>
              <a:rPr lang="ko-KR" altLang="en-US" sz="1400" dirty="0"/>
              <a:t>의 생성자 호출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public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roll() { // roll </a:t>
            </a:r>
            <a:r>
              <a:rPr lang="ko-KR" altLang="en-US" sz="1400" dirty="0"/>
              <a:t>메소드 재정의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++</a:t>
            </a:r>
            <a:r>
              <a:rPr lang="en-US" altLang="ko-KR" sz="1400" dirty="0" err="1"/>
              <a:t>accumulatedRotation</a:t>
            </a:r>
            <a:r>
              <a:rPr lang="en-US" altLang="ko-KR" sz="1400" dirty="0"/>
              <a:t>; // </a:t>
            </a:r>
            <a:r>
              <a:rPr lang="ko-KR" altLang="en-US" sz="1400" dirty="0"/>
              <a:t>누적 </a:t>
            </a:r>
            <a:r>
              <a:rPr lang="ko-KR" altLang="en-US" sz="1400" dirty="0" err="1"/>
              <a:t>회전수</a:t>
            </a:r>
            <a:r>
              <a:rPr lang="ko-KR" altLang="en-US" sz="1400" dirty="0"/>
              <a:t> 증가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</a:t>
            </a:r>
            <a:r>
              <a:rPr lang="en-US" altLang="ko-KR" sz="1400" dirty="0" err="1"/>
              <a:t>accumulatedRotation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maxRotation</a:t>
            </a:r>
            <a:r>
              <a:rPr lang="en-US" altLang="ko-KR" sz="1400" dirty="0"/>
              <a:t>) { // </a:t>
            </a:r>
            <a:r>
              <a:rPr lang="ko-KR" altLang="en-US" sz="1400" dirty="0"/>
              <a:t>수명이 남아있는 경우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(location + " </a:t>
            </a:r>
            <a:r>
              <a:rPr lang="en-US" altLang="ko-KR" sz="1400" dirty="0" err="1"/>
              <a:t>KumhoTire</a:t>
            </a:r>
            <a:r>
              <a:rPr lang="en-US" altLang="ko-KR" sz="1400" dirty="0"/>
              <a:t> </a:t>
            </a:r>
            <a:r>
              <a:rPr lang="ko-KR" altLang="en-US" sz="1400" dirty="0"/>
              <a:t>수명</a:t>
            </a:r>
            <a:r>
              <a:rPr lang="en-US" altLang="ko-KR" sz="1400" dirty="0"/>
              <a:t>: " + (</a:t>
            </a:r>
            <a:r>
              <a:rPr lang="en-US" altLang="ko-KR" sz="1400" dirty="0" err="1"/>
              <a:t>maxRotation</a:t>
            </a:r>
            <a:r>
              <a:rPr lang="en-US" altLang="ko-KR" sz="1400" dirty="0"/>
              <a:t> - </a:t>
            </a:r>
            <a:r>
              <a:rPr lang="en-US" altLang="ko-KR" sz="1400" dirty="0" err="1"/>
              <a:t>accumulatedRotation</a:t>
            </a:r>
            <a:r>
              <a:rPr lang="en-US" altLang="ko-KR" sz="1400" dirty="0"/>
              <a:t>) + "</a:t>
            </a:r>
            <a:r>
              <a:rPr lang="ko-KR" altLang="en-US" sz="1400" dirty="0"/>
              <a:t>회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    return true; // </a:t>
            </a:r>
            <a:r>
              <a:rPr lang="ko-KR" altLang="en-US" sz="1400" dirty="0"/>
              <a:t>정상 작동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else { // </a:t>
            </a:r>
            <a:r>
              <a:rPr lang="ko-KR" altLang="en-US" sz="1400" dirty="0"/>
              <a:t>수명이 다한 경우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("*** " + location + " </a:t>
            </a:r>
            <a:r>
              <a:rPr lang="en-US" altLang="ko-KR" sz="1400" dirty="0" err="1"/>
              <a:t>KumhoTire</a:t>
            </a:r>
            <a:r>
              <a:rPr lang="en-US" altLang="ko-KR" sz="1400" dirty="0"/>
              <a:t> </a:t>
            </a:r>
            <a:r>
              <a:rPr lang="ko-KR" altLang="en-US" sz="1400" dirty="0"/>
              <a:t>펑크 ***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    return false; // </a:t>
            </a:r>
            <a:r>
              <a:rPr lang="ko-KR" altLang="en-US" sz="1400" dirty="0"/>
              <a:t>타이어 사용 불가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AB1C5F2-A624-4ABA-B1DC-77BE8400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533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C8915-080C-8E26-2306-69CAC78E0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9440EF-549C-92B2-C1D6-A32E05718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Car </a:t>
            </a:r>
            <a:r>
              <a:rPr lang="en-US" altLang="ko-KR" sz="1400" dirty="0" err="1"/>
              <a:t>car</a:t>
            </a:r>
            <a:r>
              <a:rPr lang="en-US" altLang="ko-KR" sz="1400" dirty="0"/>
              <a:t> = new Car(); // Car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1;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&lt;= 5;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 // 5</a:t>
            </a:r>
            <a:r>
              <a:rPr lang="ko-KR" altLang="en-US" sz="1400" dirty="0"/>
              <a:t>번 반복 실행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int </a:t>
            </a:r>
            <a:r>
              <a:rPr lang="en-US" altLang="ko-KR" sz="1400" dirty="0" err="1"/>
              <a:t>problemLocation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car.run</a:t>
            </a:r>
            <a:r>
              <a:rPr lang="en-US" altLang="ko-KR" sz="1400" dirty="0"/>
              <a:t>(); // </a:t>
            </a:r>
            <a:r>
              <a:rPr lang="ko-KR" altLang="en-US" sz="1400" dirty="0"/>
              <a:t>자동차를 한 번 실행하고 문제 발생 위치 반환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switch (</a:t>
            </a:r>
            <a:r>
              <a:rPr lang="en-US" altLang="ko-KR" sz="1400" dirty="0" err="1"/>
              <a:t>problemLocation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        case 1: // </a:t>
            </a:r>
            <a:r>
              <a:rPr lang="ko-KR" altLang="en-US" sz="1400" dirty="0" err="1"/>
              <a:t>앞왼쪽</a:t>
            </a:r>
            <a:r>
              <a:rPr lang="ko-KR" altLang="en-US" sz="1400" dirty="0"/>
              <a:t> 타이어 문제 발생</a:t>
            </a:r>
          </a:p>
          <a:p>
            <a:pPr marL="0" indent="0">
              <a:buNone/>
            </a:pPr>
            <a:r>
              <a:rPr lang="ko-KR" altLang="en-US" sz="1400" dirty="0"/>
              <a:t>    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앞왼쪽</a:t>
            </a:r>
            <a:r>
              <a:rPr lang="ko-KR" altLang="en-US" sz="1400" dirty="0"/>
              <a:t> </a:t>
            </a:r>
            <a:r>
              <a:rPr lang="en-US" altLang="ko-KR" sz="1400" dirty="0" err="1"/>
              <a:t>HankookTire</a:t>
            </a:r>
            <a:r>
              <a:rPr lang="ko-KR" altLang="en-US" sz="1400" dirty="0"/>
              <a:t>로 교체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            </a:t>
            </a:r>
            <a:r>
              <a:rPr lang="en-US" altLang="ko-KR" sz="1400" dirty="0" err="1"/>
              <a:t>car.frontLeftTire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HankookTire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앞왼쪽</a:t>
            </a:r>
            <a:r>
              <a:rPr lang="en-US" altLang="ko-KR" sz="1400" dirty="0"/>
              <a:t>", 15); // </a:t>
            </a:r>
            <a:r>
              <a:rPr lang="ko-KR" altLang="en-US" sz="1400" dirty="0"/>
              <a:t>새로운 </a:t>
            </a:r>
            <a:r>
              <a:rPr lang="en-US" altLang="ko-KR" sz="1400" dirty="0" err="1"/>
              <a:t>HankookTire</a:t>
            </a:r>
            <a:r>
              <a:rPr lang="ko-KR" altLang="en-US" sz="1400" dirty="0"/>
              <a:t>로 교체</a:t>
            </a:r>
          </a:p>
          <a:p>
            <a:pPr marL="0" indent="0">
              <a:buNone/>
            </a:pPr>
            <a:r>
              <a:rPr lang="ko-KR" altLang="en-US" sz="1400" dirty="0"/>
              <a:t>                    </a:t>
            </a:r>
            <a:r>
              <a:rPr lang="en-US" altLang="ko-KR" sz="1400" dirty="0"/>
              <a:t>break;</a:t>
            </a:r>
          </a:p>
          <a:p>
            <a:pPr marL="0" indent="0">
              <a:buNone/>
            </a:pPr>
            <a:r>
              <a:rPr lang="en-US" altLang="ko-KR" sz="1400" dirty="0"/>
              <a:t>                case 2: // </a:t>
            </a:r>
            <a:r>
              <a:rPr lang="ko-KR" altLang="en-US" sz="1400" dirty="0" err="1"/>
              <a:t>앞오른쪽</a:t>
            </a:r>
            <a:r>
              <a:rPr lang="ko-KR" altLang="en-US" sz="1400" dirty="0"/>
              <a:t> 타이어 문제 발생</a:t>
            </a:r>
          </a:p>
          <a:p>
            <a:pPr marL="0" indent="0">
              <a:buNone/>
            </a:pPr>
            <a:r>
              <a:rPr lang="ko-KR" altLang="en-US" sz="1400" dirty="0"/>
              <a:t>    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앞오른쪽</a:t>
            </a:r>
            <a:r>
              <a:rPr lang="ko-KR" altLang="en-US" sz="1400" dirty="0"/>
              <a:t> </a:t>
            </a:r>
            <a:r>
              <a:rPr lang="en-US" altLang="ko-KR" sz="1400" dirty="0" err="1"/>
              <a:t>KumhoTire</a:t>
            </a:r>
            <a:r>
              <a:rPr lang="ko-KR" altLang="en-US" sz="1400" dirty="0"/>
              <a:t>로 교체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            </a:t>
            </a:r>
            <a:r>
              <a:rPr lang="en-US" altLang="ko-KR" sz="1400" dirty="0" err="1"/>
              <a:t>car.frontRightTire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KumhoTire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앞오른쪽</a:t>
            </a:r>
            <a:r>
              <a:rPr lang="en-US" altLang="ko-KR" sz="1400" dirty="0"/>
              <a:t>", 13); // </a:t>
            </a:r>
            <a:r>
              <a:rPr lang="ko-KR" altLang="en-US" sz="1400" dirty="0"/>
              <a:t>새로운 </a:t>
            </a:r>
            <a:r>
              <a:rPr lang="en-US" altLang="ko-KR" sz="1400" dirty="0" err="1"/>
              <a:t>KumhoTire</a:t>
            </a:r>
            <a:r>
              <a:rPr lang="ko-KR" altLang="en-US" sz="1400" dirty="0"/>
              <a:t>로 교체</a:t>
            </a:r>
          </a:p>
          <a:p>
            <a:pPr marL="0" indent="0">
              <a:buNone/>
            </a:pPr>
            <a:r>
              <a:rPr lang="ko-KR" altLang="en-US" sz="1400" dirty="0"/>
              <a:t>                    </a:t>
            </a:r>
            <a:r>
              <a:rPr lang="en-US" altLang="ko-KR" sz="1400" dirty="0"/>
              <a:t>break;</a:t>
            </a:r>
          </a:p>
          <a:p>
            <a:pPr marL="0" indent="0">
              <a:buNone/>
            </a:pPr>
            <a:r>
              <a:rPr lang="en-US" altLang="ko-KR" sz="1400" dirty="0"/>
              <a:t>                case 3: // </a:t>
            </a:r>
            <a:r>
              <a:rPr lang="ko-KR" altLang="en-US" sz="1400" dirty="0" err="1"/>
              <a:t>뒤왼쪽</a:t>
            </a:r>
            <a:r>
              <a:rPr lang="ko-KR" altLang="en-US" sz="1400" dirty="0"/>
              <a:t> 타이어 문제 발생</a:t>
            </a:r>
          </a:p>
          <a:p>
            <a:pPr marL="0" indent="0">
              <a:buNone/>
            </a:pPr>
            <a:r>
              <a:rPr lang="ko-KR" altLang="en-US" sz="1400" dirty="0"/>
              <a:t>    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뒤왼쪽</a:t>
            </a:r>
            <a:r>
              <a:rPr lang="ko-KR" altLang="en-US" sz="1400" dirty="0"/>
              <a:t> </a:t>
            </a:r>
            <a:r>
              <a:rPr lang="en-US" altLang="ko-KR" sz="1400" dirty="0" err="1"/>
              <a:t>HankookTire</a:t>
            </a:r>
            <a:r>
              <a:rPr lang="ko-KR" altLang="en-US" sz="1400" dirty="0"/>
              <a:t>로 교체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            </a:t>
            </a:r>
            <a:r>
              <a:rPr lang="en-US" altLang="ko-KR" sz="1400" dirty="0" err="1"/>
              <a:t>car.backLeftTire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HankookTire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뒤왼쪽</a:t>
            </a:r>
            <a:r>
              <a:rPr lang="en-US" altLang="ko-KR" sz="1400" dirty="0"/>
              <a:t>", 14); // </a:t>
            </a:r>
            <a:r>
              <a:rPr lang="ko-KR" altLang="en-US" sz="1400" dirty="0"/>
              <a:t>새로운 </a:t>
            </a:r>
            <a:r>
              <a:rPr lang="en-US" altLang="ko-KR" sz="1400" dirty="0" err="1"/>
              <a:t>HankookTire</a:t>
            </a:r>
            <a:r>
              <a:rPr lang="ko-KR" altLang="en-US" sz="1400" dirty="0"/>
              <a:t>로 교체</a:t>
            </a:r>
          </a:p>
          <a:p>
            <a:pPr marL="0" indent="0">
              <a:buNone/>
            </a:pPr>
            <a:r>
              <a:rPr lang="ko-KR" altLang="en-US" sz="1400" dirty="0"/>
              <a:t>                    </a:t>
            </a:r>
            <a:r>
              <a:rPr lang="en-US" altLang="ko-KR" sz="1400" dirty="0"/>
              <a:t>break;</a:t>
            </a:r>
          </a:p>
          <a:p>
            <a:pPr marL="0" indent="0">
              <a:buNone/>
            </a:pPr>
            <a:r>
              <a:rPr lang="en-US" altLang="ko-KR" sz="1400" dirty="0"/>
              <a:t>                case 4: // </a:t>
            </a:r>
            <a:r>
              <a:rPr lang="ko-KR" altLang="en-US" sz="1400" dirty="0" err="1"/>
              <a:t>뒤오른쪽</a:t>
            </a:r>
            <a:r>
              <a:rPr lang="ko-KR" altLang="en-US" sz="1400" dirty="0"/>
              <a:t> 타이어 문제 발생</a:t>
            </a:r>
          </a:p>
          <a:p>
            <a:pPr marL="0" indent="0">
              <a:buNone/>
            </a:pPr>
            <a:r>
              <a:rPr lang="ko-KR" altLang="en-US" sz="1400" dirty="0"/>
              <a:t>    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뒤오른쪽</a:t>
            </a:r>
            <a:r>
              <a:rPr lang="ko-KR" altLang="en-US" sz="1400" dirty="0"/>
              <a:t> </a:t>
            </a:r>
            <a:r>
              <a:rPr lang="en-US" altLang="ko-KR" sz="1400" dirty="0" err="1"/>
              <a:t>KumhoTire</a:t>
            </a:r>
            <a:r>
              <a:rPr lang="ko-KR" altLang="en-US" sz="1400" dirty="0"/>
              <a:t>로 교체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            </a:t>
            </a:r>
            <a:r>
              <a:rPr lang="en-US" altLang="ko-KR" sz="1400" dirty="0" err="1"/>
              <a:t>car.backRightTire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KumhoTire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뒤오른쪽</a:t>
            </a:r>
            <a:r>
              <a:rPr lang="en-US" altLang="ko-KR" sz="1400" dirty="0"/>
              <a:t>", 17); // </a:t>
            </a:r>
            <a:r>
              <a:rPr lang="ko-KR" altLang="en-US" sz="1400" dirty="0"/>
              <a:t>새로운 </a:t>
            </a:r>
            <a:r>
              <a:rPr lang="en-US" altLang="ko-KR" sz="1400" dirty="0" err="1"/>
              <a:t>KumhoTire</a:t>
            </a:r>
            <a:r>
              <a:rPr lang="ko-KR" altLang="en-US" sz="1400" dirty="0"/>
              <a:t>로 교체</a:t>
            </a:r>
          </a:p>
          <a:p>
            <a:pPr marL="0" indent="0">
              <a:buNone/>
            </a:pPr>
            <a:r>
              <a:rPr lang="ko-KR" altLang="en-US" sz="1400" dirty="0"/>
              <a:t>                    </a:t>
            </a:r>
            <a:r>
              <a:rPr lang="en-US" altLang="ko-KR" sz="1400" dirty="0"/>
              <a:t>break;</a:t>
            </a:r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("----------------------------------------"); // </a:t>
            </a:r>
            <a:r>
              <a:rPr lang="ko-KR" altLang="en-US" sz="1400" dirty="0"/>
              <a:t>구분선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FADB95-A662-0F10-F7F5-CF9C339D3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665" y="595312"/>
            <a:ext cx="3028950" cy="566737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6A6E1C-83D9-5BD8-A084-4BC38AB5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046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D670A-4464-17E1-77E4-391A2D3A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36E6E8-6230-8D91-8BE4-EDBA97E6A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매개 변수의 </a:t>
            </a:r>
            <a:r>
              <a:rPr lang="ko-KR" altLang="en-US" sz="1400" b="1" dirty="0" err="1"/>
              <a:t>다형성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자동 타입 변환은 필드의 값을 대입할 때에도 발생하지만</a:t>
            </a:r>
            <a:r>
              <a:rPr lang="en-US" altLang="ko-KR" sz="1400" dirty="0"/>
              <a:t>, </a:t>
            </a:r>
            <a:r>
              <a:rPr lang="ko-KR" altLang="en-US" sz="1400" dirty="0"/>
              <a:t>주로 메소드를 호출할 때 발생한다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메소드를 호출할 때 매개 변수의 타입과 동일한 </a:t>
            </a:r>
            <a:r>
              <a:rPr lang="ko-KR" altLang="en-US" sz="1400" dirty="0" err="1"/>
              <a:t>매개값을</a:t>
            </a:r>
            <a:r>
              <a:rPr lang="ko-KR" altLang="en-US" sz="1400" dirty="0"/>
              <a:t> 지정하는 것이 정석이지만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매개값을</a:t>
            </a:r>
            <a:r>
              <a:rPr lang="ko-KR" altLang="en-US" sz="1400" dirty="0"/>
              <a:t> 다양화하기 위해 매개 변수의 자식 객체를 지정할 수도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class Driver{</a:t>
            </a:r>
          </a:p>
          <a:p>
            <a:pPr marL="0" indent="0">
              <a:buNone/>
            </a:pPr>
            <a:r>
              <a:rPr lang="en-US" altLang="ko-KR" sz="1400" dirty="0"/>
              <a:t>	void drive(Vehicle vehicle){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vehicle.run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Vehicle</a:t>
            </a:r>
            <a:r>
              <a:rPr lang="ko-KR" altLang="en-US" sz="1400" dirty="0"/>
              <a:t>클래스의 상속을 받는 </a:t>
            </a:r>
            <a:r>
              <a:rPr lang="en-US" altLang="ko-KR" sz="1400" dirty="0"/>
              <a:t>Bus </a:t>
            </a:r>
            <a:r>
              <a:rPr lang="ko-KR" altLang="en-US" sz="1400" dirty="0"/>
              <a:t>클래스가 있다</a:t>
            </a:r>
            <a:r>
              <a:rPr lang="en-US" altLang="ko-KR" sz="1400" dirty="0"/>
              <a:t>. drive()</a:t>
            </a:r>
            <a:r>
              <a:rPr lang="ko-KR" altLang="en-US" sz="1400" dirty="0" err="1"/>
              <a:t>호출시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Driver </a:t>
            </a:r>
            <a:r>
              <a:rPr lang="en-US" altLang="ko-KR" sz="1400" dirty="0" err="1"/>
              <a:t>driver</a:t>
            </a:r>
            <a:r>
              <a:rPr lang="en-US" altLang="ko-KR" sz="1400" dirty="0"/>
              <a:t> = new Driver();</a:t>
            </a:r>
          </a:p>
          <a:p>
            <a:pPr marL="0" indent="0">
              <a:buNone/>
            </a:pPr>
            <a:r>
              <a:rPr lang="en-US" altLang="ko-KR" sz="1400" dirty="0"/>
              <a:t>Bus </a:t>
            </a:r>
            <a:r>
              <a:rPr lang="en-US" altLang="ko-KR" sz="1400" dirty="0" err="1"/>
              <a:t>bus</a:t>
            </a:r>
            <a:r>
              <a:rPr lang="en-US" altLang="ko-KR" sz="1400" dirty="0"/>
              <a:t> = new bus();</a:t>
            </a:r>
          </a:p>
          <a:p>
            <a:pPr marL="0" indent="0">
              <a:buNone/>
            </a:pPr>
            <a:r>
              <a:rPr lang="en-US" altLang="ko-KR" sz="1400" dirty="0" err="1"/>
              <a:t>driver.drive</a:t>
            </a:r>
            <a:r>
              <a:rPr lang="en-US" altLang="ko-KR" sz="1400" dirty="0"/>
              <a:t>(bus); //Vehicle </a:t>
            </a:r>
            <a:r>
              <a:rPr lang="en-US" altLang="ko-KR" sz="1400" dirty="0" err="1"/>
              <a:t>vehicle</a:t>
            </a:r>
            <a:r>
              <a:rPr lang="en-US" altLang="ko-KR" sz="1400" dirty="0"/>
              <a:t> = bus;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drive()</a:t>
            </a:r>
            <a:r>
              <a:rPr lang="ko-KR" altLang="en-US" sz="1400" dirty="0"/>
              <a:t>메소드는 </a:t>
            </a:r>
            <a:r>
              <a:rPr lang="en-US" altLang="ko-KR" sz="1400" dirty="0"/>
              <a:t>Vehicle </a:t>
            </a:r>
            <a:r>
              <a:rPr lang="ko-KR" altLang="en-US" sz="1400" dirty="0"/>
              <a:t>타입을 매개 변수로 선언했지만</a:t>
            </a:r>
            <a:r>
              <a:rPr lang="en-US" altLang="ko-KR" sz="1400" dirty="0"/>
              <a:t>, Vehicle</a:t>
            </a:r>
            <a:r>
              <a:rPr lang="ko-KR" altLang="en-US" sz="1400" dirty="0"/>
              <a:t>로 상속받는 </a:t>
            </a:r>
            <a:r>
              <a:rPr lang="en-US" altLang="ko-KR" sz="1400" dirty="0"/>
              <a:t>Bus </a:t>
            </a:r>
            <a:r>
              <a:rPr lang="ko-KR" altLang="en-US" sz="1400" dirty="0"/>
              <a:t>객체가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사용되면 자동 타입 변환이 발생한다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즉</a:t>
            </a:r>
            <a:r>
              <a:rPr lang="en-US" altLang="ko-KR" sz="1400" dirty="0"/>
              <a:t> </a:t>
            </a:r>
            <a:r>
              <a:rPr lang="ko-KR" altLang="en-US" sz="1400" dirty="0"/>
              <a:t>매개 변수의 타입이 클래스일 경우</a:t>
            </a:r>
            <a:r>
              <a:rPr lang="en-US" altLang="ko-KR" sz="1400" dirty="0"/>
              <a:t>, </a:t>
            </a:r>
            <a:r>
              <a:rPr lang="ko-KR" altLang="en-US" sz="1400" dirty="0"/>
              <a:t>해당 클래스의 </a:t>
            </a:r>
            <a:r>
              <a:rPr lang="ko-KR" altLang="en-US" sz="1400" dirty="0" err="1"/>
              <a:t>객체뿐만</a:t>
            </a:r>
            <a:r>
              <a:rPr lang="ko-KR" altLang="en-US" sz="1400" dirty="0"/>
              <a:t> 아니라 자식 객체까지도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사용할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즉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어떤 자식 객체가 </a:t>
            </a:r>
            <a:r>
              <a:rPr lang="ko-KR" altLang="en-US" sz="1400" dirty="0" err="1"/>
              <a:t>제공되느냐에</a:t>
            </a:r>
            <a:r>
              <a:rPr lang="ko-KR" altLang="en-US" sz="1400" dirty="0"/>
              <a:t> 따라 메소드의 실행 결과는 다양해질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DAB2734-CA4B-B500-99B1-703404B9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655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78D8F-E433-A913-3B2C-7B06CC89F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2C7B3E-D572-C41E-09C3-2D109BEB6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Vehicle {</a:t>
            </a:r>
          </a:p>
          <a:p>
            <a:pPr marL="0" indent="0">
              <a:buNone/>
            </a:pPr>
            <a:r>
              <a:rPr lang="en-US" altLang="ko-KR" sz="1400" dirty="0"/>
              <a:t>    public void run() { // </a:t>
            </a:r>
            <a:r>
              <a:rPr lang="ko-KR" altLang="en-US" sz="1400" dirty="0"/>
              <a:t>차량이 달리는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차량이 달립니다</a:t>
            </a:r>
            <a:r>
              <a:rPr lang="en-US" altLang="ko-KR" sz="1400" dirty="0"/>
              <a:t>."); // "</a:t>
            </a:r>
            <a:r>
              <a:rPr lang="ko-KR" altLang="en-US" sz="1400" dirty="0"/>
              <a:t>차량이 달립니다</a:t>
            </a:r>
            <a:r>
              <a:rPr lang="en-US" altLang="ko-KR" sz="1400" dirty="0"/>
              <a:t>."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Driver {</a:t>
            </a:r>
          </a:p>
          <a:p>
            <a:pPr marL="0" indent="0">
              <a:buNone/>
            </a:pPr>
            <a:r>
              <a:rPr lang="en-US" altLang="ko-KR" sz="1400" dirty="0"/>
              <a:t>    public void drive(Vehicle vehicle) { // Vehicle </a:t>
            </a:r>
            <a:r>
              <a:rPr lang="ko-KR" altLang="en-US" sz="1400" dirty="0"/>
              <a:t>객체를 매개변수로 받아서 운전하는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vehicle.run</a:t>
            </a:r>
            <a:r>
              <a:rPr lang="en-US" altLang="ko-KR" sz="1400" dirty="0"/>
              <a:t>(); // </a:t>
            </a:r>
            <a:r>
              <a:rPr lang="ko-KR" altLang="en-US" sz="1400" dirty="0"/>
              <a:t>전달받은 </a:t>
            </a:r>
            <a:r>
              <a:rPr lang="en-US" altLang="ko-KR" sz="1400" dirty="0"/>
              <a:t>Vehicle </a:t>
            </a:r>
            <a:r>
              <a:rPr lang="ko-KR" altLang="en-US" sz="1400" dirty="0"/>
              <a:t>객체의 </a:t>
            </a:r>
            <a:r>
              <a:rPr lang="en-US" altLang="ko-KR" sz="1400" dirty="0"/>
              <a:t>run() </a:t>
            </a:r>
            <a:r>
              <a:rPr lang="ko-KR" altLang="en-US" sz="1400" dirty="0"/>
              <a:t>메소드 호출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Bus extends Vehicle {</a:t>
            </a:r>
          </a:p>
          <a:p>
            <a:pPr marL="0" indent="0">
              <a:buNone/>
            </a:pPr>
            <a:r>
              <a:rPr lang="en-US" altLang="ko-KR" sz="1400" dirty="0"/>
              <a:t>    @Override</a:t>
            </a:r>
          </a:p>
          <a:p>
            <a:pPr marL="0" indent="0">
              <a:buNone/>
            </a:pPr>
            <a:r>
              <a:rPr lang="en-US" altLang="ko-KR" sz="1400" dirty="0"/>
              <a:t>    public void run() { // Vehicle</a:t>
            </a:r>
            <a:r>
              <a:rPr lang="ko-KR" altLang="en-US" sz="1400" dirty="0"/>
              <a:t>의 </a:t>
            </a:r>
            <a:r>
              <a:rPr lang="en-US" altLang="ko-KR" sz="1400" dirty="0"/>
              <a:t>run() </a:t>
            </a:r>
            <a:r>
              <a:rPr lang="ko-KR" altLang="en-US" sz="1400" dirty="0"/>
              <a:t>메소드 재정의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버스가 달립니다</a:t>
            </a:r>
            <a:r>
              <a:rPr lang="en-US" altLang="ko-KR" sz="1400" dirty="0"/>
              <a:t>."); // "</a:t>
            </a:r>
            <a:r>
              <a:rPr lang="ko-KR" altLang="en-US" sz="1400" dirty="0"/>
              <a:t>버스가 달립니다</a:t>
            </a:r>
            <a:r>
              <a:rPr lang="en-US" altLang="ko-KR" sz="1400" dirty="0"/>
              <a:t>."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Taxi extends Vehicle {</a:t>
            </a:r>
          </a:p>
          <a:p>
            <a:pPr marL="0" indent="0">
              <a:buNone/>
            </a:pPr>
            <a:r>
              <a:rPr lang="en-US" altLang="ko-KR" sz="1400" dirty="0"/>
              <a:t>    @Override</a:t>
            </a:r>
          </a:p>
          <a:p>
            <a:pPr marL="0" indent="0">
              <a:buNone/>
            </a:pPr>
            <a:r>
              <a:rPr lang="en-US" altLang="ko-KR" sz="1400" dirty="0"/>
              <a:t>    public void run() { // Vehicle</a:t>
            </a:r>
            <a:r>
              <a:rPr lang="ko-KR" altLang="en-US" sz="1400" dirty="0"/>
              <a:t>의 </a:t>
            </a:r>
            <a:r>
              <a:rPr lang="en-US" altLang="ko-KR" sz="1400" dirty="0"/>
              <a:t>run() </a:t>
            </a:r>
            <a:r>
              <a:rPr lang="ko-KR" altLang="en-US" sz="1400" dirty="0"/>
              <a:t>메소드 재정의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택시가 달립니다</a:t>
            </a:r>
            <a:r>
              <a:rPr lang="en-US" altLang="ko-KR" sz="1400" dirty="0"/>
              <a:t>."); // "</a:t>
            </a:r>
            <a:r>
              <a:rPr lang="ko-KR" altLang="en-US" sz="1400" dirty="0"/>
              <a:t>택시가 달립니다</a:t>
            </a:r>
            <a:r>
              <a:rPr lang="en-US" altLang="ko-KR" sz="1400" dirty="0"/>
              <a:t>."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AB41885-6D7D-0EDB-03CB-076261A4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5005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F9241-4D37-2D0B-9EF8-875ACD21E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B806-851A-FFDA-FE0B-4120BF557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DriverExample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Driver </a:t>
            </a:r>
            <a:r>
              <a:rPr lang="en-US" altLang="ko-KR" sz="1400" dirty="0" err="1"/>
              <a:t>driver</a:t>
            </a:r>
            <a:r>
              <a:rPr lang="en-US" altLang="ko-KR" sz="1400" dirty="0"/>
              <a:t> = new Driver(); // Driver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Bus </a:t>
            </a:r>
            <a:r>
              <a:rPr lang="en-US" altLang="ko-KR" sz="1400" dirty="0" err="1"/>
              <a:t>bus</a:t>
            </a:r>
            <a:r>
              <a:rPr lang="en-US" altLang="ko-KR" sz="1400" dirty="0"/>
              <a:t> = new Bus(); // Bus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Taxi </a:t>
            </a:r>
            <a:r>
              <a:rPr lang="en-US" altLang="ko-KR" sz="1400" dirty="0" err="1"/>
              <a:t>taxi</a:t>
            </a:r>
            <a:r>
              <a:rPr lang="en-US" altLang="ko-KR" sz="1400" dirty="0"/>
              <a:t> = new Taxi(); // Taxi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driver.drive</a:t>
            </a:r>
            <a:r>
              <a:rPr lang="en-US" altLang="ko-KR" sz="1400" dirty="0"/>
              <a:t>(bus); // Driver</a:t>
            </a:r>
            <a:r>
              <a:rPr lang="ko-KR" altLang="en-US" sz="1400" dirty="0"/>
              <a:t>가 </a:t>
            </a:r>
            <a:r>
              <a:rPr lang="en-US" altLang="ko-KR" sz="1400" dirty="0"/>
              <a:t>Bus</a:t>
            </a:r>
            <a:r>
              <a:rPr lang="ko-KR" altLang="en-US" sz="1400" dirty="0"/>
              <a:t>를 운전 </a:t>
            </a:r>
            <a:r>
              <a:rPr lang="en-US" altLang="ko-KR" sz="1400" dirty="0"/>
              <a:t>, Vehicle </a:t>
            </a:r>
            <a:r>
              <a:rPr lang="en-US" altLang="ko-KR" sz="1400" dirty="0" err="1"/>
              <a:t>vehicle</a:t>
            </a:r>
            <a:r>
              <a:rPr lang="en-US" altLang="ko-KR" sz="1400" dirty="0"/>
              <a:t> = bus;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driver.drive</a:t>
            </a:r>
            <a:r>
              <a:rPr lang="en-US" altLang="ko-KR" sz="1400" dirty="0"/>
              <a:t>(taxi); // Driver</a:t>
            </a:r>
            <a:r>
              <a:rPr lang="ko-KR" altLang="en-US" sz="1400" dirty="0"/>
              <a:t>가 </a:t>
            </a:r>
            <a:r>
              <a:rPr lang="en-US" altLang="ko-KR" sz="1400" dirty="0"/>
              <a:t>Taxi</a:t>
            </a:r>
            <a:r>
              <a:rPr lang="ko-KR" altLang="en-US" sz="1400" dirty="0"/>
              <a:t>를 운전</a:t>
            </a:r>
            <a:r>
              <a:rPr lang="en-US" altLang="ko-KR" sz="1400" dirty="0"/>
              <a:t>, Vehicle </a:t>
            </a:r>
            <a:r>
              <a:rPr lang="en-US" altLang="ko-KR" sz="1400" dirty="0" err="1"/>
              <a:t>vehicle</a:t>
            </a:r>
            <a:r>
              <a:rPr lang="en-US" altLang="ko-KR" sz="1400" dirty="0"/>
              <a:t> = taxi;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64BC29-AD7C-1945-5C39-8C215E22A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412" y="1576387"/>
            <a:ext cx="2011737" cy="795338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A89A6F9-2966-D407-363C-CDE04298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1082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2BA3C-43ED-9363-628F-2181DF05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03DD8E-3C17-FF02-BD23-8F4F515EE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강제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타입 변환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강제 타입 변환은 부모 타입을 자식타입으로 변환하는 것을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자식 타입이 무보 타입으로 자동 타입 변화한 후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r>
              <a:rPr lang="ko-KR" altLang="en-US" sz="1400" dirty="0"/>
              <a:t>다시 자식 타입으로 변환할 때 강제 타입 변환을 사용할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자식</a:t>
            </a:r>
            <a:r>
              <a:rPr lang="en-US" altLang="ko-KR" sz="1400" dirty="0"/>
              <a:t> </a:t>
            </a:r>
            <a:r>
              <a:rPr lang="ko-KR" altLang="en-US" sz="1400" dirty="0"/>
              <a:t>타입이 부모 타입으로 자동 타입 변환하면</a:t>
            </a:r>
            <a:r>
              <a:rPr lang="en-US" altLang="ko-KR" sz="1400" dirty="0"/>
              <a:t>, </a:t>
            </a:r>
            <a:r>
              <a:rPr lang="ko-KR" altLang="en-US" sz="1400" dirty="0"/>
              <a:t>부모에 선언된 필드와 </a:t>
            </a:r>
            <a:r>
              <a:rPr lang="ko-KR" altLang="en-US" sz="1400" dirty="0" err="1"/>
              <a:t>메소드만을</a:t>
            </a:r>
            <a:r>
              <a:rPr lang="ko-KR" altLang="en-US" sz="1400" dirty="0"/>
              <a:t> 사용 가능하다는 제약이 따랐다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만약 자식에 선언된 필드와 메소드를 사용하고 싶다면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강제 타입 변환을 해서 다시 자식 타입으로 변환한 다음 자식 필드의 필드와 메소드를 사용할 수 있다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7D3C1D-1EA7-D4C7-0E38-BFA8FC369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603" y="4263522"/>
            <a:ext cx="4676794" cy="117761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2923284-5C18-7EFA-6714-E857F75A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177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ADC25-7FD0-A981-26AA-7B5732E06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66511B-A103-1C45-3614-42B3B20D9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Parent {</a:t>
            </a:r>
          </a:p>
          <a:p>
            <a:pPr marL="0" indent="0">
              <a:buNone/>
            </a:pPr>
            <a:r>
              <a:rPr lang="en-US" altLang="ko-KR" sz="1400" dirty="0"/>
              <a:t>    public String field1; // </a:t>
            </a:r>
            <a:r>
              <a:rPr lang="ko-KR" altLang="en-US" sz="1400" dirty="0"/>
              <a:t>부모 클래스의 필드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void method1() { // </a:t>
            </a:r>
            <a:r>
              <a:rPr lang="ko-KR" altLang="en-US" sz="1400" dirty="0"/>
              <a:t>부모 클래스의 메소드</a:t>
            </a:r>
            <a:r>
              <a:rPr lang="en-US" altLang="ko-KR" sz="1400" dirty="0"/>
              <a:t>1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("Parent-method1()"); // "Parent-method1()"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public void method2() { // </a:t>
            </a:r>
            <a:r>
              <a:rPr lang="ko-KR" altLang="en-US" sz="1400" dirty="0"/>
              <a:t>부모 클래스의 메소드</a:t>
            </a:r>
            <a:r>
              <a:rPr lang="en-US" altLang="ko-KR" sz="1400" dirty="0"/>
              <a:t>2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("Parent-method2()"); // "Parent-method2()"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Child extends Parent {</a:t>
            </a:r>
          </a:p>
          <a:p>
            <a:pPr marL="0" indent="0">
              <a:buNone/>
            </a:pPr>
            <a:r>
              <a:rPr lang="en-US" altLang="ko-KR" sz="1400" dirty="0"/>
              <a:t>    public String field2; // </a:t>
            </a:r>
            <a:r>
              <a:rPr lang="ko-KR" altLang="en-US" sz="1400" dirty="0"/>
              <a:t>자식 클래스의 추가 필드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void method3() { // </a:t>
            </a:r>
            <a:r>
              <a:rPr lang="ko-KR" altLang="en-US" sz="1400" dirty="0"/>
              <a:t>자식 클래스의 추가 메소드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("Child-method3()"); // "Child-method3()"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36A71DC-6B10-9EE8-7D09-09BCE8480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485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CEFEE-A154-32B8-02D3-7E1A50167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F04887-6AAC-6A85-FC19-21854C975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ChildExample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Parent </a:t>
            </a:r>
            <a:r>
              <a:rPr lang="en-US" altLang="ko-KR" sz="1400" dirty="0" err="1"/>
              <a:t>parent</a:t>
            </a:r>
            <a:r>
              <a:rPr lang="en-US" altLang="ko-KR" sz="1400" dirty="0"/>
              <a:t> = new Child(); // Parent </a:t>
            </a:r>
            <a:r>
              <a:rPr lang="ko-KR" altLang="en-US" sz="1400" dirty="0"/>
              <a:t>타입으로 </a:t>
            </a:r>
            <a:r>
              <a:rPr lang="en-US" altLang="ko-KR" sz="1400" dirty="0"/>
              <a:t>Child </a:t>
            </a:r>
            <a:r>
              <a:rPr lang="ko-KR" altLang="en-US" sz="1400" dirty="0"/>
              <a:t>객체를 참조 </a:t>
            </a:r>
            <a:r>
              <a:rPr lang="en-US" altLang="ko-KR" sz="1400" dirty="0"/>
              <a:t>(</a:t>
            </a:r>
            <a:r>
              <a:rPr lang="ko-KR" altLang="en-US" sz="1400" dirty="0"/>
              <a:t>자동 타입 변환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parent.field1 = "data1"; // Parent </a:t>
            </a:r>
            <a:r>
              <a:rPr lang="ko-KR" altLang="en-US" sz="1400" dirty="0"/>
              <a:t>클래스의 필드 사용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parent.method1(); // Parent </a:t>
            </a:r>
            <a:r>
              <a:rPr lang="ko-KR" altLang="en-US" sz="1400" dirty="0"/>
              <a:t>클래스의 메소드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parent.method2(); // Parent </a:t>
            </a:r>
            <a:r>
              <a:rPr lang="ko-KR" altLang="en-US" sz="1400" dirty="0"/>
              <a:t>클래스의 메소드 호출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parent.field2 = "data2"; // </a:t>
            </a:r>
            <a:r>
              <a:rPr lang="ko-KR" altLang="en-US" sz="1400" dirty="0"/>
              <a:t>불가능</a:t>
            </a:r>
            <a:r>
              <a:rPr lang="en-US" altLang="ko-KR" sz="1400" dirty="0"/>
              <a:t>: Parent </a:t>
            </a:r>
            <a:r>
              <a:rPr lang="ko-KR" altLang="en-US" sz="1400" dirty="0"/>
              <a:t>타입에는 </a:t>
            </a:r>
            <a:r>
              <a:rPr lang="en-US" altLang="ko-KR" sz="1400" dirty="0"/>
              <a:t>field2</a:t>
            </a:r>
            <a:r>
              <a:rPr lang="ko-KR" altLang="en-US" sz="1400" dirty="0"/>
              <a:t>가 정의되어 있지 않음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parent.method3(); // </a:t>
            </a:r>
            <a:r>
              <a:rPr lang="ko-KR" altLang="en-US" sz="1400" dirty="0"/>
              <a:t>불가능</a:t>
            </a:r>
            <a:r>
              <a:rPr lang="en-US" altLang="ko-KR" sz="1400" dirty="0"/>
              <a:t>: Parent </a:t>
            </a:r>
            <a:r>
              <a:rPr lang="ko-KR" altLang="en-US" sz="1400" dirty="0"/>
              <a:t>타입에는 </a:t>
            </a:r>
            <a:r>
              <a:rPr lang="en-US" altLang="ko-KR" sz="1400" dirty="0"/>
              <a:t>method3()</a:t>
            </a:r>
            <a:r>
              <a:rPr lang="ko-KR" altLang="en-US" sz="1400" dirty="0"/>
              <a:t>가 정의되어 있지 않음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Child </a:t>
            </a:r>
            <a:r>
              <a:rPr lang="en-US" altLang="ko-KR" sz="1400" dirty="0" err="1"/>
              <a:t>child</a:t>
            </a:r>
            <a:r>
              <a:rPr lang="en-US" altLang="ko-KR" sz="1400" dirty="0"/>
              <a:t> = (Child) parent; // Parent </a:t>
            </a:r>
            <a:r>
              <a:rPr lang="ko-KR" altLang="en-US" sz="1400" dirty="0"/>
              <a:t>타입을 </a:t>
            </a:r>
            <a:r>
              <a:rPr lang="en-US" altLang="ko-KR" sz="1400" dirty="0"/>
              <a:t>Child </a:t>
            </a:r>
            <a:r>
              <a:rPr lang="ko-KR" altLang="en-US" sz="1400" dirty="0"/>
              <a:t>타입으로 변환 </a:t>
            </a:r>
            <a:r>
              <a:rPr lang="en-US" altLang="ko-KR" sz="1400" dirty="0"/>
              <a:t>(</a:t>
            </a:r>
            <a:r>
              <a:rPr lang="ko-KR" altLang="en-US" sz="1400" dirty="0"/>
              <a:t>강제 타입 변환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child.field2 = "</a:t>
            </a:r>
            <a:r>
              <a:rPr lang="en-US" altLang="ko-KR" sz="1400" dirty="0" err="1"/>
              <a:t>yyy</a:t>
            </a:r>
            <a:r>
              <a:rPr lang="en-US" altLang="ko-KR" sz="1400" dirty="0"/>
              <a:t>"; // </a:t>
            </a:r>
            <a:r>
              <a:rPr lang="ko-KR" altLang="en-US" sz="1400" dirty="0"/>
              <a:t>가능</a:t>
            </a:r>
            <a:r>
              <a:rPr lang="en-US" altLang="ko-KR" sz="1400" dirty="0"/>
              <a:t>: Child </a:t>
            </a:r>
            <a:r>
              <a:rPr lang="ko-KR" altLang="en-US" sz="1400" dirty="0"/>
              <a:t>타입에서만 사용할 수 있는 필드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child.method3(); // </a:t>
            </a:r>
            <a:r>
              <a:rPr lang="ko-KR" altLang="en-US" sz="1400" dirty="0"/>
              <a:t>가능</a:t>
            </a:r>
            <a:r>
              <a:rPr lang="en-US" altLang="ko-KR" sz="1400" dirty="0"/>
              <a:t>: Child </a:t>
            </a:r>
            <a:r>
              <a:rPr lang="ko-KR" altLang="en-US" sz="1400" dirty="0"/>
              <a:t>타입에서만 사용할 수 있는 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FF2ACC5-0801-D26E-8C4E-6FE19F608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942" y="2946690"/>
            <a:ext cx="1859338" cy="964619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7E9537-054D-C59C-DBA3-B3F4EF9F6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616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13637-3524-147A-B52E-26255612A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600DA9-63BF-2F9E-A357-AC73D8F34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객체 타입 확인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부모 변수가 참조하는 객체가 부모 객체인지 자식 객체인지 확인하는 방법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즉 객체가 어떤 클래스의 인스턴스인지 </a:t>
            </a:r>
            <a:r>
              <a:rPr lang="ko-KR" altLang="en-US" sz="1400" dirty="0" err="1"/>
              <a:t>확이하기</a:t>
            </a:r>
            <a:r>
              <a:rPr lang="ko-KR" altLang="en-US" sz="1400" dirty="0"/>
              <a:t> 위해 </a:t>
            </a:r>
            <a:r>
              <a:rPr lang="en-US" altLang="ko-KR" sz="1400" dirty="0"/>
              <a:t>instance of </a:t>
            </a:r>
            <a:r>
              <a:rPr lang="ko-KR" altLang="en-US" sz="1400" dirty="0"/>
              <a:t>연산자를 사용한다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연산자의 좌항에는 객체가 오고 </a:t>
            </a:r>
            <a:r>
              <a:rPr lang="ko-KR" altLang="en-US" sz="1400" dirty="0" err="1"/>
              <a:t>우항에는</a:t>
            </a:r>
            <a:r>
              <a:rPr lang="ko-KR" altLang="en-US" sz="1400" dirty="0"/>
              <a:t> 타입이 오는데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좌항의</a:t>
            </a:r>
            <a:r>
              <a:rPr lang="ko-KR" altLang="en-US" sz="1400" dirty="0"/>
              <a:t> 객체가 </a:t>
            </a:r>
            <a:r>
              <a:rPr lang="ko-KR" altLang="en-US" sz="1400" dirty="0" err="1"/>
              <a:t>우항의</a:t>
            </a:r>
            <a:r>
              <a:rPr lang="ko-KR" altLang="en-US" sz="1400" dirty="0"/>
              <a:t> 인스턴스라면 </a:t>
            </a:r>
            <a:r>
              <a:rPr lang="en-US" altLang="ko-KR" sz="1400" dirty="0"/>
              <a:t>true</a:t>
            </a:r>
            <a:r>
              <a:rPr lang="ko-KR" altLang="en-US" sz="1400" dirty="0"/>
              <a:t>를 리턴하고</a:t>
            </a:r>
            <a:r>
              <a:rPr lang="en-US" altLang="ko-KR" sz="1400" dirty="0"/>
              <a:t>, </a:t>
            </a:r>
            <a:r>
              <a:rPr lang="ko-KR" altLang="en-US" sz="1400" dirty="0"/>
              <a:t>그렇지 않으면 </a:t>
            </a:r>
            <a:r>
              <a:rPr lang="en-US" altLang="ko-KR" sz="1400" dirty="0"/>
              <a:t>false</a:t>
            </a:r>
            <a:r>
              <a:rPr lang="ko-KR" altLang="en-US" sz="1400" dirty="0"/>
              <a:t>를 </a:t>
            </a:r>
            <a:r>
              <a:rPr lang="ko-KR" altLang="en-US" sz="1400" dirty="0" err="1"/>
              <a:t>리턴한다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Parent {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Child extends Parent {</a:t>
            </a:r>
          </a:p>
          <a:p>
            <a:pPr marL="0" indent="0">
              <a:buNone/>
            </a:pPr>
            <a:r>
              <a:rPr lang="en-US" altLang="ko-KR" sz="1400" dirty="0"/>
              <a:t>    // Child </a:t>
            </a:r>
            <a:r>
              <a:rPr lang="ko-KR" altLang="en-US" sz="1400" dirty="0"/>
              <a:t>클래스는 </a:t>
            </a:r>
            <a:r>
              <a:rPr lang="en-US" altLang="ko-KR" sz="1400" dirty="0"/>
              <a:t>Parent </a:t>
            </a:r>
            <a:r>
              <a:rPr lang="ko-KR" altLang="en-US" sz="1400" dirty="0"/>
              <a:t>클래스를 상속받음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A158F9D-B6A3-9D3E-0FCA-671B532A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2285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1778-12DB-7D66-FAF2-374E1CED3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5C4881-E1B8-67D0-3081-5E8B42BFD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InstanceofExample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method1(Parent parent) {</a:t>
            </a:r>
          </a:p>
          <a:p>
            <a:pPr marL="0" indent="0">
              <a:buNone/>
            </a:pPr>
            <a:r>
              <a:rPr lang="en-US" altLang="ko-KR" sz="1400" dirty="0"/>
              <a:t>        // parent </a:t>
            </a:r>
            <a:r>
              <a:rPr lang="ko-KR" altLang="en-US" sz="1400" dirty="0"/>
              <a:t>객체가 </a:t>
            </a:r>
            <a:r>
              <a:rPr lang="en-US" altLang="ko-KR" sz="1400" dirty="0"/>
              <a:t>Child </a:t>
            </a:r>
            <a:r>
              <a:rPr lang="ko-KR" altLang="en-US" sz="1400" dirty="0"/>
              <a:t>타입인지 확인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(parent </a:t>
            </a:r>
            <a:r>
              <a:rPr lang="en-US" altLang="ko-KR" sz="1400" dirty="0" err="1"/>
              <a:t>instanceof</a:t>
            </a:r>
            <a:r>
              <a:rPr lang="en-US" altLang="ko-KR" sz="1400" dirty="0"/>
              <a:t> Child) { </a:t>
            </a:r>
          </a:p>
          <a:p>
            <a:pPr marL="0" indent="0">
              <a:buNone/>
            </a:pPr>
            <a:r>
              <a:rPr lang="en-US" altLang="ko-KR" sz="1400" dirty="0"/>
              <a:t>            Child </a:t>
            </a:r>
            <a:r>
              <a:rPr lang="en-US" altLang="ko-KR" sz="1400" dirty="0" err="1"/>
              <a:t>child</a:t>
            </a:r>
            <a:r>
              <a:rPr lang="en-US" altLang="ko-KR" sz="1400" dirty="0"/>
              <a:t> = (Child) parent; // Child</a:t>
            </a:r>
            <a:r>
              <a:rPr lang="ko-KR" altLang="en-US" sz="1400" dirty="0"/>
              <a:t>로 안전하게 변환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("method1 - Child</a:t>
            </a:r>
            <a:r>
              <a:rPr lang="ko-KR" altLang="en-US" sz="1400" dirty="0"/>
              <a:t>로 변환 성공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} else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("method1 - Child</a:t>
            </a:r>
            <a:r>
              <a:rPr lang="ko-KR" altLang="en-US" sz="1400" dirty="0"/>
              <a:t>로 변환되지 않음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public static void method2(Parent parent) {</a:t>
            </a:r>
          </a:p>
          <a:p>
            <a:pPr marL="0" indent="0">
              <a:buNone/>
            </a:pPr>
            <a:r>
              <a:rPr lang="en-US" altLang="ko-KR" sz="1400" dirty="0"/>
              <a:t>        // parent </a:t>
            </a:r>
            <a:r>
              <a:rPr lang="ko-KR" altLang="en-US" sz="1400" dirty="0"/>
              <a:t>객체를 무조건 </a:t>
            </a:r>
            <a:r>
              <a:rPr lang="en-US" altLang="ko-KR" sz="1400" dirty="0"/>
              <a:t>Child</a:t>
            </a:r>
            <a:r>
              <a:rPr lang="ko-KR" altLang="en-US" sz="1400" dirty="0"/>
              <a:t>로 변환 </a:t>
            </a:r>
            <a:r>
              <a:rPr lang="en-US" altLang="ko-KR" sz="1400" dirty="0"/>
              <a:t>(</a:t>
            </a:r>
            <a:r>
              <a:rPr lang="ko-KR" altLang="en-US" sz="1400" dirty="0"/>
              <a:t>타입 확인 없이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Child </a:t>
            </a:r>
            <a:r>
              <a:rPr lang="en-US" altLang="ko-KR" sz="1400" dirty="0" err="1"/>
              <a:t>child</a:t>
            </a:r>
            <a:r>
              <a:rPr lang="en-US" altLang="ko-KR" sz="1400" dirty="0"/>
              <a:t> = (Child) parent;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("method2 - Child</a:t>
            </a:r>
            <a:r>
              <a:rPr lang="ko-KR" altLang="en-US" sz="1400" dirty="0"/>
              <a:t>로 변환 성공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Parent </a:t>
            </a:r>
            <a:r>
              <a:rPr lang="en-US" altLang="ko-KR" sz="1400" dirty="0" err="1"/>
              <a:t>parentA</a:t>
            </a:r>
            <a:r>
              <a:rPr lang="en-US" altLang="ko-KR" sz="1400" dirty="0"/>
              <a:t> = new Child(); // Child </a:t>
            </a:r>
            <a:r>
              <a:rPr lang="ko-KR" altLang="en-US" sz="1400" dirty="0"/>
              <a:t>객체를 </a:t>
            </a:r>
            <a:r>
              <a:rPr lang="en-US" altLang="ko-KR" sz="1400" dirty="0"/>
              <a:t>Parent </a:t>
            </a:r>
            <a:r>
              <a:rPr lang="ko-KR" altLang="en-US" sz="1400" dirty="0"/>
              <a:t>타입으로 참조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method1(</a:t>
            </a:r>
            <a:r>
              <a:rPr lang="en-US" altLang="ko-KR" sz="1400" dirty="0" err="1"/>
              <a:t>parentA</a:t>
            </a:r>
            <a:r>
              <a:rPr lang="en-US" altLang="ko-KR" sz="1400" dirty="0"/>
              <a:t>); // </a:t>
            </a:r>
            <a:r>
              <a:rPr lang="ko-KR" altLang="en-US" sz="1400" dirty="0"/>
              <a:t>안전하게 </a:t>
            </a:r>
            <a:r>
              <a:rPr lang="en-US" altLang="ko-KR" sz="1400" dirty="0"/>
              <a:t>Child</a:t>
            </a:r>
            <a:r>
              <a:rPr lang="ko-KR" altLang="en-US" sz="1400" dirty="0"/>
              <a:t>로 변환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method2(</a:t>
            </a:r>
            <a:r>
              <a:rPr lang="en-US" altLang="ko-KR" sz="1400" dirty="0" err="1"/>
              <a:t>parentA</a:t>
            </a:r>
            <a:r>
              <a:rPr lang="en-US" altLang="ko-KR" sz="1400" dirty="0"/>
              <a:t>); // </a:t>
            </a:r>
            <a:r>
              <a:rPr lang="ko-KR" altLang="en-US" sz="1400" dirty="0"/>
              <a:t>타입 확인 없이 변환 성공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Parent </a:t>
            </a:r>
            <a:r>
              <a:rPr lang="en-US" altLang="ko-KR" sz="1400" dirty="0" err="1"/>
              <a:t>parentB</a:t>
            </a:r>
            <a:r>
              <a:rPr lang="en-US" altLang="ko-KR" sz="1400" dirty="0"/>
              <a:t> = new Parent(); // Parent </a:t>
            </a:r>
            <a:r>
              <a:rPr lang="ko-KR" altLang="en-US" sz="1400" dirty="0"/>
              <a:t>객체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method1(</a:t>
            </a:r>
            <a:r>
              <a:rPr lang="en-US" altLang="ko-KR" sz="1400" dirty="0" err="1"/>
              <a:t>parentB</a:t>
            </a:r>
            <a:r>
              <a:rPr lang="en-US" altLang="ko-KR" sz="1400" dirty="0"/>
              <a:t>); // </a:t>
            </a:r>
            <a:r>
              <a:rPr lang="ko-KR" altLang="en-US" sz="1400" dirty="0"/>
              <a:t>변환 실패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method2(</a:t>
            </a:r>
            <a:r>
              <a:rPr lang="en-US" altLang="ko-KR" sz="1400" dirty="0" err="1"/>
              <a:t>parentB</a:t>
            </a:r>
            <a:r>
              <a:rPr lang="en-US" altLang="ko-KR" sz="1400" dirty="0"/>
              <a:t>); // </a:t>
            </a:r>
            <a:r>
              <a:rPr lang="ko-KR" altLang="en-US" sz="1400" dirty="0"/>
              <a:t>예외 발생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A1316E-F94E-62E2-12B7-2C2CCF957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941" y="2100403"/>
            <a:ext cx="7986059" cy="2419539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C45B121-E815-B40D-4701-92AB55616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3189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119CD-A1A0-D9C6-EB9C-00D938B3E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51AB0E-9B85-DE67-01B0-D4EF86C7A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추상 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객체를 직접 생성할 수 있는 클래스를 실체 클래스라고 한다면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 클래스들의 공통적인 특성을 추출해서 선언한 클래스를 추상 클래스라고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추상 클래스는 실체 클래스와 상속 관계를 지닌다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예를 들어 동물들의 공통적인 특성을 추출한 </a:t>
            </a:r>
            <a:r>
              <a:rPr lang="en-US" altLang="ko-KR" sz="1400" dirty="0" err="1"/>
              <a:t>Animal.class</a:t>
            </a:r>
            <a:r>
              <a:rPr lang="en-US" altLang="ko-KR" sz="1400" dirty="0"/>
              <a:t> </a:t>
            </a:r>
            <a:r>
              <a:rPr lang="ko-KR" altLang="en-US" sz="1400" dirty="0"/>
              <a:t>추상 클래스로부터 상속받는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Brid.class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Insect.class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Fish.class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클래스를 만들 수 있다</a:t>
            </a:r>
            <a:r>
              <a:rPr lang="en-US" altLang="ko-KR" sz="1400" dirty="0"/>
              <a:t>.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588747-3315-26E0-FB19-2DEF26131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892" y="3806322"/>
            <a:ext cx="7748272" cy="2150858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FF7C32-C02C-B019-519D-9C273D1A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6338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6D2CF-A649-BA93-3C67-45D9F5045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6F4F27-63E2-8AF0-BD37-35D203082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추상 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추상 클래스의 용도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공통된 필드와 메소드의 이름을 통일할 목적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예를들어</a:t>
            </a:r>
            <a:r>
              <a:rPr lang="ko-KR" altLang="en-US" sz="1400" dirty="0"/>
              <a:t> 소유자의 이름을 저장하는 필드를 </a:t>
            </a:r>
            <a:r>
              <a:rPr lang="en-US" altLang="ko-KR" sz="1400" dirty="0"/>
              <a:t>Telephone </a:t>
            </a:r>
            <a:r>
              <a:rPr lang="ko-KR" altLang="en-US" sz="1400" dirty="0"/>
              <a:t>클래스에서는 </a:t>
            </a:r>
            <a:r>
              <a:rPr lang="en-US" altLang="ko-KR" sz="1400" dirty="0"/>
              <a:t>owner</a:t>
            </a:r>
            <a:r>
              <a:rPr lang="ko-KR" altLang="en-US" sz="1400" dirty="0"/>
              <a:t>이라고 하고</a:t>
            </a:r>
            <a:r>
              <a:rPr lang="en-US" altLang="ko-KR" sz="1400" dirty="0"/>
              <a:t>, </a:t>
            </a:r>
            <a:r>
              <a:rPr lang="ko-KR" altLang="en-US" sz="1400" dirty="0"/>
              <a:t>전원을 켜는 메소드를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(),</a:t>
            </a:r>
          </a:p>
          <a:p>
            <a:pPr marL="0" indent="0">
              <a:buNone/>
            </a:pPr>
            <a:r>
              <a:rPr lang="en-US" altLang="ko-KR" sz="1400" dirty="0" err="1"/>
              <a:t>SmartPhonoe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클래스에서는 </a:t>
            </a:r>
            <a:r>
              <a:rPr lang="en-US" altLang="ko-KR" sz="1400" dirty="0"/>
              <a:t>user,</a:t>
            </a:r>
            <a:r>
              <a:rPr lang="ko-KR" altLang="en-US" sz="1400" dirty="0"/>
              <a:t> </a:t>
            </a:r>
            <a:r>
              <a:rPr lang="en-US" altLang="ko-KR" sz="1400" dirty="0" err="1"/>
              <a:t>powerOn</a:t>
            </a:r>
            <a:r>
              <a:rPr lang="en-US" altLang="ko-KR" sz="1400" dirty="0"/>
              <a:t>()</a:t>
            </a:r>
            <a:r>
              <a:rPr lang="ko-KR" altLang="en-US" sz="1400" dirty="0"/>
              <a:t>이라고 설계할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이렇게 데이터와 기능이 모두 동일함에도 이름이 </a:t>
            </a:r>
            <a:r>
              <a:rPr lang="ko-KR" altLang="en-US" sz="1400" dirty="0" err="1"/>
              <a:t>다르다보니</a:t>
            </a:r>
            <a:r>
              <a:rPr lang="ko-KR" altLang="en-US" sz="1400" dirty="0"/>
              <a:t> 객체마다 사용법이 달라진다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 err="1"/>
              <a:t>이럴때</a:t>
            </a:r>
            <a:r>
              <a:rPr lang="ko-KR" altLang="en-US" sz="1400" dirty="0"/>
              <a:t> 추상 클래스를 상속받아 필드와 메소드의 이름을 통일할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실체 클래스를 작성할 때 시간 절약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공통적인 필드와 메소드는 추상 클래스에서 선언해두고</a:t>
            </a:r>
            <a:r>
              <a:rPr lang="en-US" altLang="ko-KR" sz="1400" dirty="0"/>
              <a:t>, </a:t>
            </a:r>
          </a:p>
          <a:p>
            <a:pPr marL="0" indent="0">
              <a:buNone/>
            </a:pPr>
            <a:r>
              <a:rPr lang="ko-KR" altLang="en-US" sz="1400" dirty="0"/>
              <a:t>다른 점만 실체 클래스에서 선언하면 실체 클래스를 작성하는 데 시간을 절약한다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6DF7D8A-3EA1-9A17-CCED-C9F7F856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4965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F2AA-C87E-51DF-1C50-35236666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3EBD91-B3EE-1605-049D-73E7FBD7B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추상 클래스 선언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추상 클래스를 선언할 때에는 클래스 선언에 </a:t>
            </a:r>
            <a:r>
              <a:rPr lang="en-US" altLang="ko-KR" sz="1400" dirty="0"/>
              <a:t>abstract</a:t>
            </a:r>
            <a:r>
              <a:rPr lang="ko-KR" altLang="en-US" sz="1400" dirty="0"/>
              <a:t>를 붙이면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abstract </a:t>
            </a:r>
            <a:r>
              <a:rPr lang="ko-KR" altLang="en-US" sz="1400" dirty="0"/>
              <a:t>키워드를 붙이면 </a:t>
            </a:r>
            <a:r>
              <a:rPr lang="en-US" altLang="ko-KR" sz="1400" dirty="0"/>
              <a:t>new </a:t>
            </a:r>
            <a:r>
              <a:rPr lang="ko-KR" altLang="en-US" sz="1400" dirty="0"/>
              <a:t>연산자를 이용해서 객체를 만들지 못하고</a:t>
            </a:r>
            <a:r>
              <a:rPr lang="en-US" altLang="ko-KR" sz="1400" dirty="0"/>
              <a:t>, </a:t>
            </a:r>
            <a:r>
              <a:rPr lang="ko-KR" altLang="en-US" sz="1400" dirty="0"/>
              <a:t>상속을 통해서만 자식 클래스를 만들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abstract class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	...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추상 클래스도 일반 클래스와 마찬가지고 필드</a:t>
            </a:r>
            <a:r>
              <a:rPr lang="en-US" altLang="ko-KR" sz="1400" dirty="0"/>
              <a:t>, </a:t>
            </a:r>
            <a:r>
              <a:rPr lang="ko-KR" altLang="en-US" sz="1400" dirty="0"/>
              <a:t>생성자</a:t>
            </a:r>
            <a:r>
              <a:rPr lang="en-US" altLang="ko-KR" sz="1400" dirty="0"/>
              <a:t>, </a:t>
            </a:r>
            <a:r>
              <a:rPr lang="ko-KR" altLang="en-US" sz="1400" dirty="0"/>
              <a:t>메소드를 선언할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new</a:t>
            </a:r>
            <a:r>
              <a:rPr lang="ko-KR" altLang="en-US" sz="1400" dirty="0"/>
              <a:t>연산자로 직접 생성자를 호출할 수 는 없지만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자식 객체가 생성될 때 </a:t>
            </a:r>
            <a:r>
              <a:rPr lang="en-US" altLang="ko-KR" sz="1400" dirty="0"/>
              <a:t>super()</a:t>
            </a:r>
            <a:r>
              <a:rPr lang="ko-KR" altLang="en-US" sz="1400" dirty="0"/>
              <a:t>를 호출해서 추상 클래스 객체를 생성하므로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추상 클래스도 생성자가 반드시 필요하다</a:t>
            </a:r>
            <a:r>
              <a:rPr lang="en-US" altLang="ko-KR" sz="1400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B30CFE2-5367-C254-B19A-43FF27FA6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3594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CE209-307A-E868-4D08-14934A0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ADF930-C772-5E62-E240-0CF9C4D02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abstract class Phone 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필드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String owner;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Phone(String owner)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this.owner</a:t>
            </a:r>
            <a:r>
              <a:rPr lang="en-US" altLang="ko-KR" sz="1400" dirty="0"/>
              <a:t> = owner;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void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폰 전원을 켭니다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	</a:t>
            </a:r>
          </a:p>
          <a:p>
            <a:pPr marL="0" indent="0">
              <a:buNone/>
            </a:pPr>
            <a:r>
              <a:rPr lang="en-US" altLang="ko-KR" sz="1400" dirty="0"/>
              <a:t>	public void 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폰 전원을 끕니다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SmartPhone</a:t>
            </a:r>
            <a:r>
              <a:rPr lang="en-US" altLang="ko-KR" sz="1400" dirty="0"/>
              <a:t> extends Phone 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생성자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</a:t>
            </a:r>
            <a:r>
              <a:rPr lang="en-US" altLang="ko-KR" sz="1400" dirty="0" err="1"/>
              <a:t>SmartPhone</a:t>
            </a:r>
            <a:r>
              <a:rPr lang="en-US" altLang="ko-KR" sz="1400" dirty="0"/>
              <a:t>(String owner) {</a:t>
            </a:r>
          </a:p>
          <a:p>
            <a:pPr marL="0" indent="0">
              <a:buNone/>
            </a:pPr>
            <a:r>
              <a:rPr lang="en-US" altLang="ko-KR" sz="1400" dirty="0"/>
              <a:t>		super(owner);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메소드</a:t>
            </a:r>
          </a:p>
          <a:p>
            <a:pPr marL="0" indent="0"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public void </a:t>
            </a:r>
            <a:r>
              <a:rPr lang="en-US" altLang="ko-KR" sz="1400" dirty="0" err="1"/>
              <a:t>internetSearch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인터넷 검색을 합니다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3A8202-EB75-890D-68CD-8B3ACBEAD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4356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243C9-7B1F-A2B4-CB60-40EDFCC31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C635F3-20CF-4D2F-1917-F8558A131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PhoneExample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//Phone </a:t>
            </a:r>
            <a:r>
              <a:rPr lang="en-US" altLang="ko-KR" sz="1400" dirty="0" err="1"/>
              <a:t>phone</a:t>
            </a:r>
            <a:r>
              <a:rPr lang="en-US" altLang="ko-KR" sz="1400" dirty="0"/>
              <a:t> = new Phone(); (x)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SmartPhone</a:t>
            </a:r>
            <a:r>
              <a:rPr lang="en-US" altLang="ko-KR" sz="1400" dirty="0"/>
              <a:t> </a:t>
            </a:r>
            <a:r>
              <a:rPr lang="en-US" altLang="ko-KR" sz="1400" dirty="0" err="1"/>
              <a:t>smartPhone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SmartPhone</a:t>
            </a:r>
            <a:r>
              <a:rPr lang="en-US" altLang="ko-KR" sz="1400" dirty="0"/>
              <a:t>("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smartPhone.turnOn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smartPhone.internetSearch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smartPhone.turnOff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7918EC8-B542-523C-6512-BAA89D501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784" y="1678993"/>
            <a:ext cx="2418537" cy="964619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C87E71-7735-8166-B401-D78EE875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1138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8C744-E7BC-2A4C-B41B-69FE702E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F53574-E4F5-4621-97F0-6FB777E74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추상 메소드와 재정의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추상 클래스는 실체 클래스가 공통적으로 가져야 할 필드와 메소드를 </a:t>
            </a:r>
            <a:r>
              <a:rPr lang="ko-KR" altLang="en-US" sz="1400" dirty="0" err="1"/>
              <a:t>정의해놓은</a:t>
            </a:r>
            <a:r>
              <a:rPr lang="ko-KR" altLang="en-US" sz="1400" dirty="0"/>
              <a:t> 추상 클래스다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하지만 메소드의 선언만 통일하고</a:t>
            </a:r>
            <a:r>
              <a:rPr lang="en-US" altLang="ko-KR" sz="1400" dirty="0"/>
              <a:t>, </a:t>
            </a:r>
            <a:r>
              <a:rPr lang="ko-KR" altLang="en-US" sz="1400" dirty="0"/>
              <a:t>실행 내용은 클래스마다 달라야 하는 경우가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예를 들어서 </a:t>
            </a:r>
            <a:r>
              <a:rPr lang="en-US" altLang="ko-KR" sz="1400" dirty="0"/>
              <a:t>Animal </a:t>
            </a:r>
            <a:r>
              <a:rPr lang="ko-KR" altLang="en-US" sz="1400" dirty="0"/>
              <a:t>추상 클래스에서 </a:t>
            </a:r>
            <a:r>
              <a:rPr lang="en-US" altLang="ko-KR" sz="1400" dirty="0"/>
              <a:t>sound()</a:t>
            </a:r>
            <a:r>
              <a:rPr lang="ko-KR" altLang="en-US" sz="1400" dirty="0"/>
              <a:t>라는 메소드를 정의하고 다른 동물들이 이를 상속받는다고 해보자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동물들은 다양한 소리를 내므로 </a:t>
            </a:r>
            <a:r>
              <a:rPr lang="en-US" altLang="ko-KR" sz="1400" dirty="0"/>
              <a:t>sound()</a:t>
            </a:r>
            <a:r>
              <a:rPr lang="ko-KR" altLang="en-US" sz="1400" dirty="0"/>
              <a:t>메소드의 내용을 통일적으로 작성할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이런 경우를 위해 추상 클래스는 추상 메소드를 선언할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추상 메소드는 </a:t>
            </a:r>
            <a:r>
              <a:rPr lang="en-US" altLang="ko-KR" sz="1400" dirty="0"/>
              <a:t>abstract </a:t>
            </a:r>
            <a:r>
              <a:rPr lang="ko-KR" altLang="en-US" sz="1400" dirty="0"/>
              <a:t>키워드와 함께 메소드의 선언부만 있고 실행 내용인 </a:t>
            </a:r>
            <a:r>
              <a:rPr lang="en-US" altLang="ko-KR" sz="1400" dirty="0"/>
              <a:t>{}</a:t>
            </a:r>
            <a:r>
              <a:rPr lang="ko-KR" altLang="en-US" sz="1400" dirty="0"/>
              <a:t>가 없는 메소드이다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abstract class Animal{</a:t>
            </a:r>
          </a:p>
          <a:p>
            <a:pPr marL="0" indent="0">
              <a:buNone/>
            </a:pPr>
            <a:r>
              <a:rPr lang="en-US" altLang="ko-KR" sz="1400" dirty="0"/>
              <a:t>	public abstract void sound(); //</a:t>
            </a:r>
            <a:r>
              <a:rPr lang="ko-KR" altLang="en-US" sz="1400" dirty="0"/>
              <a:t>추상 메소드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92786D-C1A9-7602-1864-9E2DE971C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0021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FD2E6-C8D8-4CDC-DD28-EE93F52F2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849BEB-97E7-BF87-0C2D-B284CB2E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abstract class Animal { //</a:t>
            </a:r>
            <a:r>
              <a:rPr lang="ko-KR" altLang="en-US" sz="1400" dirty="0"/>
              <a:t>추상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public String kind;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public void breathe()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숨을 쉽니다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public abstract void sound(); //</a:t>
            </a:r>
            <a:r>
              <a:rPr lang="ko-KR" altLang="en-US" sz="1400" dirty="0"/>
              <a:t>추상 메소드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Dog extends Animal {</a:t>
            </a:r>
          </a:p>
          <a:p>
            <a:pPr marL="0" indent="0">
              <a:buNone/>
            </a:pPr>
            <a:r>
              <a:rPr lang="en-US" altLang="ko-KR" sz="1400" dirty="0"/>
              <a:t>	public Dog()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this.kind</a:t>
            </a:r>
            <a:r>
              <a:rPr lang="en-US" altLang="ko-KR" sz="1400" dirty="0"/>
              <a:t> = "</a:t>
            </a:r>
            <a:r>
              <a:rPr lang="ko-KR" altLang="en-US" sz="1400" dirty="0"/>
              <a:t>포유류</a:t>
            </a:r>
            <a:r>
              <a:rPr lang="en-US" altLang="ko-KR" sz="1400" dirty="0"/>
              <a:t>";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@Override</a:t>
            </a:r>
          </a:p>
          <a:p>
            <a:pPr marL="0" indent="0">
              <a:buNone/>
            </a:pPr>
            <a:r>
              <a:rPr lang="en-US" altLang="ko-KR" sz="1400" dirty="0"/>
              <a:t>	public void sound() { //</a:t>
            </a:r>
            <a:r>
              <a:rPr lang="ko-KR" altLang="en-US" sz="1400" dirty="0"/>
              <a:t>추상 메소드 재정의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멍멍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EDEFFD-A5A2-200D-2378-A0ECAD30D101}"/>
              </a:ext>
            </a:extLst>
          </p:cNvPr>
          <p:cNvSpPr txBox="1"/>
          <p:nvPr/>
        </p:nvSpPr>
        <p:spPr>
          <a:xfrm>
            <a:off x="6192572" y="3340730"/>
            <a:ext cx="545018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public class Cat extends Animal {</a:t>
            </a:r>
          </a:p>
          <a:p>
            <a:r>
              <a:rPr lang="en-US" altLang="ko-KR" sz="1400" dirty="0"/>
              <a:t>	public Cat() {</a:t>
            </a:r>
          </a:p>
          <a:p>
            <a:r>
              <a:rPr lang="en-US" altLang="ko-KR" sz="1400" dirty="0"/>
              <a:t>		</a:t>
            </a:r>
            <a:r>
              <a:rPr lang="en-US" altLang="ko-KR" sz="1400" dirty="0" err="1"/>
              <a:t>this.kind</a:t>
            </a:r>
            <a:r>
              <a:rPr lang="en-US" altLang="ko-KR" sz="1400" dirty="0"/>
              <a:t> = "</a:t>
            </a:r>
            <a:r>
              <a:rPr lang="ko-KR" altLang="en-US" sz="1400" dirty="0"/>
              <a:t>포유류</a:t>
            </a:r>
            <a:r>
              <a:rPr lang="en-US" altLang="ko-KR" sz="1400" dirty="0"/>
              <a:t>";</a:t>
            </a:r>
          </a:p>
          <a:p>
            <a:r>
              <a:rPr lang="en-US" altLang="ko-KR" sz="1400" dirty="0"/>
              <a:t>	}</a:t>
            </a:r>
          </a:p>
          <a:p>
            <a:endParaRPr lang="en-US" altLang="ko-KR" sz="1400" dirty="0"/>
          </a:p>
          <a:p>
            <a:r>
              <a:rPr lang="en-US" altLang="ko-KR" sz="1400" dirty="0"/>
              <a:t>	@Override</a:t>
            </a:r>
          </a:p>
          <a:p>
            <a:r>
              <a:rPr lang="en-US" altLang="ko-KR" sz="1400" dirty="0"/>
              <a:t>	public void sound() { //</a:t>
            </a:r>
            <a:r>
              <a:rPr lang="ko-KR" altLang="en-US" sz="1400" dirty="0"/>
              <a:t>추상 메소드 재정의</a:t>
            </a:r>
            <a:endParaRPr lang="en-US" altLang="ko-KR" sz="1400" dirty="0"/>
          </a:p>
          <a:p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야옹</a:t>
            </a:r>
            <a:r>
              <a:rPr lang="en-US" altLang="ko-KR" sz="1400" dirty="0"/>
              <a:t>");</a:t>
            </a:r>
          </a:p>
          <a:p>
            <a:r>
              <a:rPr lang="en-US" altLang="ko-KR" sz="1400" dirty="0"/>
              <a:t>	}</a:t>
            </a:r>
          </a:p>
          <a:p>
            <a:r>
              <a:rPr lang="en-US" altLang="ko-KR" sz="1400" dirty="0"/>
              <a:t>}</a:t>
            </a:r>
          </a:p>
          <a:p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CBA1BC-DF15-8ED4-E41E-A2AB6586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2118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42A8A-E4FC-688E-1F4A-1F6233422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94351C-4B16-AAE8-1863-4C8D96957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AnimalExample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Dog </a:t>
            </a:r>
            <a:r>
              <a:rPr lang="en-US" altLang="ko-KR" sz="1400" dirty="0" err="1"/>
              <a:t>dog</a:t>
            </a:r>
            <a:r>
              <a:rPr lang="en-US" altLang="ko-KR" sz="1400" dirty="0"/>
              <a:t> = new Dog(); // Dog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Cat </a:t>
            </a:r>
            <a:r>
              <a:rPr lang="en-US" altLang="ko-KR" sz="1400" dirty="0" err="1"/>
              <a:t>cat</a:t>
            </a:r>
            <a:r>
              <a:rPr lang="en-US" altLang="ko-KR" sz="1400" dirty="0"/>
              <a:t> = new Cat(); // Cat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dog.sound</a:t>
            </a:r>
            <a:r>
              <a:rPr lang="en-US" altLang="ko-KR" sz="1400" dirty="0"/>
              <a:t>(); // Dog </a:t>
            </a:r>
            <a:r>
              <a:rPr lang="ko-KR" altLang="en-US" sz="1400" dirty="0"/>
              <a:t>클래스의 </a:t>
            </a:r>
            <a:r>
              <a:rPr lang="en-US" altLang="ko-KR" sz="1400" dirty="0"/>
              <a:t>sound()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cat.sound</a:t>
            </a:r>
            <a:r>
              <a:rPr lang="en-US" altLang="ko-KR" sz="1400" dirty="0"/>
              <a:t>(); // Cat </a:t>
            </a:r>
            <a:r>
              <a:rPr lang="ko-KR" altLang="en-US" sz="1400" dirty="0"/>
              <a:t>클래스의 </a:t>
            </a:r>
            <a:r>
              <a:rPr lang="en-US" altLang="ko-KR" sz="1400" dirty="0"/>
              <a:t>sound()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("-----");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변수의 자동 타입 변환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Animal </a:t>
            </a:r>
            <a:r>
              <a:rPr lang="en-US" altLang="ko-KR" sz="1400" dirty="0" err="1"/>
              <a:t>animal</a:t>
            </a:r>
            <a:r>
              <a:rPr lang="en-US" altLang="ko-KR" sz="1400" dirty="0"/>
              <a:t> = null;</a:t>
            </a:r>
          </a:p>
          <a:p>
            <a:pPr marL="0" indent="0">
              <a:buNone/>
            </a:pPr>
            <a:r>
              <a:rPr lang="en-US" altLang="ko-KR" sz="1400" dirty="0"/>
              <a:t>        animal = new Dog(); // Animal </a:t>
            </a:r>
            <a:r>
              <a:rPr lang="ko-KR" altLang="en-US" sz="1400" dirty="0"/>
              <a:t>타입으로 </a:t>
            </a:r>
            <a:r>
              <a:rPr lang="en-US" altLang="ko-KR" sz="1400" dirty="0"/>
              <a:t>Dog </a:t>
            </a:r>
            <a:r>
              <a:rPr lang="ko-KR" altLang="en-US" sz="1400" dirty="0"/>
              <a:t>객체 참조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animal.sound</a:t>
            </a:r>
            <a:r>
              <a:rPr lang="en-US" altLang="ko-KR" sz="1400" dirty="0"/>
              <a:t>(); // Dog </a:t>
            </a:r>
            <a:r>
              <a:rPr lang="ko-KR" altLang="en-US" sz="1400" dirty="0"/>
              <a:t>클래스의 </a:t>
            </a:r>
            <a:r>
              <a:rPr lang="en-US" altLang="ko-KR" sz="1400" dirty="0"/>
              <a:t>sound()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animal = new Cat(); // Animal </a:t>
            </a:r>
            <a:r>
              <a:rPr lang="ko-KR" altLang="en-US" sz="1400" dirty="0"/>
              <a:t>타입으로 </a:t>
            </a:r>
            <a:r>
              <a:rPr lang="en-US" altLang="ko-KR" sz="1400" dirty="0"/>
              <a:t>Cat </a:t>
            </a:r>
            <a:r>
              <a:rPr lang="ko-KR" altLang="en-US" sz="1400" dirty="0"/>
              <a:t>객체 참조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animal.sound</a:t>
            </a:r>
            <a:r>
              <a:rPr lang="en-US" altLang="ko-KR" sz="1400" dirty="0"/>
              <a:t>(); // Cat </a:t>
            </a:r>
            <a:r>
              <a:rPr lang="ko-KR" altLang="en-US" sz="1400" dirty="0"/>
              <a:t>클래스의 </a:t>
            </a:r>
            <a:r>
              <a:rPr lang="en-US" altLang="ko-KR" sz="1400" dirty="0"/>
              <a:t>sound()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("-----");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매개변수의 자동 타입 변환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animalSound</a:t>
            </a:r>
            <a:r>
              <a:rPr lang="en-US" altLang="ko-KR" sz="1400" dirty="0"/>
              <a:t>(new Dog()); // Dog </a:t>
            </a:r>
            <a:r>
              <a:rPr lang="ko-KR" altLang="en-US" sz="1400" dirty="0"/>
              <a:t>객체를 매개변수로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animalSound</a:t>
            </a:r>
            <a:r>
              <a:rPr lang="en-US" altLang="ko-KR" sz="1400" dirty="0"/>
              <a:t>(new Cat()); // Cat </a:t>
            </a:r>
            <a:r>
              <a:rPr lang="ko-KR" altLang="en-US" sz="1400" dirty="0"/>
              <a:t>객체를 매개변수로 전달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public static void </a:t>
            </a:r>
            <a:r>
              <a:rPr lang="en-US" altLang="ko-KR" sz="1400" dirty="0" err="1"/>
              <a:t>animalSound</a:t>
            </a:r>
            <a:r>
              <a:rPr lang="en-US" altLang="ko-KR" sz="1400" dirty="0"/>
              <a:t>(Animal animal)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animal.sound</a:t>
            </a:r>
            <a:r>
              <a:rPr lang="en-US" altLang="ko-KR" sz="1400" dirty="0"/>
              <a:t>(); // Animal </a:t>
            </a:r>
            <a:r>
              <a:rPr lang="ko-KR" altLang="en-US" sz="1400" dirty="0"/>
              <a:t>타입의 </a:t>
            </a:r>
            <a:r>
              <a:rPr lang="en-US" altLang="ko-KR" sz="1400" dirty="0"/>
              <a:t>sound() </a:t>
            </a:r>
            <a:r>
              <a:rPr lang="ko-KR" altLang="en-US" sz="1400" dirty="0"/>
              <a:t>호출 </a:t>
            </a:r>
            <a:r>
              <a:rPr lang="en-US" altLang="ko-KR" sz="1400" dirty="0"/>
              <a:t>(</a:t>
            </a:r>
            <a:r>
              <a:rPr lang="ko-KR" altLang="en-US" sz="1400" dirty="0"/>
              <a:t>실제 객체의 메소드 실행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BE2703-6AF1-EDDD-1AF9-4216EA4CF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566" y="1783533"/>
            <a:ext cx="894493" cy="294150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56473C8-ACD3-90C5-ACA4-70A4443D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569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5339</Words>
  <Application>Microsoft Office PowerPoint</Application>
  <PresentationFormat>와이드스크린</PresentationFormat>
  <Paragraphs>882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4" baseType="lpstr">
      <vt:lpstr>맑은 고딕</vt:lpstr>
      <vt:lpstr>Arial</vt:lpstr>
      <vt:lpstr>Office 테마</vt:lpstr>
      <vt:lpstr>상속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노찬희</dc:creator>
  <cp:lastModifiedBy>노찬희</cp:lastModifiedBy>
  <cp:revision>6</cp:revision>
  <dcterms:created xsi:type="dcterms:W3CDTF">2024-11-16T10:25:19Z</dcterms:created>
  <dcterms:modified xsi:type="dcterms:W3CDTF">2024-11-25T14:25:32Z</dcterms:modified>
</cp:coreProperties>
</file>