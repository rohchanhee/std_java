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A95239-5CF3-0163-4E77-E0461FDBED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4A31259-BD30-935B-D387-45B3E31CC7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83B1B8A-95EC-EFA9-2920-F63B2B7942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0DED9-6D52-4114-887A-5B887536C1D4}" type="datetimeFigureOut">
              <a:rPr lang="ko-KR" altLang="en-US" smtClean="0"/>
              <a:t>2024-12-19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B867E84-F464-7617-2A4F-F6CB0B59B6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5798FA4-C784-B71C-1800-E76432317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82075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B845901-A360-9685-C9D0-142CCDAAEB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BAC0030-103B-F0B2-93BB-09A79E01C1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228B7FC-CFE9-A1B1-61A3-F690FB838D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0DED9-6D52-4114-887A-5B887536C1D4}" type="datetimeFigureOut">
              <a:rPr lang="ko-KR" altLang="en-US" smtClean="0"/>
              <a:t>2024-12-19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39E0150-4E12-697A-4C86-B3AB0DC6C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45CCAB7-DF93-BE29-9512-E931DEC4FC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22980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B183D85-5E19-97F2-3064-601817BE8D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C769AC2-8D3A-E503-0482-84BE500F2B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F72415A-9B8A-1649-C3DB-B58BBFADC6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0DED9-6D52-4114-887A-5B887536C1D4}" type="datetimeFigureOut">
              <a:rPr lang="ko-KR" altLang="en-US" smtClean="0"/>
              <a:t>2024-12-19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C6FC505-307D-710D-9B2D-8CD38D4C50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A3321C3-40EB-C385-F7BC-33EDC2F9D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49210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528D41-6C2A-BB83-569C-9F7D19BDBF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D94FD90-E620-EBF8-5ABA-7933243C65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E9E51A9-2C81-17B9-B136-1C00D6A291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D3AE586-D237-B216-A46C-449CFC72FF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0DED9-6D52-4114-887A-5B887536C1D4}" type="datetimeFigureOut">
              <a:rPr lang="ko-KR" altLang="en-US" smtClean="0"/>
              <a:t>2024-12-19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F1630C6-7555-6475-8C0D-1D67E0BAD3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E3BA23D-2DDE-3FBF-2D07-2F703F8CB4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92059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5D3E44-57FE-E878-C3F0-147004A674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987131D-3D2B-012E-A66A-8E30E2C96A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7805DF5-0FA8-8FFD-652A-4F33E38C34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3DBA8AD-906A-39ED-3BB7-936A94C385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35706EB-24D1-CC6F-9DC1-9DFF86CE7E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B27AF02-54A9-DB68-4741-6CDD9D48FA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0DED9-6D52-4114-887A-5B887536C1D4}" type="datetimeFigureOut">
              <a:rPr lang="ko-KR" altLang="en-US" smtClean="0"/>
              <a:t>2024-12-19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37EAC82-DBD9-3C65-8485-01FAEC07C2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1875241-56BC-92B7-7AC9-8908C8B06D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10978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70CEC6-0EEB-F7D8-36FB-4CC361E9D4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AE1C994-75C3-F586-18DE-655E1E3301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0DED9-6D52-4114-887A-5B887536C1D4}" type="datetimeFigureOut">
              <a:rPr lang="ko-KR" altLang="en-US" smtClean="0"/>
              <a:t>2024-12-19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C1E02ED-170A-9378-D809-F1E89D2E1D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DAB6E09-B1CE-D992-28A9-996C95F7E5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34623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2E4D4D0-30C2-1A42-7BFD-1FCA28A8EF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0DED9-6D52-4114-887A-5B887536C1D4}" type="datetimeFigureOut">
              <a:rPr lang="ko-KR" altLang="en-US" smtClean="0"/>
              <a:t>2024-12-19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F1FF2AF-E9CE-7DFF-5AB8-DE9CAA5930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5AE1EF6-009E-CE70-1756-A209BB24C6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51203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817FCAC-EDB7-E9D5-ACAE-6AF29CD044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7512EA7-D4FB-75D4-59FD-A5BC9D6113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94957F2-9394-A780-CD79-49FA956211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2FB6710-7882-05E9-DCB6-7A9000DF29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0DED9-6D52-4114-887A-5B887536C1D4}" type="datetimeFigureOut">
              <a:rPr lang="ko-KR" altLang="en-US" smtClean="0"/>
              <a:t>2024-12-19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97288B3-2C9D-FB46-0008-8096860808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02C2E2B-662C-8684-8B5B-5A9887E37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30229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E97221-A3FD-730E-D90A-5379E3100C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B98F2B0-6718-BABD-16A1-3EB697FB5A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A66ACBD-FC1B-641F-5CC6-7756D2C293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D54DB35-05A7-D287-0E02-E2FD660D8B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0DED9-6D52-4114-887A-5B887536C1D4}" type="datetimeFigureOut">
              <a:rPr lang="ko-KR" altLang="en-US" smtClean="0"/>
              <a:t>2024-12-19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148E70F-9E5A-C63A-CFFD-86F3F05AD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31C41B3-2B05-16A1-4C36-8851832D3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82462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776D03-4244-CDB4-A0AA-6EC97D3007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E9DE395-258F-131A-3FCC-3D6C79B518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DAB054D-722A-59C1-7F26-0E4C5550E8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0DED9-6D52-4114-887A-5B887536C1D4}" type="datetimeFigureOut">
              <a:rPr lang="ko-KR" altLang="en-US" smtClean="0"/>
              <a:t>2024-12-19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1C49381-C005-307D-0F92-EB858DFDD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B1F4D8C-6A57-4311-1EE8-A9FD58E15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89295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91A65F19-A2F8-5263-A730-DB27A39D385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B4B96C3-41E6-B4B6-F577-19B3AFBC31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5920CEF-7883-1C42-98F3-FAF3D0EB08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0DED9-6D52-4114-887A-5B887536C1D4}" type="datetimeFigureOut">
              <a:rPr lang="ko-KR" altLang="en-US" smtClean="0"/>
              <a:t>2024-12-19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FABB99E-F997-25BB-1DDC-CA167E4A71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17C83B0-6BCA-922E-441D-02F2FBE12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0415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3F1C1FB-C942-1B7F-03B1-F1EBC277FF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6B46AF7-8D50-FA89-32E4-80BDD30464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DFF720A-8206-2226-991F-692E888E52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4C0DED9-6D52-4114-887A-5B887536C1D4}" type="datetimeFigureOut">
              <a:rPr lang="ko-KR" altLang="en-US" smtClean="0"/>
              <a:t>2024-12-19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5208A6F-441C-48ED-B698-20ABF185AA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F60F683-D894-398B-528C-A866529589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96A77F-F07F-4B77-92D5-DC19F1E541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13879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6F0C12-5D4E-6E9B-D505-E45EE684260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스레드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4ABD2CA-D85E-35E0-EF91-C329042963F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/>
              <a:t>노찬희</a:t>
            </a:r>
          </a:p>
        </p:txBody>
      </p:sp>
    </p:spTree>
    <p:extLst>
      <p:ext uri="{BB962C8B-B14F-4D97-AF65-F5344CB8AC3E}">
        <p14:creationId xmlns:p14="http://schemas.microsoft.com/office/powerpoint/2010/main" val="7583561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919EE5B-A781-399B-FE3E-668C18E609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1400" b="1" dirty="0"/>
              <a:t>프로세스</a:t>
            </a:r>
            <a:endParaRPr lang="en-US" altLang="ko-KR" sz="1400" b="1" dirty="0"/>
          </a:p>
          <a:p>
            <a:pPr marL="0" indent="0">
              <a:buNone/>
            </a:pPr>
            <a:r>
              <a:rPr lang="en-US" altLang="ko-KR" sz="1400" dirty="0"/>
              <a:t>-</a:t>
            </a:r>
            <a:r>
              <a:rPr lang="ko-KR" altLang="en-US" sz="1400" dirty="0"/>
              <a:t>운영체제에서 실행 중인 하나의 애플리케이션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-</a:t>
            </a:r>
            <a:r>
              <a:rPr lang="ko-KR" altLang="en-US" sz="1400" dirty="0"/>
              <a:t>사용자가 애플리케이션을 실행하면 실행에 필요한 메모리를 </a:t>
            </a:r>
            <a:r>
              <a:rPr lang="ko-KR" altLang="en-US" sz="1400" dirty="0" err="1"/>
              <a:t>할당받아</a:t>
            </a:r>
            <a:r>
              <a:rPr lang="ko-KR" altLang="en-US" sz="1400" dirty="0"/>
              <a:t> 애플리케이션을 실행함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-</a:t>
            </a:r>
            <a:r>
              <a:rPr lang="ko-KR" altLang="en-US" sz="1400" dirty="0"/>
              <a:t>하나의 애플리케이션은 멀티 프로세스</a:t>
            </a:r>
            <a:r>
              <a:rPr lang="en-US" altLang="ko-KR" sz="1400" dirty="0"/>
              <a:t>(multi process)</a:t>
            </a:r>
            <a:r>
              <a:rPr lang="ko-KR" altLang="en-US" sz="1400" dirty="0"/>
              <a:t>를 만들기도 함</a:t>
            </a:r>
            <a:r>
              <a:rPr lang="en-US" altLang="ko-KR" sz="1400" dirty="0"/>
              <a:t> ex)</a:t>
            </a:r>
            <a:r>
              <a:rPr lang="ko-KR" altLang="en-US" sz="1400" dirty="0"/>
              <a:t>메모장</a:t>
            </a: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운영체제는 멀티 </a:t>
            </a:r>
            <a:r>
              <a:rPr lang="ko-KR" altLang="en-US" sz="1400" dirty="0" err="1"/>
              <a:t>태스킹</a:t>
            </a:r>
            <a:r>
              <a:rPr lang="en-US" altLang="ko-KR" sz="1400" dirty="0"/>
              <a:t>(multi tasking, </a:t>
            </a:r>
            <a:r>
              <a:rPr lang="ko-KR" altLang="en-US" sz="1400" dirty="0"/>
              <a:t>두 가지 이상의 작업을 동시에 처리하는 것</a:t>
            </a:r>
            <a:r>
              <a:rPr lang="en-US" altLang="ko-KR" sz="1400" dirty="0"/>
              <a:t>)</a:t>
            </a:r>
            <a:r>
              <a:rPr lang="ko-KR" altLang="en-US" sz="1400" dirty="0"/>
              <a:t>을 할 수 있도록 </a:t>
            </a:r>
            <a:r>
              <a:rPr lang="en-US" altLang="ko-KR" sz="1400" dirty="0"/>
              <a:t>CPU</a:t>
            </a:r>
            <a:r>
              <a:rPr lang="ko-KR" altLang="en-US" sz="1400" dirty="0"/>
              <a:t>및 메모리 자원을 프로세스에 할당함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ex)</a:t>
            </a:r>
            <a:r>
              <a:rPr lang="ko-KR" altLang="en-US" sz="1400" dirty="0"/>
              <a:t>게임 하면서 노래듣기</a:t>
            </a:r>
            <a:r>
              <a:rPr lang="en-US" altLang="ko-KR" sz="1400" dirty="0"/>
              <a:t>, </a:t>
            </a:r>
            <a:r>
              <a:rPr lang="ko-KR" altLang="en-US" sz="1400" dirty="0"/>
              <a:t>문서 작업 하면서 영상 보기</a:t>
            </a: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이러한 멀티 </a:t>
            </a:r>
            <a:r>
              <a:rPr lang="ko-KR" altLang="en-US" sz="1400" dirty="0" err="1"/>
              <a:t>태스킹은</a:t>
            </a:r>
            <a:r>
              <a:rPr lang="ko-KR" altLang="en-US" sz="1400" dirty="0"/>
              <a:t> 위의 예시처럼 멀티 </a:t>
            </a:r>
            <a:r>
              <a:rPr lang="ko-KR" altLang="en-US" sz="1400" dirty="0" err="1"/>
              <a:t>프로세스뿐만</a:t>
            </a:r>
            <a:r>
              <a:rPr lang="ko-KR" altLang="en-US" sz="1400" dirty="0"/>
              <a:t> 아니라 한 프로세스 내에서 발생할 수도 있다</a:t>
            </a:r>
            <a:r>
              <a:rPr lang="en-US" altLang="ko-KR" sz="1400" dirty="0"/>
              <a:t>. </a:t>
            </a:r>
            <a:r>
              <a:rPr lang="en-US" altLang="ko-KR" sz="1400" dirty="0">
                <a:sym typeface="Wingdings" panose="05000000000000000000" pitchFamily="2" charset="2"/>
              </a:rPr>
              <a:t> </a:t>
            </a:r>
            <a:r>
              <a:rPr lang="ko-KR" altLang="en-US" sz="1400" b="1" dirty="0">
                <a:sym typeface="Wingdings" panose="05000000000000000000" pitchFamily="2" charset="2"/>
              </a:rPr>
              <a:t>멀티 스레드</a:t>
            </a:r>
            <a:endParaRPr lang="en-US" altLang="ko-KR" sz="1400" b="1" dirty="0"/>
          </a:p>
          <a:p>
            <a:pPr marL="0" indent="0">
              <a:buNone/>
            </a:pPr>
            <a:r>
              <a:rPr lang="en-US" altLang="ko-KR" sz="1400" dirty="0"/>
              <a:t>ex) </a:t>
            </a:r>
            <a:r>
              <a:rPr lang="ko-KR" altLang="en-US" sz="1400" dirty="0"/>
              <a:t>미디어 플레이어</a:t>
            </a:r>
            <a:r>
              <a:rPr lang="en-US" altLang="ko-KR" sz="1400" dirty="0"/>
              <a:t>(</a:t>
            </a:r>
            <a:r>
              <a:rPr lang="ko-KR" altLang="en-US" sz="1400" dirty="0"/>
              <a:t>음악 재생 </a:t>
            </a:r>
            <a:r>
              <a:rPr lang="en-US" altLang="ko-KR" sz="1400" dirty="0"/>
              <a:t>+ </a:t>
            </a:r>
            <a:r>
              <a:rPr lang="ko-KR" altLang="en-US" sz="1400" dirty="0"/>
              <a:t>영상 재생</a:t>
            </a:r>
            <a:r>
              <a:rPr lang="en-US" altLang="ko-KR" sz="1400" dirty="0"/>
              <a:t>)</a:t>
            </a:r>
          </a:p>
          <a:p>
            <a:pPr marL="0" indent="0">
              <a:buNone/>
            </a:pPr>
            <a:r>
              <a:rPr lang="en-US" altLang="ko-KR" sz="1400" dirty="0"/>
              <a:t>    </a:t>
            </a:r>
            <a:r>
              <a:rPr lang="ko-KR" altLang="en-US" sz="1400" dirty="0"/>
              <a:t>메신저</a:t>
            </a:r>
            <a:r>
              <a:rPr lang="en-US" altLang="ko-KR" sz="1400" dirty="0"/>
              <a:t>(</a:t>
            </a:r>
            <a:r>
              <a:rPr lang="ko-KR" altLang="en-US" sz="1400" dirty="0"/>
              <a:t>채팅 전송 </a:t>
            </a:r>
            <a:r>
              <a:rPr lang="en-US" altLang="ko-KR" sz="1400" dirty="0"/>
              <a:t>+ </a:t>
            </a:r>
            <a:r>
              <a:rPr lang="ko-KR" altLang="en-US" sz="1400" dirty="0"/>
              <a:t>파일 전송</a:t>
            </a:r>
            <a:r>
              <a:rPr lang="en-US" altLang="ko-KR" sz="1400" dirty="0"/>
              <a:t>)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0C166B1-0D23-1AA7-A3BA-966D19A273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0214" y="2860895"/>
            <a:ext cx="5529328" cy="3997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57579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1E6F4B-A62F-7355-03AF-1772CB4A1F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507E6C5-5BA6-9F0A-91B8-77914E76E2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1400" b="1" dirty="0"/>
              <a:t>스레드</a:t>
            </a:r>
            <a:endParaRPr lang="en-US" altLang="ko-KR" sz="1400" b="1" dirty="0"/>
          </a:p>
          <a:p>
            <a:pPr marL="0" indent="0">
              <a:buNone/>
            </a:pPr>
            <a:endParaRPr lang="en-US" altLang="ko-KR" sz="1400" b="1" dirty="0"/>
          </a:p>
          <a:p>
            <a:pPr marL="0" indent="0">
              <a:buNone/>
            </a:pPr>
            <a:r>
              <a:rPr lang="ko-KR" altLang="en-US" sz="1400" dirty="0"/>
              <a:t>스레드</a:t>
            </a:r>
            <a:r>
              <a:rPr lang="en-US" altLang="ko-KR" sz="1400" dirty="0"/>
              <a:t>(tread)</a:t>
            </a:r>
            <a:r>
              <a:rPr lang="ko-KR" altLang="en-US" sz="1400" dirty="0"/>
              <a:t>는 한 가지 작업을 실행하기 위해 순차적으로 실행할 코드를 실처럼 이어 놓았다고 해서 유래된 이름이다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en-US" altLang="ko-KR" sz="1400" dirty="0">
                <a:sym typeface="Wingdings" panose="05000000000000000000" pitchFamily="2" charset="2"/>
              </a:rPr>
              <a:t></a:t>
            </a:r>
            <a:r>
              <a:rPr lang="ko-KR" altLang="en-US" sz="1400" dirty="0">
                <a:sym typeface="Wingdings" panose="05000000000000000000" pitchFamily="2" charset="2"/>
              </a:rPr>
              <a:t>하나의 스레드는 하나의 코드 실행 흐름을 의미함</a:t>
            </a:r>
            <a:endParaRPr lang="en-US" altLang="ko-KR" sz="14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altLang="ko-KR" sz="14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altLang="ko-KR" sz="14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altLang="ko-KR" sz="14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altLang="ko-KR" sz="14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altLang="ko-KR" sz="14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altLang="ko-KR" sz="14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altLang="ko-KR" sz="14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altLang="ko-KR" sz="14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altLang="ko-KR" sz="1400" dirty="0">
                <a:sym typeface="Wingdings" panose="05000000000000000000" pitchFamily="2" charset="2"/>
              </a:rPr>
              <a:t>-</a:t>
            </a:r>
            <a:r>
              <a:rPr lang="ko-KR" altLang="en-US" sz="1400" dirty="0">
                <a:sym typeface="Wingdings" panose="05000000000000000000" pitchFamily="2" charset="2"/>
              </a:rPr>
              <a:t>멀티 프로세스는 서로 독립적</a:t>
            </a:r>
            <a:endParaRPr lang="en-US" altLang="ko-KR" sz="14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altLang="ko-KR" sz="1400" dirty="0">
                <a:sym typeface="Wingdings" panose="05000000000000000000" pitchFamily="2" charset="2"/>
              </a:rPr>
              <a:t>ex)</a:t>
            </a:r>
            <a:r>
              <a:rPr lang="ko-KR" altLang="en-US" sz="1400" dirty="0">
                <a:sym typeface="Wingdings" panose="05000000000000000000" pitchFamily="2" charset="2"/>
              </a:rPr>
              <a:t>워드와 엑셀을 동시에 쓰던 중</a:t>
            </a:r>
            <a:r>
              <a:rPr lang="en-US" altLang="ko-KR" sz="1400" dirty="0">
                <a:sym typeface="Wingdings" panose="05000000000000000000" pitchFamily="2" charset="2"/>
              </a:rPr>
              <a:t>, </a:t>
            </a:r>
            <a:r>
              <a:rPr lang="ko-KR" altLang="en-US" sz="1400" dirty="0">
                <a:sym typeface="Wingdings" panose="05000000000000000000" pitchFamily="2" charset="2"/>
              </a:rPr>
              <a:t>워드에 오류가 생겨서 </a:t>
            </a:r>
            <a:r>
              <a:rPr lang="ko-KR" altLang="en-US" sz="1400" dirty="0" err="1">
                <a:sym typeface="Wingdings" panose="05000000000000000000" pitchFamily="2" charset="2"/>
              </a:rPr>
              <a:t>종료되도</a:t>
            </a:r>
            <a:r>
              <a:rPr lang="ko-KR" altLang="en-US" sz="1400" dirty="0">
                <a:sym typeface="Wingdings" panose="05000000000000000000" pitchFamily="2" charset="2"/>
              </a:rPr>
              <a:t> 엑셀은 여전히 사용 가능</a:t>
            </a:r>
            <a:endParaRPr lang="en-US" altLang="ko-KR" sz="14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altLang="ko-KR" sz="14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altLang="ko-KR" sz="1400" dirty="0">
                <a:sym typeface="Wingdings" panose="05000000000000000000" pitchFamily="2" charset="2"/>
              </a:rPr>
              <a:t>-</a:t>
            </a:r>
            <a:r>
              <a:rPr lang="ko-KR" altLang="en-US" sz="1400" dirty="0">
                <a:sym typeface="Wingdings" panose="05000000000000000000" pitchFamily="2" charset="2"/>
              </a:rPr>
              <a:t>하나의 스레드가 예외를 발생시키면 프로세스 자체가 종료될 수 있음</a:t>
            </a:r>
            <a:endParaRPr lang="en-US" altLang="ko-KR" sz="14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altLang="ko-KR" sz="1400" dirty="0">
                <a:sym typeface="Wingdings" panose="05000000000000000000" pitchFamily="2" charset="2"/>
              </a:rPr>
              <a:t>ex)</a:t>
            </a:r>
            <a:r>
              <a:rPr lang="ko-KR" altLang="en-US" sz="1400" dirty="0">
                <a:sym typeface="Wingdings" panose="05000000000000000000" pitchFamily="2" charset="2"/>
              </a:rPr>
              <a:t>채팅</a:t>
            </a:r>
            <a:r>
              <a:rPr lang="en-US" altLang="ko-KR" sz="1400" dirty="0">
                <a:sym typeface="Wingdings" panose="05000000000000000000" pitchFamily="2" charset="2"/>
              </a:rPr>
              <a:t>, </a:t>
            </a:r>
            <a:r>
              <a:rPr lang="ko-KR" altLang="en-US" sz="1400" dirty="0">
                <a:sym typeface="Wingdings" panose="05000000000000000000" pitchFamily="2" charset="2"/>
              </a:rPr>
              <a:t>파일 전송</a:t>
            </a:r>
            <a:r>
              <a:rPr lang="en-US" altLang="ko-KR" sz="1400" dirty="0">
                <a:sym typeface="Wingdings" panose="05000000000000000000" pitchFamily="2" charset="2"/>
              </a:rPr>
              <a:t>, </a:t>
            </a:r>
            <a:r>
              <a:rPr lang="ko-KR" altLang="en-US" sz="1400" dirty="0" err="1">
                <a:sym typeface="Wingdings" panose="05000000000000000000" pitchFamily="2" charset="2"/>
              </a:rPr>
              <a:t>전화등의</a:t>
            </a:r>
            <a:r>
              <a:rPr lang="ko-KR" altLang="en-US" sz="1400" dirty="0">
                <a:sym typeface="Wingdings" panose="05000000000000000000" pitchFamily="2" charset="2"/>
              </a:rPr>
              <a:t> 기능을 제공하는 메신저에서 채팅 기능에 오류가 생기면 메신저 자체가 종료됨</a:t>
            </a:r>
            <a:endParaRPr lang="en-US" altLang="ko-KR" sz="14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altLang="ko-KR" sz="14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0AB3207-F4D2-42C8-10FA-4FAD4368BB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7087" y="1301105"/>
            <a:ext cx="5457825" cy="2390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74491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8CA6DA-F189-2195-9961-13585C5E58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C4BC609-F011-CFD1-FF9D-8ABD9BD695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1400" b="1" dirty="0"/>
              <a:t>메인 스레드</a:t>
            </a:r>
            <a:endParaRPr lang="en-US" altLang="ko-KR" sz="1400" b="1" dirty="0"/>
          </a:p>
          <a:p>
            <a:pPr marL="0" indent="0">
              <a:buNone/>
            </a:pPr>
            <a:endParaRPr lang="en-US" altLang="ko-KR" sz="1400" b="1" dirty="0"/>
          </a:p>
          <a:p>
            <a:pPr marL="0" indent="0">
              <a:buNone/>
            </a:pPr>
            <a:r>
              <a:rPr lang="ko-KR" altLang="en-US" sz="1400" dirty="0"/>
              <a:t>자바의 모든 애플리케이션은 메인 스레드</a:t>
            </a:r>
            <a:r>
              <a:rPr lang="en-US" altLang="ko-KR" sz="1400" dirty="0"/>
              <a:t>(main thread)</a:t>
            </a:r>
            <a:r>
              <a:rPr lang="ko-KR" altLang="en-US" sz="1400" dirty="0"/>
              <a:t>인</a:t>
            </a:r>
            <a:r>
              <a:rPr lang="en-US" altLang="ko-KR" sz="1400" dirty="0"/>
              <a:t> main()</a:t>
            </a:r>
            <a:r>
              <a:rPr lang="ko-KR" altLang="en-US" sz="1400" dirty="0"/>
              <a:t>메소드를 실행하면서 시작된다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ko-KR" altLang="en-US" sz="1400" dirty="0"/>
              <a:t>메인 스레드는 코드 </a:t>
            </a:r>
            <a:r>
              <a:rPr lang="ko-KR" altLang="en-US" sz="1400" dirty="0" err="1"/>
              <a:t>실행중</a:t>
            </a:r>
            <a:r>
              <a:rPr lang="ko-KR" altLang="en-US" sz="1400" dirty="0"/>
              <a:t> 필요에 따라 스레드를 추가할 수 있다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-</a:t>
            </a:r>
            <a:r>
              <a:rPr lang="ko-KR" altLang="en-US" sz="1400" dirty="0"/>
              <a:t>싱글 스레드는 메인 스레드가 종료되면 프로세스도 종료된다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en-US" altLang="ko-KR" sz="1400" dirty="0"/>
              <a:t>-</a:t>
            </a:r>
            <a:r>
              <a:rPr lang="ko-KR" altLang="en-US" sz="1400" dirty="0"/>
              <a:t>멀티 스레드는 실행 중인 스레드가 하나라도 있다면</a:t>
            </a:r>
            <a:r>
              <a:rPr lang="en-US" altLang="ko-KR" sz="1400" dirty="0"/>
              <a:t>, </a:t>
            </a:r>
            <a:r>
              <a:rPr lang="ko-KR" altLang="en-US" sz="1400" dirty="0"/>
              <a:t>프로세스는 종료되지 않는다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D49E58B-45EC-6A13-395C-82FE29F440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9925" y="1348589"/>
            <a:ext cx="5772150" cy="3581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52929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10CE41-8764-EC37-0955-B4C05BCF8C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CABEAA4-0905-FB44-CA61-DA6FB35DBF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1400" b="1" dirty="0"/>
              <a:t>작업 스레드 생성과 실행</a:t>
            </a:r>
            <a:endParaRPr lang="en-US" altLang="ko-KR" sz="1400" b="1" dirty="0"/>
          </a:p>
          <a:p>
            <a:pPr marL="0" indent="0">
              <a:buNone/>
            </a:pPr>
            <a:endParaRPr lang="en-US" altLang="ko-KR" sz="1400" b="1" dirty="0"/>
          </a:p>
          <a:p>
            <a:pPr marL="0" indent="0">
              <a:buNone/>
            </a:pPr>
            <a:r>
              <a:rPr lang="ko-KR" altLang="en-US" sz="1400" dirty="0"/>
              <a:t>자바에서는 작업 스레드를 객체로 생성할 수 있다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ko-KR" altLang="en-US" sz="1400" dirty="0"/>
              <a:t>방법</a:t>
            </a:r>
            <a:r>
              <a:rPr lang="en-US" altLang="ko-KR" sz="1400" dirty="0"/>
              <a:t>1. </a:t>
            </a:r>
            <a:r>
              <a:rPr lang="en-US" altLang="ko-KR" sz="1400" dirty="0" err="1"/>
              <a:t>java.lang.Thread</a:t>
            </a:r>
            <a:r>
              <a:rPr lang="en-US" altLang="ko-KR" sz="1400" dirty="0"/>
              <a:t> </a:t>
            </a:r>
            <a:r>
              <a:rPr lang="ko-KR" altLang="en-US" sz="1400" dirty="0"/>
              <a:t>클래스를 이용해서 직접 객체화</a:t>
            </a: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방법</a:t>
            </a:r>
            <a:r>
              <a:rPr lang="en-US" altLang="ko-KR" sz="1400" dirty="0"/>
              <a:t>2. Thread</a:t>
            </a:r>
            <a:r>
              <a:rPr lang="ko-KR" altLang="en-US" sz="1400" dirty="0"/>
              <a:t>클래스를 상속해서 하위 클래스를 만들어 생성</a:t>
            </a: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b="1" dirty="0"/>
              <a:t>방법</a:t>
            </a:r>
            <a:r>
              <a:rPr lang="en-US" altLang="ko-KR" sz="1400" b="1" dirty="0"/>
              <a:t>1. </a:t>
            </a:r>
            <a:r>
              <a:rPr lang="en-US" altLang="ko-KR" sz="1400" b="1" dirty="0" err="1"/>
              <a:t>java.lang.Thread</a:t>
            </a:r>
            <a:r>
              <a:rPr lang="en-US" altLang="ko-KR" sz="1400" b="1" dirty="0"/>
              <a:t> </a:t>
            </a:r>
            <a:r>
              <a:rPr lang="ko-KR" altLang="en-US" sz="1400" b="1" dirty="0"/>
              <a:t>클래스를 이용해서 직접 객체화</a:t>
            </a:r>
            <a:endParaRPr lang="en-US" altLang="ko-KR" sz="1400" b="1" dirty="0"/>
          </a:p>
          <a:p>
            <a:pPr marL="0" indent="0">
              <a:buNone/>
            </a:pPr>
            <a:r>
              <a:rPr lang="en-US" altLang="ko-KR" sz="1400" dirty="0"/>
              <a:t>Thread </a:t>
            </a:r>
            <a:r>
              <a:rPr lang="en-US" altLang="ko-KR" sz="1400" dirty="0" err="1"/>
              <a:t>thread</a:t>
            </a:r>
            <a:r>
              <a:rPr lang="en-US" altLang="ko-KR" sz="1400" dirty="0"/>
              <a:t> = new Thread(Runnable target);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Runnable: </a:t>
            </a:r>
            <a:r>
              <a:rPr lang="ko-KR" altLang="en-US" sz="1400" dirty="0"/>
              <a:t>작업 스레드가 실행할 수 있는 코드를 가진 객체</a:t>
            </a:r>
            <a:r>
              <a:rPr lang="en-US" altLang="ko-KR" sz="1400" dirty="0"/>
              <a:t>(</a:t>
            </a:r>
            <a:r>
              <a:rPr lang="ko-KR" altLang="en-US" sz="1400" dirty="0"/>
              <a:t>인터페이스</a:t>
            </a:r>
            <a:r>
              <a:rPr lang="en-US" altLang="ko-KR" sz="1400" dirty="0"/>
              <a:t>) </a:t>
            </a:r>
            <a:r>
              <a:rPr lang="en-US" altLang="ko-KR" sz="1400" dirty="0">
                <a:sym typeface="Wingdings" panose="05000000000000000000" pitchFamily="2" charset="2"/>
              </a:rPr>
              <a:t> </a:t>
            </a:r>
            <a:r>
              <a:rPr lang="ko-KR" altLang="en-US" sz="1400" dirty="0">
                <a:sym typeface="Wingdings" panose="05000000000000000000" pitchFamily="2" charset="2"/>
              </a:rPr>
              <a:t>구현 객체를 </a:t>
            </a:r>
            <a:r>
              <a:rPr lang="ko-KR" altLang="en-US" sz="1400" dirty="0" err="1">
                <a:sym typeface="Wingdings" panose="05000000000000000000" pitchFamily="2" charset="2"/>
              </a:rPr>
              <a:t>대입해야됨</a:t>
            </a:r>
            <a:endParaRPr lang="en-US" altLang="ko-KR" sz="14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altLang="ko-KR" sz="1400" dirty="0">
                <a:sym typeface="Wingdings" panose="05000000000000000000" pitchFamily="2" charset="2"/>
              </a:rPr>
              <a:t>ex)</a:t>
            </a:r>
          </a:p>
          <a:p>
            <a:pPr marL="0" indent="0">
              <a:buNone/>
            </a:pPr>
            <a:r>
              <a:rPr lang="en-US" altLang="ko-KR" sz="1400" dirty="0">
                <a:sym typeface="Wingdings" panose="05000000000000000000" pitchFamily="2" charset="2"/>
              </a:rPr>
              <a:t>Class Task </a:t>
            </a:r>
            <a:r>
              <a:rPr lang="en-US" altLang="ko-KR" sz="1400" dirty="0" err="1">
                <a:sym typeface="Wingdings" panose="05000000000000000000" pitchFamily="2" charset="2"/>
              </a:rPr>
              <a:t>implemenets</a:t>
            </a:r>
            <a:r>
              <a:rPr lang="en-US" altLang="ko-KR" sz="1400" dirty="0">
                <a:sym typeface="Wingdings" panose="05000000000000000000" pitchFamily="2" charset="2"/>
              </a:rPr>
              <a:t> Runnable{</a:t>
            </a:r>
          </a:p>
          <a:p>
            <a:pPr marL="0" indent="0">
              <a:buNone/>
            </a:pPr>
            <a:r>
              <a:rPr lang="en-US" altLang="ko-KR" sz="1400" dirty="0">
                <a:sym typeface="Wingdings" panose="05000000000000000000" pitchFamily="2" charset="2"/>
              </a:rPr>
              <a:t>	public void run(){</a:t>
            </a:r>
          </a:p>
          <a:p>
            <a:pPr marL="0" indent="0">
              <a:buNone/>
            </a:pPr>
            <a:r>
              <a:rPr lang="en-US" altLang="ko-KR" sz="1400" dirty="0">
                <a:sym typeface="Wingdings" panose="05000000000000000000" pitchFamily="2" charset="2"/>
              </a:rPr>
              <a:t>		//</a:t>
            </a:r>
            <a:r>
              <a:rPr lang="ko-KR" altLang="en-US" sz="1400" dirty="0">
                <a:sym typeface="Wingdings" panose="05000000000000000000" pitchFamily="2" charset="2"/>
              </a:rPr>
              <a:t>스레드가 실행할 코드</a:t>
            </a:r>
            <a:r>
              <a:rPr lang="en-US" altLang="ko-KR" sz="1400" dirty="0">
                <a:sym typeface="Wingdings" panose="05000000000000000000" pitchFamily="2" charset="2"/>
              </a:rPr>
              <a:t>;</a:t>
            </a:r>
          </a:p>
          <a:p>
            <a:pPr marL="0" indent="0">
              <a:buNone/>
            </a:pPr>
            <a:r>
              <a:rPr lang="en-US" altLang="ko-KR" sz="1400" dirty="0">
                <a:sym typeface="Wingdings" panose="05000000000000000000" pitchFamily="2" charset="2"/>
              </a:rPr>
              <a:t>	}                                                                        </a:t>
            </a:r>
          </a:p>
          <a:p>
            <a:pPr marL="0" indent="0">
              <a:buNone/>
            </a:pPr>
            <a:r>
              <a:rPr lang="en-US" altLang="ko-KR" sz="1400" dirty="0">
                <a:sym typeface="Wingdings" panose="05000000000000000000" pitchFamily="2" charset="2"/>
              </a:rPr>
              <a:t>}                                    </a:t>
            </a:r>
          </a:p>
          <a:p>
            <a:pPr marL="0" indent="0">
              <a:buNone/>
            </a:pPr>
            <a:endParaRPr lang="en-US" altLang="ko-KR" sz="14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altLang="ko-KR" sz="1400" dirty="0"/>
              <a:t>Thread </a:t>
            </a:r>
            <a:r>
              <a:rPr lang="en-US" altLang="ko-KR" sz="1400" dirty="0" err="1"/>
              <a:t>thread</a:t>
            </a:r>
            <a:r>
              <a:rPr lang="en-US" altLang="ko-KR" sz="1400" dirty="0"/>
              <a:t> = new Thread(task);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 err="1"/>
              <a:t>thread.start</a:t>
            </a:r>
            <a:r>
              <a:rPr lang="en-US" altLang="ko-KR" sz="1400" dirty="0"/>
              <a:t>(); //</a:t>
            </a:r>
            <a:r>
              <a:rPr lang="ko-KR" altLang="en-US" sz="1400" dirty="0"/>
              <a:t>작업 스레드는 생성 즉시 실행 되는 것이 아니라 </a:t>
            </a:r>
            <a:r>
              <a:rPr lang="en-US" altLang="ko-KR" sz="1400" dirty="0"/>
              <a:t>start()</a:t>
            </a:r>
            <a:r>
              <a:rPr lang="ko-KR" altLang="en-US" sz="1400" dirty="0"/>
              <a:t>를 </a:t>
            </a:r>
            <a:r>
              <a:rPr lang="ko-KR" altLang="en-US" sz="1400" dirty="0" err="1"/>
              <a:t>호출해야됨</a:t>
            </a:r>
            <a:endParaRPr lang="en-US" altLang="ko-KR" sz="14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6B2EF0A-B3F7-B352-2A10-0DCD3CD484B3}"/>
              </a:ext>
            </a:extLst>
          </p:cNvPr>
          <p:cNvSpPr txBox="1"/>
          <p:nvPr/>
        </p:nvSpPr>
        <p:spPr>
          <a:xfrm>
            <a:off x="6717670" y="3992578"/>
            <a:ext cx="4762123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Thread </a:t>
            </a:r>
            <a:r>
              <a:rPr lang="en-US" altLang="ko-KR" sz="1400" dirty="0" err="1"/>
              <a:t>thread</a:t>
            </a:r>
            <a:r>
              <a:rPr lang="en-US" altLang="ko-KR" sz="1400" dirty="0"/>
              <a:t> = new Thread(new Runnable(){</a:t>
            </a:r>
          </a:p>
          <a:p>
            <a:pPr marL="0" indent="0">
              <a:buNone/>
            </a:pPr>
            <a:r>
              <a:rPr lang="en-US" altLang="ko-KR" sz="1400" dirty="0"/>
              <a:t>	</a:t>
            </a:r>
            <a:r>
              <a:rPr lang="en-US" altLang="ko-KR" sz="1400" dirty="0">
                <a:sym typeface="Wingdings" panose="05000000000000000000" pitchFamily="2" charset="2"/>
              </a:rPr>
              <a:t>public void run(){</a:t>
            </a:r>
          </a:p>
          <a:p>
            <a:pPr marL="0" indent="0">
              <a:buNone/>
            </a:pPr>
            <a:r>
              <a:rPr lang="en-US" altLang="ko-KR" sz="1400" dirty="0">
                <a:sym typeface="Wingdings" panose="05000000000000000000" pitchFamily="2" charset="2"/>
              </a:rPr>
              <a:t>		//</a:t>
            </a:r>
            <a:r>
              <a:rPr lang="ko-KR" altLang="en-US" sz="1400" dirty="0">
                <a:sym typeface="Wingdings" panose="05000000000000000000" pitchFamily="2" charset="2"/>
              </a:rPr>
              <a:t>스레드가 실행할 코드</a:t>
            </a:r>
            <a:r>
              <a:rPr lang="en-US" altLang="ko-KR" sz="1400" dirty="0">
                <a:sym typeface="Wingdings" panose="05000000000000000000" pitchFamily="2" charset="2"/>
              </a:rPr>
              <a:t>;</a:t>
            </a:r>
          </a:p>
          <a:p>
            <a:pPr marL="0" indent="0">
              <a:buNone/>
            </a:pPr>
            <a:r>
              <a:rPr lang="en-US" altLang="ko-KR" sz="1400" dirty="0">
                <a:sym typeface="Wingdings" panose="05000000000000000000" pitchFamily="2" charset="2"/>
              </a:rPr>
              <a:t>	}</a:t>
            </a:r>
          </a:p>
          <a:p>
            <a:r>
              <a:rPr lang="en-US" altLang="ko-KR" sz="1400" dirty="0"/>
              <a:t>});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42640518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279C38-0670-BE8B-835C-881A6B844F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5A372B9-27A8-6516-A9A4-6D29497216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ko-KR" altLang="en-US" sz="1400" b="1" dirty="0"/>
              <a:t>비프음을 발생시켜주는 프로그램 </a:t>
            </a:r>
            <a:r>
              <a:rPr lang="en-US" altLang="ko-KR" sz="1400" b="1" dirty="0"/>
              <a:t>– </a:t>
            </a:r>
            <a:r>
              <a:rPr lang="ko-KR" altLang="en-US" sz="1400" b="1" dirty="0"/>
              <a:t>메인 스레드만 이용</a:t>
            </a:r>
            <a:endParaRPr lang="en-US" altLang="ko-KR" sz="1400" b="1" dirty="0"/>
          </a:p>
          <a:p>
            <a:pPr marL="0" indent="0">
              <a:buNone/>
            </a:pPr>
            <a:r>
              <a:rPr lang="en-US" altLang="ko-KR" sz="1400" dirty="0"/>
              <a:t>import </a:t>
            </a:r>
            <a:r>
              <a:rPr lang="en-US" altLang="ko-KR" sz="1400" dirty="0" err="1"/>
              <a:t>java.awt.Toolkit</a:t>
            </a:r>
            <a:r>
              <a:rPr lang="en-US" altLang="ko-KR" sz="1400" dirty="0"/>
              <a:t>;</a:t>
            </a:r>
          </a:p>
          <a:p>
            <a:pPr marL="0" indent="0">
              <a:buNone/>
            </a:pPr>
            <a:r>
              <a:rPr lang="en-US" altLang="ko-KR" sz="1400" dirty="0"/>
              <a:t>public class BeepPrintExample1 {</a:t>
            </a:r>
          </a:p>
          <a:p>
            <a:pPr marL="0" indent="0">
              <a:buNone/>
            </a:pPr>
            <a:r>
              <a:rPr lang="en-US" altLang="ko-KR" sz="1400" dirty="0"/>
              <a:t>    public static void main(String[] </a:t>
            </a:r>
            <a:r>
              <a:rPr lang="en-US" altLang="ko-KR" sz="1400" dirty="0" err="1"/>
              <a:t>args</a:t>
            </a:r>
            <a:r>
              <a:rPr lang="en-US" altLang="ko-KR" sz="1400" dirty="0"/>
              <a:t>) {</a:t>
            </a:r>
          </a:p>
          <a:p>
            <a:pPr marL="0" indent="0">
              <a:buNone/>
            </a:pPr>
            <a:r>
              <a:rPr lang="en-US" altLang="ko-KR" sz="1400" dirty="0"/>
              <a:t>        // Toolkit </a:t>
            </a:r>
            <a:r>
              <a:rPr lang="ko-KR" altLang="en-US" sz="1400" dirty="0"/>
              <a:t>객체를 생성하여 시스템 기본 </a:t>
            </a:r>
            <a:r>
              <a:rPr lang="ko-KR" altLang="en-US" sz="1400" dirty="0" err="1"/>
              <a:t>툴킷을</a:t>
            </a:r>
            <a:r>
              <a:rPr lang="ko-KR" altLang="en-US" sz="1400" dirty="0"/>
              <a:t> 가져옴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Toolkit </a:t>
            </a:r>
            <a:r>
              <a:rPr lang="en-US" altLang="ko-KR" sz="1400" dirty="0" err="1"/>
              <a:t>toolkit</a:t>
            </a:r>
            <a:r>
              <a:rPr lang="en-US" altLang="ko-KR" sz="1400" dirty="0"/>
              <a:t> = </a:t>
            </a:r>
            <a:r>
              <a:rPr lang="en-US" altLang="ko-KR" sz="1400" dirty="0" err="1"/>
              <a:t>Toolkit.getDefaultToolkit</a:t>
            </a:r>
            <a:r>
              <a:rPr lang="en-US" altLang="ko-KR" sz="1400" dirty="0"/>
              <a:t>();</a:t>
            </a:r>
          </a:p>
          <a:p>
            <a:pPr marL="0" indent="0">
              <a:buNone/>
            </a:pPr>
            <a:r>
              <a:rPr lang="en-US" altLang="ko-KR" sz="1400" dirty="0"/>
              <a:t>        </a:t>
            </a:r>
          </a:p>
          <a:p>
            <a:pPr marL="0" indent="0">
              <a:buNone/>
            </a:pPr>
            <a:r>
              <a:rPr lang="en-US" altLang="ko-KR" sz="1400" dirty="0"/>
              <a:t>        // </a:t>
            </a:r>
            <a:r>
              <a:rPr lang="ko-KR" altLang="en-US" sz="1400" dirty="0"/>
              <a:t>비프음을 </a:t>
            </a:r>
            <a:r>
              <a:rPr lang="en-US" altLang="ko-KR" sz="1400" dirty="0"/>
              <a:t>5</a:t>
            </a:r>
            <a:r>
              <a:rPr lang="ko-KR" altLang="en-US" sz="1400" dirty="0"/>
              <a:t>번 반복 출력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for (int </a:t>
            </a:r>
            <a:r>
              <a:rPr lang="en-US" altLang="ko-KR" sz="1400" dirty="0" err="1"/>
              <a:t>i</a:t>
            </a:r>
            <a:r>
              <a:rPr lang="en-US" altLang="ko-KR" sz="1400" dirty="0"/>
              <a:t> = 0; </a:t>
            </a:r>
            <a:r>
              <a:rPr lang="en-US" altLang="ko-KR" sz="1400" dirty="0" err="1"/>
              <a:t>i</a:t>
            </a:r>
            <a:r>
              <a:rPr lang="en-US" altLang="ko-KR" sz="1400" dirty="0"/>
              <a:t> &lt; 5; </a:t>
            </a:r>
            <a:r>
              <a:rPr lang="en-US" altLang="ko-KR" sz="1400" dirty="0" err="1"/>
              <a:t>i</a:t>
            </a:r>
            <a:r>
              <a:rPr lang="en-US" altLang="ko-KR" sz="1400" dirty="0"/>
              <a:t>++) {</a:t>
            </a:r>
          </a:p>
          <a:p>
            <a:pPr marL="0" indent="0">
              <a:buNone/>
            </a:pPr>
            <a:r>
              <a:rPr lang="en-US" altLang="ko-KR" sz="1400" dirty="0"/>
              <a:t>            </a:t>
            </a:r>
            <a:r>
              <a:rPr lang="en-US" altLang="ko-KR" sz="1400" dirty="0" err="1"/>
              <a:t>toolkit.beep</a:t>
            </a:r>
            <a:r>
              <a:rPr lang="en-US" altLang="ko-KR" sz="1400" dirty="0"/>
              <a:t>(); // </a:t>
            </a:r>
            <a:r>
              <a:rPr lang="ko-KR" altLang="en-US" sz="1400" dirty="0" err="1"/>
              <a:t>비프음</a:t>
            </a:r>
            <a:r>
              <a:rPr lang="ko-KR" altLang="en-US" sz="1400" dirty="0"/>
              <a:t> 출력</a:t>
            </a:r>
          </a:p>
          <a:p>
            <a:pPr marL="0" indent="0">
              <a:buNone/>
            </a:pPr>
            <a:r>
              <a:rPr lang="ko-KR" altLang="en-US" sz="1400" dirty="0"/>
              <a:t>            </a:t>
            </a:r>
            <a:r>
              <a:rPr lang="en-US" altLang="ko-KR" sz="1400" dirty="0"/>
              <a:t>try {</a:t>
            </a:r>
          </a:p>
          <a:p>
            <a:pPr marL="0" indent="0">
              <a:buNone/>
            </a:pPr>
            <a:r>
              <a:rPr lang="en-US" altLang="ko-KR" sz="1400" dirty="0"/>
              <a:t>                </a:t>
            </a:r>
            <a:r>
              <a:rPr lang="en-US" altLang="ko-KR" sz="1400" dirty="0" err="1"/>
              <a:t>Thread.sleep</a:t>
            </a:r>
            <a:r>
              <a:rPr lang="en-US" altLang="ko-KR" sz="1400" dirty="0"/>
              <a:t>(500); // 0.5</a:t>
            </a:r>
            <a:r>
              <a:rPr lang="ko-KR" altLang="en-US" sz="1400" dirty="0"/>
              <a:t>초 대기</a:t>
            </a:r>
          </a:p>
          <a:p>
            <a:pPr marL="0" indent="0">
              <a:buNone/>
            </a:pPr>
            <a:r>
              <a:rPr lang="ko-KR" altLang="en-US" sz="1400" dirty="0"/>
              <a:t>            </a:t>
            </a:r>
            <a:r>
              <a:rPr lang="en-US" altLang="ko-KR" sz="1400" dirty="0"/>
              <a:t>} catch (Exception e) {</a:t>
            </a:r>
          </a:p>
          <a:p>
            <a:pPr marL="0" indent="0">
              <a:buNone/>
            </a:pPr>
            <a:r>
              <a:rPr lang="en-US" altLang="ko-KR" sz="1400" dirty="0"/>
              <a:t>                // </a:t>
            </a:r>
            <a:r>
              <a:rPr lang="ko-KR" altLang="en-US" sz="1400" dirty="0"/>
              <a:t>예외 발생 시 처리 </a:t>
            </a:r>
            <a:r>
              <a:rPr lang="en-US" altLang="ko-KR" sz="1400" dirty="0"/>
              <a:t>(</a:t>
            </a:r>
            <a:r>
              <a:rPr lang="ko-KR" altLang="en-US" sz="1400" dirty="0"/>
              <a:t>빈 블록</a:t>
            </a:r>
            <a:r>
              <a:rPr lang="en-US" altLang="ko-KR" sz="1400" dirty="0"/>
              <a:t>)</a:t>
            </a:r>
          </a:p>
          <a:p>
            <a:pPr marL="0" indent="0">
              <a:buNone/>
            </a:pPr>
            <a:r>
              <a:rPr lang="en-US" altLang="ko-KR" sz="1400" dirty="0"/>
              <a:t>            }</a:t>
            </a:r>
          </a:p>
          <a:p>
            <a:pPr marL="0" indent="0">
              <a:buNone/>
            </a:pPr>
            <a:r>
              <a:rPr lang="en-US" altLang="ko-KR" sz="1400" dirty="0"/>
              <a:t>        }</a:t>
            </a:r>
          </a:p>
          <a:p>
            <a:pPr marL="0" indent="0">
              <a:buNone/>
            </a:pPr>
            <a:r>
              <a:rPr lang="en-US" altLang="ko-KR" sz="1400" dirty="0"/>
              <a:t>        // “</a:t>
            </a:r>
            <a:r>
              <a:rPr lang="ko-KR" altLang="en-US" sz="1400" dirty="0"/>
              <a:t>삑</a:t>
            </a:r>
            <a:r>
              <a:rPr lang="el-GR" altLang="ko-KR" sz="1400" dirty="0"/>
              <a:t>" </a:t>
            </a:r>
            <a:r>
              <a:rPr lang="ko-KR" altLang="en-US" sz="1400" dirty="0"/>
              <a:t>문자열을 </a:t>
            </a:r>
            <a:r>
              <a:rPr lang="en-US" altLang="ko-KR" sz="1400" dirty="0"/>
              <a:t>5</a:t>
            </a:r>
            <a:r>
              <a:rPr lang="ko-KR" altLang="en-US" sz="1400" dirty="0"/>
              <a:t>번 출력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for (int </a:t>
            </a:r>
            <a:r>
              <a:rPr lang="en-US" altLang="ko-KR" sz="1400" dirty="0" err="1"/>
              <a:t>i</a:t>
            </a:r>
            <a:r>
              <a:rPr lang="en-US" altLang="ko-KR" sz="1400" dirty="0"/>
              <a:t> = 0; </a:t>
            </a:r>
            <a:r>
              <a:rPr lang="en-US" altLang="ko-KR" sz="1400" dirty="0" err="1"/>
              <a:t>i</a:t>
            </a:r>
            <a:r>
              <a:rPr lang="en-US" altLang="ko-KR" sz="1400" dirty="0"/>
              <a:t> &lt; 5; </a:t>
            </a:r>
            <a:r>
              <a:rPr lang="en-US" altLang="ko-KR" sz="1400" dirty="0" err="1"/>
              <a:t>i</a:t>
            </a:r>
            <a:r>
              <a:rPr lang="en-US" altLang="ko-KR" sz="1400" dirty="0"/>
              <a:t>++) {</a:t>
            </a:r>
          </a:p>
          <a:p>
            <a:pPr marL="0" indent="0">
              <a:buNone/>
            </a:pPr>
            <a:r>
              <a:rPr lang="en-US" altLang="ko-KR" sz="1400" dirty="0"/>
              <a:t>    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(“beep</a:t>
            </a:r>
            <a:r>
              <a:rPr lang="el-GR" altLang="ko-KR" sz="1400" dirty="0"/>
              <a:t>"); // </a:t>
            </a:r>
            <a:r>
              <a:rPr lang="ko-KR" altLang="en-US" sz="1400" dirty="0"/>
              <a:t>문자열 출력</a:t>
            </a:r>
          </a:p>
          <a:p>
            <a:pPr marL="0" indent="0">
              <a:buNone/>
            </a:pPr>
            <a:r>
              <a:rPr lang="ko-KR" altLang="en-US" sz="1400" dirty="0"/>
              <a:t>            </a:t>
            </a:r>
            <a:r>
              <a:rPr lang="en-US" altLang="ko-KR" sz="1400" dirty="0"/>
              <a:t>try {</a:t>
            </a:r>
          </a:p>
          <a:p>
            <a:pPr marL="0" indent="0">
              <a:buNone/>
            </a:pPr>
            <a:r>
              <a:rPr lang="en-US" altLang="ko-KR" sz="1400" dirty="0"/>
              <a:t>                </a:t>
            </a:r>
            <a:r>
              <a:rPr lang="en-US" altLang="ko-KR" sz="1400" dirty="0" err="1"/>
              <a:t>Thread.sleep</a:t>
            </a:r>
            <a:r>
              <a:rPr lang="en-US" altLang="ko-KR" sz="1400" dirty="0"/>
              <a:t>(500); // 0.5</a:t>
            </a:r>
            <a:r>
              <a:rPr lang="ko-KR" altLang="en-US" sz="1400" dirty="0"/>
              <a:t>초 대기</a:t>
            </a:r>
          </a:p>
          <a:p>
            <a:pPr marL="0" indent="0">
              <a:buNone/>
            </a:pPr>
            <a:r>
              <a:rPr lang="ko-KR" altLang="en-US" sz="1400" dirty="0"/>
              <a:t>            </a:t>
            </a:r>
            <a:r>
              <a:rPr lang="en-US" altLang="ko-KR" sz="1400" dirty="0"/>
              <a:t>} catch (Exception e) {</a:t>
            </a:r>
          </a:p>
          <a:p>
            <a:pPr marL="0" indent="0">
              <a:buNone/>
            </a:pPr>
            <a:r>
              <a:rPr lang="en-US" altLang="ko-KR" sz="1400" dirty="0"/>
              <a:t>                // </a:t>
            </a:r>
            <a:r>
              <a:rPr lang="ko-KR" altLang="en-US" sz="1400" dirty="0"/>
              <a:t>예외 발생 시 처리 </a:t>
            </a:r>
            <a:r>
              <a:rPr lang="en-US" altLang="ko-KR" sz="1400" dirty="0"/>
              <a:t>(</a:t>
            </a:r>
            <a:r>
              <a:rPr lang="ko-KR" altLang="en-US" sz="1400" dirty="0"/>
              <a:t>빈 블록</a:t>
            </a:r>
            <a:r>
              <a:rPr lang="en-US" altLang="ko-KR" sz="1400" dirty="0"/>
              <a:t>)</a:t>
            </a:r>
          </a:p>
          <a:p>
            <a:pPr marL="0" indent="0">
              <a:buNone/>
            </a:pPr>
            <a:r>
              <a:rPr lang="en-US" altLang="ko-KR" sz="1400" dirty="0"/>
              <a:t>            }</a:t>
            </a:r>
          </a:p>
          <a:p>
            <a:pPr marL="0" indent="0">
              <a:buNone/>
            </a:pPr>
            <a:r>
              <a:rPr lang="en-US" altLang="ko-KR" sz="1400" dirty="0"/>
              <a:t>        }</a:t>
            </a:r>
          </a:p>
          <a:p>
            <a:pPr marL="0" indent="0">
              <a:buNone/>
            </a:pPr>
            <a:r>
              <a:rPr lang="en-US" altLang="ko-KR" sz="1400" dirty="0"/>
              <a:t>    }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  <a:p>
            <a:pPr marL="0" indent="0">
              <a:buNone/>
            </a:pPr>
            <a:endParaRPr lang="en-US" altLang="ko-KR" sz="14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AFEF2E9-4ACB-EC84-051C-74D942111D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06772" y="2054570"/>
            <a:ext cx="1005123" cy="2087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76690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62EE85-EF3C-9713-03F8-D963FA3698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086EA15-3EAE-2932-37AA-1EC02174F4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ko-KR" altLang="en-US" sz="1400" b="1" dirty="0"/>
              <a:t>비프음을 발생시켜주는 프로그램 </a:t>
            </a:r>
            <a:r>
              <a:rPr lang="en-US" altLang="ko-KR" sz="1400" b="1" dirty="0"/>
              <a:t>– </a:t>
            </a:r>
            <a:r>
              <a:rPr lang="ko-KR" altLang="en-US" sz="1400" b="1" dirty="0"/>
              <a:t>작업 스레드 이용</a:t>
            </a:r>
            <a:endParaRPr lang="en-US" altLang="ko-KR" sz="1400" b="1" dirty="0"/>
          </a:p>
          <a:p>
            <a:pPr marL="0" indent="0">
              <a:buNone/>
            </a:pPr>
            <a:endParaRPr lang="en-US" altLang="ko-KR" sz="1400" b="1" dirty="0"/>
          </a:p>
          <a:p>
            <a:pPr marL="0" indent="0">
              <a:buNone/>
            </a:pPr>
            <a:r>
              <a:rPr lang="en-US" altLang="ko-KR" sz="1400" dirty="0"/>
              <a:t>import </a:t>
            </a:r>
            <a:r>
              <a:rPr lang="en-US" altLang="ko-KR" sz="1400" dirty="0" err="1"/>
              <a:t>java.awt.Toolkit</a:t>
            </a:r>
            <a:r>
              <a:rPr lang="en-US" altLang="ko-KR" sz="1400" dirty="0"/>
              <a:t>;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// Runnable </a:t>
            </a:r>
            <a:r>
              <a:rPr lang="ko-KR" altLang="en-US" sz="1400" dirty="0"/>
              <a:t>인터페이스를 구현하여 </a:t>
            </a:r>
            <a:r>
              <a:rPr lang="en-US" altLang="ko-KR" sz="1400" dirty="0" err="1"/>
              <a:t>BeepTask</a:t>
            </a:r>
            <a:r>
              <a:rPr lang="en-US" altLang="ko-KR" sz="1400" dirty="0"/>
              <a:t> </a:t>
            </a:r>
            <a:r>
              <a:rPr lang="ko-KR" altLang="en-US" sz="1400" dirty="0"/>
              <a:t>클래스 정의</a:t>
            </a:r>
          </a:p>
          <a:p>
            <a:pPr marL="0" indent="0">
              <a:buNone/>
            </a:pPr>
            <a:r>
              <a:rPr lang="en-US" altLang="ko-KR" sz="1400" dirty="0"/>
              <a:t>public class </a:t>
            </a:r>
            <a:r>
              <a:rPr lang="en-US" altLang="ko-KR" sz="1400" dirty="0" err="1"/>
              <a:t>BeepTask</a:t>
            </a:r>
            <a:r>
              <a:rPr lang="en-US" altLang="ko-KR" sz="1400" dirty="0"/>
              <a:t> implements Runnable {	</a:t>
            </a:r>
          </a:p>
          <a:p>
            <a:pPr marL="0" indent="0">
              <a:buNone/>
            </a:pPr>
            <a:r>
              <a:rPr lang="en-US" altLang="ko-KR" sz="1400" dirty="0"/>
              <a:t>    // run() </a:t>
            </a:r>
            <a:r>
              <a:rPr lang="ko-KR" altLang="en-US" sz="1400" dirty="0"/>
              <a:t>메서드는 스레드가 실행할 작업을 정의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public void run() {</a:t>
            </a:r>
          </a:p>
          <a:p>
            <a:pPr marL="0" indent="0">
              <a:buNone/>
            </a:pPr>
            <a:r>
              <a:rPr lang="en-US" altLang="ko-KR" sz="1400" dirty="0"/>
              <a:t>        // Toolkit </a:t>
            </a:r>
            <a:r>
              <a:rPr lang="ko-KR" altLang="en-US" sz="1400" dirty="0"/>
              <a:t>객체를 생성하여 시스템 기본 </a:t>
            </a:r>
            <a:r>
              <a:rPr lang="ko-KR" altLang="en-US" sz="1400" dirty="0" err="1"/>
              <a:t>툴킷을</a:t>
            </a:r>
            <a:r>
              <a:rPr lang="ko-KR" altLang="en-US" sz="1400" dirty="0"/>
              <a:t> 가져옴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Toolkit </a:t>
            </a:r>
            <a:r>
              <a:rPr lang="en-US" altLang="ko-KR" sz="1400" dirty="0" err="1"/>
              <a:t>toolkit</a:t>
            </a:r>
            <a:r>
              <a:rPr lang="en-US" altLang="ko-KR" sz="1400" dirty="0"/>
              <a:t> = </a:t>
            </a:r>
            <a:r>
              <a:rPr lang="en-US" altLang="ko-KR" sz="1400" dirty="0" err="1"/>
              <a:t>Toolkit.getDefaultToolkit</a:t>
            </a:r>
            <a:r>
              <a:rPr lang="en-US" altLang="ko-KR" sz="1400" dirty="0"/>
              <a:t>();</a:t>
            </a:r>
          </a:p>
          <a:p>
            <a:pPr marL="0" indent="0">
              <a:buNone/>
            </a:pPr>
            <a:r>
              <a:rPr lang="en-US" altLang="ko-KR" sz="1400" dirty="0"/>
              <a:t>        </a:t>
            </a:r>
          </a:p>
          <a:p>
            <a:pPr marL="0" indent="0">
              <a:buNone/>
            </a:pPr>
            <a:r>
              <a:rPr lang="en-US" altLang="ko-KR" sz="1400" dirty="0"/>
              <a:t>        // </a:t>
            </a:r>
            <a:r>
              <a:rPr lang="ko-KR" altLang="en-US" sz="1400" dirty="0"/>
              <a:t>비프음을 </a:t>
            </a:r>
            <a:r>
              <a:rPr lang="en-US" altLang="ko-KR" sz="1400" dirty="0"/>
              <a:t>5</a:t>
            </a:r>
            <a:r>
              <a:rPr lang="ko-KR" altLang="en-US" sz="1400" dirty="0"/>
              <a:t>번 반복 출력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for (int </a:t>
            </a:r>
            <a:r>
              <a:rPr lang="en-US" altLang="ko-KR" sz="1400" dirty="0" err="1"/>
              <a:t>i</a:t>
            </a:r>
            <a:r>
              <a:rPr lang="en-US" altLang="ko-KR" sz="1400" dirty="0"/>
              <a:t> = 0; </a:t>
            </a:r>
            <a:r>
              <a:rPr lang="en-US" altLang="ko-KR" sz="1400" dirty="0" err="1"/>
              <a:t>i</a:t>
            </a:r>
            <a:r>
              <a:rPr lang="en-US" altLang="ko-KR" sz="1400" dirty="0"/>
              <a:t> &lt; 5; </a:t>
            </a:r>
            <a:r>
              <a:rPr lang="en-US" altLang="ko-KR" sz="1400" dirty="0" err="1"/>
              <a:t>i</a:t>
            </a:r>
            <a:r>
              <a:rPr lang="en-US" altLang="ko-KR" sz="1400" dirty="0"/>
              <a:t>++) {</a:t>
            </a:r>
          </a:p>
          <a:p>
            <a:pPr marL="0" indent="0">
              <a:buNone/>
            </a:pPr>
            <a:r>
              <a:rPr lang="en-US" altLang="ko-KR" sz="1400" dirty="0"/>
              <a:t>            </a:t>
            </a:r>
            <a:r>
              <a:rPr lang="en-US" altLang="ko-KR" sz="1400" dirty="0" err="1"/>
              <a:t>toolkit.beep</a:t>
            </a:r>
            <a:r>
              <a:rPr lang="en-US" altLang="ko-KR" sz="1400" dirty="0"/>
              <a:t>(); // </a:t>
            </a:r>
            <a:r>
              <a:rPr lang="ko-KR" altLang="en-US" sz="1400" dirty="0" err="1"/>
              <a:t>비프음</a:t>
            </a:r>
            <a:r>
              <a:rPr lang="ko-KR" altLang="en-US" sz="1400" dirty="0"/>
              <a:t> 출력</a:t>
            </a:r>
          </a:p>
          <a:p>
            <a:pPr marL="0" indent="0">
              <a:buNone/>
            </a:pPr>
            <a:r>
              <a:rPr lang="ko-KR" altLang="en-US" sz="1400" dirty="0"/>
              <a:t>            </a:t>
            </a:r>
            <a:r>
              <a:rPr lang="en-US" altLang="ko-KR" sz="1400" dirty="0"/>
              <a:t>try {</a:t>
            </a:r>
          </a:p>
          <a:p>
            <a:pPr marL="0" indent="0">
              <a:buNone/>
            </a:pPr>
            <a:r>
              <a:rPr lang="en-US" altLang="ko-KR" sz="1400" dirty="0"/>
              <a:t>                </a:t>
            </a:r>
            <a:r>
              <a:rPr lang="en-US" altLang="ko-KR" sz="1400" dirty="0" err="1"/>
              <a:t>Thread.sleep</a:t>
            </a:r>
            <a:r>
              <a:rPr lang="en-US" altLang="ko-KR" sz="1400" dirty="0"/>
              <a:t>(500); // 0.5</a:t>
            </a:r>
            <a:r>
              <a:rPr lang="ko-KR" altLang="en-US" sz="1400" dirty="0"/>
              <a:t>초 대기</a:t>
            </a:r>
          </a:p>
          <a:p>
            <a:pPr marL="0" indent="0">
              <a:buNone/>
            </a:pPr>
            <a:r>
              <a:rPr lang="ko-KR" altLang="en-US" sz="1400" dirty="0"/>
              <a:t>            </a:t>
            </a:r>
            <a:r>
              <a:rPr lang="en-US" altLang="ko-KR" sz="1400" dirty="0"/>
              <a:t>} catch (Exception e) {</a:t>
            </a:r>
          </a:p>
          <a:p>
            <a:pPr marL="0" indent="0">
              <a:buNone/>
            </a:pPr>
            <a:r>
              <a:rPr lang="en-US" altLang="ko-KR" sz="1400" dirty="0"/>
              <a:t>                // </a:t>
            </a:r>
            <a:r>
              <a:rPr lang="ko-KR" altLang="en-US" sz="1400" dirty="0"/>
              <a:t>예외 발생 시 처리 </a:t>
            </a:r>
            <a:r>
              <a:rPr lang="en-US" altLang="ko-KR" sz="1400" dirty="0"/>
              <a:t>(</a:t>
            </a:r>
            <a:r>
              <a:rPr lang="ko-KR" altLang="en-US" sz="1400" dirty="0"/>
              <a:t>빈 블록</a:t>
            </a:r>
            <a:r>
              <a:rPr lang="en-US" altLang="ko-KR" sz="1400" dirty="0"/>
              <a:t>)</a:t>
            </a:r>
          </a:p>
          <a:p>
            <a:pPr marL="0" indent="0">
              <a:buNone/>
            </a:pPr>
            <a:r>
              <a:rPr lang="en-US" altLang="ko-KR" sz="1400" dirty="0"/>
              <a:t>            }</a:t>
            </a:r>
          </a:p>
          <a:p>
            <a:pPr marL="0" indent="0">
              <a:buNone/>
            </a:pPr>
            <a:r>
              <a:rPr lang="en-US" altLang="ko-KR" sz="1400" dirty="0"/>
              <a:t>        }</a:t>
            </a:r>
          </a:p>
          <a:p>
            <a:pPr marL="0" indent="0">
              <a:buNone/>
            </a:pPr>
            <a:r>
              <a:rPr lang="en-US" altLang="ko-KR" sz="1400" dirty="0"/>
              <a:t>    }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  <a:p>
            <a:pPr marL="0" indent="0">
              <a:buNone/>
            </a:pPr>
            <a:endParaRPr lang="en-US" altLang="ko-KR" sz="14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FDAE1D-0E24-C327-6FCD-3CDB32D14AD2}"/>
              </a:ext>
            </a:extLst>
          </p:cNvPr>
          <p:cNvSpPr txBox="1"/>
          <p:nvPr/>
        </p:nvSpPr>
        <p:spPr>
          <a:xfrm>
            <a:off x="6096000" y="905232"/>
            <a:ext cx="5685576" cy="504753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// BeepPrintExample2 </a:t>
            </a:r>
            <a:r>
              <a:rPr lang="ko-KR" altLang="en-US" sz="1400" dirty="0"/>
              <a:t>클래스</a:t>
            </a:r>
            <a:r>
              <a:rPr lang="en-US" altLang="ko-KR" sz="1400" dirty="0"/>
              <a:t>: </a:t>
            </a:r>
            <a:r>
              <a:rPr lang="ko-KR" altLang="en-US" sz="1400" dirty="0"/>
              <a:t>메인 스레드와 별도 스레드에서 작업 실행</a:t>
            </a:r>
          </a:p>
          <a:p>
            <a:r>
              <a:rPr lang="en-US" altLang="ko-KR" sz="1400" dirty="0"/>
              <a:t>public class BeepPrintExample2 {</a:t>
            </a:r>
          </a:p>
          <a:p>
            <a:r>
              <a:rPr lang="en-US" altLang="ko-KR" sz="1400" dirty="0"/>
              <a:t>    public static void main(String[] </a:t>
            </a:r>
            <a:r>
              <a:rPr lang="en-US" altLang="ko-KR" sz="1400" dirty="0" err="1"/>
              <a:t>args</a:t>
            </a:r>
            <a:r>
              <a:rPr lang="en-US" altLang="ko-KR" sz="1400" dirty="0"/>
              <a:t>) {</a:t>
            </a:r>
          </a:p>
          <a:p>
            <a:r>
              <a:rPr lang="en-US" altLang="ko-KR" sz="1400" dirty="0"/>
              <a:t>        // </a:t>
            </a:r>
            <a:r>
              <a:rPr lang="en-US" altLang="ko-KR" sz="1400" dirty="0" err="1"/>
              <a:t>BeepTask</a:t>
            </a:r>
            <a:r>
              <a:rPr lang="ko-KR" altLang="en-US" sz="1400" dirty="0"/>
              <a:t>를 </a:t>
            </a:r>
            <a:r>
              <a:rPr lang="en-US" altLang="ko-KR" sz="1400" dirty="0"/>
              <a:t>Runnable </a:t>
            </a:r>
            <a:r>
              <a:rPr lang="ko-KR" altLang="en-US" sz="1400" dirty="0"/>
              <a:t>타입으로 생성</a:t>
            </a:r>
          </a:p>
          <a:p>
            <a:r>
              <a:rPr lang="ko-KR" altLang="en-US" sz="1400" dirty="0"/>
              <a:t>        </a:t>
            </a:r>
            <a:r>
              <a:rPr lang="en-US" altLang="ko-KR" sz="1400" dirty="0"/>
              <a:t>Runnable </a:t>
            </a:r>
            <a:r>
              <a:rPr lang="en-US" altLang="ko-KR" sz="1400" dirty="0" err="1"/>
              <a:t>beepTask</a:t>
            </a:r>
            <a:r>
              <a:rPr lang="en-US" altLang="ko-KR" sz="1400" dirty="0"/>
              <a:t> = new </a:t>
            </a:r>
            <a:r>
              <a:rPr lang="en-US" altLang="ko-KR" sz="1400" dirty="0" err="1"/>
              <a:t>BeepTask</a:t>
            </a:r>
            <a:r>
              <a:rPr lang="en-US" altLang="ko-KR" sz="1400" dirty="0"/>
              <a:t>();</a:t>
            </a:r>
          </a:p>
          <a:p>
            <a:r>
              <a:rPr lang="en-US" altLang="ko-KR" sz="1400" dirty="0"/>
              <a:t>        </a:t>
            </a:r>
          </a:p>
          <a:p>
            <a:r>
              <a:rPr lang="en-US" altLang="ko-KR" sz="1400" dirty="0"/>
              <a:t>        // Runnable </a:t>
            </a:r>
            <a:r>
              <a:rPr lang="ko-KR" altLang="en-US" sz="1400" dirty="0"/>
              <a:t>객체를 기반으로 새로운 스레드 생성</a:t>
            </a:r>
          </a:p>
          <a:p>
            <a:r>
              <a:rPr lang="ko-KR" altLang="en-US" sz="1400" dirty="0"/>
              <a:t>        </a:t>
            </a:r>
            <a:r>
              <a:rPr lang="en-US" altLang="ko-KR" sz="1400" dirty="0"/>
              <a:t>Thread </a:t>
            </a:r>
            <a:r>
              <a:rPr lang="en-US" altLang="ko-KR" sz="1400" dirty="0" err="1"/>
              <a:t>thread</a:t>
            </a:r>
            <a:r>
              <a:rPr lang="en-US" altLang="ko-KR" sz="1400" dirty="0"/>
              <a:t> = new Thread(</a:t>
            </a:r>
            <a:r>
              <a:rPr lang="en-US" altLang="ko-KR" sz="1400" dirty="0" err="1"/>
              <a:t>beepTask</a:t>
            </a:r>
            <a:r>
              <a:rPr lang="en-US" altLang="ko-KR" sz="1400" dirty="0"/>
              <a:t>);</a:t>
            </a:r>
          </a:p>
          <a:p>
            <a:r>
              <a:rPr lang="en-US" altLang="ko-KR" sz="1400" dirty="0"/>
              <a:t>        </a:t>
            </a:r>
            <a:r>
              <a:rPr lang="en-US" altLang="ko-KR" sz="1400" dirty="0" err="1"/>
              <a:t>thread.start</a:t>
            </a:r>
            <a:r>
              <a:rPr lang="en-US" altLang="ko-KR" sz="1400" dirty="0"/>
              <a:t>(); // </a:t>
            </a:r>
            <a:r>
              <a:rPr lang="ko-KR" altLang="en-US" sz="1400" dirty="0"/>
              <a:t>스레드 시작 </a:t>
            </a:r>
            <a:r>
              <a:rPr lang="en-US" altLang="ko-KR" sz="1400" dirty="0"/>
              <a:t>(</a:t>
            </a:r>
            <a:r>
              <a:rPr lang="ko-KR" altLang="en-US" sz="1400" dirty="0" err="1"/>
              <a:t>비프음</a:t>
            </a:r>
            <a:r>
              <a:rPr lang="ko-KR" altLang="en-US" sz="1400" dirty="0"/>
              <a:t> 출력</a:t>
            </a:r>
            <a:r>
              <a:rPr lang="en-US" altLang="ko-KR" sz="1400" dirty="0"/>
              <a:t>)</a:t>
            </a:r>
          </a:p>
          <a:p>
            <a:endParaRPr lang="en-US" altLang="ko-KR" sz="1400" dirty="0"/>
          </a:p>
          <a:p>
            <a:r>
              <a:rPr lang="en-US" altLang="ko-KR" sz="1400" dirty="0"/>
              <a:t>        // </a:t>
            </a:r>
            <a:r>
              <a:rPr lang="ko-KR" altLang="en-US" sz="1400" dirty="0"/>
              <a:t>메인 스레드에서 </a:t>
            </a:r>
            <a:r>
              <a:rPr lang="en-US" altLang="ko-KR" sz="1400" dirty="0"/>
              <a:t>“beep</a:t>
            </a:r>
            <a:r>
              <a:rPr lang="el-GR" altLang="ko-KR" sz="1400" dirty="0"/>
              <a:t>" </a:t>
            </a:r>
            <a:r>
              <a:rPr lang="ko-KR" altLang="en-US" sz="1400" dirty="0"/>
              <a:t>문자열 출력</a:t>
            </a:r>
          </a:p>
          <a:p>
            <a:r>
              <a:rPr lang="ko-KR" altLang="en-US" sz="1400" dirty="0"/>
              <a:t>        </a:t>
            </a:r>
            <a:r>
              <a:rPr lang="en-US" altLang="ko-KR" sz="1400" dirty="0"/>
              <a:t>for (int </a:t>
            </a:r>
            <a:r>
              <a:rPr lang="en-US" altLang="ko-KR" sz="1400" dirty="0" err="1"/>
              <a:t>i</a:t>
            </a:r>
            <a:r>
              <a:rPr lang="en-US" altLang="ko-KR" sz="1400" dirty="0"/>
              <a:t> = 0; </a:t>
            </a:r>
            <a:r>
              <a:rPr lang="en-US" altLang="ko-KR" sz="1400" dirty="0" err="1"/>
              <a:t>i</a:t>
            </a:r>
            <a:r>
              <a:rPr lang="en-US" altLang="ko-KR" sz="1400" dirty="0"/>
              <a:t> &lt; 5; </a:t>
            </a:r>
            <a:r>
              <a:rPr lang="en-US" altLang="ko-KR" sz="1400" dirty="0" err="1"/>
              <a:t>i</a:t>
            </a:r>
            <a:r>
              <a:rPr lang="en-US" altLang="ko-KR" sz="1400" dirty="0"/>
              <a:t>++) {</a:t>
            </a:r>
          </a:p>
          <a:p>
            <a:r>
              <a:rPr lang="en-US" altLang="ko-KR" sz="1400" dirty="0"/>
              <a:t>    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(“beep</a:t>
            </a:r>
            <a:r>
              <a:rPr lang="el-GR" altLang="ko-KR" sz="1400" dirty="0"/>
              <a:t>"); // </a:t>
            </a:r>
            <a:r>
              <a:rPr lang="ko-KR" altLang="en-US" sz="1400" dirty="0"/>
              <a:t>문자열 출력</a:t>
            </a:r>
          </a:p>
          <a:p>
            <a:r>
              <a:rPr lang="ko-KR" altLang="en-US" sz="1400" dirty="0"/>
              <a:t>            </a:t>
            </a:r>
            <a:r>
              <a:rPr lang="en-US" altLang="ko-KR" sz="1400" dirty="0"/>
              <a:t>try {</a:t>
            </a:r>
          </a:p>
          <a:p>
            <a:r>
              <a:rPr lang="en-US" altLang="ko-KR" sz="1400" dirty="0"/>
              <a:t>                </a:t>
            </a:r>
            <a:r>
              <a:rPr lang="en-US" altLang="ko-KR" sz="1400" dirty="0" err="1"/>
              <a:t>Thread.sleep</a:t>
            </a:r>
            <a:r>
              <a:rPr lang="en-US" altLang="ko-KR" sz="1400" dirty="0"/>
              <a:t>(500); // 0.5</a:t>
            </a:r>
            <a:r>
              <a:rPr lang="ko-KR" altLang="en-US" sz="1400" dirty="0"/>
              <a:t>초 대기</a:t>
            </a:r>
          </a:p>
          <a:p>
            <a:r>
              <a:rPr lang="ko-KR" altLang="en-US" sz="1400" dirty="0"/>
              <a:t>            </a:t>
            </a:r>
            <a:r>
              <a:rPr lang="en-US" altLang="ko-KR" sz="1400" dirty="0"/>
              <a:t>} catch (Exception e) {</a:t>
            </a:r>
          </a:p>
          <a:p>
            <a:r>
              <a:rPr lang="en-US" altLang="ko-KR" sz="1400" dirty="0"/>
              <a:t>                // </a:t>
            </a:r>
            <a:r>
              <a:rPr lang="ko-KR" altLang="en-US" sz="1400" dirty="0"/>
              <a:t>예외 발생 시 처리 </a:t>
            </a:r>
            <a:r>
              <a:rPr lang="en-US" altLang="ko-KR" sz="1400" dirty="0"/>
              <a:t>(</a:t>
            </a:r>
            <a:r>
              <a:rPr lang="ko-KR" altLang="en-US" sz="1400" dirty="0"/>
              <a:t>빈 블록</a:t>
            </a:r>
            <a:r>
              <a:rPr lang="en-US" altLang="ko-KR" sz="1400" dirty="0"/>
              <a:t>)</a:t>
            </a:r>
          </a:p>
          <a:p>
            <a:r>
              <a:rPr lang="en-US" altLang="ko-KR" sz="1400" dirty="0"/>
              <a:t>            }</a:t>
            </a:r>
          </a:p>
          <a:p>
            <a:r>
              <a:rPr lang="en-US" altLang="ko-KR" sz="1400" dirty="0"/>
              <a:t>        }</a:t>
            </a:r>
          </a:p>
          <a:p>
            <a:r>
              <a:rPr lang="en-US" altLang="ko-KR" sz="1400" dirty="0"/>
              <a:t>    }</a:t>
            </a:r>
          </a:p>
          <a:p>
            <a:r>
              <a:rPr lang="en-US" altLang="ko-KR" sz="1400" dirty="0"/>
              <a:t>}</a:t>
            </a:r>
          </a:p>
          <a:p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5786813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FE0CF0-C7FE-BD40-1B5C-077CC9466E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6CE6D79-F62E-0680-40B1-9892FFDEFE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1400" b="1" dirty="0"/>
              <a:t>작업 스레드 생성과 실행</a:t>
            </a:r>
            <a:endParaRPr lang="en-US" altLang="ko-KR" sz="1400" b="1" dirty="0"/>
          </a:p>
          <a:p>
            <a:pPr marL="0" indent="0">
              <a:buNone/>
            </a:pPr>
            <a:endParaRPr lang="en-US" altLang="ko-KR" sz="1400" b="1" dirty="0"/>
          </a:p>
          <a:p>
            <a:pPr marL="0" indent="0">
              <a:buNone/>
            </a:pPr>
            <a:r>
              <a:rPr lang="ko-KR" altLang="en-US" sz="1400" b="1" dirty="0"/>
              <a:t>방법</a:t>
            </a:r>
            <a:r>
              <a:rPr lang="en-US" altLang="ko-KR" sz="1400" b="1" dirty="0"/>
              <a:t>2. Thread</a:t>
            </a:r>
            <a:r>
              <a:rPr lang="ko-KR" altLang="en-US" sz="1400" b="1" dirty="0"/>
              <a:t>클래스를 상속해서 하위 클래스를 만들어 생성</a:t>
            </a:r>
            <a:endParaRPr lang="en-US" altLang="ko-KR" sz="1400" b="1" dirty="0"/>
          </a:p>
          <a:p>
            <a:pPr marL="0" indent="0">
              <a:buNone/>
            </a:pPr>
            <a:r>
              <a:rPr lang="en-US" altLang="ko-KR" sz="1400" dirty="0"/>
              <a:t>-Runnable </a:t>
            </a:r>
            <a:r>
              <a:rPr lang="ko-KR" altLang="en-US" sz="1400" dirty="0"/>
              <a:t>객체를 생성하지 않고 스레드를 만드는 방법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-Thread</a:t>
            </a:r>
            <a:r>
              <a:rPr lang="ko-KR" altLang="en-US" sz="1400" dirty="0"/>
              <a:t>를 상속하고 </a:t>
            </a:r>
            <a:r>
              <a:rPr lang="en-US" altLang="ko-KR" sz="1400" dirty="0"/>
              <a:t>run()</a:t>
            </a:r>
            <a:r>
              <a:rPr lang="ko-KR" altLang="en-US" sz="1400" dirty="0"/>
              <a:t>를 재정의</a:t>
            </a: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public class </a:t>
            </a:r>
            <a:r>
              <a:rPr lang="en-US" altLang="ko-KR" sz="1400" dirty="0" err="1"/>
              <a:t>WorkerThread</a:t>
            </a:r>
            <a:r>
              <a:rPr lang="en-US" altLang="ko-KR" sz="1400" dirty="0"/>
              <a:t> extends Thread{</a:t>
            </a:r>
          </a:p>
          <a:p>
            <a:pPr marL="0" indent="0">
              <a:buNone/>
            </a:pPr>
            <a:r>
              <a:rPr lang="en-US" altLang="ko-KR" sz="1400" dirty="0"/>
              <a:t>	@Override</a:t>
            </a:r>
          </a:p>
          <a:p>
            <a:pPr marL="0" indent="0">
              <a:buNone/>
            </a:pPr>
            <a:r>
              <a:rPr lang="en-US" altLang="ko-KR" sz="1400" dirty="0"/>
              <a:t>	public void run(){</a:t>
            </a:r>
          </a:p>
          <a:p>
            <a:pPr marL="0" indent="0">
              <a:buNone/>
            </a:pPr>
            <a:r>
              <a:rPr lang="en-US" altLang="ko-KR" sz="1400" dirty="0"/>
              <a:t>		//</a:t>
            </a:r>
            <a:r>
              <a:rPr lang="ko-KR" altLang="en-US" sz="1400" dirty="0"/>
              <a:t>스레드가 실행할 코드</a:t>
            </a:r>
            <a:r>
              <a:rPr lang="en-US" altLang="ko-KR" sz="1400" dirty="0"/>
              <a:t>;	     </a:t>
            </a:r>
            <a:r>
              <a:rPr lang="en-US" altLang="ko-KR" sz="1400" dirty="0">
                <a:sym typeface="Wingdings" panose="05000000000000000000" pitchFamily="2" charset="2"/>
              </a:rPr>
              <a:t>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	}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  <a:p>
            <a:pPr marL="0" indent="0">
              <a:buNone/>
            </a:pPr>
            <a:r>
              <a:rPr lang="en-US" altLang="ko-KR" sz="1400" dirty="0"/>
              <a:t>Thread </a:t>
            </a:r>
            <a:r>
              <a:rPr lang="en-US" altLang="ko-KR" sz="1400" dirty="0" err="1"/>
              <a:t>thread</a:t>
            </a:r>
            <a:r>
              <a:rPr lang="en-US" altLang="ko-KR" sz="1400" dirty="0"/>
              <a:t> = new </a:t>
            </a:r>
            <a:r>
              <a:rPr lang="en-US" altLang="ko-KR" sz="1400" dirty="0" err="1"/>
              <a:t>WorkerThread</a:t>
            </a:r>
            <a:r>
              <a:rPr lang="en-US" altLang="ko-KR" sz="1400" dirty="0"/>
              <a:t>();</a:t>
            </a:r>
          </a:p>
          <a:p>
            <a:pPr marL="0" indent="0">
              <a:buNone/>
            </a:pPr>
            <a:r>
              <a:rPr lang="en-US" altLang="ko-KR" sz="1400" dirty="0" err="1"/>
              <a:t>thread.start</a:t>
            </a:r>
            <a:r>
              <a:rPr lang="en-US" altLang="ko-KR" sz="1400" dirty="0"/>
              <a:t>();</a:t>
            </a:r>
          </a:p>
          <a:p>
            <a:pPr marL="0" indent="0">
              <a:buNone/>
            </a:pPr>
            <a:endParaRPr lang="en-US" altLang="ko-KR" sz="14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D446AA9-3D03-7558-FF76-3A717B3833EB}"/>
              </a:ext>
            </a:extLst>
          </p:cNvPr>
          <p:cNvSpPr txBox="1"/>
          <p:nvPr/>
        </p:nvSpPr>
        <p:spPr>
          <a:xfrm>
            <a:off x="6427960" y="2259449"/>
            <a:ext cx="4762123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Thread </a:t>
            </a:r>
            <a:r>
              <a:rPr lang="en-US" altLang="ko-KR" sz="1400" dirty="0" err="1"/>
              <a:t>thread</a:t>
            </a:r>
            <a:r>
              <a:rPr lang="en-US" altLang="ko-KR" sz="1400" dirty="0"/>
              <a:t> = new Thread(){</a:t>
            </a:r>
          </a:p>
          <a:p>
            <a:pPr marL="0" indent="0">
              <a:buNone/>
            </a:pPr>
            <a:r>
              <a:rPr lang="en-US" altLang="ko-KR" sz="1400" dirty="0"/>
              <a:t>	</a:t>
            </a:r>
            <a:r>
              <a:rPr lang="en-US" altLang="ko-KR" sz="1400" dirty="0">
                <a:sym typeface="Wingdings" panose="05000000000000000000" pitchFamily="2" charset="2"/>
              </a:rPr>
              <a:t>public void run(){</a:t>
            </a:r>
          </a:p>
          <a:p>
            <a:pPr marL="0" indent="0">
              <a:buNone/>
            </a:pPr>
            <a:r>
              <a:rPr lang="en-US" altLang="ko-KR" sz="1400" dirty="0">
                <a:sym typeface="Wingdings" panose="05000000000000000000" pitchFamily="2" charset="2"/>
              </a:rPr>
              <a:t>		//</a:t>
            </a:r>
            <a:r>
              <a:rPr lang="ko-KR" altLang="en-US" sz="1400" dirty="0">
                <a:sym typeface="Wingdings" panose="05000000000000000000" pitchFamily="2" charset="2"/>
              </a:rPr>
              <a:t>스레드가 실행할 코드</a:t>
            </a:r>
            <a:r>
              <a:rPr lang="en-US" altLang="ko-KR" sz="1400" dirty="0">
                <a:sym typeface="Wingdings" panose="05000000000000000000" pitchFamily="2" charset="2"/>
              </a:rPr>
              <a:t>;</a:t>
            </a:r>
          </a:p>
          <a:p>
            <a:pPr marL="0" indent="0">
              <a:buNone/>
            </a:pPr>
            <a:r>
              <a:rPr lang="en-US" altLang="ko-KR" sz="1400" dirty="0">
                <a:sym typeface="Wingdings" panose="05000000000000000000" pitchFamily="2" charset="2"/>
              </a:rPr>
              <a:t>	}</a:t>
            </a:r>
          </a:p>
          <a:p>
            <a:r>
              <a:rPr lang="en-US" altLang="ko-KR" sz="1400" dirty="0"/>
              <a:t>};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7126000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23C378-41B8-0DA5-E7E5-2FAFED709E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AFD9680-462A-2285-2A30-E58B06329C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1400" dirty="0"/>
              <a:t>import </a:t>
            </a:r>
            <a:r>
              <a:rPr lang="en-US" altLang="ko-KR" sz="1400" dirty="0" err="1"/>
              <a:t>java.awt.Toolkit</a:t>
            </a:r>
            <a:r>
              <a:rPr lang="en-US" altLang="ko-KR" sz="1400" dirty="0"/>
              <a:t>;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// </a:t>
            </a:r>
            <a:r>
              <a:rPr lang="en-US" altLang="ko-KR" sz="1400" dirty="0" err="1"/>
              <a:t>BeepThread</a:t>
            </a:r>
            <a:r>
              <a:rPr lang="en-US" altLang="ko-KR" sz="1400" dirty="0"/>
              <a:t> </a:t>
            </a:r>
            <a:r>
              <a:rPr lang="ko-KR" altLang="en-US" sz="1400" dirty="0"/>
              <a:t>클래스</a:t>
            </a:r>
            <a:r>
              <a:rPr lang="en-US" altLang="ko-KR" sz="1400" dirty="0"/>
              <a:t>: Thread </a:t>
            </a:r>
            <a:r>
              <a:rPr lang="ko-KR" altLang="en-US" sz="1400" dirty="0"/>
              <a:t>클래스를 상속받아 비프음을 출력하는 작업을 정의</a:t>
            </a:r>
          </a:p>
          <a:p>
            <a:pPr marL="0" indent="0">
              <a:buNone/>
            </a:pPr>
            <a:r>
              <a:rPr lang="en-US" altLang="ko-KR" sz="1400" dirty="0"/>
              <a:t>public class </a:t>
            </a:r>
            <a:r>
              <a:rPr lang="en-US" altLang="ko-KR" sz="1400" dirty="0" err="1"/>
              <a:t>BeepThread</a:t>
            </a:r>
            <a:r>
              <a:rPr lang="en-US" altLang="ko-KR" sz="1400" dirty="0"/>
              <a:t> extends Thread {</a:t>
            </a:r>
          </a:p>
          <a:p>
            <a:pPr marL="0" indent="0">
              <a:buNone/>
            </a:pPr>
            <a:r>
              <a:rPr lang="en-US" altLang="ko-KR" sz="1400" dirty="0"/>
              <a:t>    // run() </a:t>
            </a:r>
            <a:r>
              <a:rPr lang="ko-KR" altLang="en-US" sz="1400" dirty="0"/>
              <a:t>메서드</a:t>
            </a:r>
            <a:r>
              <a:rPr lang="en-US" altLang="ko-KR" sz="1400" dirty="0"/>
              <a:t>: </a:t>
            </a:r>
            <a:r>
              <a:rPr lang="ko-KR" altLang="en-US" sz="1400" dirty="0"/>
              <a:t>스레드가 실행할 작업을 구현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@Override</a:t>
            </a:r>
          </a:p>
          <a:p>
            <a:pPr marL="0" indent="0">
              <a:buNone/>
            </a:pPr>
            <a:r>
              <a:rPr lang="en-US" altLang="ko-KR" sz="1400" dirty="0"/>
              <a:t>    public void run() {</a:t>
            </a:r>
          </a:p>
          <a:p>
            <a:pPr marL="0" indent="0">
              <a:buNone/>
            </a:pPr>
            <a:r>
              <a:rPr lang="en-US" altLang="ko-KR" sz="1400" dirty="0"/>
              <a:t>        // Toolkit </a:t>
            </a:r>
            <a:r>
              <a:rPr lang="ko-KR" altLang="en-US" sz="1400" dirty="0"/>
              <a:t>객체를 생성하여 시스템 기본 </a:t>
            </a:r>
            <a:r>
              <a:rPr lang="ko-KR" altLang="en-US" sz="1400" dirty="0" err="1"/>
              <a:t>툴킷을</a:t>
            </a:r>
            <a:r>
              <a:rPr lang="ko-KR" altLang="en-US" sz="1400" dirty="0"/>
              <a:t> 가져옴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Toolkit </a:t>
            </a:r>
            <a:r>
              <a:rPr lang="en-US" altLang="ko-KR" sz="1400" dirty="0" err="1"/>
              <a:t>toolkit</a:t>
            </a:r>
            <a:r>
              <a:rPr lang="en-US" altLang="ko-KR" sz="1400" dirty="0"/>
              <a:t> = </a:t>
            </a:r>
            <a:r>
              <a:rPr lang="en-US" altLang="ko-KR" sz="1400" dirty="0" err="1"/>
              <a:t>Toolkit.getDefaultToolkit</a:t>
            </a:r>
            <a:r>
              <a:rPr lang="en-US" altLang="ko-KR" sz="1400" dirty="0"/>
              <a:t>();</a:t>
            </a:r>
          </a:p>
          <a:p>
            <a:pPr marL="0" indent="0">
              <a:buNone/>
            </a:pPr>
            <a:r>
              <a:rPr lang="en-US" altLang="ko-KR" sz="1400" dirty="0"/>
              <a:t>        </a:t>
            </a:r>
          </a:p>
          <a:p>
            <a:pPr marL="0" indent="0">
              <a:buNone/>
            </a:pPr>
            <a:r>
              <a:rPr lang="en-US" altLang="ko-KR" sz="1400" dirty="0"/>
              <a:t>        // </a:t>
            </a:r>
            <a:r>
              <a:rPr lang="ko-KR" altLang="en-US" sz="1400" dirty="0"/>
              <a:t>비프음을 </a:t>
            </a:r>
            <a:r>
              <a:rPr lang="en-US" altLang="ko-KR" sz="1400" dirty="0"/>
              <a:t>5</a:t>
            </a:r>
            <a:r>
              <a:rPr lang="ko-KR" altLang="en-US" sz="1400" dirty="0"/>
              <a:t>번 반복 출력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for (int </a:t>
            </a:r>
            <a:r>
              <a:rPr lang="en-US" altLang="ko-KR" sz="1400" dirty="0" err="1"/>
              <a:t>i</a:t>
            </a:r>
            <a:r>
              <a:rPr lang="en-US" altLang="ko-KR" sz="1400" dirty="0"/>
              <a:t> = 0; </a:t>
            </a:r>
            <a:r>
              <a:rPr lang="en-US" altLang="ko-KR" sz="1400" dirty="0" err="1"/>
              <a:t>i</a:t>
            </a:r>
            <a:r>
              <a:rPr lang="en-US" altLang="ko-KR" sz="1400" dirty="0"/>
              <a:t> &lt; 5; </a:t>
            </a:r>
            <a:r>
              <a:rPr lang="en-US" altLang="ko-KR" sz="1400" dirty="0" err="1"/>
              <a:t>i</a:t>
            </a:r>
            <a:r>
              <a:rPr lang="en-US" altLang="ko-KR" sz="1400" dirty="0"/>
              <a:t>++) {</a:t>
            </a:r>
          </a:p>
          <a:p>
            <a:pPr marL="0" indent="0">
              <a:buNone/>
            </a:pPr>
            <a:r>
              <a:rPr lang="en-US" altLang="ko-KR" sz="1400" dirty="0"/>
              <a:t>            </a:t>
            </a:r>
            <a:r>
              <a:rPr lang="en-US" altLang="ko-KR" sz="1400" dirty="0" err="1"/>
              <a:t>toolkit.beep</a:t>
            </a:r>
            <a:r>
              <a:rPr lang="en-US" altLang="ko-KR" sz="1400" dirty="0"/>
              <a:t>(); // </a:t>
            </a:r>
            <a:r>
              <a:rPr lang="ko-KR" altLang="en-US" sz="1400" dirty="0" err="1"/>
              <a:t>비프음</a:t>
            </a:r>
            <a:r>
              <a:rPr lang="ko-KR" altLang="en-US" sz="1400" dirty="0"/>
              <a:t> 출력</a:t>
            </a:r>
          </a:p>
          <a:p>
            <a:pPr marL="0" indent="0">
              <a:buNone/>
            </a:pPr>
            <a:r>
              <a:rPr lang="ko-KR" altLang="en-US" sz="1400" dirty="0"/>
              <a:t>            </a:t>
            </a:r>
            <a:r>
              <a:rPr lang="en-US" altLang="ko-KR" sz="1400" dirty="0"/>
              <a:t>try {</a:t>
            </a:r>
          </a:p>
          <a:p>
            <a:pPr marL="0" indent="0">
              <a:buNone/>
            </a:pPr>
            <a:r>
              <a:rPr lang="en-US" altLang="ko-KR" sz="1400" dirty="0"/>
              <a:t>                </a:t>
            </a:r>
            <a:r>
              <a:rPr lang="en-US" altLang="ko-KR" sz="1400" dirty="0" err="1"/>
              <a:t>Thread.sleep</a:t>
            </a:r>
            <a:r>
              <a:rPr lang="en-US" altLang="ko-KR" sz="1400" dirty="0"/>
              <a:t>(500); // 0.5</a:t>
            </a:r>
            <a:r>
              <a:rPr lang="ko-KR" altLang="en-US" sz="1400" dirty="0"/>
              <a:t>초 대기</a:t>
            </a:r>
          </a:p>
          <a:p>
            <a:pPr marL="0" indent="0">
              <a:buNone/>
            </a:pPr>
            <a:r>
              <a:rPr lang="ko-KR" altLang="en-US" sz="1400" dirty="0"/>
              <a:t>            </a:t>
            </a:r>
            <a:r>
              <a:rPr lang="en-US" altLang="ko-KR" sz="1400" dirty="0"/>
              <a:t>} catch (Exception e) {</a:t>
            </a:r>
          </a:p>
          <a:p>
            <a:pPr marL="0" indent="0">
              <a:buNone/>
            </a:pPr>
            <a:r>
              <a:rPr lang="en-US" altLang="ko-KR" sz="1400" dirty="0"/>
              <a:t>                // </a:t>
            </a:r>
            <a:r>
              <a:rPr lang="ko-KR" altLang="en-US" sz="1400" dirty="0"/>
              <a:t>예외 발생 시 처리 </a:t>
            </a:r>
            <a:r>
              <a:rPr lang="en-US" altLang="ko-KR" sz="1400" dirty="0"/>
              <a:t>(</a:t>
            </a:r>
            <a:r>
              <a:rPr lang="ko-KR" altLang="en-US" sz="1400" dirty="0"/>
              <a:t>빈 블록</a:t>
            </a:r>
            <a:r>
              <a:rPr lang="en-US" altLang="ko-KR" sz="1400" dirty="0"/>
              <a:t>)</a:t>
            </a:r>
          </a:p>
          <a:p>
            <a:pPr marL="0" indent="0">
              <a:buNone/>
            </a:pPr>
            <a:r>
              <a:rPr lang="en-US" altLang="ko-KR" sz="1400" dirty="0"/>
              <a:t>            }</a:t>
            </a:r>
          </a:p>
          <a:p>
            <a:pPr marL="0" indent="0">
              <a:buNone/>
            </a:pPr>
            <a:r>
              <a:rPr lang="en-US" altLang="ko-KR" sz="1400" dirty="0"/>
              <a:t>        }</a:t>
            </a:r>
          </a:p>
          <a:p>
            <a:pPr marL="0" indent="0">
              <a:buNone/>
            </a:pPr>
            <a:r>
              <a:rPr lang="en-US" altLang="ko-KR" sz="1400" dirty="0"/>
              <a:t>    }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820691E-7E80-062B-ADA4-429C2B0ABA36}"/>
              </a:ext>
            </a:extLst>
          </p:cNvPr>
          <p:cNvSpPr txBox="1"/>
          <p:nvPr/>
        </p:nvSpPr>
        <p:spPr>
          <a:xfrm>
            <a:off x="6096000" y="1552142"/>
            <a:ext cx="6106562" cy="397031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400" dirty="0"/>
              <a:t>// BeepPrintExample4 </a:t>
            </a:r>
            <a:r>
              <a:rPr lang="ko-KR" altLang="en-US" sz="1400" dirty="0"/>
              <a:t>클래스</a:t>
            </a:r>
            <a:r>
              <a:rPr lang="en-US" altLang="ko-KR" sz="1400" dirty="0"/>
              <a:t>: </a:t>
            </a:r>
            <a:r>
              <a:rPr lang="ko-KR" altLang="en-US" sz="1400" dirty="0"/>
              <a:t>메인 스레드와 별도 스레드에서 작업 실행</a:t>
            </a:r>
          </a:p>
          <a:p>
            <a:r>
              <a:rPr lang="en-US" altLang="ko-KR" sz="1400" dirty="0"/>
              <a:t>public class BeepPrintExample4 {</a:t>
            </a:r>
          </a:p>
          <a:p>
            <a:r>
              <a:rPr lang="en-US" altLang="ko-KR" sz="1400" dirty="0"/>
              <a:t>    public static void main(String[] </a:t>
            </a:r>
            <a:r>
              <a:rPr lang="en-US" altLang="ko-KR" sz="1400" dirty="0" err="1"/>
              <a:t>args</a:t>
            </a:r>
            <a:r>
              <a:rPr lang="en-US" altLang="ko-KR" sz="1400" dirty="0"/>
              <a:t>) {</a:t>
            </a:r>
          </a:p>
          <a:p>
            <a:r>
              <a:rPr lang="en-US" altLang="ko-KR" sz="1400" dirty="0"/>
              <a:t>        // </a:t>
            </a:r>
            <a:r>
              <a:rPr lang="en-US" altLang="ko-KR" sz="1400" dirty="0" err="1"/>
              <a:t>BeepThread</a:t>
            </a:r>
            <a:r>
              <a:rPr lang="en-US" altLang="ko-KR" sz="1400" dirty="0"/>
              <a:t> </a:t>
            </a:r>
            <a:r>
              <a:rPr lang="ko-KR" altLang="en-US" sz="1400" dirty="0"/>
              <a:t>객체 생성</a:t>
            </a:r>
          </a:p>
          <a:p>
            <a:r>
              <a:rPr lang="ko-KR" altLang="en-US" sz="1400" dirty="0"/>
              <a:t>        </a:t>
            </a:r>
            <a:r>
              <a:rPr lang="en-US" altLang="ko-KR" sz="1400" dirty="0"/>
              <a:t>Thread </a:t>
            </a:r>
            <a:r>
              <a:rPr lang="en-US" altLang="ko-KR" sz="1400" dirty="0" err="1"/>
              <a:t>thread</a:t>
            </a:r>
            <a:r>
              <a:rPr lang="en-US" altLang="ko-KR" sz="1400" dirty="0"/>
              <a:t> = new </a:t>
            </a:r>
            <a:r>
              <a:rPr lang="en-US" altLang="ko-KR" sz="1400" dirty="0" err="1"/>
              <a:t>BeepThread</a:t>
            </a:r>
            <a:r>
              <a:rPr lang="en-US" altLang="ko-KR" sz="1400" dirty="0"/>
              <a:t>();</a:t>
            </a:r>
          </a:p>
          <a:p>
            <a:r>
              <a:rPr lang="en-US" altLang="ko-KR" sz="1400" dirty="0"/>
              <a:t>        </a:t>
            </a:r>
            <a:r>
              <a:rPr lang="en-US" altLang="ko-KR" sz="1400" dirty="0" err="1"/>
              <a:t>thread.start</a:t>
            </a:r>
            <a:r>
              <a:rPr lang="en-US" altLang="ko-KR" sz="1400" dirty="0"/>
              <a:t>(); // </a:t>
            </a:r>
            <a:r>
              <a:rPr lang="ko-KR" altLang="en-US" sz="1400" dirty="0"/>
              <a:t>스레드 시작 </a:t>
            </a:r>
            <a:r>
              <a:rPr lang="en-US" altLang="ko-KR" sz="1400" dirty="0"/>
              <a:t>(</a:t>
            </a:r>
            <a:r>
              <a:rPr lang="ko-KR" altLang="en-US" sz="1400" dirty="0" err="1"/>
              <a:t>비프음</a:t>
            </a:r>
            <a:r>
              <a:rPr lang="ko-KR" altLang="en-US" sz="1400" dirty="0"/>
              <a:t> 출력 작업 수행</a:t>
            </a:r>
            <a:r>
              <a:rPr lang="en-US" altLang="ko-KR" sz="1400" dirty="0"/>
              <a:t>)</a:t>
            </a:r>
          </a:p>
          <a:p>
            <a:endParaRPr lang="en-US" altLang="ko-KR" sz="1400" dirty="0"/>
          </a:p>
          <a:p>
            <a:r>
              <a:rPr lang="en-US" altLang="ko-KR" sz="1400" dirty="0"/>
              <a:t>        // </a:t>
            </a:r>
            <a:r>
              <a:rPr lang="ko-KR" altLang="en-US" sz="1400" dirty="0"/>
              <a:t>메인 스레드에서 </a:t>
            </a:r>
            <a:r>
              <a:rPr lang="en-US" altLang="ko-KR" sz="1400" dirty="0"/>
              <a:t>“beep</a:t>
            </a:r>
            <a:r>
              <a:rPr lang="el-GR" altLang="ko-KR" sz="1400" dirty="0"/>
              <a:t>" </a:t>
            </a:r>
            <a:r>
              <a:rPr lang="ko-KR" altLang="en-US" sz="1400" dirty="0"/>
              <a:t>문자열 출력</a:t>
            </a:r>
          </a:p>
          <a:p>
            <a:r>
              <a:rPr lang="ko-KR" altLang="en-US" sz="1400" dirty="0"/>
              <a:t>        </a:t>
            </a:r>
            <a:r>
              <a:rPr lang="en-US" altLang="ko-KR" sz="1400" dirty="0"/>
              <a:t>for (int </a:t>
            </a:r>
            <a:r>
              <a:rPr lang="en-US" altLang="ko-KR" sz="1400" dirty="0" err="1"/>
              <a:t>i</a:t>
            </a:r>
            <a:r>
              <a:rPr lang="en-US" altLang="ko-KR" sz="1400" dirty="0"/>
              <a:t> = 0; </a:t>
            </a:r>
            <a:r>
              <a:rPr lang="en-US" altLang="ko-KR" sz="1400" dirty="0" err="1"/>
              <a:t>i</a:t>
            </a:r>
            <a:r>
              <a:rPr lang="en-US" altLang="ko-KR" sz="1400" dirty="0"/>
              <a:t> &lt; 5; </a:t>
            </a:r>
            <a:r>
              <a:rPr lang="en-US" altLang="ko-KR" sz="1400" dirty="0" err="1"/>
              <a:t>i</a:t>
            </a:r>
            <a:r>
              <a:rPr lang="en-US" altLang="ko-KR" sz="1400" dirty="0"/>
              <a:t>++) {</a:t>
            </a:r>
          </a:p>
          <a:p>
            <a:r>
              <a:rPr lang="en-US" altLang="ko-KR" sz="1400" dirty="0"/>
              <a:t>    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(“beep</a:t>
            </a:r>
            <a:r>
              <a:rPr lang="el-GR" altLang="ko-KR" sz="1400" dirty="0"/>
              <a:t>"); // </a:t>
            </a:r>
            <a:r>
              <a:rPr lang="ko-KR" altLang="en-US" sz="1400" dirty="0"/>
              <a:t>문자열 출력</a:t>
            </a:r>
          </a:p>
          <a:p>
            <a:r>
              <a:rPr lang="ko-KR" altLang="en-US" sz="1400" dirty="0"/>
              <a:t>            </a:t>
            </a:r>
            <a:r>
              <a:rPr lang="en-US" altLang="ko-KR" sz="1400" dirty="0"/>
              <a:t>try {</a:t>
            </a:r>
          </a:p>
          <a:p>
            <a:r>
              <a:rPr lang="en-US" altLang="ko-KR" sz="1400" dirty="0"/>
              <a:t>                </a:t>
            </a:r>
            <a:r>
              <a:rPr lang="en-US" altLang="ko-KR" sz="1400" dirty="0" err="1"/>
              <a:t>Thread.sleep</a:t>
            </a:r>
            <a:r>
              <a:rPr lang="en-US" altLang="ko-KR" sz="1400" dirty="0"/>
              <a:t>(500); // 0.5</a:t>
            </a:r>
            <a:r>
              <a:rPr lang="ko-KR" altLang="en-US" sz="1400" dirty="0"/>
              <a:t>초 대기</a:t>
            </a:r>
          </a:p>
          <a:p>
            <a:r>
              <a:rPr lang="ko-KR" altLang="en-US" sz="1400" dirty="0"/>
              <a:t>            </a:t>
            </a:r>
            <a:r>
              <a:rPr lang="en-US" altLang="ko-KR" sz="1400" dirty="0"/>
              <a:t>} catch (Exception e) {</a:t>
            </a:r>
          </a:p>
          <a:p>
            <a:r>
              <a:rPr lang="en-US" altLang="ko-KR" sz="1400" dirty="0"/>
              <a:t>                // </a:t>
            </a:r>
            <a:r>
              <a:rPr lang="ko-KR" altLang="en-US" sz="1400" dirty="0"/>
              <a:t>예외 발생 시 처리 </a:t>
            </a:r>
            <a:r>
              <a:rPr lang="en-US" altLang="ko-KR" sz="1400" dirty="0"/>
              <a:t>(</a:t>
            </a:r>
            <a:r>
              <a:rPr lang="ko-KR" altLang="en-US" sz="1400" dirty="0"/>
              <a:t>빈 블록</a:t>
            </a:r>
            <a:r>
              <a:rPr lang="en-US" altLang="ko-KR" sz="1400" dirty="0"/>
              <a:t>)</a:t>
            </a:r>
          </a:p>
          <a:p>
            <a:r>
              <a:rPr lang="en-US" altLang="ko-KR" sz="1400" dirty="0"/>
              <a:t>            }</a:t>
            </a:r>
          </a:p>
          <a:p>
            <a:r>
              <a:rPr lang="en-US" altLang="ko-KR" sz="1400" dirty="0"/>
              <a:t>        }</a:t>
            </a:r>
          </a:p>
          <a:p>
            <a:r>
              <a:rPr lang="en-US" altLang="ko-KR" sz="1400" dirty="0"/>
              <a:t>    }</a:t>
            </a:r>
          </a:p>
          <a:p>
            <a:r>
              <a:rPr lang="en-US" altLang="ko-KR" sz="14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6168384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C25C88-D66F-AFF4-AA7C-83FFF2ABEF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9A115E4-D2E0-F3FE-088A-EDD41C3718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ko-KR" altLang="en-US" sz="1400" b="1" dirty="0"/>
              <a:t>스레드 이름</a:t>
            </a:r>
            <a:endParaRPr lang="en-US" altLang="ko-KR" sz="1400" b="1" dirty="0"/>
          </a:p>
          <a:p>
            <a:pPr marL="0" indent="0">
              <a:buNone/>
            </a:pPr>
            <a:endParaRPr lang="en-US" altLang="ko-KR" sz="1400" b="1" dirty="0"/>
          </a:p>
          <a:p>
            <a:pPr marL="0" indent="0">
              <a:buNone/>
            </a:pPr>
            <a:r>
              <a:rPr lang="ko-KR" altLang="en-US" sz="1400" dirty="0"/>
              <a:t>스레드는 고유한 이름을 가질 수 있다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en-US" altLang="ko-KR" sz="1400" dirty="0"/>
              <a:t>ex) </a:t>
            </a:r>
            <a:r>
              <a:rPr lang="ko-KR" altLang="en-US" sz="1400" dirty="0"/>
              <a:t>메인 스레드는 </a:t>
            </a:r>
            <a:r>
              <a:rPr lang="en-US" altLang="ko-KR" sz="1400" dirty="0"/>
              <a:t>main</a:t>
            </a:r>
            <a:r>
              <a:rPr lang="ko-KR" altLang="en-US" sz="1400" dirty="0"/>
              <a:t>이라는 이름을 가진다</a:t>
            </a:r>
            <a:r>
              <a:rPr lang="en-US" altLang="ko-KR" sz="1400" dirty="0"/>
              <a:t>. </a:t>
            </a:r>
          </a:p>
          <a:p>
            <a:pPr marL="0" indent="0">
              <a:buNone/>
            </a:pPr>
            <a:r>
              <a:rPr lang="en-US" altLang="ko-KR" sz="1400" dirty="0"/>
              <a:t>     </a:t>
            </a:r>
            <a:r>
              <a:rPr lang="ko-KR" altLang="en-US" sz="1400" dirty="0"/>
              <a:t>직접 생성한 스레드는 </a:t>
            </a:r>
            <a:r>
              <a:rPr lang="en-US" altLang="ko-KR" sz="1400" dirty="0"/>
              <a:t>Thread-1, Thread-2, ... Thread-3</a:t>
            </a:r>
            <a:r>
              <a:rPr lang="ko-KR" altLang="en-US" sz="1400" dirty="0"/>
              <a:t>이라는 이름을 가진다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b="1" dirty="0"/>
              <a:t>스레드 이름 변경</a:t>
            </a:r>
            <a:endParaRPr lang="en-US" altLang="ko-KR" sz="1400" b="1" dirty="0"/>
          </a:p>
          <a:p>
            <a:pPr marL="0" indent="0">
              <a:buNone/>
            </a:pPr>
            <a:r>
              <a:rPr lang="en-US" altLang="ko-KR" sz="1400" dirty="0" err="1"/>
              <a:t>thread.setName</a:t>
            </a:r>
            <a:r>
              <a:rPr lang="en-US" altLang="ko-KR" sz="1400" dirty="0"/>
              <a:t>(“</a:t>
            </a:r>
            <a:r>
              <a:rPr lang="ko-KR" altLang="en-US" sz="1400" dirty="0"/>
              <a:t>변경할 이름</a:t>
            </a:r>
            <a:r>
              <a:rPr lang="en-US" altLang="ko-KR" sz="1400" dirty="0"/>
              <a:t>“);</a:t>
            </a:r>
          </a:p>
          <a:p>
            <a:pPr marL="0" indent="0">
              <a:buNone/>
            </a:pPr>
            <a:r>
              <a:rPr lang="ko-KR" altLang="en-US" sz="1400" b="1" dirty="0"/>
              <a:t>스레드 이름 얻기</a:t>
            </a:r>
            <a:endParaRPr lang="en-US" altLang="ko-KR" sz="1400" b="1" dirty="0"/>
          </a:p>
          <a:p>
            <a:pPr marL="0" indent="0">
              <a:buNone/>
            </a:pPr>
            <a:r>
              <a:rPr lang="en-US" altLang="ko-KR" sz="1400" dirty="0" err="1"/>
              <a:t>thread.getName</a:t>
            </a:r>
            <a:r>
              <a:rPr lang="en-US" altLang="ko-KR" sz="1400" dirty="0"/>
              <a:t>(); //</a:t>
            </a:r>
            <a:r>
              <a:rPr lang="ko-KR" altLang="en-US" sz="1400" dirty="0"/>
              <a:t>스레드 이름 얻기</a:t>
            </a: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public class </a:t>
            </a:r>
            <a:r>
              <a:rPr lang="en-US" altLang="ko-KR" sz="1400" dirty="0" err="1"/>
              <a:t>ThreadNameExample</a:t>
            </a:r>
            <a:r>
              <a:rPr lang="en-US" altLang="ko-KR" sz="1400" dirty="0"/>
              <a:t> {</a:t>
            </a:r>
          </a:p>
          <a:p>
            <a:pPr marL="0" indent="0">
              <a:buNone/>
            </a:pPr>
            <a:r>
              <a:rPr lang="en-US" altLang="ko-KR" sz="1400" dirty="0"/>
              <a:t>    public static void main(String[] </a:t>
            </a:r>
            <a:r>
              <a:rPr lang="en-US" altLang="ko-KR" sz="1400" dirty="0" err="1"/>
              <a:t>args</a:t>
            </a:r>
            <a:r>
              <a:rPr lang="en-US" altLang="ko-KR" sz="1400" dirty="0"/>
              <a:t>) {</a:t>
            </a:r>
          </a:p>
          <a:p>
            <a:pPr marL="0" indent="0">
              <a:buNone/>
            </a:pPr>
            <a:r>
              <a:rPr lang="en-US" altLang="ko-KR" sz="1400" dirty="0"/>
              <a:t>        // </a:t>
            </a:r>
            <a:r>
              <a:rPr lang="ko-KR" altLang="en-US" sz="1400" dirty="0"/>
              <a:t>스레드 생성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Thread </a:t>
            </a:r>
            <a:r>
              <a:rPr lang="en-US" altLang="ko-KR" sz="1400" dirty="0" err="1"/>
              <a:t>thread</a:t>
            </a:r>
            <a:r>
              <a:rPr lang="en-US" altLang="ko-KR" sz="1400" dirty="0"/>
              <a:t> = new Thread(() -&gt; {</a:t>
            </a:r>
          </a:p>
          <a:p>
            <a:pPr marL="0" indent="0">
              <a:buNone/>
            </a:pPr>
            <a:r>
              <a:rPr lang="en-US" altLang="ko-KR" sz="1400" dirty="0"/>
              <a:t>            // </a:t>
            </a:r>
            <a:r>
              <a:rPr lang="ko-KR" altLang="en-US" sz="1400" dirty="0"/>
              <a:t>현재 스레드 이름 출력</a:t>
            </a:r>
          </a:p>
          <a:p>
            <a:pPr marL="0" indent="0">
              <a:buNone/>
            </a:pPr>
            <a:r>
              <a:rPr lang="ko-KR" altLang="en-US" sz="1400" dirty="0"/>
              <a:t>    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</a:t>
            </a:r>
            <a:r>
              <a:rPr lang="ko-KR" altLang="en-US" sz="1400" dirty="0"/>
              <a:t>스레드 시작 </a:t>
            </a:r>
            <a:r>
              <a:rPr lang="en-US" altLang="ko-KR" sz="1400" dirty="0"/>
              <a:t>- </a:t>
            </a:r>
            <a:r>
              <a:rPr lang="ko-KR" altLang="en-US" sz="1400" dirty="0"/>
              <a:t>이름</a:t>
            </a:r>
            <a:r>
              <a:rPr lang="en-US" altLang="ko-KR" sz="1400" dirty="0"/>
              <a:t>: " + </a:t>
            </a:r>
            <a:r>
              <a:rPr lang="en-US" altLang="ko-KR" sz="1400" dirty="0" err="1"/>
              <a:t>Thread.currentThread</a:t>
            </a:r>
            <a:r>
              <a:rPr lang="en-US" altLang="ko-KR" sz="1400" dirty="0"/>
              <a:t>().</a:t>
            </a:r>
            <a:r>
              <a:rPr lang="en-US" altLang="ko-KR" sz="1400" dirty="0" err="1"/>
              <a:t>getName</a:t>
            </a:r>
            <a:r>
              <a:rPr lang="en-US" altLang="ko-KR" sz="1400" dirty="0"/>
              <a:t>());</a:t>
            </a:r>
          </a:p>
          <a:p>
            <a:pPr marL="0" indent="0">
              <a:buNone/>
            </a:pPr>
            <a:r>
              <a:rPr lang="en-US" altLang="ko-KR" sz="1400" dirty="0"/>
              <a:t>        });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        // </a:t>
            </a:r>
            <a:r>
              <a:rPr lang="ko-KR" altLang="en-US" sz="1400" dirty="0"/>
              <a:t>스레드 이름 설정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 err="1"/>
              <a:t>thread.setName</a:t>
            </a:r>
            <a:r>
              <a:rPr lang="en-US" altLang="ko-KR" sz="1400" dirty="0"/>
              <a:t>(＂my</a:t>
            </a:r>
            <a:r>
              <a:rPr lang="ko-KR" altLang="en-US" sz="1400" dirty="0"/>
              <a:t> 스레드</a:t>
            </a:r>
            <a:r>
              <a:rPr lang="en-US" altLang="ko-KR" sz="1400" dirty="0"/>
              <a:t>");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        // </a:t>
            </a:r>
            <a:r>
              <a:rPr lang="ko-KR" altLang="en-US" sz="1400" dirty="0"/>
              <a:t>스레드 이름 출력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</a:t>
            </a:r>
            <a:r>
              <a:rPr lang="ko-KR" altLang="en-US" sz="1400" dirty="0"/>
              <a:t>설정된 스레드 이름</a:t>
            </a:r>
            <a:r>
              <a:rPr lang="en-US" altLang="ko-KR" sz="1400" dirty="0"/>
              <a:t>: " + </a:t>
            </a:r>
            <a:r>
              <a:rPr lang="en-US" altLang="ko-KR" sz="1400" dirty="0" err="1"/>
              <a:t>thread.getName</a:t>
            </a:r>
            <a:r>
              <a:rPr lang="en-US" altLang="ko-KR" sz="1400" dirty="0"/>
              <a:t>());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        // </a:t>
            </a:r>
            <a:r>
              <a:rPr lang="ko-KR" altLang="en-US" sz="1400" dirty="0"/>
              <a:t>스레드 실행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 err="1"/>
              <a:t>thread.start</a:t>
            </a:r>
            <a:r>
              <a:rPr lang="en-US" altLang="ko-KR" sz="1400" dirty="0"/>
              <a:t>();</a:t>
            </a:r>
          </a:p>
          <a:p>
            <a:pPr marL="0" indent="0">
              <a:buNone/>
            </a:pPr>
            <a:r>
              <a:rPr lang="en-US" altLang="ko-KR" sz="1400" dirty="0"/>
              <a:t>    }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9094DFE-021D-8A6D-1A2D-78365A70B7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7268" y="3004807"/>
            <a:ext cx="3408690" cy="848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4882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050169-7912-584D-F59C-567E7517EA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502C53F-FFA0-B5EC-5294-6DFE677C4A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1400" b="1" dirty="0"/>
              <a:t>공유 객체사용시 주의할 점</a:t>
            </a:r>
            <a:endParaRPr lang="en-US" altLang="ko-KR" sz="1400" b="1" dirty="0"/>
          </a:p>
          <a:p>
            <a:pPr marL="0" indent="0">
              <a:buNone/>
            </a:pPr>
            <a:endParaRPr lang="en-US" altLang="ko-KR" sz="1400" b="1" dirty="0"/>
          </a:p>
          <a:p>
            <a:pPr marL="0" indent="0">
              <a:buNone/>
            </a:pPr>
            <a:r>
              <a:rPr lang="en-US" altLang="ko-KR" sz="1400" dirty="0"/>
              <a:t>-</a:t>
            </a:r>
            <a:r>
              <a:rPr lang="ko-KR" altLang="en-US" sz="1400" dirty="0"/>
              <a:t>스레드</a:t>
            </a:r>
            <a:r>
              <a:rPr lang="en-US" altLang="ko-KR" sz="1400" dirty="0"/>
              <a:t>A</a:t>
            </a:r>
            <a:r>
              <a:rPr lang="ko-KR" altLang="en-US" sz="1400" dirty="0"/>
              <a:t>가 사용하던 객체를 스레드</a:t>
            </a:r>
            <a:r>
              <a:rPr lang="en-US" altLang="ko-KR" sz="1400" dirty="0"/>
              <a:t>B</a:t>
            </a:r>
            <a:r>
              <a:rPr lang="ko-KR" altLang="en-US" sz="1400" dirty="0"/>
              <a:t>가 상태를 변경할 수 있음 </a:t>
            </a:r>
            <a:r>
              <a:rPr lang="en-US" altLang="ko-KR" sz="1400" dirty="0">
                <a:sym typeface="Wingdings" panose="05000000000000000000" pitchFamily="2" charset="2"/>
              </a:rPr>
              <a:t> </a:t>
            </a:r>
            <a:r>
              <a:rPr lang="ko-KR" altLang="en-US" sz="1400" dirty="0">
                <a:sym typeface="Wingdings" panose="05000000000000000000" pitchFamily="2" charset="2"/>
              </a:rPr>
              <a:t>의도한 결과와 다른 결과가 나옴</a:t>
            </a:r>
            <a:endParaRPr lang="en-US" altLang="ko-KR" sz="14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altLang="ko-KR" sz="14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altLang="ko-KR" sz="1400" dirty="0">
                <a:sym typeface="Wingdings" panose="05000000000000000000" pitchFamily="2" charset="2"/>
              </a:rPr>
              <a:t>ex) </a:t>
            </a:r>
            <a:r>
              <a:rPr lang="ko-KR" altLang="en-US" sz="1400" dirty="0">
                <a:sym typeface="Wingdings" panose="05000000000000000000" pitchFamily="2" charset="2"/>
              </a:rPr>
              <a:t>사람</a:t>
            </a:r>
            <a:r>
              <a:rPr lang="en-US" altLang="ko-KR" sz="1400" dirty="0">
                <a:sym typeface="Wingdings" panose="05000000000000000000" pitchFamily="2" charset="2"/>
              </a:rPr>
              <a:t>A</a:t>
            </a:r>
            <a:r>
              <a:rPr lang="ko-KR" altLang="en-US" sz="1400" dirty="0">
                <a:sym typeface="Wingdings" panose="05000000000000000000" pitchFamily="2" charset="2"/>
              </a:rPr>
              <a:t>가 계산기로 작업을 하고</a:t>
            </a:r>
            <a:r>
              <a:rPr lang="en-US" altLang="ko-KR" sz="1400" dirty="0">
                <a:sym typeface="Wingdings" panose="05000000000000000000" pitchFamily="2" charset="2"/>
              </a:rPr>
              <a:t>, </a:t>
            </a:r>
            <a:r>
              <a:rPr lang="ko-KR" altLang="en-US" sz="1400" dirty="0">
                <a:sym typeface="Wingdings" panose="05000000000000000000" pitchFamily="2" charset="2"/>
              </a:rPr>
              <a:t>계산 결과를 메모리에 저장한 뒤 잠시 자리를 비웠다</a:t>
            </a:r>
            <a:r>
              <a:rPr lang="en-US" altLang="ko-KR" sz="1400" dirty="0">
                <a:sym typeface="Wingdings" panose="05000000000000000000" pitchFamily="2" charset="2"/>
              </a:rPr>
              <a:t>.</a:t>
            </a:r>
          </a:p>
          <a:p>
            <a:pPr marL="0" indent="0">
              <a:buNone/>
            </a:pPr>
            <a:r>
              <a:rPr lang="ko-KR" altLang="en-US" sz="1400" dirty="0">
                <a:sym typeface="Wingdings" panose="05000000000000000000" pitchFamily="2" charset="2"/>
              </a:rPr>
              <a:t>이때 사람 </a:t>
            </a:r>
            <a:r>
              <a:rPr lang="en-US" altLang="ko-KR" sz="1400" dirty="0">
                <a:sym typeface="Wingdings" panose="05000000000000000000" pitchFamily="2" charset="2"/>
              </a:rPr>
              <a:t>B</a:t>
            </a:r>
            <a:r>
              <a:rPr lang="ko-KR" altLang="en-US" sz="1400" dirty="0">
                <a:sym typeface="Wingdings" panose="05000000000000000000" pitchFamily="2" charset="2"/>
              </a:rPr>
              <a:t>가 같은 계산기로 작업을 하고 결과를 업데이트 했다</a:t>
            </a:r>
            <a:r>
              <a:rPr lang="en-US" altLang="ko-KR" sz="1400" dirty="0">
                <a:sym typeface="Wingdings" panose="05000000000000000000" pitchFamily="2" charset="2"/>
              </a:rPr>
              <a:t>.</a:t>
            </a:r>
          </a:p>
          <a:p>
            <a:pPr marL="0" indent="0">
              <a:buNone/>
            </a:pPr>
            <a:r>
              <a:rPr lang="ko-KR" altLang="en-US" sz="1400" dirty="0">
                <a:sym typeface="Wingdings" panose="05000000000000000000" pitchFamily="2" charset="2"/>
              </a:rPr>
              <a:t>사람</a:t>
            </a:r>
            <a:r>
              <a:rPr lang="en-US" altLang="ko-KR" sz="1400" dirty="0">
                <a:sym typeface="Wingdings" panose="05000000000000000000" pitchFamily="2" charset="2"/>
              </a:rPr>
              <a:t>A</a:t>
            </a:r>
            <a:r>
              <a:rPr lang="ko-KR" altLang="en-US" sz="1400" dirty="0">
                <a:sym typeface="Wingdings" panose="05000000000000000000" pitchFamily="2" charset="2"/>
              </a:rPr>
              <a:t>가 자리로 돌아와서 출력을 해보니 의도한 결과와 다른 결과가 나왔다</a:t>
            </a:r>
            <a:r>
              <a:rPr lang="en-US" altLang="ko-KR" sz="1400" dirty="0">
                <a:sym typeface="Wingdings" panose="05000000000000000000" pitchFamily="2" charset="2"/>
              </a:rPr>
              <a:t>.</a:t>
            </a:r>
          </a:p>
          <a:p>
            <a:pPr marL="0" indent="0">
              <a:buNone/>
            </a:pPr>
            <a:endParaRPr lang="en-US" altLang="ko-KR" sz="14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altLang="ko-KR" sz="14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altLang="ko-KR" sz="14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altLang="ko-KR" sz="1400" dirty="0">
              <a:sym typeface="Wingdings" panose="05000000000000000000" pitchFamily="2" charset="2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7BF9FFE-B48A-DC15-7643-3569E3D9C5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6685" y="2760788"/>
            <a:ext cx="5164890" cy="3558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41832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D2EE18-94F3-5C5E-34D6-2FA8FA3DC3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EE379B4-403E-825F-9B02-FACE889F88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altLang="ko-KR" sz="1400" dirty="0"/>
              <a:t>public class Calculator {</a:t>
            </a:r>
          </a:p>
          <a:p>
            <a:pPr marL="0" indent="0">
              <a:buNone/>
            </a:pPr>
            <a:r>
              <a:rPr lang="en-US" altLang="ko-KR" sz="1400" dirty="0"/>
              <a:t>    // </a:t>
            </a:r>
            <a:r>
              <a:rPr lang="ko-KR" altLang="en-US" sz="1400" dirty="0"/>
              <a:t>메모리를 저장하는 필드 </a:t>
            </a:r>
            <a:r>
              <a:rPr lang="en-US" altLang="ko-KR" sz="1400" dirty="0"/>
              <a:t>(</a:t>
            </a:r>
            <a:r>
              <a:rPr lang="ko-KR" altLang="en-US" sz="1400" dirty="0"/>
              <a:t>스레드 간 공유되는 자원</a:t>
            </a:r>
            <a:r>
              <a:rPr lang="en-US" altLang="ko-KR" sz="1400" dirty="0"/>
              <a:t>)</a:t>
            </a:r>
          </a:p>
          <a:p>
            <a:pPr marL="0" indent="0">
              <a:buNone/>
            </a:pPr>
            <a:r>
              <a:rPr lang="en-US" altLang="ko-KR" sz="1400" dirty="0"/>
              <a:t>    private int memory;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    // </a:t>
            </a:r>
            <a:r>
              <a:rPr lang="ko-KR" altLang="en-US" sz="1400" dirty="0"/>
              <a:t>메모리 값을 반환하는 메서드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public int </a:t>
            </a:r>
            <a:r>
              <a:rPr lang="en-US" altLang="ko-KR" sz="1400" dirty="0" err="1"/>
              <a:t>getMemory</a:t>
            </a:r>
            <a:r>
              <a:rPr lang="en-US" altLang="ko-KR" sz="1400" dirty="0"/>
              <a:t>() {</a:t>
            </a:r>
          </a:p>
          <a:p>
            <a:pPr marL="0" indent="0">
              <a:buNone/>
            </a:pPr>
            <a:r>
              <a:rPr lang="en-US" altLang="ko-KR" sz="1400" dirty="0"/>
              <a:t>        return memory;</a:t>
            </a:r>
          </a:p>
          <a:p>
            <a:pPr marL="0" indent="0">
              <a:buNone/>
            </a:pPr>
            <a:r>
              <a:rPr lang="en-US" altLang="ko-KR" sz="1400" dirty="0"/>
              <a:t>    }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    // </a:t>
            </a:r>
            <a:r>
              <a:rPr lang="ko-KR" altLang="en-US" sz="1400" dirty="0"/>
              <a:t>메모리 값을 설정하는 메서드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public void </a:t>
            </a:r>
            <a:r>
              <a:rPr lang="en-US" altLang="ko-KR" sz="1400" dirty="0" err="1"/>
              <a:t>setMemory</a:t>
            </a:r>
            <a:r>
              <a:rPr lang="en-US" altLang="ko-KR" sz="1400" dirty="0"/>
              <a:t>(int memory) {</a:t>
            </a:r>
          </a:p>
          <a:p>
            <a:pPr marL="0" indent="0">
              <a:buNone/>
            </a:pPr>
            <a:r>
              <a:rPr lang="en-US" altLang="ko-KR" sz="1400" dirty="0"/>
              <a:t>        </a:t>
            </a:r>
            <a:r>
              <a:rPr lang="en-US" altLang="ko-KR" sz="1400" dirty="0" err="1"/>
              <a:t>this.memory</a:t>
            </a:r>
            <a:r>
              <a:rPr lang="en-US" altLang="ko-KR" sz="1400" dirty="0"/>
              <a:t> = memory; // </a:t>
            </a:r>
            <a:r>
              <a:rPr lang="ko-KR" altLang="en-US" sz="1400" dirty="0"/>
              <a:t>메모리 값 설정</a:t>
            </a:r>
          </a:p>
          <a:p>
            <a:pPr marL="0" indent="0">
              <a:buNone/>
            </a:pPr>
            <a:endParaRPr lang="ko-KR" altLang="en-US" sz="1400" dirty="0"/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try {</a:t>
            </a:r>
          </a:p>
          <a:p>
            <a:pPr marL="0" indent="0">
              <a:buNone/>
            </a:pPr>
            <a:r>
              <a:rPr lang="en-US" altLang="ko-KR" sz="1400" dirty="0"/>
              <a:t>            </a:t>
            </a:r>
            <a:r>
              <a:rPr lang="en-US" altLang="ko-KR" sz="1400" dirty="0" err="1"/>
              <a:t>Thread.sleep</a:t>
            </a:r>
            <a:r>
              <a:rPr lang="en-US" altLang="ko-KR" sz="1400" dirty="0"/>
              <a:t>(2000); // 2</a:t>
            </a:r>
            <a:r>
              <a:rPr lang="ko-KR" altLang="en-US" sz="1400" dirty="0"/>
              <a:t>초 대기 </a:t>
            </a:r>
            <a:r>
              <a:rPr lang="en-US" altLang="ko-KR" sz="1400" dirty="0"/>
              <a:t>(</a:t>
            </a:r>
            <a:r>
              <a:rPr lang="ko-KR" altLang="en-US" sz="1400" dirty="0"/>
              <a:t>스레드가 공유 자원에 접근하는 동안 지연 발생</a:t>
            </a:r>
            <a:r>
              <a:rPr lang="en-US" altLang="ko-KR" sz="1400" dirty="0"/>
              <a:t>)</a:t>
            </a:r>
          </a:p>
          <a:p>
            <a:pPr marL="0" indent="0">
              <a:buNone/>
            </a:pPr>
            <a:r>
              <a:rPr lang="en-US" altLang="ko-KR" sz="1400" dirty="0"/>
              <a:t>        } catch (</a:t>
            </a:r>
            <a:r>
              <a:rPr lang="en-US" altLang="ko-KR" sz="1400" dirty="0" err="1"/>
              <a:t>InterruptedException</a:t>
            </a:r>
            <a:r>
              <a:rPr lang="en-US" altLang="ko-KR" sz="1400" dirty="0"/>
              <a:t> e) {</a:t>
            </a:r>
          </a:p>
          <a:p>
            <a:pPr marL="0" indent="0">
              <a:buNone/>
            </a:pPr>
            <a:r>
              <a:rPr lang="en-US" altLang="ko-KR" sz="1400" dirty="0"/>
              <a:t>            // </a:t>
            </a:r>
            <a:r>
              <a:rPr lang="ko-KR" altLang="en-US" sz="1400" dirty="0"/>
              <a:t>예외 처리 </a:t>
            </a:r>
            <a:r>
              <a:rPr lang="en-US" altLang="ko-KR" sz="1400" dirty="0"/>
              <a:t>(</a:t>
            </a:r>
            <a:r>
              <a:rPr lang="ko-KR" altLang="en-US" sz="1400" dirty="0"/>
              <a:t>빈 블록</a:t>
            </a:r>
            <a:r>
              <a:rPr lang="en-US" altLang="ko-KR" sz="1400" dirty="0"/>
              <a:t>)</a:t>
            </a:r>
          </a:p>
          <a:p>
            <a:pPr marL="0" indent="0">
              <a:buNone/>
            </a:pPr>
            <a:r>
              <a:rPr lang="en-US" altLang="ko-KR" sz="1400" dirty="0"/>
              <a:t>        }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        // </a:t>
            </a:r>
            <a:r>
              <a:rPr lang="ko-KR" altLang="en-US" sz="1400" dirty="0"/>
              <a:t>현재 스레드 이름과 메모리 값을 출력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</a:t>
            </a:r>
            <a:r>
              <a:rPr lang="en-US" altLang="ko-KR" sz="1400" dirty="0" err="1"/>
              <a:t>Thread.currentThread</a:t>
            </a:r>
            <a:r>
              <a:rPr lang="en-US" altLang="ko-KR" sz="1400" dirty="0"/>
              <a:t>().</a:t>
            </a:r>
            <a:r>
              <a:rPr lang="en-US" altLang="ko-KR" sz="1400" dirty="0" err="1"/>
              <a:t>getName</a:t>
            </a:r>
            <a:r>
              <a:rPr lang="en-US" altLang="ko-KR" sz="1400" dirty="0"/>
              <a:t>() + ": " + </a:t>
            </a:r>
            <a:r>
              <a:rPr lang="en-US" altLang="ko-KR" sz="1400" dirty="0" err="1"/>
              <a:t>this.memory</a:t>
            </a:r>
            <a:r>
              <a:rPr lang="en-US" altLang="ko-KR" sz="1400" dirty="0"/>
              <a:t>);</a:t>
            </a:r>
          </a:p>
          <a:p>
            <a:pPr marL="0" indent="0">
              <a:buNone/>
            </a:pPr>
            <a:r>
              <a:rPr lang="en-US" altLang="ko-KR" sz="1400" dirty="0"/>
              <a:t>    }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E8B20A5-0FF1-6E6D-8847-B45C94EB6607}"/>
              </a:ext>
            </a:extLst>
          </p:cNvPr>
          <p:cNvSpPr txBox="1"/>
          <p:nvPr/>
        </p:nvSpPr>
        <p:spPr>
          <a:xfrm>
            <a:off x="6986257" y="3964900"/>
            <a:ext cx="5205743" cy="28931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public class User2 extends Thread {	</a:t>
            </a:r>
          </a:p>
          <a:p>
            <a:r>
              <a:rPr lang="en-US" altLang="ko-KR" sz="1400" dirty="0"/>
              <a:t>	private Calculator </a:t>
            </a:r>
            <a:r>
              <a:rPr lang="en-US" altLang="ko-KR" sz="1400" dirty="0" err="1"/>
              <a:t>calculator</a:t>
            </a:r>
            <a:r>
              <a:rPr lang="en-US" altLang="ko-KR" sz="1400" dirty="0"/>
              <a:t>;</a:t>
            </a:r>
          </a:p>
          <a:p>
            <a:r>
              <a:rPr lang="en-US" altLang="ko-KR" sz="1400" dirty="0"/>
              <a:t>	</a:t>
            </a:r>
          </a:p>
          <a:p>
            <a:r>
              <a:rPr lang="en-US" altLang="ko-KR" sz="1400" dirty="0"/>
              <a:t>	public void </a:t>
            </a:r>
            <a:r>
              <a:rPr lang="en-US" altLang="ko-KR" sz="1400" dirty="0" err="1"/>
              <a:t>setCalculator</a:t>
            </a:r>
            <a:r>
              <a:rPr lang="en-US" altLang="ko-KR" sz="1400" dirty="0"/>
              <a:t>(Calculator calculator) {</a:t>
            </a:r>
          </a:p>
          <a:p>
            <a:r>
              <a:rPr lang="en-US" altLang="ko-KR" sz="1400" dirty="0"/>
              <a:t>		</a:t>
            </a:r>
            <a:r>
              <a:rPr lang="en-US" altLang="ko-KR" sz="1400" dirty="0" err="1"/>
              <a:t>this.setName</a:t>
            </a:r>
            <a:r>
              <a:rPr lang="en-US" altLang="ko-KR" sz="1400" dirty="0"/>
              <a:t>("User2");</a:t>
            </a:r>
          </a:p>
          <a:p>
            <a:r>
              <a:rPr lang="en-US" altLang="ko-KR" sz="1400" dirty="0"/>
              <a:t>		</a:t>
            </a:r>
            <a:r>
              <a:rPr lang="en-US" altLang="ko-KR" sz="1400" dirty="0" err="1"/>
              <a:t>this.calculator</a:t>
            </a:r>
            <a:r>
              <a:rPr lang="en-US" altLang="ko-KR" sz="1400" dirty="0"/>
              <a:t> = calculator;</a:t>
            </a:r>
          </a:p>
          <a:p>
            <a:r>
              <a:rPr lang="en-US" altLang="ko-KR" sz="1400" dirty="0"/>
              <a:t>	}</a:t>
            </a:r>
          </a:p>
          <a:p>
            <a:r>
              <a:rPr lang="en-US" altLang="ko-KR" sz="1400" dirty="0"/>
              <a:t>	</a:t>
            </a:r>
          </a:p>
          <a:p>
            <a:r>
              <a:rPr lang="en-US" altLang="ko-KR" sz="1400" dirty="0"/>
              <a:t>	public void run() {</a:t>
            </a:r>
          </a:p>
          <a:p>
            <a:r>
              <a:rPr lang="en-US" altLang="ko-KR" sz="1400" dirty="0"/>
              <a:t>		</a:t>
            </a:r>
            <a:r>
              <a:rPr lang="en-US" altLang="ko-KR" sz="1400" dirty="0" err="1"/>
              <a:t>calculator.setMemory</a:t>
            </a:r>
            <a:r>
              <a:rPr lang="en-US" altLang="ko-KR" sz="1400" dirty="0"/>
              <a:t>(50);</a:t>
            </a:r>
          </a:p>
          <a:p>
            <a:r>
              <a:rPr lang="en-US" altLang="ko-KR" sz="1400" dirty="0"/>
              <a:t>	}</a:t>
            </a:r>
          </a:p>
          <a:p>
            <a:r>
              <a:rPr lang="en-US" altLang="ko-KR" sz="1400" dirty="0"/>
              <a:t>}</a:t>
            </a:r>
          </a:p>
          <a:p>
            <a:endParaRPr lang="en-US" altLang="ko-KR" sz="1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1A9D36-14BA-DBA4-0BDB-EF46CA10B236}"/>
              </a:ext>
            </a:extLst>
          </p:cNvPr>
          <p:cNvSpPr txBox="1"/>
          <p:nvPr/>
        </p:nvSpPr>
        <p:spPr>
          <a:xfrm>
            <a:off x="6986257" y="0"/>
            <a:ext cx="5205743" cy="28931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altLang="ko-KR" sz="1400" dirty="0">
                <a:sym typeface="Wingdings" panose="05000000000000000000" pitchFamily="2" charset="2"/>
              </a:rPr>
              <a:t>public class User1 extends Thread {	</a:t>
            </a:r>
          </a:p>
          <a:p>
            <a:pPr marL="0" indent="0">
              <a:buNone/>
            </a:pPr>
            <a:r>
              <a:rPr lang="en-US" altLang="ko-KR" sz="1400" dirty="0">
                <a:sym typeface="Wingdings" panose="05000000000000000000" pitchFamily="2" charset="2"/>
              </a:rPr>
              <a:t>	private Calculator </a:t>
            </a:r>
            <a:r>
              <a:rPr lang="en-US" altLang="ko-KR" sz="1400" dirty="0" err="1">
                <a:sym typeface="Wingdings" panose="05000000000000000000" pitchFamily="2" charset="2"/>
              </a:rPr>
              <a:t>calculator</a:t>
            </a:r>
            <a:r>
              <a:rPr lang="en-US" altLang="ko-KR" sz="1400" dirty="0">
                <a:sym typeface="Wingdings" panose="05000000000000000000" pitchFamily="2" charset="2"/>
              </a:rPr>
              <a:t>;</a:t>
            </a:r>
          </a:p>
          <a:p>
            <a:pPr marL="0" indent="0">
              <a:buNone/>
            </a:pPr>
            <a:r>
              <a:rPr lang="en-US" altLang="ko-KR" sz="1400" dirty="0">
                <a:sym typeface="Wingdings" panose="05000000000000000000" pitchFamily="2" charset="2"/>
              </a:rPr>
              <a:t>	</a:t>
            </a:r>
          </a:p>
          <a:p>
            <a:pPr marL="0" indent="0">
              <a:buNone/>
            </a:pPr>
            <a:r>
              <a:rPr lang="en-US" altLang="ko-KR" sz="1400" dirty="0">
                <a:sym typeface="Wingdings" panose="05000000000000000000" pitchFamily="2" charset="2"/>
              </a:rPr>
              <a:t>	public void </a:t>
            </a:r>
            <a:r>
              <a:rPr lang="en-US" altLang="ko-KR" sz="1400" dirty="0" err="1">
                <a:sym typeface="Wingdings" panose="05000000000000000000" pitchFamily="2" charset="2"/>
              </a:rPr>
              <a:t>setCalculator</a:t>
            </a:r>
            <a:r>
              <a:rPr lang="en-US" altLang="ko-KR" sz="1400" dirty="0">
                <a:sym typeface="Wingdings" panose="05000000000000000000" pitchFamily="2" charset="2"/>
              </a:rPr>
              <a:t>(Calculator calculator) {</a:t>
            </a:r>
          </a:p>
          <a:p>
            <a:pPr marL="0" indent="0">
              <a:buNone/>
            </a:pPr>
            <a:r>
              <a:rPr lang="en-US" altLang="ko-KR" sz="1400" dirty="0">
                <a:sym typeface="Wingdings" panose="05000000000000000000" pitchFamily="2" charset="2"/>
              </a:rPr>
              <a:t>		</a:t>
            </a:r>
            <a:r>
              <a:rPr lang="en-US" altLang="ko-KR" sz="1400" dirty="0" err="1">
                <a:sym typeface="Wingdings" panose="05000000000000000000" pitchFamily="2" charset="2"/>
              </a:rPr>
              <a:t>this.setName</a:t>
            </a:r>
            <a:r>
              <a:rPr lang="en-US" altLang="ko-KR" sz="1400" dirty="0">
                <a:sym typeface="Wingdings" panose="05000000000000000000" pitchFamily="2" charset="2"/>
              </a:rPr>
              <a:t>("User1");</a:t>
            </a:r>
          </a:p>
          <a:p>
            <a:pPr marL="0" indent="0">
              <a:buNone/>
            </a:pPr>
            <a:r>
              <a:rPr lang="en-US" altLang="ko-KR" sz="1400" dirty="0">
                <a:sym typeface="Wingdings" panose="05000000000000000000" pitchFamily="2" charset="2"/>
              </a:rPr>
              <a:t>		</a:t>
            </a:r>
            <a:r>
              <a:rPr lang="en-US" altLang="ko-KR" sz="1400" dirty="0" err="1">
                <a:sym typeface="Wingdings" panose="05000000000000000000" pitchFamily="2" charset="2"/>
              </a:rPr>
              <a:t>this.calculator</a:t>
            </a:r>
            <a:r>
              <a:rPr lang="en-US" altLang="ko-KR" sz="1400" dirty="0">
                <a:sym typeface="Wingdings" panose="05000000000000000000" pitchFamily="2" charset="2"/>
              </a:rPr>
              <a:t> = calculator;</a:t>
            </a:r>
          </a:p>
          <a:p>
            <a:pPr marL="0" indent="0">
              <a:buNone/>
            </a:pPr>
            <a:r>
              <a:rPr lang="en-US" altLang="ko-KR" sz="1400" dirty="0">
                <a:sym typeface="Wingdings" panose="05000000000000000000" pitchFamily="2" charset="2"/>
              </a:rPr>
              <a:t>	}</a:t>
            </a:r>
          </a:p>
          <a:p>
            <a:pPr marL="0" indent="0">
              <a:buNone/>
            </a:pPr>
            <a:r>
              <a:rPr lang="en-US" altLang="ko-KR" sz="1400" dirty="0">
                <a:sym typeface="Wingdings" panose="05000000000000000000" pitchFamily="2" charset="2"/>
              </a:rPr>
              <a:t>	</a:t>
            </a:r>
          </a:p>
          <a:p>
            <a:pPr marL="0" indent="0">
              <a:buNone/>
            </a:pPr>
            <a:r>
              <a:rPr lang="en-US" altLang="ko-KR" sz="1400" dirty="0">
                <a:sym typeface="Wingdings" panose="05000000000000000000" pitchFamily="2" charset="2"/>
              </a:rPr>
              <a:t>	public void run() {</a:t>
            </a:r>
          </a:p>
          <a:p>
            <a:pPr marL="0" indent="0">
              <a:buNone/>
            </a:pPr>
            <a:r>
              <a:rPr lang="en-US" altLang="ko-KR" sz="1400" dirty="0">
                <a:sym typeface="Wingdings" panose="05000000000000000000" pitchFamily="2" charset="2"/>
              </a:rPr>
              <a:t>		</a:t>
            </a:r>
            <a:r>
              <a:rPr lang="en-US" altLang="ko-KR" sz="1400" dirty="0" err="1">
                <a:sym typeface="Wingdings" panose="05000000000000000000" pitchFamily="2" charset="2"/>
              </a:rPr>
              <a:t>calculator.setMemory</a:t>
            </a:r>
            <a:r>
              <a:rPr lang="en-US" altLang="ko-KR" sz="1400" dirty="0">
                <a:sym typeface="Wingdings" panose="05000000000000000000" pitchFamily="2" charset="2"/>
              </a:rPr>
              <a:t>(100);</a:t>
            </a:r>
          </a:p>
          <a:p>
            <a:pPr marL="0" indent="0">
              <a:buNone/>
            </a:pPr>
            <a:r>
              <a:rPr lang="en-US" altLang="ko-KR" sz="1400" dirty="0">
                <a:sym typeface="Wingdings" panose="05000000000000000000" pitchFamily="2" charset="2"/>
              </a:rPr>
              <a:t>	}</a:t>
            </a:r>
          </a:p>
          <a:p>
            <a:pPr marL="0" indent="0">
              <a:buNone/>
            </a:pPr>
            <a:r>
              <a:rPr lang="en-US" altLang="ko-KR" sz="1400" dirty="0">
                <a:sym typeface="Wingdings" panose="05000000000000000000" pitchFamily="2" charset="2"/>
              </a:rPr>
              <a:t>}</a:t>
            </a:r>
          </a:p>
          <a:p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14266846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A72AB1-B4DB-2074-05C6-6535CC5647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77D7181-6C5F-7EAB-83E5-FA0C0F9CFF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1400" dirty="0"/>
              <a:t>// </a:t>
            </a:r>
            <a:r>
              <a:rPr lang="en-US" altLang="ko-KR" sz="1400" dirty="0" err="1"/>
              <a:t>MainThreadExample</a:t>
            </a:r>
            <a:r>
              <a:rPr lang="en-US" altLang="ko-KR" sz="1400" dirty="0"/>
              <a:t> </a:t>
            </a:r>
            <a:r>
              <a:rPr lang="ko-KR" altLang="en-US" sz="1400" dirty="0"/>
              <a:t>클래스</a:t>
            </a:r>
            <a:r>
              <a:rPr lang="en-US" altLang="ko-KR" sz="1400" dirty="0"/>
              <a:t>: User1</a:t>
            </a:r>
            <a:r>
              <a:rPr lang="ko-KR" altLang="en-US" sz="1400" dirty="0"/>
              <a:t>과 </a:t>
            </a:r>
            <a:r>
              <a:rPr lang="en-US" altLang="ko-KR" sz="1400" dirty="0"/>
              <a:t>User2 </a:t>
            </a:r>
            <a:r>
              <a:rPr lang="ko-KR" altLang="en-US" sz="1400" dirty="0"/>
              <a:t>스레드가 </a:t>
            </a:r>
            <a:r>
              <a:rPr lang="en-US" altLang="ko-KR" sz="1400" dirty="0"/>
              <a:t>Calculator</a:t>
            </a:r>
            <a:r>
              <a:rPr lang="ko-KR" altLang="en-US" sz="1400" dirty="0"/>
              <a:t>를 공유하며 작업하는 예제</a:t>
            </a:r>
          </a:p>
          <a:p>
            <a:pPr marL="0" indent="0">
              <a:buNone/>
            </a:pPr>
            <a:r>
              <a:rPr lang="en-US" altLang="ko-KR" sz="1400" dirty="0"/>
              <a:t>public class </a:t>
            </a:r>
            <a:r>
              <a:rPr lang="en-US" altLang="ko-KR" sz="1400" dirty="0" err="1"/>
              <a:t>MainThreadExample</a:t>
            </a:r>
            <a:r>
              <a:rPr lang="en-US" altLang="ko-KR" sz="1400" dirty="0"/>
              <a:t> {</a:t>
            </a:r>
          </a:p>
          <a:p>
            <a:pPr marL="0" indent="0">
              <a:buNone/>
            </a:pPr>
            <a:r>
              <a:rPr lang="en-US" altLang="ko-KR" sz="1400" dirty="0"/>
              <a:t>    public static void main(String[] </a:t>
            </a:r>
            <a:r>
              <a:rPr lang="en-US" altLang="ko-KR" sz="1400" dirty="0" err="1"/>
              <a:t>args</a:t>
            </a:r>
            <a:r>
              <a:rPr lang="en-US" altLang="ko-KR" sz="1400" dirty="0"/>
              <a:t>) {</a:t>
            </a:r>
          </a:p>
          <a:p>
            <a:pPr marL="0" indent="0">
              <a:buNone/>
            </a:pPr>
            <a:r>
              <a:rPr lang="en-US" altLang="ko-KR" sz="1400" dirty="0"/>
              <a:t>        // </a:t>
            </a:r>
            <a:r>
              <a:rPr lang="ko-KR" altLang="en-US" sz="1400" dirty="0"/>
              <a:t>공유 객체 </a:t>
            </a:r>
            <a:r>
              <a:rPr lang="en-US" altLang="ko-KR" sz="1400" dirty="0"/>
              <a:t>Calculator </a:t>
            </a:r>
            <a:r>
              <a:rPr lang="ko-KR" altLang="en-US" sz="1400" dirty="0"/>
              <a:t>생성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Calculator </a:t>
            </a:r>
            <a:r>
              <a:rPr lang="en-US" altLang="ko-KR" sz="1400" dirty="0" err="1"/>
              <a:t>calculator</a:t>
            </a:r>
            <a:r>
              <a:rPr lang="en-US" altLang="ko-KR" sz="1400" dirty="0"/>
              <a:t> = new Calculator();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        // User1 </a:t>
            </a:r>
            <a:r>
              <a:rPr lang="ko-KR" altLang="en-US" sz="1400" dirty="0"/>
              <a:t>스레드 생성 및 </a:t>
            </a:r>
            <a:r>
              <a:rPr lang="en-US" altLang="ko-KR" sz="1400" dirty="0"/>
              <a:t>Calculator </a:t>
            </a:r>
            <a:r>
              <a:rPr lang="ko-KR" altLang="en-US" sz="1400" dirty="0"/>
              <a:t>설정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User1 </a:t>
            </a:r>
            <a:r>
              <a:rPr lang="en-US" altLang="ko-KR" sz="1400" dirty="0" err="1"/>
              <a:t>user1</a:t>
            </a:r>
            <a:r>
              <a:rPr lang="en-US" altLang="ko-KR" sz="1400" dirty="0"/>
              <a:t> = new User1();</a:t>
            </a:r>
          </a:p>
          <a:p>
            <a:pPr marL="0" indent="0">
              <a:buNone/>
            </a:pPr>
            <a:r>
              <a:rPr lang="en-US" altLang="ko-KR" sz="1400" dirty="0"/>
              <a:t>        user1.setCalculator(calculator); // User1</a:t>
            </a:r>
            <a:r>
              <a:rPr lang="ko-KR" altLang="en-US" sz="1400" dirty="0"/>
              <a:t>에 공유 </a:t>
            </a:r>
            <a:r>
              <a:rPr lang="en-US" altLang="ko-KR" sz="1400" dirty="0"/>
              <a:t>Calculator </a:t>
            </a:r>
            <a:r>
              <a:rPr lang="ko-KR" altLang="en-US" sz="1400" dirty="0"/>
              <a:t>객체를 전달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user1.start(); // User1 </a:t>
            </a:r>
            <a:r>
              <a:rPr lang="ko-KR" altLang="en-US" sz="1400" dirty="0"/>
              <a:t>스레드 시작</a:t>
            </a:r>
          </a:p>
          <a:p>
            <a:pPr marL="0" indent="0">
              <a:buNone/>
            </a:pPr>
            <a:endParaRPr lang="ko-KR" altLang="en-US" sz="1400" dirty="0"/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// User2 </a:t>
            </a:r>
            <a:r>
              <a:rPr lang="ko-KR" altLang="en-US" sz="1400" dirty="0"/>
              <a:t>스레드 생성 및 </a:t>
            </a:r>
            <a:r>
              <a:rPr lang="en-US" altLang="ko-KR" sz="1400" dirty="0"/>
              <a:t>Calculator </a:t>
            </a:r>
            <a:r>
              <a:rPr lang="ko-KR" altLang="en-US" sz="1400" dirty="0"/>
              <a:t>설정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User2 </a:t>
            </a:r>
            <a:r>
              <a:rPr lang="en-US" altLang="ko-KR" sz="1400" dirty="0" err="1"/>
              <a:t>user2</a:t>
            </a:r>
            <a:r>
              <a:rPr lang="en-US" altLang="ko-KR" sz="1400" dirty="0"/>
              <a:t> = new User2();</a:t>
            </a:r>
          </a:p>
          <a:p>
            <a:pPr marL="0" indent="0">
              <a:buNone/>
            </a:pPr>
            <a:r>
              <a:rPr lang="en-US" altLang="ko-KR" sz="1400" dirty="0"/>
              <a:t>        user2.setCalculator(calculator); // User2</a:t>
            </a:r>
            <a:r>
              <a:rPr lang="ko-KR" altLang="en-US" sz="1400" dirty="0"/>
              <a:t>에 공유 </a:t>
            </a:r>
            <a:r>
              <a:rPr lang="en-US" altLang="ko-KR" sz="1400" dirty="0"/>
              <a:t>Calculator </a:t>
            </a:r>
            <a:r>
              <a:rPr lang="ko-KR" altLang="en-US" sz="1400" dirty="0"/>
              <a:t>객체를 전달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user2.start(); // User2 </a:t>
            </a:r>
            <a:r>
              <a:rPr lang="ko-KR" altLang="en-US" sz="1400" dirty="0"/>
              <a:t>스레드 시작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}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DC0F9A8-DBBB-92B3-7157-30CA83FF6B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47558" y="2954518"/>
            <a:ext cx="1564214" cy="822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37178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16F6EC-8232-DF4D-6235-9BF0F2E2A6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3E52C24-4322-D005-4370-0555CECD93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1400" b="1" dirty="0"/>
              <a:t>공유 객체</a:t>
            </a:r>
            <a:r>
              <a:rPr lang="en-US" altLang="ko-KR" sz="1400" b="1" dirty="0"/>
              <a:t>(</a:t>
            </a:r>
            <a:r>
              <a:rPr lang="ko-KR" altLang="en-US" sz="1400" b="1" dirty="0"/>
              <a:t>스레드</a:t>
            </a:r>
            <a:r>
              <a:rPr lang="en-US" altLang="ko-KR" sz="1400" b="1" dirty="0"/>
              <a:t>) </a:t>
            </a:r>
            <a:r>
              <a:rPr lang="ko-KR" altLang="en-US" sz="1400" b="1" dirty="0"/>
              <a:t>사용시 주의할 점</a:t>
            </a:r>
            <a:endParaRPr lang="en-US" altLang="ko-KR" sz="1400" b="1" dirty="0"/>
          </a:p>
          <a:p>
            <a:pPr marL="0" indent="0">
              <a:buNone/>
            </a:pPr>
            <a:endParaRPr lang="en-US" altLang="ko-KR" sz="1400" b="1" dirty="0"/>
          </a:p>
          <a:p>
            <a:pPr marL="0" indent="0">
              <a:buNone/>
            </a:pPr>
            <a:r>
              <a:rPr lang="ko-KR" altLang="en-US" sz="1400" dirty="0"/>
              <a:t>스레드가 사용 중인 객체를 다른 스레드가 변경할 수 없게 해야 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b="1" dirty="0"/>
              <a:t>임계 영역</a:t>
            </a:r>
            <a:r>
              <a:rPr lang="en-US" altLang="ko-KR" sz="1400" b="1" dirty="0"/>
              <a:t>(critical section): </a:t>
            </a:r>
            <a:r>
              <a:rPr lang="ko-KR" altLang="en-US" sz="1400" dirty="0"/>
              <a:t>멀티 스레드 프로그램에서 단 하나의 스레드만 실행할 수 있는 코드 영역 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b="1" dirty="0">
                <a:sym typeface="Wingdings" panose="05000000000000000000" pitchFamily="2" charset="2"/>
              </a:rPr>
              <a:t></a:t>
            </a:r>
            <a:r>
              <a:rPr lang="ko-KR" altLang="en-US" sz="1400" dirty="0">
                <a:sym typeface="Wingdings" panose="05000000000000000000" pitchFamily="2" charset="2"/>
              </a:rPr>
              <a:t>자바는 임계 영역을 지원하기 위해 동기화 메소드</a:t>
            </a:r>
            <a:r>
              <a:rPr lang="en-US" altLang="ko-KR" sz="1400" dirty="0">
                <a:sym typeface="Wingdings" panose="05000000000000000000" pitchFamily="2" charset="2"/>
              </a:rPr>
              <a:t>(synchronized method)</a:t>
            </a:r>
            <a:r>
              <a:rPr lang="ko-KR" altLang="en-US" sz="1400" dirty="0">
                <a:sym typeface="Wingdings" panose="05000000000000000000" pitchFamily="2" charset="2"/>
              </a:rPr>
              <a:t>를</a:t>
            </a:r>
            <a:r>
              <a:rPr lang="en-US" altLang="ko-KR" sz="1400" dirty="0">
                <a:sym typeface="Wingdings" panose="05000000000000000000" pitchFamily="2" charset="2"/>
              </a:rPr>
              <a:t> </a:t>
            </a:r>
            <a:r>
              <a:rPr lang="ko-KR" altLang="en-US" sz="1400" dirty="0">
                <a:sym typeface="Wingdings" panose="05000000000000000000" pitchFamily="2" charset="2"/>
              </a:rPr>
              <a:t>제공한다</a:t>
            </a:r>
            <a:r>
              <a:rPr lang="en-US" altLang="ko-KR" sz="1400" dirty="0">
                <a:sym typeface="Wingdings" panose="05000000000000000000" pitchFamily="2" charset="2"/>
              </a:rPr>
              <a:t>.</a:t>
            </a:r>
          </a:p>
          <a:p>
            <a:pPr marL="0" indent="0">
              <a:buNone/>
            </a:pPr>
            <a:r>
              <a:rPr lang="en-US" altLang="ko-KR" sz="1400" dirty="0">
                <a:sym typeface="Wingdings" panose="05000000000000000000" pitchFamily="2" charset="2"/>
              </a:rPr>
              <a:t>ex)</a:t>
            </a:r>
          </a:p>
          <a:p>
            <a:pPr marL="0" indent="0">
              <a:buNone/>
            </a:pPr>
            <a:r>
              <a:rPr lang="en-US" altLang="ko-KR" sz="1400" dirty="0">
                <a:sym typeface="Wingdings" panose="05000000000000000000" pitchFamily="2" charset="2"/>
              </a:rPr>
              <a:t>public synchronized void method(){</a:t>
            </a:r>
          </a:p>
          <a:p>
            <a:pPr marL="0" indent="0">
              <a:buNone/>
            </a:pPr>
            <a:r>
              <a:rPr lang="en-US" altLang="ko-KR" sz="1400" dirty="0">
                <a:sym typeface="Wingdings" panose="05000000000000000000" pitchFamily="2" charset="2"/>
              </a:rPr>
              <a:t>	</a:t>
            </a:r>
            <a:r>
              <a:rPr lang="ko-KR" altLang="en-US" sz="1400" dirty="0">
                <a:sym typeface="Wingdings" panose="05000000000000000000" pitchFamily="2" charset="2"/>
              </a:rPr>
              <a:t>임계 영역</a:t>
            </a:r>
            <a:endParaRPr lang="en-US" altLang="ko-KR" sz="14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altLang="ko-KR" sz="1400" dirty="0">
                <a:sym typeface="Wingdings" panose="05000000000000000000" pitchFamily="2" charset="2"/>
              </a:rPr>
              <a:t>}</a:t>
            </a: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-</a:t>
            </a:r>
            <a:r>
              <a:rPr lang="ko-KR" altLang="en-US" sz="1400" dirty="0"/>
              <a:t>스레드가 동기화 메소드를 실행하는 즉시 객체 잠금 </a:t>
            </a:r>
            <a:r>
              <a:rPr lang="en-US" altLang="ko-KR" sz="1400" dirty="0"/>
              <a:t>(</a:t>
            </a:r>
            <a:r>
              <a:rPr lang="ko-KR" altLang="en-US" sz="1400" dirty="0"/>
              <a:t>외부에서 접근 불가</a:t>
            </a:r>
            <a:r>
              <a:rPr lang="en-US" altLang="ko-KR" sz="1400" dirty="0"/>
              <a:t>)</a:t>
            </a:r>
          </a:p>
          <a:p>
            <a:pPr marL="0" indent="0">
              <a:buNone/>
            </a:pPr>
            <a:r>
              <a:rPr lang="en-US" altLang="ko-KR" sz="1400" dirty="0"/>
              <a:t>-</a:t>
            </a:r>
            <a:r>
              <a:rPr lang="ko-KR" altLang="en-US" sz="1400" dirty="0"/>
              <a:t>스레드가 동기화 메소드 실행을 종료하면 잠금이 풀림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-</a:t>
            </a:r>
            <a:r>
              <a:rPr lang="ko-KR" altLang="en-US" sz="1400" dirty="0"/>
              <a:t>단 외부에서 동기화 메소드를 제외한 일반 메소드는 접근이 가능하다</a:t>
            </a:r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27934712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556BE5-4977-28D9-BBAF-5D400F5AAC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AE95136-580E-BB72-63ED-252A45BF8E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altLang="ko-KR" sz="1400" dirty="0"/>
              <a:t>public class Calculator {</a:t>
            </a:r>
          </a:p>
          <a:p>
            <a:pPr marL="0" indent="0">
              <a:buNone/>
            </a:pPr>
            <a:r>
              <a:rPr lang="en-US" altLang="ko-KR" sz="1400" dirty="0"/>
              <a:t>    // </a:t>
            </a:r>
            <a:r>
              <a:rPr lang="ko-KR" altLang="en-US" sz="1400" dirty="0"/>
              <a:t>메모리를 저장하는 필드 </a:t>
            </a:r>
            <a:r>
              <a:rPr lang="en-US" altLang="ko-KR" sz="1400" dirty="0"/>
              <a:t>(</a:t>
            </a:r>
            <a:r>
              <a:rPr lang="ko-KR" altLang="en-US" sz="1400" dirty="0"/>
              <a:t>공유 자원</a:t>
            </a:r>
            <a:r>
              <a:rPr lang="en-US" altLang="ko-KR" sz="1400" dirty="0"/>
              <a:t>)</a:t>
            </a:r>
          </a:p>
          <a:p>
            <a:pPr marL="0" indent="0">
              <a:buNone/>
            </a:pPr>
            <a:r>
              <a:rPr lang="en-US" altLang="ko-KR" sz="1400" dirty="0"/>
              <a:t>    private int memory;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    // </a:t>
            </a:r>
            <a:r>
              <a:rPr lang="ko-KR" altLang="en-US" sz="1400" dirty="0"/>
              <a:t>메모리 값을 반환하는 메서드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public int </a:t>
            </a:r>
            <a:r>
              <a:rPr lang="en-US" altLang="ko-KR" sz="1400" dirty="0" err="1"/>
              <a:t>getMemory</a:t>
            </a:r>
            <a:r>
              <a:rPr lang="en-US" altLang="ko-KR" sz="1400" dirty="0"/>
              <a:t>() {</a:t>
            </a:r>
          </a:p>
          <a:p>
            <a:pPr marL="0" indent="0">
              <a:buNone/>
            </a:pPr>
            <a:r>
              <a:rPr lang="en-US" altLang="ko-KR" sz="1400" dirty="0"/>
              <a:t>        return memory;</a:t>
            </a:r>
          </a:p>
          <a:p>
            <a:pPr marL="0" indent="0">
              <a:buNone/>
            </a:pPr>
            <a:r>
              <a:rPr lang="en-US" altLang="ko-KR" sz="1400" dirty="0"/>
              <a:t>    }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    // </a:t>
            </a:r>
            <a:r>
              <a:rPr lang="ko-KR" altLang="en-US" sz="1400" dirty="0"/>
              <a:t>메모리 값을 설정하는 메서드 </a:t>
            </a:r>
            <a:r>
              <a:rPr lang="en-US" altLang="ko-KR" sz="1400" dirty="0"/>
              <a:t>(</a:t>
            </a:r>
            <a:r>
              <a:rPr lang="ko-KR" altLang="en-US" sz="1400" dirty="0"/>
              <a:t>동기화 처리 추가</a:t>
            </a:r>
            <a:r>
              <a:rPr lang="en-US" altLang="ko-KR" sz="1400" dirty="0"/>
              <a:t>)</a:t>
            </a:r>
          </a:p>
          <a:p>
            <a:pPr marL="0" indent="0">
              <a:buNone/>
            </a:pPr>
            <a:r>
              <a:rPr lang="en-US" altLang="ko-KR" sz="1400" dirty="0"/>
              <a:t>    public synchronized void </a:t>
            </a:r>
            <a:r>
              <a:rPr lang="en-US" altLang="ko-KR" sz="1400" dirty="0" err="1"/>
              <a:t>setMemory</a:t>
            </a:r>
            <a:r>
              <a:rPr lang="en-US" altLang="ko-KR" sz="1400" dirty="0"/>
              <a:t>(int memory) {</a:t>
            </a:r>
          </a:p>
          <a:p>
            <a:pPr marL="0" indent="0">
              <a:buNone/>
            </a:pPr>
            <a:r>
              <a:rPr lang="en-US" altLang="ko-KR" sz="1400" dirty="0"/>
              <a:t>        </a:t>
            </a:r>
            <a:r>
              <a:rPr lang="en-US" altLang="ko-KR" sz="1400" dirty="0" err="1"/>
              <a:t>this.memory</a:t>
            </a:r>
            <a:r>
              <a:rPr lang="en-US" altLang="ko-KR" sz="1400" dirty="0"/>
              <a:t> = memory; // </a:t>
            </a:r>
            <a:r>
              <a:rPr lang="ko-KR" altLang="en-US" sz="1400" dirty="0"/>
              <a:t>메모리 값 설정</a:t>
            </a:r>
          </a:p>
          <a:p>
            <a:pPr marL="0" indent="0">
              <a:buNone/>
            </a:pPr>
            <a:endParaRPr lang="ko-KR" altLang="en-US" sz="1400" dirty="0"/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try {</a:t>
            </a:r>
          </a:p>
          <a:p>
            <a:pPr marL="0" indent="0">
              <a:buNone/>
            </a:pPr>
            <a:r>
              <a:rPr lang="en-US" altLang="ko-KR" sz="1400" dirty="0"/>
              <a:t>            </a:t>
            </a:r>
            <a:r>
              <a:rPr lang="en-US" altLang="ko-KR" sz="1400" dirty="0" err="1"/>
              <a:t>Thread.sleep</a:t>
            </a:r>
            <a:r>
              <a:rPr lang="en-US" altLang="ko-KR" sz="1400" dirty="0"/>
              <a:t>(2000); // 2</a:t>
            </a:r>
            <a:r>
              <a:rPr lang="ko-KR" altLang="en-US" sz="1400" dirty="0"/>
              <a:t>초 대기 </a:t>
            </a:r>
            <a:r>
              <a:rPr lang="en-US" altLang="ko-KR" sz="1400" dirty="0"/>
              <a:t>(</a:t>
            </a:r>
            <a:r>
              <a:rPr lang="ko-KR" altLang="en-US" sz="1400" dirty="0"/>
              <a:t>스레드 실행 간 지연</a:t>
            </a:r>
            <a:r>
              <a:rPr lang="en-US" altLang="ko-KR" sz="1400" dirty="0"/>
              <a:t>)</a:t>
            </a:r>
          </a:p>
          <a:p>
            <a:pPr marL="0" indent="0">
              <a:buNone/>
            </a:pPr>
            <a:r>
              <a:rPr lang="en-US" altLang="ko-KR" sz="1400" dirty="0"/>
              <a:t>        } catch (</a:t>
            </a:r>
            <a:r>
              <a:rPr lang="en-US" altLang="ko-KR" sz="1400" dirty="0" err="1"/>
              <a:t>InterruptedException</a:t>
            </a:r>
            <a:r>
              <a:rPr lang="en-US" altLang="ko-KR" sz="1400" dirty="0"/>
              <a:t> e) {</a:t>
            </a:r>
          </a:p>
          <a:p>
            <a:pPr marL="0" indent="0">
              <a:buNone/>
            </a:pPr>
            <a:r>
              <a:rPr lang="en-US" altLang="ko-KR" sz="1400" dirty="0"/>
              <a:t>            // </a:t>
            </a:r>
            <a:r>
              <a:rPr lang="ko-KR" altLang="en-US" sz="1400" dirty="0"/>
              <a:t>예외 처리 </a:t>
            </a:r>
            <a:r>
              <a:rPr lang="en-US" altLang="ko-KR" sz="1400" dirty="0"/>
              <a:t>(</a:t>
            </a:r>
            <a:r>
              <a:rPr lang="ko-KR" altLang="en-US" sz="1400" dirty="0"/>
              <a:t>빈 블록</a:t>
            </a:r>
            <a:r>
              <a:rPr lang="en-US" altLang="ko-KR" sz="1400" dirty="0"/>
              <a:t>)</a:t>
            </a:r>
          </a:p>
          <a:p>
            <a:pPr marL="0" indent="0">
              <a:buNone/>
            </a:pPr>
            <a:r>
              <a:rPr lang="en-US" altLang="ko-KR" sz="1400" dirty="0"/>
              <a:t>        }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        // </a:t>
            </a:r>
            <a:r>
              <a:rPr lang="ko-KR" altLang="en-US" sz="1400" dirty="0"/>
              <a:t>현재 스레드 이름과 설정된 메모리 값 출력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</a:t>
            </a:r>
            <a:r>
              <a:rPr lang="en-US" altLang="ko-KR" sz="1400" dirty="0" err="1"/>
              <a:t>Thread.currentThread</a:t>
            </a:r>
            <a:r>
              <a:rPr lang="en-US" altLang="ko-KR" sz="1400" dirty="0"/>
              <a:t>().</a:t>
            </a:r>
            <a:r>
              <a:rPr lang="en-US" altLang="ko-KR" sz="1400" dirty="0" err="1"/>
              <a:t>getName</a:t>
            </a:r>
            <a:r>
              <a:rPr lang="en-US" altLang="ko-KR" sz="1400" dirty="0"/>
              <a:t>() + ": " + </a:t>
            </a:r>
            <a:r>
              <a:rPr lang="en-US" altLang="ko-KR" sz="1400" dirty="0" err="1"/>
              <a:t>this.memory</a:t>
            </a:r>
            <a:r>
              <a:rPr lang="en-US" altLang="ko-KR" sz="1400" dirty="0"/>
              <a:t>);</a:t>
            </a:r>
          </a:p>
          <a:p>
            <a:pPr marL="0" indent="0">
              <a:buNone/>
            </a:pPr>
            <a:r>
              <a:rPr lang="en-US" altLang="ko-KR" sz="1400" dirty="0"/>
              <a:t>    }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859515B-A30A-3E10-4B51-01D0F3DDF118}"/>
              </a:ext>
            </a:extLst>
          </p:cNvPr>
          <p:cNvSpPr txBox="1"/>
          <p:nvPr/>
        </p:nvSpPr>
        <p:spPr>
          <a:xfrm>
            <a:off x="6986257" y="2163778"/>
            <a:ext cx="5205743" cy="203132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User1 </a:t>
            </a:r>
            <a:r>
              <a:rPr lang="ko-KR" altLang="en-US" sz="1400" dirty="0"/>
              <a:t>스레드는</a:t>
            </a:r>
            <a:r>
              <a:rPr lang="en-US" altLang="ko-KR" sz="1400" dirty="0"/>
              <a:t> </a:t>
            </a:r>
            <a:r>
              <a:rPr lang="en-US" altLang="ko-KR" sz="1400" dirty="0" err="1"/>
              <a:t>setMemory</a:t>
            </a:r>
            <a:r>
              <a:rPr lang="en-US" altLang="ko-KR" sz="1400" dirty="0"/>
              <a:t>()</a:t>
            </a:r>
            <a:r>
              <a:rPr lang="ko-KR" altLang="en-US" sz="1400" dirty="0"/>
              <a:t>실행하는 순간 객체를 </a:t>
            </a:r>
            <a:r>
              <a:rPr lang="ko-KR" altLang="en-US" sz="1400" dirty="0" err="1"/>
              <a:t>잠굼</a:t>
            </a:r>
            <a:endParaRPr lang="en-US" altLang="ko-KR" sz="1400" dirty="0"/>
          </a:p>
          <a:p>
            <a:endParaRPr lang="en-US" altLang="ko-KR" sz="1400" dirty="0"/>
          </a:p>
          <a:p>
            <a:r>
              <a:rPr lang="ko-KR" altLang="en-US" sz="1400" dirty="0"/>
              <a:t>메인 스레드가 </a:t>
            </a:r>
            <a:r>
              <a:rPr lang="en-US" altLang="ko-KR" sz="1400" dirty="0"/>
              <a:t>User2</a:t>
            </a:r>
            <a:r>
              <a:rPr lang="ko-KR" altLang="en-US" sz="1400" dirty="0"/>
              <a:t>를 실행하지만 실행이 안됨</a:t>
            </a:r>
            <a:endParaRPr lang="en-US" altLang="ko-KR" sz="1400" dirty="0"/>
          </a:p>
          <a:p>
            <a:r>
              <a:rPr lang="en-US" altLang="ko-KR" sz="1400" dirty="0">
                <a:sym typeface="Wingdings" panose="05000000000000000000" pitchFamily="2" charset="2"/>
              </a:rPr>
              <a:t>User1</a:t>
            </a:r>
            <a:r>
              <a:rPr lang="ko-KR" altLang="en-US" sz="1400" dirty="0">
                <a:sym typeface="Wingdings" panose="05000000000000000000" pitchFamily="2" charset="2"/>
              </a:rPr>
              <a:t>이 </a:t>
            </a:r>
            <a:r>
              <a:rPr lang="en-US" altLang="ko-KR" sz="1400" dirty="0" err="1"/>
              <a:t>setMemory</a:t>
            </a:r>
            <a:r>
              <a:rPr lang="en-US" altLang="ko-KR" sz="1400" dirty="0"/>
              <a:t>() </a:t>
            </a:r>
            <a:r>
              <a:rPr lang="ko-KR" altLang="en-US" sz="1400" dirty="0" err="1"/>
              <a:t>종료될때</a:t>
            </a:r>
            <a:r>
              <a:rPr lang="ko-KR" altLang="en-US" sz="1400" dirty="0"/>
              <a:t> 까지 </a:t>
            </a:r>
            <a:r>
              <a:rPr lang="ko-KR" altLang="en-US" sz="1400" dirty="0" err="1"/>
              <a:t>기다려야됨</a:t>
            </a:r>
            <a:endParaRPr lang="en-US" altLang="ko-KR" sz="1400" dirty="0"/>
          </a:p>
          <a:p>
            <a:endParaRPr lang="en-US" altLang="ko-KR" sz="1400" dirty="0"/>
          </a:p>
          <a:p>
            <a:r>
              <a:rPr lang="en-US" altLang="ko-KR" sz="1400" dirty="0"/>
              <a:t>User1</a:t>
            </a:r>
            <a:r>
              <a:rPr lang="ko-KR" altLang="en-US" sz="1400" dirty="0"/>
              <a:t>스레드가 </a:t>
            </a:r>
            <a:r>
              <a:rPr lang="en-US" altLang="ko-KR" sz="1400" dirty="0" err="1"/>
              <a:t>setMemory</a:t>
            </a:r>
            <a:r>
              <a:rPr lang="en-US" altLang="ko-KR" sz="1400" dirty="0"/>
              <a:t>()</a:t>
            </a:r>
            <a:r>
              <a:rPr lang="ko-KR" altLang="en-US" sz="1400" dirty="0"/>
              <a:t>를 모두 실행하면</a:t>
            </a:r>
            <a:endParaRPr lang="en-US" altLang="ko-KR" sz="1400" dirty="0"/>
          </a:p>
          <a:p>
            <a:r>
              <a:rPr lang="en-US" altLang="ko-KR" sz="1400" dirty="0"/>
              <a:t>User2</a:t>
            </a:r>
            <a:r>
              <a:rPr lang="ko-KR" altLang="en-US" sz="1400" dirty="0"/>
              <a:t>스레드가 </a:t>
            </a:r>
            <a:r>
              <a:rPr lang="en-US" altLang="ko-KR" sz="1400" dirty="0" err="1"/>
              <a:t>setMemory</a:t>
            </a:r>
            <a:r>
              <a:rPr lang="en-US" altLang="ko-KR" sz="1400" dirty="0"/>
              <a:t>()</a:t>
            </a:r>
            <a:r>
              <a:rPr lang="ko-KR" altLang="en-US" sz="1400" dirty="0"/>
              <a:t>를 실행</a:t>
            </a:r>
            <a:endParaRPr lang="en-US" altLang="ko-KR" sz="1400" dirty="0"/>
          </a:p>
          <a:p>
            <a:endParaRPr lang="en-US" altLang="ko-KR" sz="1400" dirty="0"/>
          </a:p>
          <a:p>
            <a:r>
              <a:rPr lang="en-US" altLang="ko-KR" sz="1400" dirty="0">
                <a:sym typeface="Wingdings" panose="05000000000000000000" pitchFamily="2" charset="2"/>
              </a:rPr>
              <a:t></a:t>
            </a:r>
            <a:r>
              <a:rPr lang="ko-KR" altLang="en-US" sz="1400" dirty="0"/>
              <a:t> 안전한 공유 객체 사용</a:t>
            </a:r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18129152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FFC177-E7B4-5953-2B5E-550B818673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4E574F3-80A5-C768-6D67-409F345BCE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1400" b="1" dirty="0"/>
              <a:t>스레드 상태</a:t>
            </a:r>
            <a:endParaRPr lang="en-US" altLang="ko-KR" sz="1400" b="1" dirty="0"/>
          </a:p>
          <a:p>
            <a:pPr marL="0" indent="0">
              <a:buNone/>
            </a:pPr>
            <a:endParaRPr lang="en-US" altLang="ko-KR" sz="1400" b="1" dirty="0"/>
          </a:p>
          <a:p>
            <a:pPr marL="0" indent="0">
              <a:buNone/>
            </a:pPr>
            <a:r>
              <a:rPr lang="ko-KR" altLang="en-US" sz="1400" dirty="0"/>
              <a:t>자바에서 스레드 객체를 생성하고 </a:t>
            </a:r>
            <a:r>
              <a:rPr lang="en-US" altLang="ko-KR" sz="1400" dirty="0"/>
              <a:t>start()</a:t>
            </a:r>
            <a:r>
              <a:rPr lang="ko-KR" altLang="en-US" sz="1400" dirty="0"/>
              <a:t>를 호출하면 곧바로 실행되는 것 처럼 보이지만</a:t>
            </a: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사실은 </a:t>
            </a:r>
            <a:r>
              <a:rPr lang="ko-KR" altLang="en-US" sz="1400" b="1" dirty="0"/>
              <a:t>실행 대기 상태</a:t>
            </a:r>
            <a:r>
              <a:rPr lang="ko-KR" altLang="en-US" sz="1400" dirty="0"/>
              <a:t>가 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b="1" dirty="0"/>
              <a:t>실행 대기 상태</a:t>
            </a:r>
            <a:r>
              <a:rPr lang="en-US" altLang="ko-KR" sz="1400" b="1" dirty="0"/>
              <a:t>: </a:t>
            </a:r>
            <a:r>
              <a:rPr lang="ko-KR" altLang="en-US" sz="1400" dirty="0"/>
              <a:t>실행을 기다리고 있는 상태</a:t>
            </a:r>
            <a:endParaRPr lang="en-US" altLang="ko-KR" sz="1400" b="1" dirty="0"/>
          </a:p>
          <a:p>
            <a:pPr marL="0" indent="0">
              <a:buNone/>
            </a:pPr>
            <a:endParaRPr lang="en-US" altLang="ko-KR" sz="1400" b="1" dirty="0"/>
          </a:p>
          <a:p>
            <a:pPr marL="0" indent="0">
              <a:buNone/>
            </a:pPr>
            <a:r>
              <a:rPr lang="ko-KR" altLang="en-US" sz="1400" b="1" dirty="0"/>
              <a:t>실행 상태</a:t>
            </a:r>
            <a:r>
              <a:rPr lang="en-US" altLang="ko-KR" sz="1400" b="1" dirty="0"/>
              <a:t>: </a:t>
            </a:r>
            <a:r>
              <a:rPr lang="ko-KR" altLang="en-US" sz="1400" dirty="0"/>
              <a:t>운영체제가 하나의 스레드를 선택하고 </a:t>
            </a:r>
            <a:r>
              <a:rPr lang="en-US" altLang="ko-KR" sz="1400" dirty="0"/>
              <a:t>CPU</a:t>
            </a:r>
            <a:r>
              <a:rPr lang="ko-KR" altLang="en-US" sz="1400" dirty="0"/>
              <a:t>가 </a:t>
            </a:r>
            <a:r>
              <a:rPr lang="en-US" altLang="ko-KR" sz="1400" dirty="0"/>
              <a:t>run()</a:t>
            </a:r>
            <a:r>
              <a:rPr lang="ko-KR" altLang="en-US" sz="1400" dirty="0"/>
              <a:t>메소드를 실행하는 상태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b="1" dirty="0"/>
              <a:t>-</a:t>
            </a:r>
            <a:r>
              <a:rPr lang="en-US" altLang="ko-KR" sz="1400" dirty="0"/>
              <a:t>run()</a:t>
            </a:r>
            <a:r>
              <a:rPr lang="ko-KR" altLang="en-US" sz="1400" dirty="0"/>
              <a:t>메소드 실행하기 전에 실행 대기 상태로 돌아갈 수 있음</a:t>
            </a:r>
            <a:endParaRPr lang="en-US" altLang="ko-KR" sz="1400" dirty="0"/>
          </a:p>
          <a:p>
            <a:pPr marL="0" indent="0">
              <a:buNone/>
            </a:pPr>
            <a:endParaRPr lang="en-US" altLang="ko-KR" sz="1400" b="1" dirty="0"/>
          </a:p>
          <a:p>
            <a:pPr marL="0" indent="0">
              <a:buNone/>
            </a:pPr>
            <a:r>
              <a:rPr lang="ko-KR" altLang="en-US" sz="1400" b="1" dirty="0"/>
              <a:t>종료 상태</a:t>
            </a:r>
            <a:r>
              <a:rPr lang="en-US" altLang="ko-KR" sz="1400" b="1" dirty="0"/>
              <a:t>: </a:t>
            </a:r>
            <a:r>
              <a:rPr lang="en-US" altLang="ko-KR" sz="1400" dirty="0"/>
              <a:t>run()</a:t>
            </a:r>
            <a:r>
              <a:rPr lang="ko-KR" altLang="en-US" sz="1400" dirty="0"/>
              <a:t>메소드를 모두 실행하고 더이상 실행할 코드가 </a:t>
            </a:r>
            <a:r>
              <a:rPr lang="ko-KR" altLang="en-US" sz="1400" dirty="0" err="1"/>
              <a:t>없을때</a:t>
            </a:r>
            <a:r>
              <a:rPr lang="ko-KR" altLang="en-US" sz="1400" dirty="0"/>
              <a:t> 스레드가 멈추는 상태</a:t>
            </a:r>
            <a:endParaRPr lang="en-US" altLang="ko-KR" sz="1400" dirty="0"/>
          </a:p>
          <a:p>
            <a:pPr marL="0" indent="0">
              <a:buNone/>
            </a:pPr>
            <a:endParaRPr lang="en-US" altLang="ko-KR" sz="1400" b="1" dirty="0"/>
          </a:p>
          <a:p>
            <a:pPr marL="0" indent="0">
              <a:buNone/>
            </a:pPr>
            <a:r>
              <a:rPr lang="ko-KR" altLang="en-US" sz="1400" b="1" dirty="0"/>
              <a:t>일시 정지 상태</a:t>
            </a:r>
            <a:r>
              <a:rPr lang="en-US" altLang="ko-KR" sz="1400" b="1" dirty="0"/>
              <a:t>: </a:t>
            </a:r>
            <a:r>
              <a:rPr lang="ko-KR" altLang="en-US" sz="1400" dirty="0"/>
              <a:t>스레드가 실행할 수 없는 상태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b="1" dirty="0"/>
              <a:t>-</a:t>
            </a:r>
            <a:r>
              <a:rPr lang="ko-KR" altLang="en-US" sz="1400" dirty="0"/>
              <a:t>바로 실행 상태로 돌아갈 수 없음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b="1" dirty="0"/>
              <a:t>-</a:t>
            </a:r>
            <a:r>
              <a:rPr lang="ko-KR" altLang="en-US" sz="1400" dirty="0"/>
              <a:t>실행 대기 상태로 돌아가야 함</a:t>
            </a:r>
            <a:endParaRPr lang="en-US" altLang="ko-KR" sz="1400" b="1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7017364-4D90-CA4B-5AF4-957F18F279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0312" y="4188076"/>
            <a:ext cx="4111375" cy="2430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30808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72FE7A-8E5F-33ED-FB75-9AD6ECDDD5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D8F6824-FD64-851C-3C30-2F566EDF4F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1400" b="1" dirty="0"/>
              <a:t>스레드 상태 제어</a:t>
            </a:r>
            <a:endParaRPr lang="en-US" altLang="ko-KR" sz="1400" b="1" dirty="0"/>
          </a:p>
          <a:p>
            <a:pPr marL="0" indent="0">
              <a:buNone/>
            </a:pPr>
            <a:r>
              <a:rPr lang="en-US" altLang="ko-KR" sz="1400" b="1" dirty="0"/>
              <a:t>-</a:t>
            </a:r>
            <a:r>
              <a:rPr lang="ko-KR" altLang="en-US" sz="1400" dirty="0"/>
              <a:t>실행 중인 스레드의 상태를 변경하는 것</a:t>
            </a:r>
            <a:endParaRPr lang="en-US" altLang="ko-KR" sz="1400" dirty="0"/>
          </a:p>
          <a:p>
            <a:pPr marL="0" indent="0">
              <a:buNone/>
            </a:pPr>
            <a:endParaRPr lang="en-US" altLang="ko-KR" sz="1400" b="1" dirty="0"/>
          </a:p>
          <a:p>
            <a:pPr marL="0" indent="0">
              <a:buNone/>
            </a:pPr>
            <a:r>
              <a:rPr lang="ko-KR" altLang="en-US" sz="1400" b="1" dirty="0"/>
              <a:t>상태 제어</a:t>
            </a:r>
            <a:r>
              <a:rPr lang="en-US" altLang="ko-KR" sz="1400" b="1" dirty="0"/>
              <a:t>(</a:t>
            </a:r>
            <a:r>
              <a:rPr lang="ko-KR" altLang="en-US" sz="1400" b="1" dirty="0"/>
              <a:t>변화</a:t>
            </a:r>
            <a:r>
              <a:rPr lang="en-US" altLang="ko-KR" sz="1400" b="1" dirty="0"/>
              <a:t>) </a:t>
            </a:r>
            <a:r>
              <a:rPr lang="ko-KR" altLang="en-US" sz="1400" b="1" dirty="0"/>
              <a:t>메소드</a:t>
            </a:r>
            <a:endParaRPr lang="en-US" altLang="ko-KR" sz="1400" b="1" dirty="0"/>
          </a:p>
          <a:p>
            <a:pPr marL="0" indent="0">
              <a:buNone/>
            </a:pPr>
            <a:endParaRPr lang="en-US" altLang="ko-KR" sz="1400" b="1" dirty="0"/>
          </a:p>
          <a:p>
            <a:pPr marL="0" indent="0">
              <a:buNone/>
            </a:pPr>
            <a:endParaRPr lang="en-US" altLang="ko-KR" sz="1400" b="1" dirty="0"/>
          </a:p>
          <a:p>
            <a:pPr marL="0" indent="0">
              <a:buNone/>
            </a:pPr>
            <a:endParaRPr lang="en-US" altLang="ko-KR" sz="1400" b="1" dirty="0"/>
          </a:p>
          <a:p>
            <a:pPr marL="0" indent="0">
              <a:buNone/>
            </a:pPr>
            <a:endParaRPr lang="en-US" altLang="ko-KR" sz="1400" b="1" dirty="0"/>
          </a:p>
          <a:p>
            <a:pPr marL="0" indent="0">
              <a:buNone/>
            </a:pPr>
            <a:endParaRPr lang="en-US" altLang="ko-KR" sz="1400" b="1" dirty="0"/>
          </a:p>
          <a:p>
            <a:pPr marL="0" indent="0">
              <a:buNone/>
            </a:pPr>
            <a:endParaRPr lang="en-US" altLang="ko-KR" sz="1400" b="1" dirty="0"/>
          </a:p>
          <a:p>
            <a:pPr marL="0" indent="0">
              <a:buNone/>
            </a:pPr>
            <a:endParaRPr lang="en-US" altLang="ko-KR" sz="1400" b="1" dirty="0"/>
          </a:p>
          <a:p>
            <a:pPr marL="0" indent="0">
              <a:buNone/>
            </a:pPr>
            <a:r>
              <a:rPr lang="en-US" altLang="ko-KR" sz="1400" b="1" dirty="0"/>
              <a:t>interrupt(): </a:t>
            </a:r>
            <a:r>
              <a:rPr lang="ko-KR" altLang="en-US" sz="1400" dirty="0"/>
              <a:t>일지 정지 상태에서 스레드의 </a:t>
            </a:r>
            <a:r>
              <a:rPr lang="en-US" altLang="ko-KR" sz="1400" dirty="0" err="1"/>
              <a:t>InterruptedException</a:t>
            </a:r>
            <a:r>
              <a:rPr lang="ko-KR" altLang="en-US" sz="1400" dirty="0"/>
              <a:t>을 발생시켜</a:t>
            </a:r>
            <a:r>
              <a:rPr lang="en-US" altLang="ko-KR" sz="1400" dirty="0"/>
              <a:t>, </a:t>
            </a:r>
            <a:r>
              <a:rPr lang="ko-KR" altLang="en-US" sz="1400" dirty="0"/>
              <a:t>예외 처리 코드</a:t>
            </a:r>
            <a:r>
              <a:rPr lang="en-US" altLang="ko-KR" sz="1400" dirty="0"/>
              <a:t>(catch)</a:t>
            </a:r>
            <a:r>
              <a:rPr lang="ko-KR" altLang="en-US" sz="1400" dirty="0"/>
              <a:t>에서 실행 대기 상태로 가거나 종료 상태로 갈 수 있도록 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b="1" dirty="0"/>
          </a:p>
          <a:p>
            <a:pPr marL="0" indent="0">
              <a:buNone/>
            </a:pPr>
            <a:r>
              <a:rPr lang="en-US" altLang="ko-KR" sz="1400" b="1" dirty="0"/>
              <a:t>sleep(long l): </a:t>
            </a:r>
            <a:r>
              <a:rPr lang="ko-KR" altLang="en-US" sz="1400" dirty="0"/>
              <a:t>주어진 시간 동안 스레드 일시 정지</a:t>
            </a:r>
            <a:endParaRPr lang="en-US" altLang="ko-KR" sz="1400" dirty="0"/>
          </a:p>
          <a:p>
            <a:pPr marL="0" indent="0">
              <a:buNone/>
            </a:pPr>
            <a:endParaRPr lang="en-US" altLang="ko-KR" sz="1400" b="1" dirty="0"/>
          </a:p>
          <a:p>
            <a:pPr marL="0" indent="0">
              <a:buNone/>
            </a:pPr>
            <a:r>
              <a:rPr lang="en-US" altLang="ko-KR" sz="1400" b="1" dirty="0"/>
              <a:t>stop: </a:t>
            </a:r>
            <a:r>
              <a:rPr lang="ko-KR" altLang="en-US" sz="1400" dirty="0"/>
              <a:t>스레드를 즉시 종료</a:t>
            </a:r>
            <a:r>
              <a:rPr lang="en-US" altLang="ko-KR" sz="1400" dirty="0"/>
              <a:t>(</a:t>
            </a:r>
            <a:r>
              <a:rPr lang="ko-KR" altLang="en-US" sz="1400" dirty="0"/>
              <a:t>불완전한 종료이므로 사용하지 않는 것을 권함</a:t>
            </a:r>
            <a:r>
              <a:rPr lang="en-US" altLang="ko-KR" sz="1400" dirty="0"/>
              <a:t>)</a:t>
            </a:r>
            <a:endParaRPr lang="en-US" altLang="ko-KR" sz="1400" b="1" dirty="0"/>
          </a:p>
          <a:p>
            <a:pPr marL="0" indent="0">
              <a:buNone/>
            </a:pPr>
            <a:endParaRPr lang="en-US" altLang="ko-KR" sz="14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300EAF3-A1EB-1411-DCB3-6BECC5376C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9425" y="1333500"/>
            <a:ext cx="6153150" cy="2095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596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5DF386-94DF-2504-18BE-AD786D5CE4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7EDE2E8-1D16-8B79-772C-4BEC2E46DF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1400" b="1" dirty="0"/>
              <a:t>주어진 시간 동안 일시 정지</a:t>
            </a:r>
            <a:r>
              <a:rPr lang="en-US" altLang="ko-KR" sz="1400" b="1" dirty="0"/>
              <a:t>-sleep()</a:t>
            </a:r>
          </a:p>
          <a:p>
            <a:pPr marL="0" indent="0">
              <a:buNone/>
            </a:pPr>
            <a:endParaRPr lang="en-US" altLang="ko-KR" sz="1400" b="1" dirty="0"/>
          </a:p>
          <a:p>
            <a:pPr marL="0" indent="0">
              <a:buNone/>
            </a:pPr>
            <a:r>
              <a:rPr lang="en-US" altLang="ko-KR" sz="1400" dirty="0"/>
              <a:t>sleep()</a:t>
            </a:r>
            <a:r>
              <a:rPr lang="ko-KR" altLang="en-US" sz="1400" dirty="0"/>
              <a:t>메소드를 호출한 스레드 </a:t>
            </a:r>
            <a:r>
              <a:rPr lang="en-US" altLang="ko-KR" sz="1400" dirty="0">
                <a:sym typeface="Wingdings" panose="05000000000000000000" pitchFamily="2" charset="2"/>
              </a:rPr>
              <a:t> </a:t>
            </a:r>
            <a:r>
              <a:rPr lang="ko-KR" altLang="en-US" sz="1400" dirty="0">
                <a:sym typeface="Wingdings" panose="05000000000000000000" pitchFamily="2" charset="2"/>
              </a:rPr>
              <a:t>일시 정지 상태 </a:t>
            </a:r>
            <a:r>
              <a:rPr lang="en-US" altLang="ko-KR" sz="1400" dirty="0">
                <a:sym typeface="Wingdings" panose="05000000000000000000" pitchFamily="2" charset="2"/>
              </a:rPr>
              <a:t> </a:t>
            </a:r>
            <a:r>
              <a:rPr lang="ko-KR" altLang="en-US" sz="1400" dirty="0">
                <a:sym typeface="Wingdings" panose="05000000000000000000" pitchFamily="2" charset="2"/>
              </a:rPr>
              <a:t>실행 대기 상태</a:t>
            </a:r>
            <a:endParaRPr lang="en-US" altLang="ko-KR" sz="14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altLang="ko-KR" sz="14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altLang="ko-KR" sz="1400" dirty="0">
                <a:sym typeface="Wingdings" panose="05000000000000000000" pitchFamily="2" charset="2"/>
              </a:rPr>
              <a:t>sleep()</a:t>
            </a:r>
            <a:r>
              <a:rPr lang="ko-KR" altLang="en-US" sz="1400" dirty="0">
                <a:sym typeface="Wingdings" panose="05000000000000000000" pitchFamily="2" charset="2"/>
              </a:rPr>
              <a:t>의 매개 값으로는 </a:t>
            </a:r>
            <a:r>
              <a:rPr lang="ko-KR" altLang="en-US" sz="1400" dirty="0" err="1">
                <a:sym typeface="Wingdings" panose="05000000000000000000" pitchFamily="2" charset="2"/>
              </a:rPr>
              <a:t>밀리세컨드</a:t>
            </a:r>
            <a:r>
              <a:rPr lang="en-US" altLang="ko-KR" sz="1400" dirty="0">
                <a:sym typeface="Wingdings" panose="05000000000000000000" pitchFamily="2" charset="2"/>
              </a:rPr>
              <a:t>(1/1000</a:t>
            </a:r>
            <a:r>
              <a:rPr lang="ko-KR" altLang="en-US" sz="1400" dirty="0">
                <a:sym typeface="Wingdings" panose="05000000000000000000" pitchFamily="2" charset="2"/>
              </a:rPr>
              <a:t>초</a:t>
            </a:r>
            <a:r>
              <a:rPr lang="en-US" altLang="ko-KR" sz="1400" dirty="0">
                <a:sym typeface="Wingdings" panose="05000000000000000000" pitchFamily="2" charset="2"/>
              </a:rPr>
              <a:t>) </a:t>
            </a:r>
            <a:r>
              <a:rPr lang="ko-KR" altLang="en-US" sz="1400" dirty="0">
                <a:sym typeface="Wingdings" panose="05000000000000000000" pitchFamily="2" charset="2"/>
              </a:rPr>
              <a:t>단위의 값을 갖는다</a:t>
            </a:r>
            <a:r>
              <a:rPr lang="en-US" altLang="ko-KR" sz="1400" dirty="0">
                <a:sym typeface="Wingdings" panose="05000000000000000000" pitchFamily="2" charset="2"/>
              </a:rPr>
              <a:t>.</a:t>
            </a:r>
          </a:p>
          <a:p>
            <a:pPr marL="0" indent="0">
              <a:buNone/>
            </a:pPr>
            <a:r>
              <a:rPr lang="en-US" altLang="ko-KR" sz="1400" dirty="0">
                <a:sym typeface="Wingdings" panose="05000000000000000000" pitchFamily="2" charset="2"/>
              </a:rPr>
              <a:t>ex) sleep(1000)  1</a:t>
            </a:r>
            <a:r>
              <a:rPr lang="ko-KR" altLang="en-US" sz="1400" dirty="0">
                <a:sym typeface="Wingdings" panose="05000000000000000000" pitchFamily="2" charset="2"/>
              </a:rPr>
              <a:t>초 정지</a:t>
            </a:r>
            <a:endParaRPr lang="en-US" altLang="ko-KR" sz="14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altLang="ko-KR" sz="14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ko-KR" altLang="en-US" sz="1400" dirty="0">
                <a:sym typeface="Wingdings" panose="05000000000000000000" pitchFamily="2" charset="2"/>
              </a:rPr>
              <a:t>일시 정지 상태에서 주어진 시간이 되기 전에 </a:t>
            </a:r>
            <a:r>
              <a:rPr lang="en-US" altLang="ko-KR" sz="1400" dirty="0">
                <a:sym typeface="Wingdings" panose="05000000000000000000" pitchFamily="2" charset="2"/>
              </a:rPr>
              <a:t>interrupt() </a:t>
            </a:r>
            <a:r>
              <a:rPr lang="ko-KR" altLang="en-US" sz="1400" dirty="0">
                <a:sym typeface="Wingdings" panose="05000000000000000000" pitchFamily="2" charset="2"/>
              </a:rPr>
              <a:t>메소드가 호출되면 </a:t>
            </a:r>
            <a:r>
              <a:rPr lang="en-US" altLang="ko-KR" sz="1400" dirty="0" err="1"/>
              <a:t>InterruptedException</a:t>
            </a:r>
            <a:r>
              <a:rPr lang="ko-KR" altLang="en-US" sz="1400" dirty="0"/>
              <a:t>이 발생하기 때문에 예외 처리를 </a:t>
            </a:r>
            <a:r>
              <a:rPr lang="ko-KR" altLang="en-US" sz="1400" dirty="0" err="1"/>
              <a:t>해야한다</a:t>
            </a:r>
            <a:r>
              <a:rPr lang="en-US" altLang="ko-KR" sz="1400" dirty="0"/>
              <a:t>.</a:t>
            </a:r>
            <a:r>
              <a:rPr lang="ko-KR" altLang="en-US" sz="1400" dirty="0">
                <a:sym typeface="Wingdings" panose="05000000000000000000" pitchFamily="2" charset="2"/>
              </a:rPr>
              <a:t> </a:t>
            </a:r>
            <a:endParaRPr lang="en-US" altLang="ko-KR" sz="14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altLang="ko-KR" sz="14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altLang="ko-KR" sz="14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altLang="ko-KR" sz="1400" dirty="0">
                <a:sym typeface="Wingdings" panose="05000000000000000000" pitchFamily="2" charset="2"/>
              </a:rPr>
              <a:t>try{</a:t>
            </a:r>
          </a:p>
          <a:p>
            <a:pPr marL="0" indent="0">
              <a:buNone/>
            </a:pPr>
            <a:r>
              <a:rPr lang="en-US" altLang="ko-KR" sz="1400" dirty="0">
                <a:sym typeface="Wingdings" panose="05000000000000000000" pitchFamily="2" charset="2"/>
              </a:rPr>
              <a:t>	</a:t>
            </a:r>
            <a:r>
              <a:rPr lang="en-US" altLang="ko-KR" sz="1400" dirty="0" err="1">
                <a:sym typeface="Wingdings" panose="05000000000000000000" pitchFamily="2" charset="2"/>
              </a:rPr>
              <a:t>Thread.sleep</a:t>
            </a:r>
            <a:r>
              <a:rPr lang="en-US" altLang="ko-KR" sz="1400" dirty="0">
                <a:sym typeface="Wingdings" panose="05000000000000000000" pitchFamily="2" charset="2"/>
              </a:rPr>
              <a:t>(1000);</a:t>
            </a:r>
          </a:p>
          <a:p>
            <a:pPr marL="0" indent="0">
              <a:buNone/>
            </a:pPr>
            <a:r>
              <a:rPr lang="en-US" altLang="ko-KR" sz="1400" dirty="0">
                <a:sym typeface="Wingdings" panose="05000000000000000000" pitchFamily="2" charset="2"/>
              </a:rPr>
              <a:t>} catch(</a:t>
            </a:r>
            <a:r>
              <a:rPr lang="en-US" altLang="ko-KR" sz="1400" dirty="0" err="1"/>
              <a:t>InterruptedException</a:t>
            </a:r>
            <a:r>
              <a:rPr lang="en-US" altLang="ko-KR" sz="1400" dirty="0"/>
              <a:t> e</a:t>
            </a:r>
            <a:r>
              <a:rPr lang="en-US" altLang="ko-KR" sz="1400" dirty="0">
                <a:sym typeface="Wingdings" panose="05000000000000000000" pitchFamily="2" charset="2"/>
              </a:rPr>
              <a:t>){</a:t>
            </a:r>
          </a:p>
          <a:p>
            <a:pPr marL="0" indent="0">
              <a:buNone/>
            </a:pPr>
            <a:r>
              <a:rPr lang="en-US" altLang="ko-KR" sz="1400" dirty="0">
                <a:sym typeface="Wingdings" panose="05000000000000000000" pitchFamily="2" charset="2"/>
              </a:rPr>
              <a:t>	//interrupt() </a:t>
            </a:r>
            <a:r>
              <a:rPr lang="ko-KR" altLang="en-US" sz="1400" dirty="0">
                <a:sym typeface="Wingdings" panose="05000000000000000000" pitchFamily="2" charset="2"/>
              </a:rPr>
              <a:t>메소드가 호출되면 실행</a:t>
            </a:r>
            <a:endParaRPr lang="en-US" altLang="ko-KR" sz="14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altLang="ko-KR" sz="1400" dirty="0">
                <a:sym typeface="Wingdings" panose="05000000000000000000" pitchFamily="2" charset="2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1838155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EFDFB4-5244-6B4C-B6DE-3124BA01E9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ED440DB-99FB-1D33-A972-E5838316E2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1400" dirty="0"/>
              <a:t>import </a:t>
            </a:r>
            <a:r>
              <a:rPr lang="en-US" altLang="ko-KR" sz="1400" dirty="0" err="1"/>
              <a:t>java.awt.Toolkit</a:t>
            </a:r>
            <a:r>
              <a:rPr lang="en-US" altLang="ko-KR" sz="1400" dirty="0"/>
              <a:t>;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public class </a:t>
            </a:r>
            <a:r>
              <a:rPr lang="en-US" altLang="ko-KR" sz="1400" dirty="0" err="1"/>
              <a:t>SleepExample</a:t>
            </a:r>
            <a:r>
              <a:rPr lang="en-US" altLang="ko-KR" sz="1400" dirty="0"/>
              <a:t> {</a:t>
            </a:r>
          </a:p>
          <a:p>
            <a:pPr marL="0" indent="0">
              <a:buNone/>
            </a:pPr>
            <a:r>
              <a:rPr lang="en-US" altLang="ko-KR" sz="1400" dirty="0"/>
              <a:t>    public static void main(String[] </a:t>
            </a:r>
            <a:r>
              <a:rPr lang="en-US" altLang="ko-KR" sz="1400" dirty="0" err="1"/>
              <a:t>args</a:t>
            </a:r>
            <a:r>
              <a:rPr lang="en-US" altLang="ko-KR" sz="1400" dirty="0"/>
              <a:t>) {</a:t>
            </a:r>
          </a:p>
          <a:p>
            <a:pPr marL="0" indent="0">
              <a:buNone/>
            </a:pPr>
            <a:r>
              <a:rPr lang="en-US" altLang="ko-KR" sz="1400" dirty="0"/>
              <a:t>        // Toolkit </a:t>
            </a:r>
            <a:r>
              <a:rPr lang="ko-KR" altLang="en-US" sz="1400" dirty="0"/>
              <a:t>객체를 생성하여 시스템 기본 </a:t>
            </a:r>
            <a:r>
              <a:rPr lang="ko-KR" altLang="en-US" sz="1400" dirty="0" err="1"/>
              <a:t>툴킷을</a:t>
            </a:r>
            <a:r>
              <a:rPr lang="ko-KR" altLang="en-US" sz="1400" dirty="0"/>
              <a:t> 가져옴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Toolkit </a:t>
            </a:r>
            <a:r>
              <a:rPr lang="en-US" altLang="ko-KR" sz="1400" dirty="0" err="1"/>
              <a:t>toolkit</a:t>
            </a:r>
            <a:r>
              <a:rPr lang="en-US" altLang="ko-KR" sz="1400" dirty="0"/>
              <a:t> = </a:t>
            </a:r>
            <a:r>
              <a:rPr lang="en-US" altLang="ko-KR" sz="1400" dirty="0" err="1"/>
              <a:t>Toolkit.getDefaultToolkit</a:t>
            </a:r>
            <a:r>
              <a:rPr lang="en-US" altLang="ko-KR" sz="1400" dirty="0"/>
              <a:t>();</a:t>
            </a:r>
          </a:p>
          <a:p>
            <a:pPr marL="0" indent="0">
              <a:buNone/>
            </a:pPr>
            <a:r>
              <a:rPr lang="en-US" altLang="ko-KR" sz="1400" dirty="0"/>
              <a:t>        </a:t>
            </a:r>
          </a:p>
          <a:p>
            <a:pPr marL="0" indent="0">
              <a:buNone/>
            </a:pPr>
            <a:r>
              <a:rPr lang="en-US" altLang="ko-KR" sz="1400" dirty="0"/>
              <a:t>        // 10</a:t>
            </a:r>
            <a:r>
              <a:rPr lang="ko-KR" altLang="en-US" sz="1400" dirty="0"/>
              <a:t>번 반복하여 비프음을 출력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for (int </a:t>
            </a:r>
            <a:r>
              <a:rPr lang="en-US" altLang="ko-KR" sz="1400" dirty="0" err="1"/>
              <a:t>i</a:t>
            </a:r>
            <a:r>
              <a:rPr lang="en-US" altLang="ko-KR" sz="1400" dirty="0"/>
              <a:t> = 0; </a:t>
            </a:r>
            <a:r>
              <a:rPr lang="en-US" altLang="ko-KR" sz="1400" dirty="0" err="1"/>
              <a:t>i</a:t>
            </a:r>
            <a:r>
              <a:rPr lang="en-US" altLang="ko-KR" sz="1400" dirty="0"/>
              <a:t> &lt; 10; </a:t>
            </a:r>
            <a:r>
              <a:rPr lang="en-US" altLang="ko-KR" sz="1400" dirty="0" err="1"/>
              <a:t>i</a:t>
            </a:r>
            <a:r>
              <a:rPr lang="en-US" altLang="ko-KR" sz="1400" dirty="0"/>
              <a:t>++) {</a:t>
            </a:r>
          </a:p>
          <a:p>
            <a:pPr marL="0" indent="0">
              <a:buNone/>
            </a:pPr>
            <a:r>
              <a:rPr lang="en-US" altLang="ko-KR" sz="1400" dirty="0"/>
              <a:t>            </a:t>
            </a:r>
            <a:r>
              <a:rPr lang="en-US" altLang="ko-KR" sz="1400" dirty="0" err="1"/>
              <a:t>toolkit.beep</a:t>
            </a:r>
            <a:r>
              <a:rPr lang="en-US" altLang="ko-KR" sz="1400" dirty="0"/>
              <a:t>(); // </a:t>
            </a:r>
            <a:r>
              <a:rPr lang="ko-KR" altLang="en-US" sz="1400" dirty="0" err="1"/>
              <a:t>비프음</a:t>
            </a:r>
            <a:r>
              <a:rPr lang="ko-KR" altLang="en-US" sz="1400" dirty="0"/>
              <a:t> 출력</a:t>
            </a:r>
          </a:p>
          <a:p>
            <a:pPr marL="0" indent="0">
              <a:buNone/>
            </a:pPr>
            <a:endParaRPr lang="ko-KR" altLang="en-US" sz="1400" dirty="0"/>
          </a:p>
          <a:p>
            <a:pPr marL="0" indent="0">
              <a:buNone/>
            </a:pPr>
            <a:r>
              <a:rPr lang="ko-KR" altLang="en-US" sz="1400" dirty="0"/>
              <a:t>            </a:t>
            </a:r>
            <a:r>
              <a:rPr lang="en-US" altLang="ko-KR" sz="1400" dirty="0"/>
              <a:t>try {</a:t>
            </a:r>
          </a:p>
          <a:p>
            <a:pPr marL="0" indent="0">
              <a:buNone/>
            </a:pPr>
            <a:r>
              <a:rPr lang="en-US" altLang="ko-KR" sz="1400" dirty="0"/>
              <a:t>                </a:t>
            </a:r>
            <a:r>
              <a:rPr lang="en-US" altLang="ko-KR" sz="1400" dirty="0" err="1"/>
              <a:t>Thread.sleep</a:t>
            </a:r>
            <a:r>
              <a:rPr lang="en-US" altLang="ko-KR" sz="1400" dirty="0"/>
              <a:t>(3000); // 3</a:t>
            </a:r>
            <a:r>
              <a:rPr lang="ko-KR" altLang="en-US" sz="1400" dirty="0"/>
              <a:t>초 동안 메인 스레드를 일시 정시 상태로 만듦</a:t>
            </a:r>
          </a:p>
          <a:p>
            <a:pPr marL="0" indent="0">
              <a:buNone/>
            </a:pPr>
            <a:r>
              <a:rPr lang="ko-KR" altLang="en-US" sz="1400" dirty="0"/>
              <a:t>            </a:t>
            </a:r>
            <a:r>
              <a:rPr lang="en-US" altLang="ko-KR" sz="1400" dirty="0"/>
              <a:t>} catch (</a:t>
            </a:r>
            <a:r>
              <a:rPr lang="en-US" altLang="ko-KR" sz="1400" dirty="0" err="1"/>
              <a:t>InterruptedException</a:t>
            </a:r>
            <a:r>
              <a:rPr lang="en-US" altLang="ko-KR" sz="1400" dirty="0"/>
              <a:t> e) {</a:t>
            </a:r>
          </a:p>
          <a:p>
            <a:pPr marL="0" indent="0">
              <a:buNone/>
            </a:pPr>
            <a:r>
              <a:rPr lang="en-US" altLang="ko-KR" sz="1400" dirty="0"/>
              <a:t>                // </a:t>
            </a:r>
            <a:r>
              <a:rPr lang="en-US" altLang="ko-KR" sz="1400" dirty="0" err="1"/>
              <a:t>InterruptedException</a:t>
            </a:r>
            <a:r>
              <a:rPr lang="en-US" altLang="ko-KR" sz="1400" dirty="0"/>
              <a:t> </a:t>
            </a:r>
            <a:r>
              <a:rPr lang="ko-KR" altLang="en-US" sz="1400" dirty="0"/>
              <a:t>발생 시 처리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            }</a:t>
            </a:r>
          </a:p>
          <a:p>
            <a:pPr marL="0" indent="0">
              <a:buNone/>
            </a:pPr>
            <a:r>
              <a:rPr lang="en-US" altLang="ko-KR" sz="1400" dirty="0"/>
              <a:t>        }</a:t>
            </a:r>
          </a:p>
          <a:p>
            <a:pPr marL="0" indent="0">
              <a:buNone/>
            </a:pPr>
            <a:r>
              <a:rPr lang="en-US" altLang="ko-KR" sz="1400" dirty="0"/>
              <a:t>    }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251350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9F598A-2D2D-C22A-CD2B-887892915D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2248366-8524-A0B6-6687-662DCDCC31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ko-KR" altLang="en-US" sz="1400" b="1" dirty="0"/>
              <a:t>스레드의 안전한 종료</a:t>
            </a:r>
            <a:endParaRPr lang="en-US" altLang="ko-KR" sz="1400" b="1" dirty="0"/>
          </a:p>
          <a:p>
            <a:pPr marL="0" indent="0">
              <a:buNone/>
            </a:pPr>
            <a:endParaRPr lang="en-US" altLang="ko-KR" sz="1400" b="1" dirty="0"/>
          </a:p>
          <a:p>
            <a:pPr marL="0" indent="0">
              <a:buNone/>
            </a:pPr>
            <a:r>
              <a:rPr lang="en-US" altLang="ko-KR" sz="1400" dirty="0">
                <a:sym typeface="Wingdings" panose="05000000000000000000" pitchFamily="2" charset="2"/>
              </a:rPr>
              <a:t>-run()</a:t>
            </a:r>
            <a:r>
              <a:rPr lang="ko-KR" altLang="en-US" sz="1400" dirty="0">
                <a:sym typeface="Wingdings" panose="05000000000000000000" pitchFamily="2" charset="2"/>
              </a:rPr>
              <a:t>메소드가 모두 실행되면 자동 종료됨</a:t>
            </a:r>
            <a:endParaRPr lang="en-US" altLang="ko-KR" sz="14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altLang="ko-KR" sz="1400" dirty="0">
                <a:sym typeface="Wingdings" panose="05000000000000000000" pitchFamily="2" charset="2"/>
              </a:rPr>
              <a:t>-</a:t>
            </a:r>
            <a:r>
              <a:rPr lang="ko-KR" altLang="en-US" sz="1400" dirty="0">
                <a:sym typeface="Wingdings" panose="05000000000000000000" pitchFamily="2" charset="2"/>
              </a:rPr>
              <a:t>즉시</a:t>
            </a:r>
            <a:r>
              <a:rPr lang="en-US" altLang="ko-KR" sz="1400" dirty="0">
                <a:sym typeface="Wingdings" panose="05000000000000000000" pitchFamily="2" charset="2"/>
              </a:rPr>
              <a:t> </a:t>
            </a:r>
            <a:r>
              <a:rPr lang="ko-KR" altLang="en-US" sz="1400" dirty="0">
                <a:sym typeface="Wingdings" panose="05000000000000000000" pitchFamily="2" charset="2"/>
              </a:rPr>
              <a:t>종료해야 될 때도 있음</a:t>
            </a:r>
            <a:r>
              <a:rPr lang="en-US" altLang="ko-KR" sz="1400" dirty="0">
                <a:sym typeface="Wingdings" panose="05000000000000000000" pitchFamily="2" charset="2"/>
              </a:rPr>
              <a:t> stop()</a:t>
            </a:r>
          </a:p>
          <a:p>
            <a:pPr marL="0" indent="0">
              <a:buNone/>
            </a:pPr>
            <a:endParaRPr lang="en-US" altLang="ko-KR" sz="14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altLang="ko-KR" sz="1400" dirty="0">
                <a:sym typeface="Wingdings" panose="05000000000000000000" pitchFamily="2" charset="2"/>
              </a:rPr>
              <a:t>Thread</a:t>
            </a:r>
            <a:r>
              <a:rPr lang="ko-KR" altLang="en-US" sz="1400" dirty="0">
                <a:sym typeface="Wingdings" panose="05000000000000000000" pitchFamily="2" charset="2"/>
              </a:rPr>
              <a:t>의 </a:t>
            </a:r>
            <a:r>
              <a:rPr lang="en-US" altLang="ko-KR" sz="1400" dirty="0">
                <a:sym typeface="Wingdings" panose="05000000000000000000" pitchFamily="2" charset="2"/>
              </a:rPr>
              <a:t>stop() </a:t>
            </a:r>
          </a:p>
          <a:p>
            <a:pPr marL="0" indent="0">
              <a:buNone/>
            </a:pPr>
            <a:r>
              <a:rPr lang="en-US" altLang="ko-KR" sz="1400" dirty="0">
                <a:sym typeface="Wingdings" panose="05000000000000000000" pitchFamily="2" charset="2"/>
              </a:rPr>
              <a:t>-</a:t>
            </a:r>
            <a:r>
              <a:rPr lang="ko-KR" altLang="en-US" sz="1400" dirty="0">
                <a:sym typeface="Wingdings" panose="05000000000000000000" pitchFamily="2" charset="2"/>
              </a:rPr>
              <a:t>스레드를 갑자기 </a:t>
            </a:r>
            <a:r>
              <a:rPr lang="ko-KR" altLang="en-US" sz="1400" dirty="0" err="1">
                <a:sym typeface="Wingdings" panose="05000000000000000000" pitchFamily="2" charset="2"/>
              </a:rPr>
              <a:t>종료시키면</a:t>
            </a:r>
            <a:r>
              <a:rPr lang="ko-KR" altLang="en-US" sz="1400" dirty="0">
                <a:sym typeface="Wingdings" panose="05000000000000000000" pitchFamily="2" charset="2"/>
              </a:rPr>
              <a:t> 자원들이 불안전한 상태로 남겨져서 권하지 않음</a:t>
            </a:r>
            <a:endParaRPr lang="en-US" altLang="ko-KR" sz="14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altLang="ko-KR" sz="1400" dirty="0">
                <a:sym typeface="Wingdings" panose="05000000000000000000" pitchFamily="2" charset="2"/>
              </a:rPr>
              <a:t>-</a:t>
            </a:r>
            <a:r>
              <a:rPr lang="ko-KR" altLang="en-US" sz="1400" dirty="0">
                <a:sym typeface="Wingdings" panose="05000000000000000000" pitchFamily="2" charset="2"/>
              </a:rPr>
              <a:t>방법</a:t>
            </a:r>
            <a:r>
              <a:rPr lang="en-US" altLang="ko-KR" sz="1400" dirty="0">
                <a:sym typeface="Wingdings" panose="05000000000000000000" pitchFamily="2" charset="2"/>
              </a:rPr>
              <a:t>1. stop</a:t>
            </a:r>
            <a:r>
              <a:rPr lang="ko-KR" altLang="en-US" sz="1400" dirty="0">
                <a:sym typeface="Wingdings" panose="05000000000000000000" pitchFamily="2" charset="2"/>
              </a:rPr>
              <a:t> 플래그를 이용</a:t>
            </a:r>
            <a:endParaRPr lang="en-US" altLang="ko-KR" sz="14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altLang="ko-KR" sz="1400" dirty="0">
                <a:sym typeface="Wingdings" panose="05000000000000000000" pitchFamily="2" charset="2"/>
              </a:rPr>
              <a:t>-</a:t>
            </a:r>
            <a:r>
              <a:rPr lang="ko-KR" altLang="en-US" sz="1400" dirty="0">
                <a:sym typeface="Wingdings" panose="05000000000000000000" pitchFamily="2" charset="2"/>
              </a:rPr>
              <a:t>방법</a:t>
            </a:r>
            <a:r>
              <a:rPr lang="en-US" altLang="ko-KR" sz="1400" dirty="0">
                <a:sym typeface="Wingdings" panose="05000000000000000000" pitchFamily="2" charset="2"/>
              </a:rPr>
              <a:t>2. interrupt() </a:t>
            </a:r>
            <a:r>
              <a:rPr lang="ko-KR" altLang="en-US" sz="1400" dirty="0">
                <a:sym typeface="Wingdings" panose="05000000000000000000" pitchFamily="2" charset="2"/>
              </a:rPr>
              <a:t>메소드를 이용</a:t>
            </a:r>
            <a:endParaRPr lang="en-US" altLang="ko-KR" sz="14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altLang="ko-KR" sz="14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altLang="ko-KR" sz="14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altLang="ko-KR" sz="1400" b="1" dirty="0">
                <a:sym typeface="Wingdings" panose="05000000000000000000" pitchFamily="2" charset="2"/>
              </a:rPr>
              <a:t>stop </a:t>
            </a:r>
            <a:r>
              <a:rPr lang="ko-KR" altLang="en-US" sz="1400" b="1" dirty="0">
                <a:sym typeface="Wingdings" panose="05000000000000000000" pitchFamily="2" charset="2"/>
              </a:rPr>
              <a:t>플래그를 이용하는 방법</a:t>
            </a:r>
            <a:endParaRPr lang="en-US" altLang="ko-KR" sz="1400" b="1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altLang="ko-KR" sz="1400" dirty="0">
                <a:sym typeface="Wingdings" panose="05000000000000000000" pitchFamily="2" charset="2"/>
              </a:rPr>
              <a:t>public class </a:t>
            </a:r>
            <a:r>
              <a:rPr lang="en-US" altLang="ko-KR" sz="1400" dirty="0" err="1">
                <a:sym typeface="Wingdings" panose="05000000000000000000" pitchFamily="2" charset="2"/>
              </a:rPr>
              <a:t>XXXThread</a:t>
            </a:r>
            <a:r>
              <a:rPr lang="en-US" altLang="ko-KR" sz="1400" dirty="0">
                <a:sym typeface="Wingdings" panose="05000000000000000000" pitchFamily="2" charset="2"/>
              </a:rPr>
              <a:t> extends Thread {</a:t>
            </a:r>
          </a:p>
          <a:p>
            <a:pPr marL="0" indent="0">
              <a:buNone/>
            </a:pPr>
            <a:r>
              <a:rPr lang="en-US" altLang="ko-KR" sz="1400" dirty="0">
                <a:sym typeface="Wingdings" panose="05000000000000000000" pitchFamily="2" charset="2"/>
              </a:rPr>
              <a:t>    private </a:t>
            </a:r>
            <a:r>
              <a:rPr lang="en-US" altLang="ko-KR" sz="1400" dirty="0" err="1">
                <a:sym typeface="Wingdings" panose="05000000000000000000" pitchFamily="2" charset="2"/>
              </a:rPr>
              <a:t>boolean</a:t>
            </a:r>
            <a:r>
              <a:rPr lang="en-US" altLang="ko-KR" sz="1400" dirty="0">
                <a:sym typeface="Wingdings" panose="05000000000000000000" pitchFamily="2" charset="2"/>
              </a:rPr>
              <a:t> stop; // stop </a:t>
            </a:r>
            <a:r>
              <a:rPr lang="ko-KR" altLang="en-US" sz="1400" dirty="0">
                <a:sym typeface="Wingdings" panose="05000000000000000000" pitchFamily="2" charset="2"/>
              </a:rPr>
              <a:t>플래그 필드</a:t>
            </a:r>
          </a:p>
          <a:p>
            <a:pPr marL="0" indent="0">
              <a:buNone/>
            </a:pPr>
            <a:endParaRPr lang="ko-KR" altLang="en-US" sz="14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ko-KR" altLang="en-US" sz="1400" dirty="0">
                <a:sym typeface="Wingdings" panose="05000000000000000000" pitchFamily="2" charset="2"/>
              </a:rPr>
              <a:t>    </a:t>
            </a:r>
            <a:r>
              <a:rPr lang="en-US" altLang="ko-KR" sz="1400" dirty="0">
                <a:sym typeface="Wingdings" panose="05000000000000000000" pitchFamily="2" charset="2"/>
              </a:rPr>
              <a:t>public void run() {</a:t>
            </a:r>
          </a:p>
          <a:p>
            <a:pPr marL="0" indent="0">
              <a:buNone/>
            </a:pPr>
            <a:r>
              <a:rPr lang="en-US" altLang="ko-KR" sz="1400" dirty="0">
                <a:sym typeface="Wingdings" panose="05000000000000000000" pitchFamily="2" charset="2"/>
              </a:rPr>
              <a:t>        while (!stop) { // stop</a:t>
            </a:r>
            <a:r>
              <a:rPr lang="ko-KR" altLang="en-US" sz="1400" dirty="0">
                <a:sym typeface="Wingdings" panose="05000000000000000000" pitchFamily="2" charset="2"/>
              </a:rPr>
              <a:t>이 </a:t>
            </a:r>
            <a:r>
              <a:rPr lang="en-US" altLang="ko-KR" sz="1400" dirty="0">
                <a:sym typeface="Wingdings" panose="05000000000000000000" pitchFamily="2" charset="2"/>
              </a:rPr>
              <a:t>true</a:t>
            </a:r>
            <a:r>
              <a:rPr lang="ko-KR" altLang="en-US" sz="1400" dirty="0">
                <a:sym typeface="Wingdings" panose="05000000000000000000" pitchFamily="2" charset="2"/>
              </a:rPr>
              <a:t>가 되면 </a:t>
            </a:r>
            <a:r>
              <a:rPr lang="en-US" altLang="ko-KR" sz="1400" dirty="0">
                <a:sym typeface="Wingdings" panose="05000000000000000000" pitchFamily="2" charset="2"/>
              </a:rPr>
              <a:t>run() </a:t>
            </a:r>
            <a:r>
              <a:rPr lang="ko-KR" altLang="en-US" sz="1400" dirty="0">
                <a:sym typeface="Wingdings" panose="05000000000000000000" pitchFamily="2" charset="2"/>
              </a:rPr>
              <a:t>종료</a:t>
            </a:r>
          </a:p>
          <a:p>
            <a:pPr marL="0" indent="0">
              <a:buNone/>
            </a:pPr>
            <a:r>
              <a:rPr lang="ko-KR" altLang="en-US" sz="1400" dirty="0">
                <a:sym typeface="Wingdings" panose="05000000000000000000" pitchFamily="2" charset="2"/>
              </a:rPr>
              <a:t>            </a:t>
            </a:r>
            <a:r>
              <a:rPr lang="en-US" altLang="ko-KR" sz="1400" dirty="0">
                <a:sym typeface="Wingdings" panose="05000000000000000000" pitchFamily="2" charset="2"/>
              </a:rPr>
              <a:t>// </a:t>
            </a:r>
            <a:r>
              <a:rPr lang="ko-KR" altLang="en-US" sz="1400" dirty="0">
                <a:sym typeface="Wingdings" panose="05000000000000000000" pitchFamily="2" charset="2"/>
              </a:rPr>
              <a:t>스레드가 반복 실행하는 코드</a:t>
            </a:r>
            <a:r>
              <a:rPr lang="en-US" altLang="ko-KR" sz="1400" dirty="0">
                <a:sym typeface="Wingdings" panose="05000000000000000000" pitchFamily="2" charset="2"/>
              </a:rPr>
              <a:t>;</a:t>
            </a:r>
          </a:p>
          <a:p>
            <a:pPr marL="0" indent="0">
              <a:buNone/>
            </a:pPr>
            <a:r>
              <a:rPr lang="en-US" altLang="ko-KR" sz="1400" dirty="0">
                <a:sym typeface="Wingdings" panose="05000000000000000000" pitchFamily="2" charset="2"/>
              </a:rPr>
              <a:t>        }</a:t>
            </a:r>
          </a:p>
          <a:p>
            <a:pPr marL="0" indent="0">
              <a:buNone/>
            </a:pPr>
            <a:r>
              <a:rPr lang="en-US" altLang="ko-KR" sz="1400" dirty="0">
                <a:sym typeface="Wingdings" panose="05000000000000000000" pitchFamily="2" charset="2"/>
              </a:rPr>
              <a:t>        // </a:t>
            </a:r>
            <a:r>
              <a:rPr lang="ko-KR" altLang="en-US" sz="1400" dirty="0">
                <a:sym typeface="Wingdings" panose="05000000000000000000" pitchFamily="2" charset="2"/>
              </a:rPr>
              <a:t>스레드가 사용한 자원 정리</a:t>
            </a:r>
          </a:p>
          <a:p>
            <a:pPr marL="0" indent="0">
              <a:buNone/>
            </a:pPr>
            <a:r>
              <a:rPr lang="ko-KR" altLang="en-US" sz="1400" dirty="0">
                <a:sym typeface="Wingdings" panose="05000000000000000000" pitchFamily="2" charset="2"/>
              </a:rPr>
              <a:t>    </a:t>
            </a:r>
            <a:r>
              <a:rPr lang="en-US" altLang="ko-KR" sz="1400" dirty="0">
                <a:sym typeface="Wingdings" panose="05000000000000000000" pitchFamily="2" charset="2"/>
              </a:rPr>
              <a:t>}</a:t>
            </a:r>
          </a:p>
          <a:p>
            <a:pPr marL="0" indent="0">
              <a:buNone/>
            </a:pPr>
            <a:r>
              <a:rPr lang="en-US" altLang="ko-KR" sz="1400" dirty="0">
                <a:sym typeface="Wingdings" panose="05000000000000000000" pitchFamily="2" charset="2"/>
              </a:rPr>
              <a:t>}</a:t>
            </a:r>
          </a:p>
          <a:p>
            <a:pPr marL="0" indent="0">
              <a:buNone/>
            </a:pPr>
            <a:endParaRPr lang="en-US" altLang="ko-KR" sz="1400" b="1" dirty="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altLang="ko-KR" sz="14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altLang="ko-KR" sz="14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altLang="ko-KR" sz="1400" b="1" dirty="0">
              <a:sym typeface="Wingdings" panose="05000000000000000000" pitchFamily="2" charset="2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FA16577-D07B-63E8-4F41-202B7646AD6F}"/>
              </a:ext>
            </a:extLst>
          </p:cNvPr>
          <p:cNvSpPr txBox="1"/>
          <p:nvPr/>
        </p:nvSpPr>
        <p:spPr>
          <a:xfrm>
            <a:off x="6274051" y="4220775"/>
            <a:ext cx="547734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stop</a:t>
            </a:r>
            <a:r>
              <a:rPr lang="ko-KR" altLang="en-US" sz="1400" dirty="0"/>
              <a:t> </a:t>
            </a:r>
            <a:r>
              <a:rPr lang="en-US" altLang="ko-KR" sz="1400" dirty="0"/>
              <a:t>=</a:t>
            </a:r>
            <a:r>
              <a:rPr lang="ko-KR" altLang="en-US" sz="1400" dirty="0"/>
              <a:t> </a:t>
            </a:r>
            <a:r>
              <a:rPr lang="en-US" altLang="ko-KR" sz="1400" dirty="0"/>
              <a:t>true </a:t>
            </a:r>
            <a:r>
              <a:rPr lang="en-US" altLang="ko-KR" sz="1400" dirty="0">
                <a:sym typeface="Wingdings" panose="05000000000000000000" pitchFamily="2" charset="2"/>
              </a:rPr>
              <a:t> </a:t>
            </a:r>
          </a:p>
          <a:p>
            <a:r>
              <a:rPr lang="en-US" altLang="ko-KR" sz="1400" dirty="0">
                <a:sym typeface="Wingdings" panose="05000000000000000000" pitchFamily="2" charset="2"/>
              </a:rPr>
              <a:t>while</a:t>
            </a:r>
            <a:r>
              <a:rPr lang="ko-KR" altLang="en-US" sz="1400" dirty="0">
                <a:sym typeface="Wingdings" panose="05000000000000000000" pitchFamily="2" charset="2"/>
              </a:rPr>
              <a:t>문을 빠져나와 자원을 정리하고</a:t>
            </a:r>
            <a:endParaRPr lang="en-US" altLang="ko-KR" sz="1400" dirty="0">
              <a:sym typeface="Wingdings" panose="05000000000000000000" pitchFamily="2" charset="2"/>
            </a:endParaRPr>
          </a:p>
          <a:p>
            <a:r>
              <a:rPr lang="en-US" altLang="ko-KR" sz="1400" dirty="0">
                <a:sym typeface="Wingdings" panose="05000000000000000000" pitchFamily="2" charset="2"/>
              </a:rPr>
              <a:t>run()</a:t>
            </a:r>
            <a:r>
              <a:rPr lang="ko-KR" altLang="en-US" sz="1400" dirty="0">
                <a:sym typeface="Wingdings" panose="05000000000000000000" pitchFamily="2" charset="2"/>
              </a:rPr>
              <a:t>이 끝나게 되므로 안전하게 종료됨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6506542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E57B13-6AA3-14E1-DC69-50CD791565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77E59A6-BA21-071E-F6F7-CE3273357C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1400" dirty="0"/>
              <a:t>public class </a:t>
            </a:r>
            <a:r>
              <a:rPr lang="en-US" altLang="ko-KR" sz="1400" dirty="0" err="1"/>
              <a:t>StopFlagExample</a:t>
            </a:r>
            <a:r>
              <a:rPr lang="en-US" altLang="ko-KR" sz="1400" dirty="0"/>
              <a:t> {</a:t>
            </a:r>
          </a:p>
          <a:p>
            <a:pPr marL="0" indent="0">
              <a:buNone/>
            </a:pPr>
            <a:r>
              <a:rPr lang="en-US" altLang="ko-KR" sz="1400" dirty="0"/>
              <a:t>    public static void main(String[] </a:t>
            </a:r>
            <a:r>
              <a:rPr lang="en-US" altLang="ko-KR" sz="1400" dirty="0" err="1"/>
              <a:t>args</a:t>
            </a:r>
            <a:r>
              <a:rPr lang="en-US" altLang="ko-KR" sz="1400" dirty="0"/>
              <a:t>) {</a:t>
            </a:r>
          </a:p>
          <a:p>
            <a:pPr marL="0" indent="0">
              <a:buNone/>
            </a:pPr>
            <a:r>
              <a:rPr lang="en-US" altLang="ko-KR" sz="1400" dirty="0"/>
              <a:t>        // </a:t>
            </a:r>
            <a:r>
              <a:rPr lang="en-US" altLang="ko-KR" sz="1400" dirty="0" err="1"/>
              <a:t>PrintThread</a:t>
            </a:r>
            <a:r>
              <a:rPr lang="en-US" altLang="ko-KR" sz="1400" dirty="0"/>
              <a:t> </a:t>
            </a:r>
            <a:r>
              <a:rPr lang="ko-KR" altLang="en-US" sz="1400" dirty="0"/>
              <a:t>객체 생성 및 스레드 시작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 err="1"/>
              <a:t>PrintThread</a:t>
            </a:r>
            <a:r>
              <a:rPr lang="en-US" altLang="ko-KR" sz="1400" dirty="0"/>
              <a:t> </a:t>
            </a:r>
            <a:r>
              <a:rPr lang="en-US" altLang="ko-KR" sz="1400" dirty="0" err="1"/>
              <a:t>printThread</a:t>
            </a:r>
            <a:r>
              <a:rPr lang="en-US" altLang="ko-KR" sz="1400" dirty="0"/>
              <a:t> = new </a:t>
            </a:r>
            <a:r>
              <a:rPr lang="en-US" altLang="ko-KR" sz="1400" dirty="0" err="1"/>
              <a:t>PrintThread</a:t>
            </a:r>
            <a:r>
              <a:rPr lang="en-US" altLang="ko-KR" sz="1400" dirty="0"/>
              <a:t>();</a:t>
            </a:r>
          </a:p>
          <a:p>
            <a:pPr marL="0" indent="0">
              <a:buNone/>
            </a:pPr>
            <a:r>
              <a:rPr lang="en-US" altLang="ko-KR" sz="1400" dirty="0"/>
              <a:t>        </a:t>
            </a:r>
            <a:r>
              <a:rPr lang="en-US" altLang="ko-KR" sz="1400" dirty="0" err="1"/>
              <a:t>printThread.start</a:t>
            </a:r>
            <a:r>
              <a:rPr lang="en-US" altLang="ko-KR" sz="1400" dirty="0"/>
              <a:t>(); // </a:t>
            </a:r>
            <a:r>
              <a:rPr lang="en-US" altLang="ko-KR" sz="1400" dirty="0" err="1"/>
              <a:t>PrintThread</a:t>
            </a:r>
            <a:r>
              <a:rPr lang="ko-KR" altLang="en-US" sz="1400" dirty="0"/>
              <a:t>의 </a:t>
            </a:r>
            <a:r>
              <a:rPr lang="en-US" altLang="ko-KR" sz="1400" dirty="0"/>
              <a:t>run() </a:t>
            </a:r>
            <a:r>
              <a:rPr lang="ko-KR" altLang="en-US" sz="1400" dirty="0"/>
              <a:t>메서드 실행</a:t>
            </a:r>
          </a:p>
          <a:p>
            <a:pPr marL="0" indent="0">
              <a:buNone/>
            </a:pPr>
            <a:endParaRPr lang="ko-KR" altLang="en-US" sz="1400" dirty="0"/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try {</a:t>
            </a:r>
          </a:p>
          <a:p>
            <a:pPr marL="0" indent="0">
              <a:buNone/>
            </a:pPr>
            <a:r>
              <a:rPr lang="en-US" altLang="ko-KR" sz="1400" dirty="0"/>
              <a:t>            </a:t>
            </a:r>
            <a:r>
              <a:rPr lang="en-US" altLang="ko-KR" sz="1400" dirty="0" err="1"/>
              <a:t>Thread.sleep</a:t>
            </a:r>
            <a:r>
              <a:rPr lang="en-US" altLang="ko-KR" sz="1400" dirty="0"/>
              <a:t>(1000); // </a:t>
            </a:r>
            <a:r>
              <a:rPr lang="ko-KR" altLang="en-US" sz="1400" dirty="0"/>
              <a:t>메인 스레드 </a:t>
            </a:r>
            <a:r>
              <a:rPr lang="en-US" altLang="ko-KR" sz="1400" dirty="0"/>
              <a:t>1</a:t>
            </a:r>
            <a:r>
              <a:rPr lang="ko-KR" altLang="en-US" sz="1400" dirty="0"/>
              <a:t>초 동안 일시 정지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} catch (</a:t>
            </a:r>
            <a:r>
              <a:rPr lang="en-US" altLang="ko-KR" sz="1400" dirty="0" err="1"/>
              <a:t>InterruptedException</a:t>
            </a:r>
            <a:r>
              <a:rPr lang="en-US" altLang="ko-KR" sz="1400" dirty="0"/>
              <a:t> e) {</a:t>
            </a:r>
          </a:p>
          <a:p>
            <a:pPr marL="0" indent="0">
              <a:buNone/>
            </a:pPr>
            <a:r>
              <a:rPr lang="en-US" altLang="ko-KR" sz="1400" dirty="0"/>
              <a:t>            // </a:t>
            </a:r>
            <a:r>
              <a:rPr lang="ko-KR" altLang="en-US" sz="1400" dirty="0"/>
              <a:t>예외 발생 시 처리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}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        // </a:t>
            </a:r>
            <a:r>
              <a:rPr lang="en-US" altLang="ko-KR" sz="1400" dirty="0" err="1"/>
              <a:t>PrintThread</a:t>
            </a:r>
            <a:r>
              <a:rPr lang="ko-KR" altLang="en-US" sz="1400" dirty="0"/>
              <a:t>의 </a:t>
            </a:r>
            <a:r>
              <a:rPr lang="en-US" altLang="ko-KR" sz="1400" dirty="0"/>
              <a:t>stop </a:t>
            </a:r>
            <a:r>
              <a:rPr lang="ko-KR" altLang="en-US" sz="1400" dirty="0"/>
              <a:t>플래그를 </a:t>
            </a:r>
            <a:r>
              <a:rPr lang="en-US" altLang="ko-KR" sz="1400" dirty="0"/>
              <a:t>true</a:t>
            </a:r>
            <a:r>
              <a:rPr lang="ko-KR" altLang="en-US" sz="1400" dirty="0"/>
              <a:t>로 설정하여 스레드를 종료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 err="1"/>
              <a:t>printThread.setStop</a:t>
            </a:r>
            <a:r>
              <a:rPr lang="en-US" altLang="ko-KR" sz="1400" dirty="0"/>
              <a:t>(true);</a:t>
            </a:r>
          </a:p>
          <a:p>
            <a:pPr marL="0" indent="0">
              <a:buNone/>
            </a:pPr>
            <a:r>
              <a:rPr lang="en-US" altLang="ko-KR" sz="1400" dirty="0"/>
              <a:t>    }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1ED5735-DD2D-562E-003B-36F8A3B2C6FB}"/>
              </a:ext>
            </a:extLst>
          </p:cNvPr>
          <p:cNvSpPr txBox="1"/>
          <p:nvPr/>
        </p:nvSpPr>
        <p:spPr>
          <a:xfrm>
            <a:off x="6627137" y="0"/>
            <a:ext cx="5564863" cy="56938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public class </a:t>
            </a:r>
            <a:r>
              <a:rPr lang="en-US" altLang="ko-KR" sz="1400" dirty="0" err="1"/>
              <a:t>PrintThread</a:t>
            </a:r>
            <a:r>
              <a:rPr lang="en-US" altLang="ko-KR" sz="1400" dirty="0"/>
              <a:t> extends Thread {</a:t>
            </a:r>
          </a:p>
          <a:p>
            <a:r>
              <a:rPr lang="en-US" altLang="ko-KR" sz="1400" dirty="0"/>
              <a:t>    // </a:t>
            </a:r>
            <a:r>
              <a:rPr lang="ko-KR" altLang="en-US" sz="1400" dirty="0"/>
              <a:t>스레드 종료를 제어하는 </a:t>
            </a:r>
            <a:r>
              <a:rPr lang="en-US" altLang="ko-KR" sz="1400" dirty="0"/>
              <a:t>stop </a:t>
            </a:r>
            <a:r>
              <a:rPr lang="ko-KR" altLang="en-US" sz="1400" dirty="0"/>
              <a:t>플래그 필드</a:t>
            </a:r>
          </a:p>
          <a:p>
            <a:r>
              <a:rPr lang="ko-KR" altLang="en-US" sz="1400" dirty="0"/>
              <a:t>    </a:t>
            </a:r>
            <a:r>
              <a:rPr lang="en-US" altLang="ko-KR" sz="1400" dirty="0"/>
              <a:t>private </a:t>
            </a:r>
            <a:r>
              <a:rPr lang="en-US" altLang="ko-KR" sz="1400" dirty="0" err="1"/>
              <a:t>boolean</a:t>
            </a:r>
            <a:r>
              <a:rPr lang="en-US" altLang="ko-KR" sz="1400" dirty="0"/>
              <a:t> stop;</a:t>
            </a:r>
          </a:p>
          <a:p>
            <a:endParaRPr lang="en-US" altLang="ko-KR" sz="1400" dirty="0"/>
          </a:p>
          <a:p>
            <a:r>
              <a:rPr lang="en-US" altLang="ko-KR" sz="1400" dirty="0"/>
              <a:t>    // stop </a:t>
            </a:r>
            <a:r>
              <a:rPr lang="ko-KR" altLang="en-US" sz="1400" dirty="0"/>
              <a:t>플래그 값을 설정하는 메서드</a:t>
            </a:r>
          </a:p>
          <a:p>
            <a:r>
              <a:rPr lang="ko-KR" altLang="en-US" sz="1400" dirty="0"/>
              <a:t>    </a:t>
            </a:r>
            <a:r>
              <a:rPr lang="en-US" altLang="ko-KR" sz="1400" dirty="0"/>
              <a:t>public void </a:t>
            </a:r>
            <a:r>
              <a:rPr lang="en-US" altLang="ko-KR" sz="1400" dirty="0" err="1"/>
              <a:t>setStop</a:t>
            </a:r>
            <a:r>
              <a:rPr lang="en-US" altLang="ko-KR" sz="1400" dirty="0"/>
              <a:t>(</a:t>
            </a:r>
            <a:r>
              <a:rPr lang="en-US" altLang="ko-KR" sz="1400" dirty="0" err="1"/>
              <a:t>boolean</a:t>
            </a:r>
            <a:r>
              <a:rPr lang="en-US" altLang="ko-KR" sz="1400" dirty="0"/>
              <a:t> stop) {</a:t>
            </a:r>
          </a:p>
          <a:p>
            <a:r>
              <a:rPr lang="en-US" altLang="ko-KR" sz="1400" dirty="0"/>
              <a:t>        </a:t>
            </a:r>
            <a:r>
              <a:rPr lang="en-US" altLang="ko-KR" sz="1400" dirty="0" err="1"/>
              <a:t>this.stop</a:t>
            </a:r>
            <a:r>
              <a:rPr lang="en-US" altLang="ko-KR" sz="1400" dirty="0"/>
              <a:t> = stop;</a:t>
            </a:r>
          </a:p>
          <a:p>
            <a:r>
              <a:rPr lang="en-US" altLang="ko-KR" sz="1400" dirty="0"/>
              <a:t>    }</a:t>
            </a:r>
          </a:p>
          <a:p>
            <a:endParaRPr lang="en-US" altLang="ko-KR" sz="1400" dirty="0"/>
          </a:p>
          <a:p>
            <a:r>
              <a:rPr lang="en-US" altLang="ko-KR" sz="1400" dirty="0"/>
              <a:t>    public void run() {</a:t>
            </a:r>
          </a:p>
          <a:p>
            <a:r>
              <a:rPr lang="en-US" altLang="ko-KR" sz="1400" dirty="0"/>
              <a:t>        while (!stop) { // stop</a:t>
            </a:r>
            <a:r>
              <a:rPr lang="ko-KR" altLang="en-US" sz="1400" dirty="0"/>
              <a:t>이 </a:t>
            </a:r>
            <a:r>
              <a:rPr lang="en-US" altLang="ko-KR" sz="1400" dirty="0"/>
              <a:t>false</a:t>
            </a:r>
            <a:r>
              <a:rPr lang="ko-KR" altLang="en-US" sz="1400" dirty="0"/>
              <a:t>일 동안 반복 실행</a:t>
            </a:r>
          </a:p>
          <a:p>
            <a:r>
              <a:rPr lang="ko-KR" altLang="en-US" sz="1400" dirty="0"/>
              <a:t>    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</a:t>
            </a:r>
            <a:r>
              <a:rPr lang="ko-KR" altLang="en-US" sz="1400" dirty="0"/>
              <a:t>실행 중</a:t>
            </a:r>
            <a:r>
              <a:rPr lang="en-US" altLang="ko-KR" sz="1400" dirty="0"/>
              <a:t>");</a:t>
            </a:r>
          </a:p>
          <a:p>
            <a:r>
              <a:rPr lang="en-US" altLang="ko-KR" sz="1400" dirty="0"/>
              <a:t>        }</a:t>
            </a:r>
          </a:p>
          <a:p>
            <a:endParaRPr lang="en-US" altLang="ko-KR" sz="1400" dirty="0"/>
          </a:p>
          <a:p>
            <a:r>
              <a:rPr lang="en-US" altLang="ko-KR" sz="1400" dirty="0"/>
              <a:t>        // stop</a:t>
            </a:r>
            <a:r>
              <a:rPr lang="ko-KR" altLang="en-US" sz="1400" dirty="0"/>
              <a:t>이 </a:t>
            </a:r>
            <a:r>
              <a:rPr lang="en-US" altLang="ko-KR" sz="1400" dirty="0"/>
              <a:t>true</a:t>
            </a:r>
            <a:r>
              <a:rPr lang="ko-KR" altLang="en-US" sz="1400" dirty="0"/>
              <a:t>가 되면 아래 코드 실행</a:t>
            </a:r>
          </a:p>
          <a:p>
            <a:r>
              <a:rPr lang="ko-KR" altLang="en-US" sz="1400" dirty="0"/>
              <a:t>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</a:t>
            </a:r>
            <a:r>
              <a:rPr lang="ko-KR" altLang="en-US" sz="1400" dirty="0"/>
              <a:t>자원 정리</a:t>
            </a:r>
            <a:r>
              <a:rPr lang="en-US" altLang="ko-KR" sz="1400" dirty="0"/>
              <a:t>");</a:t>
            </a:r>
          </a:p>
          <a:p>
            <a:r>
              <a:rPr lang="en-US" altLang="ko-KR" sz="1400" dirty="0"/>
              <a:t>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</a:t>
            </a:r>
            <a:r>
              <a:rPr lang="ko-KR" altLang="en-US" sz="1400" dirty="0"/>
              <a:t>실행 종료</a:t>
            </a:r>
            <a:r>
              <a:rPr lang="en-US" altLang="ko-KR" sz="1400" dirty="0"/>
              <a:t>");</a:t>
            </a:r>
          </a:p>
          <a:p>
            <a:r>
              <a:rPr lang="en-US" altLang="ko-KR" sz="1400" dirty="0"/>
              <a:t>    }</a:t>
            </a:r>
          </a:p>
          <a:p>
            <a:r>
              <a:rPr lang="en-US" altLang="ko-KR" sz="1400" dirty="0"/>
              <a:t>}</a:t>
            </a:r>
          </a:p>
          <a:p>
            <a:endParaRPr lang="en-US" altLang="ko-KR" sz="1400" dirty="0"/>
          </a:p>
          <a:p>
            <a:endParaRPr lang="en-US" altLang="ko-KR" sz="1400" dirty="0"/>
          </a:p>
          <a:p>
            <a:endParaRPr lang="en-US" altLang="ko-KR" sz="1400" dirty="0"/>
          </a:p>
          <a:p>
            <a:r>
              <a:rPr lang="en-US" altLang="ko-KR" sz="1400" dirty="0"/>
              <a:t>//1</a:t>
            </a:r>
            <a:r>
              <a:rPr lang="ko-KR" altLang="en-US" sz="1400" dirty="0"/>
              <a:t>초 후에 </a:t>
            </a:r>
            <a:r>
              <a:rPr lang="en-US" altLang="ko-KR" sz="1400" dirty="0"/>
              <a:t>stop</a:t>
            </a:r>
            <a:r>
              <a:rPr lang="ko-KR" altLang="en-US" sz="1400" dirty="0"/>
              <a:t>이 </a:t>
            </a:r>
            <a:r>
              <a:rPr lang="en-US" altLang="ko-KR" sz="1400" dirty="0"/>
              <a:t>true</a:t>
            </a:r>
            <a:r>
              <a:rPr lang="ko-KR" altLang="en-US" sz="1400" dirty="0"/>
              <a:t>가 되면서 안전하게 스레드를 종료함</a:t>
            </a:r>
            <a:endParaRPr lang="en-US" altLang="ko-KR" sz="1400" dirty="0"/>
          </a:p>
          <a:p>
            <a:endParaRPr lang="en-US" altLang="ko-KR" sz="1400" dirty="0"/>
          </a:p>
          <a:p>
            <a:endParaRPr lang="ko-KR" altLang="en-US" sz="14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464F225-443B-5648-849E-CAF632400B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2190" y="3686175"/>
            <a:ext cx="752475" cy="3171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681356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F5A903-45AF-708B-90A8-86F2B32F1E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F36239B-5BCE-3A19-13CC-8A1B417AC7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1400" b="1" dirty="0">
                <a:sym typeface="Wingdings" panose="05000000000000000000" pitchFamily="2" charset="2"/>
              </a:rPr>
              <a:t>interrupt() </a:t>
            </a:r>
            <a:r>
              <a:rPr lang="ko-KR" altLang="en-US" sz="1400" b="1" dirty="0">
                <a:sym typeface="Wingdings" panose="05000000000000000000" pitchFamily="2" charset="2"/>
              </a:rPr>
              <a:t>메소드를 이용하는 방법</a:t>
            </a:r>
            <a:endParaRPr lang="en-US" altLang="ko-KR" sz="1400" b="1" dirty="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altLang="ko-KR" sz="1400" b="1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altLang="ko-KR" sz="1400" dirty="0">
                <a:sym typeface="Wingdings" panose="05000000000000000000" pitchFamily="2" charset="2"/>
              </a:rPr>
              <a:t>interrupt()</a:t>
            </a:r>
            <a:r>
              <a:rPr lang="ko-KR" altLang="en-US" sz="1400" dirty="0">
                <a:sym typeface="Wingdings" panose="05000000000000000000" pitchFamily="2" charset="2"/>
              </a:rPr>
              <a:t>는 스레드가 일시 정지 상태에 있을 때 </a:t>
            </a:r>
            <a:r>
              <a:rPr lang="en-US" altLang="ko-KR" sz="1400" dirty="0" err="1"/>
              <a:t>InterruptedException</a:t>
            </a:r>
            <a:r>
              <a:rPr lang="ko-KR" altLang="en-US" sz="1400" dirty="0"/>
              <a:t>를 발생시킨다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ko-KR" altLang="en-US" sz="1400" dirty="0">
                <a:sym typeface="Wingdings" panose="05000000000000000000" pitchFamily="2" charset="2"/>
              </a:rPr>
              <a:t>이를 이용해서 </a:t>
            </a:r>
            <a:r>
              <a:rPr lang="en-US" altLang="ko-KR" sz="1400" dirty="0">
                <a:sym typeface="Wingdings" panose="05000000000000000000" pitchFamily="2" charset="2"/>
              </a:rPr>
              <a:t>run()</a:t>
            </a:r>
            <a:r>
              <a:rPr lang="ko-KR" altLang="en-US" sz="1400" dirty="0">
                <a:sym typeface="Wingdings" panose="05000000000000000000" pitchFamily="2" charset="2"/>
              </a:rPr>
              <a:t>메소드를 정상 종료할 수 있다</a:t>
            </a:r>
            <a:r>
              <a:rPr lang="en-US" altLang="ko-KR" sz="1400" dirty="0">
                <a:sym typeface="Wingdings" panose="05000000000000000000" pitchFamily="2" charset="2"/>
              </a:rPr>
              <a:t>.</a:t>
            </a:r>
          </a:p>
          <a:p>
            <a:pPr marL="0" indent="0">
              <a:buNone/>
            </a:pPr>
            <a:endParaRPr lang="en-US" altLang="ko-KR" sz="14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altLang="ko-KR" sz="1400" dirty="0">
                <a:sym typeface="Wingdings" panose="05000000000000000000" pitchFamily="2" charset="2"/>
              </a:rPr>
              <a:t>ex) Thread-A</a:t>
            </a:r>
            <a:r>
              <a:rPr lang="ko-KR" altLang="en-US" sz="1400" dirty="0">
                <a:sym typeface="Wingdings" panose="05000000000000000000" pitchFamily="2" charset="2"/>
              </a:rPr>
              <a:t>가 </a:t>
            </a:r>
            <a:r>
              <a:rPr lang="en-US" altLang="ko-KR" sz="1400" dirty="0">
                <a:sym typeface="Wingdings" panose="05000000000000000000" pitchFamily="2" charset="2"/>
              </a:rPr>
              <a:t>Thread-B</a:t>
            </a:r>
            <a:r>
              <a:rPr lang="ko-KR" altLang="en-US" sz="1400" dirty="0">
                <a:sym typeface="Wingdings" panose="05000000000000000000" pitchFamily="2" charset="2"/>
              </a:rPr>
              <a:t>를 생성했다고 가정</a:t>
            </a:r>
            <a:endParaRPr lang="en-US" altLang="ko-KR" sz="14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altLang="ko-KR" sz="14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altLang="ko-KR" sz="14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altLang="ko-KR" sz="14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altLang="ko-KR" sz="14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altLang="ko-KR" sz="14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altLang="ko-KR" sz="14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altLang="ko-KR" sz="14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altLang="ko-KR" sz="1400" dirty="0">
                <a:sym typeface="Wingdings" panose="05000000000000000000" pitchFamily="2" charset="2"/>
              </a:rPr>
              <a:t>-Thread-A</a:t>
            </a:r>
            <a:r>
              <a:rPr lang="ko-KR" altLang="en-US" sz="1400" dirty="0">
                <a:sym typeface="Wingdings" panose="05000000000000000000" pitchFamily="2" charset="2"/>
              </a:rPr>
              <a:t>에서 </a:t>
            </a:r>
            <a:r>
              <a:rPr lang="en-US" altLang="ko-KR" sz="1400" dirty="0">
                <a:sym typeface="Wingdings" panose="05000000000000000000" pitchFamily="2" charset="2"/>
              </a:rPr>
              <a:t>Thread-B</a:t>
            </a:r>
            <a:r>
              <a:rPr lang="ko-KR" altLang="en-US" sz="1400" dirty="0">
                <a:sym typeface="Wingdings" panose="05000000000000000000" pitchFamily="2" charset="2"/>
              </a:rPr>
              <a:t>를 </a:t>
            </a:r>
            <a:r>
              <a:rPr lang="en-US" altLang="ko-KR" sz="1400" dirty="0">
                <a:sym typeface="Wingdings" panose="05000000000000000000" pitchFamily="2" charset="2"/>
              </a:rPr>
              <a:t>start()</a:t>
            </a:r>
            <a:r>
              <a:rPr lang="ko-KR" altLang="en-US" sz="1400" dirty="0">
                <a:sym typeface="Wingdings" panose="05000000000000000000" pitchFamily="2" charset="2"/>
              </a:rPr>
              <a:t>로 실행시킴</a:t>
            </a:r>
            <a:endParaRPr lang="en-US" altLang="ko-KR" sz="14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altLang="ko-KR" sz="14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altLang="ko-KR" sz="1400" dirty="0">
                <a:sym typeface="Wingdings" panose="05000000000000000000" pitchFamily="2" charset="2"/>
              </a:rPr>
              <a:t>-</a:t>
            </a:r>
            <a:r>
              <a:rPr lang="en-US" altLang="ko-KR" sz="1400" dirty="0"/>
              <a:t> interrupt</a:t>
            </a:r>
            <a:r>
              <a:rPr lang="en-US" altLang="ko-KR" sz="1400" dirty="0">
                <a:sym typeface="Wingdings" panose="05000000000000000000" pitchFamily="2" charset="2"/>
              </a:rPr>
              <a:t>()</a:t>
            </a:r>
            <a:r>
              <a:rPr lang="ko-KR" altLang="en-US" sz="1400" dirty="0">
                <a:sym typeface="Wingdings" panose="05000000000000000000" pitchFamily="2" charset="2"/>
              </a:rPr>
              <a:t>에 의해 일시 정지 상태를 깨우고 </a:t>
            </a:r>
            <a:r>
              <a:rPr lang="en-US" altLang="ko-KR" sz="1400" dirty="0" err="1"/>
              <a:t>InterruptedException</a:t>
            </a:r>
            <a:r>
              <a:rPr lang="ko-KR" altLang="en-US" sz="1400" dirty="0"/>
              <a:t>를 발생시킨다 </a:t>
            </a:r>
            <a:endParaRPr lang="en-US" altLang="ko-KR" sz="1400" dirty="0"/>
          </a:p>
          <a:p>
            <a:pPr marL="0" indent="0">
              <a:buNone/>
            </a:pPr>
            <a:endParaRPr lang="en-US" altLang="ko-KR" sz="14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altLang="ko-KR" sz="1400" dirty="0">
                <a:sym typeface="Wingdings" panose="05000000000000000000" pitchFamily="2" charset="2"/>
              </a:rPr>
              <a:t>- catch</a:t>
            </a:r>
            <a:r>
              <a:rPr lang="ko-KR" altLang="en-US" sz="1400" dirty="0">
                <a:sym typeface="Wingdings" panose="05000000000000000000" pitchFamily="2" charset="2"/>
              </a:rPr>
              <a:t>블록으로 이동하여 자원을 정리하고 정상적으로 </a:t>
            </a:r>
            <a:r>
              <a:rPr lang="en-US" altLang="ko-KR" sz="1400" dirty="0">
                <a:sym typeface="Wingdings" panose="05000000000000000000" pitchFamily="2" charset="2"/>
              </a:rPr>
              <a:t>run()</a:t>
            </a:r>
            <a:r>
              <a:rPr lang="ko-KR" altLang="en-US" sz="1400" dirty="0">
                <a:sym typeface="Wingdings" panose="05000000000000000000" pitchFamily="2" charset="2"/>
              </a:rPr>
              <a:t>를 종료</a:t>
            </a:r>
            <a:endParaRPr lang="en-US" altLang="ko-KR" sz="14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altLang="ko-KR" sz="1400" dirty="0">
              <a:sym typeface="Wingdings" panose="05000000000000000000" pitchFamily="2" charset="2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E0FCAB7-F560-9E49-4F92-37A2D4919630}"/>
              </a:ext>
            </a:extLst>
          </p:cNvPr>
          <p:cNvSpPr txBox="1"/>
          <p:nvPr/>
        </p:nvSpPr>
        <p:spPr>
          <a:xfrm>
            <a:off x="0" y="2163779"/>
            <a:ext cx="3078179" cy="116955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// </a:t>
            </a:r>
            <a:r>
              <a:rPr lang="en-US" altLang="ko-KR" sz="1400" dirty="0" err="1"/>
              <a:t>ThreadA</a:t>
            </a:r>
            <a:endParaRPr lang="en-US" altLang="ko-KR" sz="1400" dirty="0"/>
          </a:p>
          <a:p>
            <a:r>
              <a:rPr lang="en-US" altLang="ko-KR" sz="1400" dirty="0" err="1"/>
              <a:t>ThreadB</a:t>
            </a:r>
            <a:r>
              <a:rPr lang="en-US" altLang="ko-KR" sz="1400" dirty="0"/>
              <a:t> </a:t>
            </a:r>
            <a:r>
              <a:rPr lang="en-US" altLang="ko-KR" sz="1400" dirty="0" err="1"/>
              <a:t>threadB</a:t>
            </a:r>
            <a:r>
              <a:rPr lang="en-US" altLang="ko-KR" sz="1400" dirty="0"/>
              <a:t> = new </a:t>
            </a:r>
            <a:r>
              <a:rPr lang="en-US" altLang="ko-KR" sz="1400" dirty="0" err="1"/>
              <a:t>ThreadB</a:t>
            </a:r>
            <a:r>
              <a:rPr lang="en-US" altLang="ko-KR" sz="1400" dirty="0"/>
              <a:t>(); </a:t>
            </a:r>
          </a:p>
          <a:p>
            <a:r>
              <a:rPr lang="en-US" altLang="ko-KR" sz="1400" dirty="0" err="1"/>
              <a:t>threadB.start</a:t>
            </a:r>
            <a:r>
              <a:rPr lang="en-US" altLang="ko-KR" sz="1400" dirty="0"/>
              <a:t>(); </a:t>
            </a:r>
          </a:p>
          <a:p>
            <a:r>
              <a:rPr lang="en-US" altLang="ko-KR" sz="1400" dirty="0"/>
              <a:t>... </a:t>
            </a:r>
          </a:p>
          <a:p>
            <a:r>
              <a:rPr lang="en-US" altLang="ko-KR" sz="1400" dirty="0" err="1"/>
              <a:t>threadB.interrupt</a:t>
            </a:r>
            <a:r>
              <a:rPr lang="en-US" altLang="ko-KR" sz="1400" dirty="0"/>
              <a:t>();</a:t>
            </a:r>
            <a:endParaRPr lang="ko-KR" altLang="en-US" sz="1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7E77743-BD2F-DA5A-6039-9747322AA02F}"/>
              </a:ext>
            </a:extLst>
          </p:cNvPr>
          <p:cNvSpPr txBox="1"/>
          <p:nvPr/>
        </p:nvSpPr>
        <p:spPr>
          <a:xfrm>
            <a:off x="4887362" y="1647730"/>
            <a:ext cx="4636884" cy="246221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 // </a:t>
            </a:r>
            <a:r>
              <a:rPr lang="en-US" altLang="ko-KR" sz="1400" dirty="0" err="1"/>
              <a:t>ThreadB</a:t>
            </a:r>
            <a:endParaRPr lang="en-US" altLang="ko-KR" sz="1400" dirty="0"/>
          </a:p>
          <a:p>
            <a:r>
              <a:rPr lang="en-US" altLang="ko-KR" sz="1400" dirty="0"/>
              <a:t>public void run() {</a:t>
            </a:r>
          </a:p>
          <a:p>
            <a:r>
              <a:rPr lang="en-US" altLang="ko-KR" sz="1400" dirty="0"/>
              <a:t>    try {</a:t>
            </a:r>
          </a:p>
          <a:p>
            <a:r>
              <a:rPr lang="en-US" altLang="ko-KR" sz="1400" dirty="0"/>
              <a:t>        while (true) {</a:t>
            </a:r>
          </a:p>
          <a:p>
            <a:r>
              <a:rPr lang="en-US" altLang="ko-KR" sz="1400" dirty="0"/>
              <a:t>            ...</a:t>
            </a:r>
          </a:p>
          <a:p>
            <a:r>
              <a:rPr lang="en-US" altLang="ko-KR" sz="1400" dirty="0"/>
              <a:t>            </a:t>
            </a:r>
            <a:r>
              <a:rPr lang="en-US" altLang="ko-KR" sz="1400" dirty="0" err="1"/>
              <a:t>Thread.sleep</a:t>
            </a:r>
            <a:r>
              <a:rPr lang="en-US" altLang="ko-KR" sz="1400" dirty="0"/>
              <a:t>(1); // </a:t>
            </a:r>
            <a:r>
              <a:rPr lang="ko-KR" altLang="en-US" sz="1400" dirty="0"/>
              <a:t>일시 정지</a:t>
            </a:r>
          </a:p>
          <a:p>
            <a:r>
              <a:rPr lang="ko-KR" altLang="en-US" sz="1400" dirty="0"/>
              <a:t>        </a:t>
            </a:r>
            <a:r>
              <a:rPr lang="en-US" altLang="ko-KR" sz="1400" dirty="0"/>
              <a:t>}</a:t>
            </a:r>
          </a:p>
          <a:p>
            <a:r>
              <a:rPr lang="en-US" altLang="ko-KR" sz="1400" dirty="0"/>
              <a:t>    } catch (</a:t>
            </a:r>
            <a:r>
              <a:rPr lang="en-US" altLang="ko-KR" sz="1400" dirty="0" err="1"/>
              <a:t>InterruptedException</a:t>
            </a:r>
            <a:r>
              <a:rPr lang="en-US" altLang="ko-KR" sz="1400" dirty="0"/>
              <a:t> e) {</a:t>
            </a:r>
          </a:p>
          <a:p>
            <a:r>
              <a:rPr lang="en-US" altLang="ko-KR" sz="1400" dirty="0"/>
              <a:t>    }</a:t>
            </a:r>
          </a:p>
          <a:p>
            <a:r>
              <a:rPr lang="en-US" altLang="ko-KR" sz="1400" dirty="0"/>
              <a:t>    // </a:t>
            </a:r>
            <a:r>
              <a:rPr lang="ko-KR" altLang="en-US" sz="1400" dirty="0"/>
              <a:t>스레드가 사용한 자원 정리</a:t>
            </a:r>
          </a:p>
          <a:p>
            <a:r>
              <a:rPr lang="en-US" altLang="ko-KR" sz="1400" dirty="0"/>
              <a:t>}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7317579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9CE590-5C6D-C6B7-A056-C81D3C2E4B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BDA11B2-C189-8B96-A2CF-F8597E1861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1400" dirty="0"/>
              <a:t>public class </a:t>
            </a:r>
            <a:r>
              <a:rPr lang="en-US" altLang="ko-KR" sz="1400" dirty="0" err="1"/>
              <a:t>InterruptExample</a:t>
            </a:r>
            <a:r>
              <a:rPr lang="en-US" altLang="ko-KR" sz="1400" dirty="0"/>
              <a:t> {</a:t>
            </a:r>
          </a:p>
          <a:p>
            <a:pPr marL="0" indent="0">
              <a:buNone/>
            </a:pPr>
            <a:r>
              <a:rPr lang="en-US" altLang="ko-KR" sz="1400" dirty="0"/>
              <a:t>    public static void main(String[] </a:t>
            </a:r>
            <a:r>
              <a:rPr lang="en-US" altLang="ko-KR" sz="1400" dirty="0" err="1"/>
              <a:t>args</a:t>
            </a:r>
            <a:r>
              <a:rPr lang="en-US" altLang="ko-KR" sz="1400" dirty="0"/>
              <a:t>) {</a:t>
            </a:r>
          </a:p>
          <a:p>
            <a:pPr marL="0" indent="0">
              <a:buNone/>
            </a:pPr>
            <a:r>
              <a:rPr lang="en-US" altLang="ko-KR" sz="1400" dirty="0"/>
              <a:t>        // </a:t>
            </a:r>
            <a:r>
              <a:rPr lang="en-US" altLang="ko-KR" sz="1400" dirty="0" err="1"/>
              <a:t>PrintThread</a:t>
            </a:r>
            <a:r>
              <a:rPr lang="en-US" altLang="ko-KR" sz="1400" dirty="0"/>
              <a:t> </a:t>
            </a:r>
            <a:r>
              <a:rPr lang="ko-KR" altLang="en-US" sz="1400" dirty="0"/>
              <a:t>객체를 생성하고 스레드로 실행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Thread </a:t>
            </a:r>
            <a:r>
              <a:rPr lang="en-US" altLang="ko-KR" sz="1400" dirty="0" err="1"/>
              <a:t>thread</a:t>
            </a:r>
            <a:r>
              <a:rPr lang="en-US" altLang="ko-KR" sz="1400" dirty="0"/>
              <a:t> = new </a:t>
            </a:r>
            <a:r>
              <a:rPr lang="en-US" altLang="ko-KR" sz="1400" dirty="0" err="1"/>
              <a:t>PrintThread</a:t>
            </a:r>
            <a:r>
              <a:rPr lang="en-US" altLang="ko-KR" sz="1400" dirty="0"/>
              <a:t>();</a:t>
            </a:r>
          </a:p>
          <a:p>
            <a:pPr marL="0" indent="0">
              <a:buNone/>
            </a:pPr>
            <a:r>
              <a:rPr lang="en-US" altLang="ko-KR" sz="1400" dirty="0"/>
              <a:t>        </a:t>
            </a:r>
            <a:r>
              <a:rPr lang="en-US" altLang="ko-KR" sz="1400" dirty="0" err="1"/>
              <a:t>thread.start</a:t>
            </a:r>
            <a:r>
              <a:rPr lang="en-US" altLang="ko-KR" sz="1400" dirty="0"/>
              <a:t>(); // </a:t>
            </a:r>
            <a:r>
              <a:rPr lang="en-US" altLang="ko-KR" sz="1400" dirty="0" err="1"/>
              <a:t>PrintThread</a:t>
            </a:r>
            <a:r>
              <a:rPr lang="ko-KR" altLang="en-US" sz="1400" dirty="0"/>
              <a:t>의 </a:t>
            </a:r>
            <a:r>
              <a:rPr lang="en-US" altLang="ko-KR" sz="1400" dirty="0"/>
              <a:t>run() </a:t>
            </a:r>
            <a:r>
              <a:rPr lang="ko-KR" altLang="en-US" sz="1400" dirty="0"/>
              <a:t>메서드 실행</a:t>
            </a:r>
          </a:p>
          <a:p>
            <a:pPr marL="0" indent="0">
              <a:buNone/>
            </a:pPr>
            <a:endParaRPr lang="ko-KR" altLang="en-US" sz="1400" dirty="0"/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try {</a:t>
            </a:r>
          </a:p>
          <a:p>
            <a:pPr marL="0" indent="0">
              <a:buNone/>
            </a:pPr>
            <a:r>
              <a:rPr lang="en-US" altLang="ko-KR" sz="1400" dirty="0"/>
              <a:t>            </a:t>
            </a:r>
            <a:r>
              <a:rPr lang="en-US" altLang="ko-KR" sz="1400" dirty="0" err="1"/>
              <a:t>Thread.sleep</a:t>
            </a:r>
            <a:r>
              <a:rPr lang="en-US" altLang="ko-KR" sz="1400" dirty="0"/>
              <a:t>(1000); // </a:t>
            </a:r>
            <a:r>
              <a:rPr lang="ko-KR" altLang="en-US" sz="1400" dirty="0"/>
              <a:t>메인 스레드가 </a:t>
            </a:r>
            <a:r>
              <a:rPr lang="en-US" altLang="ko-KR" sz="1400" dirty="0"/>
              <a:t>1</a:t>
            </a:r>
            <a:r>
              <a:rPr lang="ko-KR" altLang="en-US" sz="1400" dirty="0"/>
              <a:t>초 동안 일시 정지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} catch (</a:t>
            </a:r>
            <a:r>
              <a:rPr lang="en-US" altLang="ko-KR" sz="1400" dirty="0" err="1"/>
              <a:t>InterruptedException</a:t>
            </a:r>
            <a:r>
              <a:rPr lang="en-US" altLang="ko-KR" sz="1400" dirty="0"/>
              <a:t> e) {</a:t>
            </a:r>
          </a:p>
          <a:p>
            <a:pPr marL="0" indent="0">
              <a:buNone/>
            </a:pPr>
            <a:r>
              <a:rPr lang="en-US" altLang="ko-KR" sz="1400" dirty="0"/>
              <a:t>            // </a:t>
            </a:r>
            <a:r>
              <a:rPr lang="en-US" altLang="ko-KR" sz="1400" dirty="0" err="1"/>
              <a:t>InterruptedException</a:t>
            </a:r>
            <a:r>
              <a:rPr lang="en-US" altLang="ko-KR" sz="1400" dirty="0"/>
              <a:t> </a:t>
            </a:r>
            <a:r>
              <a:rPr lang="ko-KR" altLang="en-US" sz="1400" dirty="0"/>
              <a:t>예외 처리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}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        // </a:t>
            </a:r>
            <a:r>
              <a:rPr lang="en-US" altLang="ko-KR" sz="1400" dirty="0" err="1"/>
              <a:t>PrintThread</a:t>
            </a:r>
            <a:r>
              <a:rPr lang="en-US" altLang="ko-KR" sz="1400" dirty="0"/>
              <a:t> </a:t>
            </a:r>
            <a:r>
              <a:rPr lang="ko-KR" altLang="en-US" sz="1400" dirty="0"/>
              <a:t>스레드에 인터럽트 신호를 보냄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 err="1"/>
              <a:t>thread.interrupt</a:t>
            </a:r>
            <a:r>
              <a:rPr lang="en-US" altLang="ko-KR" sz="1400" dirty="0"/>
              <a:t>();</a:t>
            </a:r>
          </a:p>
          <a:p>
            <a:pPr marL="0" indent="0">
              <a:buNone/>
            </a:pPr>
            <a:r>
              <a:rPr lang="en-US" altLang="ko-KR" sz="1400" dirty="0"/>
              <a:t>    }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AA98568-9DCE-16ED-AB79-5A64D322BF62}"/>
              </a:ext>
            </a:extLst>
          </p:cNvPr>
          <p:cNvSpPr txBox="1"/>
          <p:nvPr/>
        </p:nvSpPr>
        <p:spPr>
          <a:xfrm>
            <a:off x="5934546" y="0"/>
            <a:ext cx="6257454" cy="526297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public class </a:t>
            </a:r>
            <a:r>
              <a:rPr lang="en-US" altLang="ko-KR" sz="1400" dirty="0" err="1"/>
              <a:t>PrintThread</a:t>
            </a:r>
            <a:r>
              <a:rPr lang="en-US" altLang="ko-KR" sz="1400" dirty="0"/>
              <a:t> extends Thread {</a:t>
            </a:r>
          </a:p>
          <a:p>
            <a:r>
              <a:rPr lang="en-US" altLang="ko-KR" sz="1400" dirty="0"/>
              <a:t>    public void run() {</a:t>
            </a:r>
          </a:p>
          <a:p>
            <a:r>
              <a:rPr lang="en-US" altLang="ko-KR" sz="1400" dirty="0"/>
              <a:t>        try {</a:t>
            </a:r>
          </a:p>
          <a:p>
            <a:r>
              <a:rPr lang="en-US" altLang="ko-KR" sz="1400" dirty="0"/>
              <a:t>            // </a:t>
            </a:r>
            <a:r>
              <a:rPr lang="ko-KR" altLang="en-US" sz="1400" dirty="0"/>
              <a:t>무한 반복</a:t>
            </a:r>
            <a:r>
              <a:rPr lang="en-US" altLang="ko-KR" sz="1400" dirty="0"/>
              <a:t>: </a:t>
            </a:r>
            <a:r>
              <a:rPr lang="ko-KR" altLang="en-US" sz="1400" dirty="0"/>
              <a:t>스레드가 계속 실행 중인 상태</a:t>
            </a:r>
          </a:p>
          <a:p>
            <a:r>
              <a:rPr lang="ko-KR" altLang="en-US" sz="1400" dirty="0"/>
              <a:t>            </a:t>
            </a:r>
            <a:r>
              <a:rPr lang="en-US" altLang="ko-KR" sz="1400" dirty="0"/>
              <a:t>while (true) {</a:t>
            </a:r>
          </a:p>
          <a:p>
            <a:r>
              <a:rPr lang="en-US" altLang="ko-KR" sz="1400" dirty="0"/>
              <a:t>        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</a:t>
            </a:r>
            <a:r>
              <a:rPr lang="ko-KR" altLang="en-US" sz="1400" dirty="0"/>
              <a:t>실행 중</a:t>
            </a:r>
            <a:r>
              <a:rPr lang="en-US" altLang="ko-KR" sz="1400" dirty="0"/>
              <a:t>"); // </a:t>
            </a:r>
            <a:r>
              <a:rPr lang="ko-KR" altLang="en-US" sz="1400" dirty="0"/>
              <a:t>작업 수행</a:t>
            </a:r>
          </a:p>
          <a:p>
            <a:r>
              <a:rPr lang="ko-KR" altLang="en-US" sz="1400" dirty="0"/>
              <a:t>                </a:t>
            </a:r>
            <a:r>
              <a:rPr lang="en-US" altLang="ko-KR" sz="1400" dirty="0" err="1"/>
              <a:t>Thread.sleep</a:t>
            </a:r>
            <a:r>
              <a:rPr lang="en-US" altLang="ko-KR" sz="1400" dirty="0"/>
              <a:t>(1); // 1</a:t>
            </a:r>
            <a:r>
              <a:rPr lang="ko-KR" altLang="en-US" sz="1400" dirty="0" err="1"/>
              <a:t>밀리초</a:t>
            </a:r>
            <a:r>
              <a:rPr lang="ko-KR" altLang="en-US" sz="1400" dirty="0"/>
              <a:t> 동안 일시 정지</a:t>
            </a:r>
          </a:p>
          <a:p>
            <a:r>
              <a:rPr lang="ko-KR" altLang="en-US" sz="1400" dirty="0"/>
              <a:t>            </a:t>
            </a:r>
            <a:r>
              <a:rPr lang="en-US" altLang="ko-KR" sz="1400" dirty="0"/>
              <a:t>}</a:t>
            </a:r>
          </a:p>
          <a:p>
            <a:r>
              <a:rPr lang="en-US" altLang="ko-KR" sz="1400" dirty="0"/>
              <a:t>        } catch (</a:t>
            </a:r>
            <a:r>
              <a:rPr lang="en-US" altLang="ko-KR" sz="1400" dirty="0" err="1"/>
              <a:t>InterruptedException</a:t>
            </a:r>
            <a:r>
              <a:rPr lang="en-US" altLang="ko-KR" sz="1400" dirty="0"/>
              <a:t> e) {</a:t>
            </a:r>
          </a:p>
          <a:p>
            <a:r>
              <a:rPr lang="en-US" altLang="ko-KR" sz="1400" dirty="0"/>
              <a:t>            // </a:t>
            </a:r>
            <a:r>
              <a:rPr lang="en-US" altLang="ko-KR" sz="1400" dirty="0" err="1"/>
              <a:t>InterruptedException</a:t>
            </a:r>
            <a:r>
              <a:rPr lang="ko-KR" altLang="en-US" sz="1400" dirty="0"/>
              <a:t>이 발생하면 여기로 이동</a:t>
            </a:r>
          </a:p>
          <a:p>
            <a:r>
              <a:rPr lang="ko-KR" altLang="en-US" sz="1400" dirty="0"/>
              <a:t>            </a:t>
            </a:r>
            <a:r>
              <a:rPr lang="en-US" altLang="ko-KR" sz="1400" dirty="0"/>
              <a:t>// </a:t>
            </a:r>
            <a:r>
              <a:rPr lang="ko-KR" altLang="en-US" sz="1400" dirty="0"/>
              <a:t>스레드가 </a:t>
            </a:r>
            <a:r>
              <a:rPr lang="en-US" altLang="ko-KR" sz="1400" dirty="0"/>
              <a:t>interrupt </a:t>
            </a:r>
            <a:r>
              <a:rPr lang="ko-KR" altLang="en-US" sz="1400" dirty="0"/>
              <a:t>상태에서 깨어날 때 예외 발생</a:t>
            </a:r>
          </a:p>
          <a:p>
            <a:r>
              <a:rPr lang="ko-KR" altLang="en-US" sz="1400" dirty="0"/>
              <a:t>        </a:t>
            </a:r>
            <a:r>
              <a:rPr lang="en-US" altLang="ko-KR" sz="1400" dirty="0"/>
              <a:t>}</a:t>
            </a:r>
          </a:p>
          <a:p>
            <a:endParaRPr lang="en-US" altLang="ko-KR" sz="1400" dirty="0"/>
          </a:p>
          <a:p>
            <a:r>
              <a:rPr lang="en-US" altLang="ko-KR" sz="1400" dirty="0"/>
              <a:t>        // </a:t>
            </a:r>
            <a:r>
              <a:rPr lang="ko-KR" altLang="en-US" sz="1400" dirty="0"/>
              <a:t>스레드가 종료되기 전에 자원 정리 코드 실행</a:t>
            </a:r>
          </a:p>
          <a:p>
            <a:r>
              <a:rPr lang="ko-KR" altLang="en-US" sz="1400" dirty="0"/>
              <a:t>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</a:t>
            </a:r>
            <a:r>
              <a:rPr lang="ko-KR" altLang="en-US" sz="1400" dirty="0"/>
              <a:t>자원 정리</a:t>
            </a:r>
            <a:r>
              <a:rPr lang="en-US" altLang="ko-KR" sz="1400" dirty="0"/>
              <a:t>");</a:t>
            </a:r>
          </a:p>
          <a:p>
            <a:r>
              <a:rPr lang="en-US" altLang="ko-KR" sz="1400" dirty="0"/>
              <a:t>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</a:t>
            </a:r>
            <a:r>
              <a:rPr lang="ko-KR" altLang="en-US" sz="1400" dirty="0"/>
              <a:t>실행 종료</a:t>
            </a:r>
            <a:r>
              <a:rPr lang="en-US" altLang="ko-KR" sz="1400" dirty="0"/>
              <a:t>");</a:t>
            </a:r>
          </a:p>
          <a:p>
            <a:r>
              <a:rPr lang="en-US" altLang="ko-KR" sz="1400" dirty="0"/>
              <a:t>    }</a:t>
            </a:r>
          </a:p>
          <a:p>
            <a:r>
              <a:rPr lang="en-US" altLang="ko-KR" sz="1400" dirty="0"/>
              <a:t>}</a:t>
            </a:r>
          </a:p>
          <a:p>
            <a:endParaRPr lang="en-US" altLang="ko-KR" sz="1400" dirty="0"/>
          </a:p>
          <a:p>
            <a:r>
              <a:rPr lang="en-US" altLang="ko-KR" sz="1400" dirty="0"/>
              <a:t>/*</a:t>
            </a:r>
          </a:p>
          <a:p>
            <a:r>
              <a:rPr lang="ko-KR" altLang="en-US" sz="1400" dirty="0"/>
              <a:t>스레드가 일시 정지 상태가 되지 않으면 </a:t>
            </a:r>
            <a:r>
              <a:rPr lang="en-US" altLang="ko-KR" sz="1400" dirty="0"/>
              <a:t>interrupt()</a:t>
            </a:r>
            <a:r>
              <a:rPr lang="ko-KR" altLang="en-US" sz="1400" dirty="0"/>
              <a:t>에 의한 </a:t>
            </a:r>
            <a:r>
              <a:rPr lang="en-US" altLang="ko-KR" sz="1400" dirty="0" err="1"/>
              <a:t>InterruptedException</a:t>
            </a:r>
            <a:r>
              <a:rPr lang="ko-KR" altLang="en-US" sz="1400" dirty="0"/>
              <a:t>이 발생하지 않기 때문에</a:t>
            </a:r>
            <a:endParaRPr lang="en-US" altLang="ko-KR" sz="1400" dirty="0"/>
          </a:p>
          <a:p>
            <a:r>
              <a:rPr lang="ko-KR" altLang="en-US" sz="1400" dirty="0"/>
              <a:t>잠깐이라도 정지를 위한 </a:t>
            </a:r>
            <a:r>
              <a:rPr lang="en-US" altLang="ko-KR" sz="1400" dirty="0" err="1"/>
              <a:t>Thread.sleep</a:t>
            </a:r>
            <a:r>
              <a:rPr lang="en-US" altLang="ko-KR" sz="1400" dirty="0"/>
              <a:t>(1)</a:t>
            </a:r>
          </a:p>
          <a:p>
            <a:r>
              <a:rPr lang="en-US" altLang="ko-KR" sz="1400" dirty="0"/>
              <a:t>*/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34CB300-E65D-1A8D-786A-436B76C0ED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1291" y="4732557"/>
            <a:ext cx="891200" cy="1769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313153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410DC7-5F8C-D6AA-DD42-52E94BADDB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F19C397-D654-9073-C138-B8BC35D31A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ko-KR" altLang="en-US" sz="1400" b="1" dirty="0"/>
              <a:t>데몬 스레드</a:t>
            </a:r>
            <a:endParaRPr lang="en-US" altLang="ko-KR" sz="1400" b="1" dirty="0"/>
          </a:p>
          <a:p>
            <a:pPr marL="0" indent="0">
              <a:buNone/>
            </a:pPr>
            <a:endParaRPr lang="en-US" altLang="ko-KR" sz="1400" b="1" dirty="0"/>
          </a:p>
          <a:p>
            <a:pPr marL="0" indent="0">
              <a:buNone/>
            </a:pPr>
            <a:r>
              <a:rPr lang="ko-KR" altLang="en-US" sz="1400" dirty="0">
                <a:sym typeface="Wingdings" panose="05000000000000000000" pitchFamily="2" charset="2"/>
              </a:rPr>
              <a:t>데몬 스레드</a:t>
            </a:r>
            <a:r>
              <a:rPr lang="en-US" altLang="ko-KR" sz="1400" dirty="0">
                <a:sym typeface="Wingdings" panose="05000000000000000000" pitchFamily="2" charset="2"/>
              </a:rPr>
              <a:t>(daemon thread)</a:t>
            </a:r>
          </a:p>
          <a:p>
            <a:pPr>
              <a:buFontTx/>
              <a:buChar char="-"/>
            </a:pPr>
            <a:r>
              <a:rPr lang="ko-KR" altLang="en-US" sz="1400" dirty="0">
                <a:sym typeface="Wingdings" panose="05000000000000000000" pitchFamily="2" charset="2"/>
              </a:rPr>
              <a:t>주 스레드의 작업을 돕는 스레드</a:t>
            </a:r>
            <a:endParaRPr lang="en-US" altLang="ko-KR" sz="1400" dirty="0">
              <a:sym typeface="Wingdings" panose="05000000000000000000" pitchFamily="2" charset="2"/>
            </a:endParaRPr>
          </a:p>
          <a:p>
            <a:pPr>
              <a:buFontTx/>
              <a:buChar char="-"/>
            </a:pPr>
            <a:r>
              <a:rPr lang="ko-KR" altLang="en-US" sz="1400" dirty="0">
                <a:sym typeface="Wingdings" panose="05000000000000000000" pitchFamily="2" charset="2"/>
              </a:rPr>
              <a:t>주 스레드가 종료되면 자동 종료됨</a:t>
            </a:r>
            <a:endParaRPr lang="en-US" altLang="ko-KR" sz="1400" dirty="0">
              <a:sym typeface="Wingdings" panose="05000000000000000000" pitchFamily="2" charset="2"/>
            </a:endParaRPr>
          </a:p>
          <a:p>
            <a:pPr>
              <a:buFontTx/>
              <a:buChar char="-"/>
            </a:pPr>
            <a:endParaRPr lang="en-US" altLang="ko-KR" sz="14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altLang="ko-KR" sz="1400" dirty="0">
                <a:sym typeface="Wingdings" panose="05000000000000000000" pitchFamily="2" charset="2"/>
              </a:rPr>
              <a:t>ex)</a:t>
            </a:r>
          </a:p>
          <a:p>
            <a:pPr marL="0" indent="0">
              <a:buNone/>
            </a:pPr>
            <a:r>
              <a:rPr lang="ko-KR" altLang="en-US" sz="1400" dirty="0">
                <a:sym typeface="Wingdings" panose="05000000000000000000" pitchFamily="2" charset="2"/>
              </a:rPr>
              <a:t>워드의 자동 저장</a:t>
            </a:r>
            <a:endParaRPr lang="en-US" altLang="ko-KR" sz="14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altLang="ko-KR" sz="1400" dirty="0">
                <a:sym typeface="Wingdings" panose="05000000000000000000" pitchFamily="2" charset="2"/>
              </a:rPr>
              <a:t>-</a:t>
            </a:r>
            <a:r>
              <a:rPr lang="ko-KR" altLang="en-US" sz="1400" dirty="0">
                <a:sym typeface="Wingdings" panose="05000000000000000000" pitchFamily="2" charset="2"/>
              </a:rPr>
              <a:t>주 스레드</a:t>
            </a:r>
          </a:p>
          <a:p>
            <a:pPr marL="0" indent="0">
              <a:buNone/>
            </a:pPr>
            <a:r>
              <a:rPr lang="ko-KR" altLang="en-US" sz="1400" dirty="0">
                <a:sym typeface="Wingdings" panose="05000000000000000000" pitchFamily="2" charset="2"/>
              </a:rPr>
              <a:t>사용자가 문서를 작성하는 작업을 담당</a:t>
            </a:r>
            <a:endParaRPr lang="en-US" altLang="ko-KR" sz="14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ko-KR" altLang="en-US" sz="1400" dirty="0">
                <a:sym typeface="Wingdings" panose="05000000000000000000" pitchFamily="2" charset="2"/>
              </a:rPr>
              <a:t>사용자가 문서 작성 작업을 끝내면 주 스레드가 종료</a:t>
            </a:r>
            <a:endParaRPr lang="en-US" altLang="ko-KR" sz="14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altLang="ko-KR" sz="14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altLang="ko-KR" sz="1400" dirty="0">
                <a:sym typeface="Wingdings" panose="05000000000000000000" pitchFamily="2" charset="2"/>
              </a:rPr>
              <a:t>-</a:t>
            </a:r>
            <a:r>
              <a:rPr lang="ko-KR" altLang="en-US" sz="1400" dirty="0">
                <a:sym typeface="Wingdings" panose="05000000000000000000" pitchFamily="2" charset="2"/>
              </a:rPr>
              <a:t>데몬 스레드</a:t>
            </a:r>
          </a:p>
          <a:p>
            <a:pPr marL="0" indent="0">
              <a:buNone/>
            </a:pPr>
            <a:r>
              <a:rPr lang="ko-KR" altLang="en-US" sz="1400" dirty="0">
                <a:sym typeface="Wingdings" panose="05000000000000000000" pitchFamily="2" charset="2"/>
              </a:rPr>
              <a:t>일정 시간마다 문서를 자동으로 저장하는 작업을 수행</a:t>
            </a:r>
            <a:endParaRPr lang="en-US" altLang="ko-KR" sz="14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ko-KR" altLang="en-US" sz="1400" dirty="0">
                <a:sym typeface="Wingdings" panose="05000000000000000000" pitchFamily="2" charset="2"/>
              </a:rPr>
              <a:t>주 스레드</a:t>
            </a:r>
            <a:r>
              <a:rPr lang="en-US" altLang="ko-KR" sz="1400" dirty="0">
                <a:sym typeface="Wingdings" panose="05000000000000000000" pitchFamily="2" charset="2"/>
              </a:rPr>
              <a:t>(</a:t>
            </a:r>
            <a:r>
              <a:rPr lang="ko-KR" altLang="en-US" sz="1400" dirty="0">
                <a:sym typeface="Wingdings" panose="05000000000000000000" pitchFamily="2" charset="2"/>
              </a:rPr>
              <a:t>문서 작성</a:t>
            </a:r>
            <a:r>
              <a:rPr lang="en-US" altLang="ko-KR" sz="1400" dirty="0">
                <a:sym typeface="Wingdings" panose="05000000000000000000" pitchFamily="2" charset="2"/>
              </a:rPr>
              <a:t>)</a:t>
            </a:r>
            <a:r>
              <a:rPr lang="ko-KR" altLang="en-US" sz="1400" dirty="0">
                <a:sym typeface="Wingdings" panose="05000000000000000000" pitchFamily="2" charset="2"/>
              </a:rPr>
              <a:t>가 종료되면 자동 저장 스레드도 자동으로 종료</a:t>
            </a:r>
            <a:endParaRPr lang="en-US" altLang="ko-KR" sz="14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altLang="ko-KR" sz="14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altLang="ko-KR" sz="1400" dirty="0">
                <a:sym typeface="Wingdings" panose="05000000000000000000" pitchFamily="2" charset="2"/>
              </a:rPr>
              <a:t>public static void main(String[] </a:t>
            </a:r>
            <a:r>
              <a:rPr lang="en-US" altLang="ko-KR" sz="1400" dirty="0" err="1">
                <a:sym typeface="Wingdings" panose="05000000000000000000" pitchFamily="2" charset="2"/>
              </a:rPr>
              <a:t>args</a:t>
            </a:r>
            <a:r>
              <a:rPr lang="en-US" altLang="ko-KR" sz="1400" dirty="0">
                <a:sym typeface="Wingdings" panose="05000000000000000000" pitchFamily="2" charset="2"/>
              </a:rPr>
              <a:t>) {</a:t>
            </a:r>
          </a:p>
          <a:p>
            <a:pPr marL="0" indent="0">
              <a:buNone/>
            </a:pPr>
            <a:r>
              <a:rPr lang="en-US" altLang="ko-KR" sz="1400" dirty="0">
                <a:sym typeface="Wingdings" panose="05000000000000000000" pitchFamily="2" charset="2"/>
              </a:rPr>
              <a:t>    </a:t>
            </a:r>
            <a:r>
              <a:rPr lang="en-US" altLang="ko-KR" sz="1400" dirty="0" err="1">
                <a:sym typeface="Wingdings" panose="05000000000000000000" pitchFamily="2" charset="2"/>
              </a:rPr>
              <a:t>AutoSaveThread</a:t>
            </a:r>
            <a:r>
              <a:rPr lang="en-US" altLang="ko-KR" sz="1400" dirty="0">
                <a:sym typeface="Wingdings" panose="05000000000000000000" pitchFamily="2" charset="2"/>
              </a:rPr>
              <a:t> thread = new </a:t>
            </a:r>
            <a:r>
              <a:rPr lang="en-US" altLang="ko-KR" sz="1400" dirty="0" err="1">
                <a:sym typeface="Wingdings" panose="05000000000000000000" pitchFamily="2" charset="2"/>
              </a:rPr>
              <a:t>AutoSaveThread</a:t>
            </a:r>
            <a:r>
              <a:rPr lang="en-US" altLang="ko-KR" sz="1400" dirty="0">
                <a:sym typeface="Wingdings" panose="05000000000000000000" pitchFamily="2" charset="2"/>
              </a:rPr>
              <a:t>();</a:t>
            </a:r>
          </a:p>
          <a:p>
            <a:pPr marL="0" indent="0">
              <a:buNone/>
            </a:pPr>
            <a:r>
              <a:rPr lang="en-US" altLang="ko-KR" sz="1400" dirty="0">
                <a:sym typeface="Wingdings" panose="05000000000000000000" pitchFamily="2" charset="2"/>
              </a:rPr>
              <a:t>    </a:t>
            </a:r>
            <a:r>
              <a:rPr lang="en-US" altLang="ko-KR" sz="1400" dirty="0" err="1">
                <a:sym typeface="Wingdings" panose="05000000000000000000" pitchFamily="2" charset="2"/>
              </a:rPr>
              <a:t>thread.setDaemon</a:t>
            </a:r>
            <a:r>
              <a:rPr lang="en-US" altLang="ko-KR" sz="1400" dirty="0">
                <a:sym typeface="Wingdings" panose="05000000000000000000" pitchFamily="2" charset="2"/>
              </a:rPr>
              <a:t>(true);</a:t>
            </a:r>
          </a:p>
          <a:p>
            <a:pPr marL="0" indent="0">
              <a:buNone/>
            </a:pPr>
            <a:r>
              <a:rPr lang="en-US" altLang="ko-KR" sz="1400" dirty="0">
                <a:sym typeface="Wingdings" panose="05000000000000000000" pitchFamily="2" charset="2"/>
              </a:rPr>
              <a:t>    </a:t>
            </a:r>
            <a:r>
              <a:rPr lang="en-US" altLang="ko-KR" sz="1400" dirty="0" err="1">
                <a:sym typeface="Wingdings" panose="05000000000000000000" pitchFamily="2" charset="2"/>
              </a:rPr>
              <a:t>thread.start</a:t>
            </a:r>
            <a:r>
              <a:rPr lang="en-US" altLang="ko-KR" sz="1400" dirty="0">
                <a:sym typeface="Wingdings" panose="05000000000000000000" pitchFamily="2" charset="2"/>
              </a:rPr>
              <a:t>();</a:t>
            </a:r>
          </a:p>
          <a:p>
            <a:pPr marL="0" indent="0">
              <a:buNone/>
            </a:pPr>
            <a:r>
              <a:rPr lang="en-US" altLang="ko-KR" sz="1400" dirty="0">
                <a:sym typeface="Wingdings" panose="05000000000000000000" pitchFamily="2" charset="2"/>
              </a:rPr>
              <a:t>    ...</a:t>
            </a:r>
          </a:p>
          <a:p>
            <a:pPr marL="0" indent="0">
              <a:buNone/>
            </a:pPr>
            <a:r>
              <a:rPr lang="en-US" altLang="ko-KR" sz="1400" dirty="0">
                <a:sym typeface="Wingdings" panose="05000000000000000000" pitchFamily="2" charset="2"/>
              </a:rPr>
              <a:t>}</a:t>
            </a:r>
          </a:p>
          <a:p>
            <a:pPr marL="0" indent="0">
              <a:buNone/>
            </a:pPr>
            <a:endParaRPr lang="en-US" altLang="ko-KR" sz="1400" dirty="0">
              <a:sym typeface="Wingdings" panose="05000000000000000000" pitchFamily="2" charset="2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FF42C4A-DACE-A410-D842-FF9AEFD0C76B}"/>
              </a:ext>
            </a:extLst>
          </p:cNvPr>
          <p:cNvSpPr txBox="1"/>
          <p:nvPr/>
        </p:nvSpPr>
        <p:spPr>
          <a:xfrm>
            <a:off x="6400800" y="4916032"/>
            <a:ext cx="469874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start() </a:t>
            </a:r>
            <a:r>
              <a:rPr lang="ko-KR" altLang="en-US" sz="1400" dirty="0"/>
              <a:t>메소드가 호출되고 나서 </a:t>
            </a:r>
            <a:r>
              <a:rPr lang="en-US" altLang="ko-KR" sz="1400" dirty="0" err="1">
                <a:sym typeface="Wingdings" panose="05000000000000000000" pitchFamily="2" charset="2"/>
              </a:rPr>
              <a:t>setDaemon</a:t>
            </a:r>
            <a:r>
              <a:rPr lang="en-US" altLang="ko-KR" sz="1400" dirty="0">
                <a:sym typeface="Wingdings" panose="05000000000000000000" pitchFamily="2" charset="2"/>
              </a:rPr>
              <a:t>()</a:t>
            </a:r>
            <a:r>
              <a:rPr lang="ko-KR" altLang="en-US" sz="1400" dirty="0">
                <a:sym typeface="Wingdings" panose="05000000000000000000" pitchFamily="2" charset="2"/>
              </a:rPr>
              <a:t>를 호출하면</a:t>
            </a:r>
            <a:endParaRPr lang="en-US" altLang="ko-KR" sz="1400" dirty="0">
              <a:sym typeface="Wingdings" panose="05000000000000000000" pitchFamily="2" charset="2"/>
            </a:endParaRPr>
          </a:p>
          <a:p>
            <a:r>
              <a:rPr lang="en-US" altLang="ko-KR" sz="1400" dirty="0" err="1">
                <a:sym typeface="Wingdings" panose="05000000000000000000" pitchFamily="2" charset="2"/>
              </a:rPr>
              <a:t>IllegalThreadStateExeption</a:t>
            </a:r>
            <a:r>
              <a:rPr lang="ko-KR" altLang="en-US" sz="1400" dirty="0">
                <a:sym typeface="Wingdings" panose="05000000000000000000" pitchFamily="2" charset="2"/>
              </a:rPr>
              <a:t>이 발생</a:t>
            </a:r>
            <a:endParaRPr lang="en-US" altLang="ko-KR" sz="1400" dirty="0">
              <a:sym typeface="Wingdings" panose="05000000000000000000" pitchFamily="2" charset="2"/>
            </a:endParaRPr>
          </a:p>
          <a:p>
            <a:endParaRPr lang="en-US" altLang="ko-KR" sz="1400" dirty="0">
              <a:sym typeface="Wingdings" panose="05000000000000000000" pitchFamily="2" charset="2"/>
            </a:endParaRPr>
          </a:p>
          <a:p>
            <a:r>
              <a:rPr lang="en-US" altLang="ko-KR" sz="1400" dirty="0">
                <a:sym typeface="Wingdings" panose="05000000000000000000" pitchFamily="2" charset="2"/>
              </a:rPr>
              <a:t>start() </a:t>
            </a:r>
            <a:r>
              <a:rPr lang="ko-KR" altLang="en-US" sz="1400" dirty="0">
                <a:sym typeface="Wingdings" panose="05000000000000000000" pitchFamily="2" charset="2"/>
              </a:rPr>
              <a:t>전에 </a:t>
            </a:r>
            <a:r>
              <a:rPr lang="ko-KR" altLang="en-US" sz="1400" dirty="0" err="1">
                <a:sym typeface="Wingdings" panose="05000000000000000000" pitchFamily="2" charset="2"/>
              </a:rPr>
              <a:t>선언해야됨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76888084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BE3D51-CF3D-F2B0-AF4B-9FCF59FF41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A3B4AF5-7DD7-F124-7FE0-CD958C79E2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1400" dirty="0"/>
              <a:t>public class </a:t>
            </a:r>
            <a:r>
              <a:rPr lang="en-US" altLang="ko-KR" sz="1400" dirty="0" err="1"/>
              <a:t>DaemonExample</a:t>
            </a:r>
            <a:r>
              <a:rPr lang="en-US" altLang="ko-KR" sz="1400" dirty="0"/>
              <a:t> {</a:t>
            </a:r>
          </a:p>
          <a:p>
            <a:pPr marL="0" indent="0">
              <a:buNone/>
            </a:pPr>
            <a:r>
              <a:rPr lang="en-US" altLang="ko-KR" sz="1400" dirty="0"/>
              <a:t>    public static void main(String[] </a:t>
            </a:r>
            <a:r>
              <a:rPr lang="en-US" altLang="ko-KR" sz="1400" dirty="0" err="1"/>
              <a:t>args</a:t>
            </a:r>
            <a:r>
              <a:rPr lang="en-US" altLang="ko-KR" sz="1400" dirty="0"/>
              <a:t>) {</a:t>
            </a:r>
          </a:p>
          <a:p>
            <a:pPr marL="0" indent="0">
              <a:buNone/>
            </a:pPr>
            <a:r>
              <a:rPr lang="en-US" altLang="ko-KR" sz="1400" dirty="0"/>
              <a:t>        // </a:t>
            </a:r>
            <a:r>
              <a:rPr lang="en-US" altLang="ko-KR" sz="1400" dirty="0" err="1"/>
              <a:t>AutoSaveThread</a:t>
            </a:r>
            <a:r>
              <a:rPr lang="en-US" altLang="ko-KR" sz="1400" dirty="0"/>
              <a:t> </a:t>
            </a:r>
            <a:r>
              <a:rPr lang="ko-KR" altLang="en-US" sz="1400" dirty="0"/>
              <a:t>객체 생성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 err="1"/>
              <a:t>AutoSaveThread</a:t>
            </a:r>
            <a:r>
              <a:rPr lang="en-US" altLang="ko-KR" sz="1400" dirty="0"/>
              <a:t> </a:t>
            </a:r>
            <a:r>
              <a:rPr lang="en-US" altLang="ko-KR" sz="1400" dirty="0" err="1"/>
              <a:t>autoSaveThread</a:t>
            </a:r>
            <a:r>
              <a:rPr lang="en-US" altLang="ko-KR" sz="1400" dirty="0"/>
              <a:t> = new </a:t>
            </a:r>
            <a:r>
              <a:rPr lang="en-US" altLang="ko-KR" sz="1400" dirty="0" err="1"/>
              <a:t>AutoSaveThread</a:t>
            </a:r>
            <a:r>
              <a:rPr lang="en-US" altLang="ko-KR" sz="1400" dirty="0"/>
              <a:t>();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        // </a:t>
            </a:r>
            <a:r>
              <a:rPr lang="ko-KR" altLang="en-US" sz="1400" dirty="0"/>
              <a:t>스레드를 데몬 스레드로 설정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 err="1"/>
              <a:t>autoSaveThread.setDaemon</a:t>
            </a:r>
            <a:r>
              <a:rPr lang="en-US" altLang="ko-KR" sz="1400" dirty="0"/>
              <a:t>(true);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        // </a:t>
            </a:r>
            <a:r>
              <a:rPr lang="ko-KR" altLang="en-US" sz="1400" dirty="0"/>
              <a:t>데몬 스레드 시작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 err="1"/>
              <a:t>autoSaveThread.start</a:t>
            </a:r>
            <a:r>
              <a:rPr lang="en-US" altLang="ko-KR" sz="1400" dirty="0"/>
              <a:t>();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        try {</a:t>
            </a:r>
          </a:p>
          <a:p>
            <a:pPr marL="0" indent="0">
              <a:buNone/>
            </a:pPr>
            <a:r>
              <a:rPr lang="en-US" altLang="ko-KR" sz="1400" dirty="0"/>
              <a:t>            </a:t>
            </a:r>
            <a:r>
              <a:rPr lang="en-US" altLang="ko-KR" sz="1400" dirty="0" err="1"/>
              <a:t>Thread.sleep</a:t>
            </a:r>
            <a:r>
              <a:rPr lang="en-US" altLang="ko-KR" sz="1400" dirty="0"/>
              <a:t>(3000); // </a:t>
            </a:r>
            <a:r>
              <a:rPr lang="ko-KR" altLang="en-US" sz="1400" dirty="0"/>
              <a:t>메인 스레드가 </a:t>
            </a:r>
            <a:r>
              <a:rPr lang="en-US" altLang="ko-KR" sz="1400" dirty="0"/>
              <a:t>3</a:t>
            </a:r>
            <a:r>
              <a:rPr lang="ko-KR" altLang="en-US" sz="1400" dirty="0"/>
              <a:t>초 동안 일시 정지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} catch (</a:t>
            </a:r>
            <a:r>
              <a:rPr lang="en-US" altLang="ko-KR" sz="1400" dirty="0" err="1"/>
              <a:t>InterruptedException</a:t>
            </a:r>
            <a:r>
              <a:rPr lang="en-US" altLang="ko-KR" sz="1400" dirty="0"/>
              <a:t> e) {</a:t>
            </a:r>
          </a:p>
          <a:p>
            <a:pPr marL="0" indent="0">
              <a:buNone/>
            </a:pPr>
            <a:r>
              <a:rPr lang="en-US" altLang="ko-KR" sz="1400" dirty="0"/>
              <a:t>            // </a:t>
            </a:r>
            <a:r>
              <a:rPr lang="en-US" altLang="ko-KR" sz="1400" dirty="0" err="1"/>
              <a:t>InterruptedException</a:t>
            </a:r>
            <a:r>
              <a:rPr lang="en-US" altLang="ko-KR" sz="1400" dirty="0"/>
              <a:t> </a:t>
            </a:r>
            <a:r>
              <a:rPr lang="ko-KR" altLang="en-US" sz="1400" dirty="0"/>
              <a:t>예외 처리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}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        // </a:t>
            </a:r>
            <a:r>
              <a:rPr lang="ko-KR" altLang="en-US" sz="1400" dirty="0"/>
              <a:t>메인 스레드 종료 메시지 출력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</a:t>
            </a:r>
            <a:r>
              <a:rPr lang="ko-KR" altLang="en-US" sz="1400" dirty="0"/>
              <a:t>메인 스레드 종료</a:t>
            </a:r>
            <a:r>
              <a:rPr lang="en-US" altLang="ko-KR" sz="1400" dirty="0"/>
              <a:t>");</a:t>
            </a:r>
          </a:p>
          <a:p>
            <a:pPr marL="0" indent="0">
              <a:buNone/>
            </a:pPr>
            <a:r>
              <a:rPr lang="en-US" altLang="ko-KR" sz="1400" dirty="0"/>
              <a:t>    }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1CFA0A8-A176-3FF3-7A51-9701DF54E487}"/>
              </a:ext>
            </a:extLst>
          </p:cNvPr>
          <p:cNvSpPr txBox="1"/>
          <p:nvPr/>
        </p:nvSpPr>
        <p:spPr>
          <a:xfrm>
            <a:off x="5934546" y="0"/>
            <a:ext cx="6257454" cy="59093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public class </a:t>
            </a:r>
            <a:r>
              <a:rPr lang="en-US" altLang="ko-KR" sz="1400" dirty="0" err="1"/>
              <a:t>AutoSaveThread</a:t>
            </a:r>
            <a:r>
              <a:rPr lang="en-US" altLang="ko-KR" sz="1400" dirty="0"/>
              <a:t> extends Thread {</a:t>
            </a:r>
          </a:p>
          <a:p>
            <a:r>
              <a:rPr lang="en-US" altLang="ko-KR" sz="1400" dirty="0"/>
              <a:t>    // </a:t>
            </a:r>
            <a:r>
              <a:rPr lang="ko-KR" altLang="en-US" sz="1400" dirty="0"/>
              <a:t>작업 내용을 저장하는 메서드</a:t>
            </a:r>
          </a:p>
          <a:p>
            <a:r>
              <a:rPr lang="ko-KR" altLang="en-US" sz="1400" dirty="0"/>
              <a:t>    </a:t>
            </a:r>
            <a:r>
              <a:rPr lang="en-US" altLang="ko-KR" sz="1400" dirty="0"/>
              <a:t>public void save() {</a:t>
            </a:r>
          </a:p>
          <a:p>
            <a:r>
              <a:rPr lang="en-US" altLang="ko-KR" sz="1400" dirty="0"/>
              <a:t>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</a:t>
            </a:r>
            <a:r>
              <a:rPr lang="ko-KR" altLang="en-US" sz="1400" dirty="0"/>
              <a:t>작업 내용을 저장함</a:t>
            </a:r>
            <a:r>
              <a:rPr lang="en-US" altLang="ko-KR" sz="1400" dirty="0"/>
              <a:t>.");</a:t>
            </a:r>
          </a:p>
          <a:p>
            <a:r>
              <a:rPr lang="en-US" altLang="ko-KR" sz="1400" dirty="0"/>
              <a:t>    }</a:t>
            </a:r>
          </a:p>
          <a:p>
            <a:endParaRPr lang="en-US" altLang="ko-KR" sz="1400" dirty="0"/>
          </a:p>
          <a:p>
            <a:r>
              <a:rPr lang="en-US" altLang="ko-KR" sz="1400" dirty="0"/>
              <a:t>    @Override</a:t>
            </a:r>
          </a:p>
          <a:p>
            <a:r>
              <a:rPr lang="en-US" altLang="ko-KR" sz="1400" dirty="0"/>
              <a:t>    public void run() {</a:t>
            </a:r>
          </a:p>
          <a:p>
            <a:r>
              <a:rPr lang="en-US" altLang="ko-KR" sz="1400" dirty="0"/>
              <a:t>        while (true) { // </a:t>
            </a:r>
            <a:r>
              <a:rPr lang="ko-KR" altLang="en-US" sz="1400" dirty="0"/>
              <a:t>무한 반복 실행</a:t>
            </a:r>
          </a:p>
          <a:p>
            <a:r>
              <a:rPr lang="ko-KR" altLang="en-US" sz="1400" dirty="0"/>
              <a:t>            </a:t>
            </a:r>
            <a:r>
              <a:rPr lang="en-US" altLang="ko-KR" sz="1400" dirty="0"/>
              <a:t>try {</a:t>
            </a:r>
          </a:p>
          <a:p>
            <a:r>
              <a:rPr lang="en-US" altLang="ko-KR" sz="1400" dirty="0"/>
              <a:t>                </a:t>
            </a:r>
            <a:r>
              <a:rPr lang="en-US" altLang="ko-KR" sz="1400" dirty="0" err="1"/>
              <a:t>Thread.sleep</a:t>
            </a:r>
            <a:r>
              <a:rPr lang="en-US" altLang="ko-KR" sz="1400" dirty="0"/>
              <a:t>(1000); // 1</a:t>
            </a:r>
            <a:r>
              <a:rPr lang="ko-KR" altLang="en-US" sz="1400" dirty="0"/>
              <a:t>초 동안 스레드를 일시 정지</a:t>
            </a:r>
          </a:p>
          <a:p>
            <a:r>
              <a:rPr lang="ko-KR" altLang="en-US" sz="1400" dirty="0"/>
              <a:t>            </a:t>
            </a:r>
            <a:r>
              <a:rPr lang="en-US" altLang="ko-KR" sz="1400" dirty="0"/>
              <a:t>} catch (</a:t>
            </a:r>
            <a:r>
              <a:rPr lang="en-US" altLang="ko-KR" sz="1400" dirty="0" err="1"/>
              <a:t>InterruptedException</a:t>
            </a:r>
            <a:r>
              <a:rPr lang="en-US" altLang="ko-KR" sz="1400" dirty="0"/>
              <a:t> e) {</a:t>
            </a:r>
          </a:p>
          <a:p>
            <a:r>
              <a:rPr lang="en-US" altLang="ko-KR" sz="1400" dirty="0"/>
              <a:t>                // </a:t>
            </a:r>
            <a:r>
              <a:rPr lang="ko-KR" altLang="en-US" sz="1400" dirty="0"/>
              <a:t>인터럽트 예외 발생 시 루프를 종료</a:t>
            </a:r>
          </a:p>
          <a:p>
            <a:r>
              <a:rPr lang="ko-KR" altLang="en-US" sz="1400" dirty="0"/>
              <a:t>                </a:t>
            </a:r>
            <a:r>
              <a:rPr lang="en-US" altLang="ko-KR" sz="1400" dirty="0"/>
              <a:t>break;</a:t>
            </a:r>
          </a:p>
          <a:p>
            <a:r>
              <a:rPr lang="en-US" altLang="ko-KR" sz="1400" dirty="0"/>
              <a:t>            }</a:t>
            </a:r>
          </a:p>
          <a:p>
            <a:r>
              <a:rPr lang="en-US" altLang="ko-KR" sz="1400" dirty="0"/>
              <a:t>            save(); // </a:t>
            </a:r>
            <a:r>
              <a:rPr lang="ko-KR" altLang="en-US" sz="1400" dirty="0"/>
              <a:t>작업 내용 저장</a:t>
            </a:r>
          </a:p>
          <a:p>
            <a:r>
              <a:rPr lang="ko-KR" altLang="en-US" sz="1400" dirty="0"/>
              <a:t>        </a:t>
            </a:r>
            <a:r>
              <a:rPr lang="en-US" altLang="ko-KR" sz="1400" dirty="0"/>
              <a:t>}</a:t>
            </a:r>
          </a:p>
          <a:p>
            <a:r>
              <a:rPr lang="en-US" altLang="ko-KR" sz="1400" dirty="0"/>
              <a:t>    }</a:t>
            </a:r>
          </a:p>
          <a:p>
            <a:r>
              <a:rPr lang="en-US" altLang="ko-KR" sz="1400" dirty="0"/>
              <a:t>}</a:t>
            </a:r>
          </a:p>
          <a:p>
            <a:endParaRPr lang="en-US" altLang="ko-KR" sz="1400" dirty="0"/>
          </a:p>
          <a:p>
            <a:r>
              <a:rPr lang="en-US" altLang="ko-KR" sz="1400" dirty="0"/>
              <a:t>/*</a:t>
            </a:r>
          </a:p>
          <a:p>
            <a:r>
              <a:rPr lang="ko-KR" altLang="en-US" sz="1400" dirty="0"/>
              <a:t>주 스레드 </a:t>
            </a:r>
            <a:r>
              <a:rPr lang="en-US" altLang="ko-KR" sz="1400" dirty="0"/>
              <a:t>= main</a:t>
            </a:r>
          </a:p>
          <a:p>
            <a:r>
              <a:rPr lang="ko-KR" altLang="en-US" sz="1400" dirty="0"/>
              <a:t>데몬 스레드 </a:t>
            </a:r>
            <a:r>
              <a:rPr lang="en-US" altLang="ko-KR" sz="1400" dirty="0"/>
              <a:t>= </a:t>
            </a:r>
            <a:r>
              <a:rPr lang="en-US" altLang="ko-KR" sz="1400" dirty="0" err="1"/>
              <a:t>autoSaveThread</a:t>
            </a:r>
            <a:endParaRPr lang="en-US" altLang="ko-KR" sz="1400" dirty="0"/>
          </a:p>
          <a:p>
            <a:r>
              <a:rPr lang="en-US" altLang="ko-KR" sz="1400" dirty="0"/>
              <a:t>-1</a:t>
            </a:r>
            <a:r>
              <a:rPr lang="ko-KR" altLang="en-US" sz="1400" dirty="0"/>
              <a:t>초 주기로 </a:t>
            </a:r>
            <a:r>
              <a:rPr lang="en-US" altLang="ko-KR" sz="1400" dirty="0"/>
              <a:t>save() </a:t>
            </a:r>
            <a:r>
              <a:rPr lang="ko-KR" altLang="en-US" sz="1400" dirty="0"/>
              <a:t>호출</a:t>
            </a:r>
            <a:endParaRPr lang="en-US" altLang="ko-KR" sz="1400" dirty="0"/>
          </a:p>
          <a:p>
            <a:r>
              <a:rPr lang="en-US" altLang="ko-KR" sz="1400" dirty="0"/>
              <a:t>-3</a:t>
            </a:r>
            <a:r>
              <a:rPr lang="ko-KR" altLang="en-US" sz="1400" dirty="0"/>
              <a:t>초 후 </a:t>
            </a:r>
            <a:r>
              <a:rPr lang="en-US" altLang="ko-KR" sz="1400" dirty="0"/>
              <a:t>main</a:t>
            </a:r>
            <a:r>
              <a:rPr lang="ko-KR" altLang="en-US" sz="1400" dirty="0"/>
              <a:t>이 종료되면 </a:t>
            </a:r>
            <a:r>
              <a:rPr lang="en-US" altLang="ko-KR" sz="1400" dirty="0" err="1"/>
              <a:t>autoSaveThread</a:t>
            </a:r>
            <a:r>
              <a:rPr lang="ko-KR" altLang="en-US" sz="1400" dirty="0"/>
              <a:t>도 종료됨</a:t>
            </a:r>
            <a:endParaRPr lang="en-US" altLang="ko-KR" sz="1400" dirty="0"/>
          </a:p>
          <a:p>
            <a:r>
              <a:rPr lang="en-US" altLang="ko-KR" sz="1400" dirty="0"/>
              <a:t>*/</a:t>
            </a:r>
          </a:p>
          <a:p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1873724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191</TotalTime>
  <Words>3462</Words>
  <Application>Microsoft Office PowerPoint</Application>
  <PresentationFormat>와이드스크린</PresentationFormat>
  <Paragraphs>631</Paragraphs>
  <Slides>25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25</vt:i4>
      </vt:variant>
    </vt:vector>
  </HeadingPairs>
  <TitlesOfParts>
    <vt:vector size="29" baseType="lpstr">
      <vt:lpstr>맑은 고딕</vt:lpstr>
      <vt:lpstr>Arial</vt:lpstr>
      <vt:lpstr>Wingdings</vt:lpstr>
      <vt:lpstr>Office 테마</vt:lpstr>
      <vt:lpstr>스레드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노찬희</dc:creator>
  <cp:lastModifiedBy>노찬희</cp:lastModifiedBy>
  <cp:revision>6</cp:revision>
  <dcterms:created xsi:type="dcterms:W3CDTF">2024-11-16T10:25:19Z</dcterms:created>
  <dcterms:modified xsi:type="dcterms:W3CDTF">2024-12-18T16:37:32Z</dcterms:modified>
</cp:coreProperties>
</file>